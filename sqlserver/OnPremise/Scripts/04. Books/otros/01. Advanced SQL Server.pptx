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1.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2.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13.xml" ContentType="application/vnd.openxmlformats-officedocument.theme+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theme/theme14.xml" ContentType="application/vnd.openxmlformats-officedocument.theme+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theme/theme15.xml" ContentType="application/vnd.openxmlformats-officedocument.theme+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theme/theme16.xml" ContentType="application/vnd.openxmlformats-officedocument.theme+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17.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theme/theme18.xml" ContentType="application/vnd.openxmlformats-officedocument.theme+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theme/theme19.xml" ContentType="application/vnd.openxmlformats-officedocument.theme+xml"/>
  <Override PartName="/ppt/theme/theme2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 id="2147483696" r:id="rId4"/>
    <p:sldMasterId id="2147483708" r:id="rId5"/>
    <p:sldMasterId id="2147483720" r:id="rId6"/>
    <p:sldMasterId id="2147483732" r:id="rId7"/>
    <p:sldMasterId id="2147483744" r:id="rId8"/>
    <p:sldMasterId id="2147483756" r:id="rId9"/>
    <p:sldMasterId id="2147483768" r:id="rId10"/>
    <p:sldMasterId id="2147483780" r:id="rId11"/>
    <p:sldMasterId id="2147483792" r:id="rId12"/>
    <p:sldMasterId id="2147483804" r:id="rId13"/>
    <p:sldMasterId id="2147483816" r:id="rId14"/>
    <p:sldMasterId id="2147483828" r:id="rId15"/>
    <p:sldMasterId id="2147483840" r:id="rId16"/>
    <p:sldMasterId id="2147483852" r:id="rId17"/>
    <p:sldMasterId id="2147483864" r:id="rId18"/>
    <p:sldMasterId id="2147483876" r:id="rId19"/>
  </p:sldMasterIdLst>
  <p:notesMasterIdLst>
    <p:notesMasterId r:id="rId155"/>
  </p:notesMasterIdLst>
  <p:sldIdLst>
    <p:sldId id="257" r:id="rId20"/>
    <p:sldId id="258" r:id="rId21"/>
    <p:sldId id="383" r:id="rId22"/>
    <p:sldId id="381" r:id="rId23"/>
    <p:sldId id="382" r:id="rId24"/>
    <p:sldId id="259" r:id="rId25"/>
    <p:sldId id="260" r:id="rId26"/>
    <p:sldId id="385" r:id="rId27"/>
    <p:sldId id="386" r:id="rId28"/>
    <p:sldId id="387" r:id="rId29"/>
    <p:sldId id="388" r:id="rId30"/>
    <p:sldId id="261" r:id="rId31"/>
    <p:sldId id="262" r:id="rId32"/>
    <p:sldId id="263" r:id="rId33"/>
    <p:sldId id="264" r:id="rId34"/>
    <p:sldId id="265" r:id="rId35"/>
    <p:sldId id="266" r:id="rId36"/>
    <p:sldId id="267" r:id="rId37"/>
    <p:sldId id="268" r:id="rId38"/>
    <p:sldId id="270" r:id="rId39"/>
    <p:sldId id="272" r:id="rId40"/>
    <p:sldId id="271" r:id="rId41"/>
    <p:sldId id="273" r:id="rId42"/>
    <p:sldId id="274" r:id="rId43"/>
    <p:sldId id="275" r:id="rId44"/>
    <p:sldId id="276" r:id="rId45"/>
    <p:sldId id="277" r:id="rId46"/>
    <p:sldId id="278" r:id="rId47"/>
    <p:sldId id="279" r:id="rId48"/>
    <p:sldId id="280" r:id="rId49"/>
    <p:sldId id="281" r:id="rId50"/>
    <p:sldId id="282" r:id="rId51"/>
    <p:sldId id="283" r:id="rId52"/>
    <p:sldId id="284" r:id="rId53"/>
    <p:sldId id="285" r:id="rId54"/>
    <p:sldId id="286" r:id="rId55"/>
    <p:sldId id="287" r:id="rId56"/>
    <p:sldId id="288" r:id="rId57"/>
    <p:sldId id="289" r:id="rId58"/>
    <p:sldId id="290" r:id="rId59"/>
    <p:sldId id="291" r:id="rId60"/>
    <p:sldId id="292" r:id="rId61"/>
    <p:sldId id="293" r:id="rId62"/>
    <p:sldId id="294" r:id="rId63"/>
    <p:sldId id="295" r:id="rId64"/>
    <p:sldId id="296" r:id="rId65"/>
    <p:sldId id="297" r:id="rId66"/>
    <p:sldId id="298" r:id="rId67"/>
    <p:sldId id="299" r:id="rId68"/>
    <p:sldId id="300" r:id="rId69"/>
    <p:sldId id="301" r:id="rId70"/>
    <p:sldId id="302" r:id="rId71"/>
    <p:sldId id="303" r:id="rId72"/>
    <p:sldId id="304" r:id="rId73"/>
    <p:sldId id="305" r:id="rId74"/>
    <p:sldId id="306" r:id="rId75"/>
    <p:sldId id="307" r:id="rId76"/>
    <p:sldId id="308" r:id="rId77"/>
    <p:sldId id="309" r:id="rId78"/>
    <p:sldId id="310" r:id="rId79"/>
    <p:sldId id="311" r:id="rId80"/>
    <p:sldId id="312" r:id="rId81"/>
    <p:sldId id="313" r:id="rId82"/>
    <p:sldId id="314" r:id="rId83"/>
    <p:sldId id="315" r:id="rId84"/>
    <p:sldId id="316" r:id="rId85"/>
    <p:sldId id="317" r:id="rId86"/>
    <p:sldId id="318" r:id="rId87"/>
    <p:sldId id="319" r:id="rId88"/>
    <p:sldId id="320" r:id="rId89"/>
    <p:sldId id="321" r:id="rId90"/>
    <p:sldId id="322" r:id="rId91"/>
    <p:sldId id="323" r:id="rId92"/>
    <p:sldId id="324" r:id="rId93"/>
    <p:sldId id="325" r:id="rId94"/>
    <p:sldId id="326" r:id="rId95"/>
    <p:sldId id="327" r:id="rId96"/>
    <p:sldId id="328" r:id="rId97"/>
    <p:sldId id="329" r:id="rId98"/>
    <p:sldId id="330" r:id="rId99"/>
    <p:sldId id="331" r:id="rId100"/>
    <p:sldId id="332" r:id="rId101"/>
    <p:sldId id="333" r:id="rId102"/>
    <p:sldId id="334" r:id="rId103"/>
    <p:sldId id="335" r:id="rId104"/>
    <p:sldId id="336" r:id="rId105"/>
    <p:sldId id="338" r:id="rId106"/>
    <p:sldId id="339" r:id="rId107"/>
    <p:sldId id="340" r:id="rId108"/>
    <p:sldId id="341" r:id="rId109"/>
    <p:sldId id="342" r:id="rId110"/>
    <p:sldId id="343" r:id="rId111"/>
    <p:sldId id="344" r:id="rId112"/>
    <p:sldId id="345" r:id="rId113"/>
    <p:sldId id="346" r:id="rId114"/>
    <p:sldId id="347" r:id="rId115"/>
    <p:sldId id="348" r:id="rId116"/>
    <p:sldId id="349" r:id="rId117"/>
    <p:sldId id="350" r:id="rId118"/>
    <p:sldId id="351" r:id="rId119"/>
    <p:sldId id="352" r:id="rId120"/>
    <p:sldId id="353" r:id="rId121"/>
    <p:sldId id="354" r:id="rId122"/>
    <p:sldId id="355" r:id="rId123"/>
    <p:sldId id="356" r:id="rId124"/>
    <p:sldId id="357" r:id="rId125"/>
    <p:sldId id="358" r:id="rId126"/>
    <p:sldId id="359" r:id="rId127"/>
    <p:sldId id="360" r:id="rId128"/>
    <p:sldId id="361" r:id="rId129"/>
    <p:sldId id="362" r:id="rId130"/>
    <p:sldId id="363" r:id="rId131"/>
    <p:sldId id="391" r:id="rId132"/>
    <p:sldId id="364" r:id="rId133"/>
    <p:sldId id="365" r:id="rId134"/>
    <p:sldId id="366" r:id="rId135"/>
    <p:sldId id="367" r:id="rId136"/>
    <p:sldId id="368" r:id="rId137"/>
    <p:sldId id="369" r:id="rId138"/>
    <p:sldId id="389" r:id="rId139"/>
    <p:sldId id="370" r:id="rId140"/>
    <p:sldId id="371" r:id="rId141"/>
    <p:sldId id="372" r:id="rId142"/>
    <p:sldId id="373" r:id="rId143"/>
    <p:sldId id="374" r:id="rId144"/>
    <p:sldId id="375" r:id="rId145"/>
    <p:sldId id="376" r:id="rId146"/>
    <p:sldId id="377" r:id="rId147"/>
    <p:sldId id="392" r:id="rId148"/>
    <p:sldId id="393" r:id="rId149"/>
    <p:sldId id="384" r:id="rId150"/>
    <p:sldId id="378" r:id="rId151"/>
    <p:sldId id="379" r:id="rId152"/>
    <p:sldId id="380" r:id="rId153"/>
    <p:sldId id="390" r:id="rId154"/>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1920" y="-32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7.xml"/><Relationship Id="rId117" Type="http://schemas.openxmlformats.org/officeDocument/2006/relationships/slide" Target="slides/slide98.xml"/><Relationship Id="rId21" Type="http://schemas.openxmlformats.org/officeDocument/2006/relationships/slide" Target="slides/slide2.xml"/><Relationship Id="rId42" Type="http://schemas.openxmlformats.org/officeDocument/2006/relationships/slide" Target="slides/slide23.xml"/><Relationship Id="rId47" Type="http://schemas.openxmlformats.org/officeDocument/2006/relationships/slide" Target="slides/slide28.xml"/><Relationship Id="rId63" Type="http://schemas.openxmlformats.org/officeDocument/2006/relationships/slide" Target="slides/slide44.xml"/><Relationship Id="rId68" Type="http://schemas.openxmlformats.org/officeDocument/2006/relationships/slide" Target="slides/slide49.xml"/><Relationship Id="rId84" Type="http://schemas.openxmlformats.org/officeDocument/2006/relationships/slide" Target="slides/slide65.xml"/><Relationship Id="rId89" Type="http://schemas.openxmlformats.org/officeDocument/2006/relationships/slide" Target="slides/slide70.xml"/><Relationship Id="rId112" Type="http://schemas.openxmlformats.org/officeDocument/2006/relationships/slide" Target="slides/slide93.xml"/><Relationship Id="rId133" Type="http://schemas.openxmlformats.org/officeDocument/2006/relationships/slide" Target="slides/slide114.xml"/><Relationship Id="rId138" Type="http://schemas.openxmlformats.org/officeDocument/2006/relationships/slide" Target="slides/slide119.xml"/><Relationship Id="rId154" Type="http://schemas.openxmlformats.org/officeDocument/2006/relationships/slide" Target="slides/slide135.xml"/><Relationship Id="rId159" Type="http://schemas.openxmlformats.org/officeDocument/2006/relationships/tableStyles" Target="tableStyles.xml"/><Relationship Id="rId16" Type="http://schemas.openxmlformats.org/officeDocument/2006/relationships/slideMaster" Target="slideMasters/slideMaster16.xml"/><Relationship Id="rId107" Type="http://schemas.openxmlformats.org/officeDocument/2006/relationships/slide" Target="slides/slide88.xml"/><Relationship Id="rId11" Type="http://schemas.openxmlformats.org/officeDocument/2006/relationships/slideMaster" Target="slideMasters/slideMaster11.xml"/><Relationship Id="rId32" Type="http://schemas.openxmlformats.org/officeDocument/2006/relationships/slide" Target="slides/slide13.xml"/><Relationship Id="rId37" Type="http://schemas.openxmlformats.org/officeDocument/2006/relationships/slide" Target="slides/slide18.xml"/><Relationship Id="rId53" Type="http://schemas.openxmlformats.org/officeDocument/2006/relationships/slide" Target="slides/slide34.xml"/><Relationship Id="rId58" Type="http://schemas.openxmlformats.org/officeDocument/2006/relationships/slide" Target="slides/slide39.xml"/><Relationship Id="rId74" Type="http://schemas.openxmlformats.org/officeDocument/2006/relationships/slide" Target="slides/slide55.xml"/><Relationship Id="rId79" Type="http://schemas.openxmlformats.org/officeDocument/2006/relationships/slide" Target="slides/slide60.xml"/><Relationship Id="rId102" Type="http://schemas.openxmlformats.org/officeDocument/2006/relationships/slide" Target="slides/slide83.xml"/><Relationship Id="rId123" Type="http://schemas.openxmlformats.org/officeDocument/2006/relationships/slide" Target="slides/slide104.xml"/><Relationship Id="rId128" Type="http://schemas.openxmlformats.org/officeDocument/2006/relationships/slide" Target="slides/slide109.xml"/><Relationship Id="rId144" Type="http://schemas.openxmlformats.org/officeDocument/2006/relationships/slide" Target="slides/slide125.xml"/><Relationship Id="rId149" Type="http://schemas.openxmlformats.org/officeDocument/2006/relationships/slide" Target="slides/slide130.xml"/><Relationship Id="rId5" Type="http://schemas.openxmlformats.org/officeDocument/2006/relationships/slideMaster" Target="slideMasters/slideMaster5.xml"/><Relationship Id="rId90" Type="http://schemas.openxmlformats.org/officeDocument/2006/relationships/slide" Target="slides/slide71.xml"/><Relationship Id="rId95" Type="http://schemas.openxmlformats.org/officeDocument/2006/relationships/slide" Target="slides/slide76.xml"/><Relationship Id="rId22" Type="http://schemas.openxmlformats.org/officeDocument/2006/relationships/slide" Target="slides/slide3.xml"/><Relationship Id="rId27" Type="http://schemas.openxmlformats.org/officeDocument/2006/relationships/slide" Target="slides/slide8.xml"/><Relationship Id="rId43" Type="http://schemas.openxmlformats.org/officeDocument/2006/relationships/slide" Target="slides/slide24.xml"/><Relationship Id="rId48" Type="http://schemas.openxmlformats.org/officeDocument/2006/relationships/slide" Target="slides/slide29.xml"/><Relationship Id="rId64" Type="http://schemas.openxmlformats.org/officeDocument/2006/relationships/slide" Target="slides/slide45.xml"/><Relationship Id="rId69" Type="http://schemas.openxmlformats.org/officeDocument/2006/relationships/slide" Target="slides/slide50.xml"/><Relationship Id="rId113" Type="http://schemas.openxmlformats.org/officeDocument/2006/relationships/slide" Target="slides/slide94.xml"/><Relationship Id="rId118" Type="http://schemas.openxmlformats.org/officeDocument/2006/relationships/slide" Target="slides/slide99.xml"/><Relationship Id="rId134" Type="http://schemas.openxmlformats.org/officeDocument/2006/relationships/slide" Target="slides/slide115.xml"/><Relationship Id="rId139" Type="http://schemas.openxmlformats.org/officeDocument/2006/relationships/slide" Target="slides/slide120.xml"/><Relationship Id="rId80" Type="http://schemas.openxmlformats.org/officeDocument/2006/relationships/slide" Target="slides/slide61.xml"/><Relationship Id="rId85" Type="http://schemas.openxmlformats.org/officeDocument/2006/relationships/slide" Target="slides/slide66.xml"/><Relationship Id="rId150" Type="http://schemas.openxmlformats.org/officeDocument/2006/relationships/slide" Target="slides/slide131.xml"/><Relationship Id="rId155" Type="http://schemas.openxmlformats.org/officeDocument/2006/relationships/notesMaster" Target="notesMasters/notesMaster1.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33" Type="http://schemas.openxmlformats.org/officeDocument/2006/relationships/slide" Target="slides/slide14.xml"/><Relationship Id="rId38" Type="http://schemas.openxmlformats.org/officeDocument/2006/relationships/slide" Target="slides/slide19.xml"/><Relationship Id="rId59" Type="http://schemas.openxmlformats.org/officeDocument/2006/relationships/slide" Target="slides/slide40.xml"/><Relationship Id="rId103" Type="http://schemas.openxmlformats.org/officeDocument/2006/relationships/slide" Target="slides/slide84.xml"/><Relationship Id="rId108" Type="http://schemas.openxmlformats.org/officeDocument/2006/relationships/slide" Target="slides/slide89.xml"/><Relationship Id="rId124" Type="http://schemas.openxmlformats.org/officeDocument/2006/relationships/slide" Target="slides/slide105.xml"/><Relationship Id="rId129" Type="http://schemas.openxmlformats.org/officeDocument/2006/relationships/slide" Target="slides/slide110.xml"/><Relationship Id="rId20" Type="http://schemas.openxmlformats.org/officeDocument/2006/relationships/slide" Target="slides/slide1.xml"/><Relationship Id="rId41" Type="http://schemas.openxmlformats.org/officeDocument/2006/relationships/slide" Target="slides/slide22.xml"/><Relationship Id="rId54" Type="http://schemas.openxmlformats.org/officeDocument/2006/relationships/slide" Target="slides/slide35.xml"/><Relationship Id="rId62" Type="http://schemas.openxmlformats.org/officeDocument/2006/relationships/slide" Target="slides/slide43.xml"/><Relationship Id="rId70" Type="http://schemas.openxmlformats.org/officeDocument/2006/relationships/slide" Target="slides/slide51.xml"/><Relationship Id="rId75" Type="http://schemas.openxmlformats.org/officeDocument/2006/relationships/slide" Target="slides/slide56.xml"/><Relationship Id="rId83" Type="http://schemas.openxmlformats.org/officeDocument/2006/relationships/slide" Target="slides/slide64.xml"/><Relationship Id="rId88" Type="http://schemas.openxmlformats.org/officeDocument/2006/relationships/slide" Target="slides/slide69.xml"/><Relationship Id="rId91" Type="http://schemas.openxmlformats.org/officeDocument/2006/relationships/slide" Target="slides/slide72.xml"/><Relationship Id="rId96" Type="http://schemas.openxmlformats.org/officeDocument/2006/relationships/slide" Target="slides/slide77.xml"/><Relationship Id="rId111" Type="http://schemas.openxmlformats.org/officeDocument/2006/relationships/slide" Target="slides/slide92.xml"/><Relationship Id="rId132" Type="http://schemas.openxmlformats.org/officeDocument/2006/relationships/slide" Target="slides/slide113.xml"/><Relationship Id="rId140" Type="http://schemas.openxmlformats.org/officeDocument/2006/relationships/slide" Target="slides/slide121.xml"/><Relationship Id="rId145" Type="http://schemas.openxmlformats.org/officeDocument/2006/relationships/slide" Target="slides/slide126.xml"/><Relationship Id="rId153" Type="http://schemas.openxmlformats.org/officeDocument/2006/relationships/slide" Target="slides/slide134.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4.xml"/><Relationship Id="rId28" Type="http://schemas.openxmlformats.org/officeDocument/2006/relationships/slide" Target="slides/slide9.xml"/><Relationship Id="rId36" Type="http://schemas.openxmlformats.org/officeDocument/2006/relationships/slide" Target="slides/slide17.xml"/><Relationship Id="rId49" Type="http://schemas.openxmlformats.org/officeDocument/2006/relationships/slide" Target="slides/slide30.xml"/><Relationship Id="rId57" Type="http://schemas.openxmlformats.org/officeDocument/2006/relationships/slide" Target="slides/slide38.xml"/><Relationship Id="rId106" Type="http://schemas.openxmlformats.org/officeDocument/2006/relationships/slide" Target="slides/slide87.xml"/><Relationship Id="rId114" Type="http://schemas.openxmlformats.org/officeDocument/2006/relationships/slide" Target="slides/slide95.xml"/><Relationship Id="rId119" Type="http://schemas.openxmlformats.org/officeDocument/2006/relationships/slide" Target="slides/slide100.xml"/><Relationship Id="rId127" Type="http://schemas.openxmlformats.org/officeDocument/2006/relationships/slide" Target="slides/slide108.xml"/><Relationship Id="rId10" Type="http://schemas.openxmlformats.org/officeDocument/2006/relationships/slideMaster" Target="slideMasters/slideMaster10.xml"/><Relationship Id="rId31" Type="http://schemas.openxmlformats.org/officeDocument/2006/relationships/slide" Target="slides/slide12.xml"/><Relationship Id="rId44" Type="http://schemas.openxmlformats.org/officeDocument/2006/relationships/slide" Target="slides/slide25.xml"/><Relationship Id="rId52" Type="http://schemas.openxmlformats.org/officeDocument/2006/relationships/slide" Target="slides/slide33.xml"/><Relationship Id="rId60" Type="http://schemas.openxmlformats.org/officeDocument/2006/relationships/slide" Target="slides/slide41.xml"/><Relationship Id="rId65" Type="http://schemas.openxmlformats.org/officeDocument/2006/relationships/slide" Target="slides/slide46.xml"/><Relationship Id="rId73" Type="http://schemas.openxmlformats.org/officeDocument/2006/relationships/slide" Target="slides/slide54.xml"/><Relationship Id="rId78" Type="http://schemas.openxmlformats.org/officeDocument/2006/relationships/slide" Target="slides/slide59.xml"/><Relationship Id="rId81" Type="http://schemas.openxmlformats.org/officeDocument/2006/relationships/slide" Target="slides/slide62.xml"/><Relationship Id="rId86" Type="http://schemas.openxmlformats.org/officeDocument/2006/relationships/slide" Target="slides/slide67.xml"/><Relationship Id="rId94" Type="http://schemas.openxmlformats.org/officeDocument/2006/relationships/slide" Target="slides/slide75.xml"/><Relationship Id="rId99" Type="http://schemas.openxmlformats.org/officeDocument/2006/relationships/slide" Target="slides/slide80.xml"/><Relationship Id="rId101" Type="http://schemas.openxmlformats.org/officeDocument/2006/relationships/slide" Target="slides/slide82.xml"/><Relationship Id="rId122" Type="http://schemas.openxmlformats.org/officeDocument/2006/relationships/slide" Target="slides/slide103.xml"/><Relationship Id="rId130" Type="http://schemas.openxmlformats.org/officeDocument/2006/relationships/slide" Target="slides/slide111.xml"/><Relationship Id="rId135" Type="http://schemas.openxmlformats.org/officeDocument/2006/relationships/slide" Target="slides/slide116.xml"/><Relationship Id="rId143" Type="http://schemas.openxmlformats.org/officeDocument/2006/relationships/slide" Target="slides/slide124.xml"/><Relationship Id="rId148" Type="http://schemas.openxmlformats.org/officeDocument/2006/relationships/slide" Target="slides/slide129.xml"/><Relationship Id="rId151" Type="http://schemas.openxmlformats.org/officeDocument/2006/relationships/slide" Target="slides/slide132.xml"/><Relationship Id="rId156"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20.xml"/><Relationship Id="rId109" Type="http://schemas.openxmlformats.org/officeDocument/2006/relationships/slide" Target="slides/slide90.xml"/><Relationship Id="rId34" Type="http://schemas.openxmlformats.org/officeDocument/2006/relationships/slide" Target="slides/slide15.xml"/><Relationship Id="rId50" Type="http://schemas.openxmlformats.org/officeDocument/2006/relationships/slide" Target="slides/slide31.xml"/><Relationship Id="rId55" Type="http://schemas.openxmlformats.org/officeDocument/2006/relationships/slide" Target="slides/slide36.xml"/><Relationship Id="rId76" Type="http://schemas.openxmlformats.org/officeDocument/2006/relationships/slide" Target="slides/slide57.xml"/><Relationship Id="rId97" Type="http://schemas.openxmlformats.org/officeDocument/2006/relationships/slide" Target="slides/slide78.xml"/><Relationship Id="rId104" Type="http://schemas.openxmlformats.org/officeDocument/2006/relationships/slide" Target="slides/slide85.xml"/><Relationship Id="rId120" Type="http://schemas.openxmlformats.org/officeDocument/2006/relationships/slide" Target="slides/slide101.xml"/><Relationship Id="rId125" Type="http://schemas.openxmlformats.org/officeDocument/2006/relationships/slide" Target="slides/slide106.xml"/><Relationship Id="rId141" Type="http://schemas.openxmlformats.org/officeDocument/2006/relationships/slide" Target="slides/slide122.xml"/><Relationship Id="rId146" Type="http://schemas.openxmlformats.org/officeDocument/2006/relationships/slide" Target="slides/slide127.xml"/><Relationship Id="rId7" Type="http://schemas.openxmlformats.org/officeDocument/2006/relationships/slideMaster" Target="slideMasters/slideMaster7.xml"/><Relationship Id="rId71" Type="http://schemas.openxmlformats.org/officeDocument/2006/relationships/slide" Target="slides/slide52.xml"/><Relationship Id="rId92" Type="http://schemas.openxmlformats.org/officeDocument/2006/relationships/slide" Target="slides/slide73.xml"/><Relationship Id="rId2" Type="http://schemas.openxmlformats.org/officeDocument/2006/relationships/slideMaster" Target="slideMasters/slideMaster2.xml"/><Relationship Id="rId29" Type="http://schemas.openxmlformats.org/officeDocument/2006/relationships/slide" Target="slides/slide10.xml"/><Relationship Id="rId24" Type="http://schemas.openxmlformats.org/officeDocument/2006/relationships/slide" Target="slides/slide5.xml"/><Relationship Id="rId40" Type="http://schemas.openxmlformats.org/officeDocument/2006/relationships/slide" Target="slides/slide21.xml"/><Relationship Id="rId45" Type="http://schemas.openxmlformats.org/officeDocument/2006/relationships/slide" Target="slides/slide26.xml"/><Relationship Id="rId66" Type="http://schemas.openxmlformats.org/officeDocument/2006/relationships/slide" Target="slides/slide47.xml"/><Relationship Id="rId87" Type="http://schemas.openxmlformats.org/officeDocument/2006/relationships/slide" Target="slides/slide68.xml"/><Relationship Id="rId110" Type="http://schemas.openxmlformats.org/officeDocument/2006/relationships/slide" Target="slides/slide91.xml"/><Relationship Id="rId115" Type="http://schemas.openxmlformats.org/officeDocument/2006/relationships/slide" Target="slides/slide96.xml"/><Relationship Id="rId131" Type="http://schemas.openxmlformats.org/officeDocument/2006/relationships/slide" Target="slides/slide112.xml"/><Relationship Id="rId136" Type="http://schemas.openxmlformats.org/officeDocument/2006/relationships/slide" Target="slides/slide117.xml"/><Relationship Id="rId157" Type="http://schemas.openxmlformats.org/officeDocument/2006/relationships/viewProps" Target="viewProps.xml"/><Relationship Id="rId61" Type="http://schemas.openxmlformats.org/officeDocument/2006/relationships/slide" Target="slides/slide42.xml"/><Relationship Id="rId82" Type="http://schemas.openxmlformats.org/officeDocument/2006/relationships/slide" Target="slides/slide63.xml"/><Relationship Id="rId152" Type="http://schemas.openxmlformats.org/officeDocument/2006/relationships/slide" Target="slides/slide133.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 Target="slides/slide11.xml"/><Relationship Id="rId35" Type="http://schemas.openxmlformats.org/officeDocument/2006/relationships/slide" Target="slides/slide16.xml"/><Relationship Id="rId56" Type="http://schemas.openxmlformats.org/officeDocument/2006/relationships/slide" Target="slides/slide37.xml"/><Relationship Id="rId77" Type="http://schemas.openxmlformats.org/officeDocument/2006/relationships/slide" Target="slides/slide58.xml"/><Relationship Id="rId100" Type="http://schemas.openxmlformats.org/officeDocument/2006/relationships/slide" Target="slides/slide81.xml"/><Relationship Id="rId105" Type="http://schemas.openxmlformats.org/officeDocument/2006/relationships/slide" Target="slides/slide86.xml"/><Relationship Id="rId126" Type="http://schemas.openxmlformats.org/officeDocument/2006/relationships/slide" Target="slides/slide107.xml"/><Relationship Id="rId147" Type="http://schemas.openxmlformats.org/officeDocument/2006/relationships/slide" Target="slides/slide128.xml"/><Relationship Id="rId8" Type="http://schemas.openxmlformats.org/officeDocument/2006/relationships/slideMaster" Target="slideMasters/slideMaster8.xml"/><Relationship Id="rId51" Type="http://schemas.openxmlformats.org/officeDocument/2006/relationships/slide" Target="slides/slide32.xml"/><Relationship Id="rId72" Type="http://schemas.openxmlformats.org/officeDocument/2006/relationships/slide" Target="slides/slide53.xml"/><Relationship Id="rId93" Type="http://schemas.openxmlformats.org/officeDocument/2006/relationships/slide" Target="slides/slide74.xml"/><Relationship Id="rId98" Type="http://schemas.openxmlformats.org/officeDocument/2006/relationships/slide" Target="slides/slide79.xml"/><Relationship Id="rId121" Type="http://schemas.openxmlformats.org/officeDocument/2006/relationships/slide" Target="slides/slide102.xml"/><Relationship Id="rId142" Type="http://schemas.openxmlformats.org/officeDocument/2006/relationships/slide" Target="slides/slide123.xml"/><Relationship Id="rId3" Type="http://schemas.openxmlformats.org/officeDocument/2006/relationships/slideMaster" Target="slideMasters/slideMaster3.xml"/><Relationship Id="rId25" Type="http://schemas.openxmlformats.org/officeDocument/2006/relationships/slide" Target="slides/slide6.xml"/><Relationship Id="rId46" Type="http://schemas.openxmlformats.org/officeDocument/2006/relationships/slide" Target="slides/slide27.xml"/><Relationship Id="rId67" Type="http://schemas.openxmlformats.org/officeDocument/2006/relationships/slide" Target="slides/slide48.xml"/><Relationship Id="rId116" Type="http://schemas.openxmlformats.org/officeDocument/2006/relationships/slide" Target="slides/slide97.xml"/><Relationship Id="rId137" Type="http://schemas.openxmlformats.org/officeDocument/2006/relationships/slide" Target="slides/slide118.xml"/><Relationship Id="rId15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E13838-0857-4AC8-A8B9-C3529C3F4415}" type="datetimeFigureOut">
              <a:rPr lang="en-US" smtClean="0"/>
              <a:t>2/16/2013</a:t>
            </a:fld>
            <a:endParaRPr lang="en-U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BE4916-9334-430B-BBF0-6C2246E07F57}" type="slidenum">
              <a:rPr lang="en-US" smtClean="0"/>
              <a:t>‹Nº›</a:t>
            </a:fld>
            <a:endParaRPr lang="en-US"/>
          </a:p>
        </p:txBody>
      </p:sp>
    </p:spTree>
    <p:extLst>
      <p:ext uri="{BB962C8B-B14F-4D97-AF65-F5344CB8AC3E}">
        <p14:creationId xmlns:p14="http://schemas.microsoft.com/office/powerpoint/2010/main" val="2273625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3943D0DD-FB4E-4509-9AE5-7AD777C6A85B}" type="slidenum">
              <a:rPr lang="en-US" smtClean="0">
                <a:solidFill>
                  <a:prstClr val="black"/>
                </a:solidFill>
              </a:rPr>
              <a:pPr/>
              <a:t>26</a:t>
            </a:fld>
            <a:endParaRPr lang="en-US">
              <a:solidFill>
                <a:prstClr val="black"/>
              </a:solidFill>
            </a:endParaRPr>
          </a:p>
        </p:txBody>
      </p:sp>
    </p:spTree>
    <p:extLst>
      <p:ext uri="{BB962C8B-B14F-4D97-AF65-F5344CB8AC3E}">
        <p14:creationId xmlns:p14="http://schemas.microsoft.com/office/powerpoint/2010/main" val="12191616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3943D0DD-FB4E-4509-9AE5-7AD777C6A85B}" type="slidenum">
              <a:rPr lang="en-US" smtClean="0">
                <a:solidFill>
                  <a:prstClr val="black"/>
                </a:solidFill>
              </a:rPr>
              <a:pPr/>
              <a:t>27</a:t>
            </a:fld>
            <a:endParaRPr lang="en-US">
              <a:solidFill>
                <a:prstClr val="black"/>
              </a:solidFill>
            </a:endParaRPr>
          </a:p>
        </p:txBody>
      </p:sp>
    </p:spTree>
    <p:extLst>
      <p:ext uri="{BB962C8B-B14F-4D97-AF65-F5344CB8AC3E}">
        <p14:creationId xmlns:p14="http://schemas.microsoft.com/office/powerpoint/2010/main" val="1219161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3943D0DD-FB4E-4509-9AE5-7AD777C6A85B}" type="slidenum">
              <a:rPr lang="en-US" smtClean="0">
                <a:solidFill>
                  <a:prstClr val="black"/>
                </a:solidFill>
              </a:rPr>
              <a:pPr/>
              <a:t>28</a:t>
            </a:fld>
            <a:endParaRPr lang="en-US">
              <a:solidFill>
                <a:prstClr val="black"/>
              </a:solidFill>
            </a:endParaRPr>
          </a:p>
        </p:txBody>
      </p:sp>
    </p:spTree>
    <p:extLst>
      <p:ext uri="{BB962C8B-B14F-4D97-AF65-F5344CB8AC3E}">
        <p14:creationId xmlns:p14="http://schemas.microsoft.com/office/powerpoint/2010/main" val="1219161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3943D0DD-FB4E-4509-9AE5-7AD777C6A85B}" type="slidenum">
              <a:rPr lang="en-US" smtClean="0">
                <a:solidFill>
                  <a:prstClr val="black"/>
                </a:solidFill>
              </a:rPr>
              <a:pPr/>
              <a:t>29</a:t>
            </a:fld>
            <a:endParaRPr lang="en-US">
              <a:solidFill>
                <a:prstClr val="black"/>
              </a:solidFill>
            </a:endParaRPr>
          </a:p>
        </p:txBody>
      </p:sp>
    </p:spTree>
    <p:extLst>
      <p:ext uri="{BB962C8B-B14F-4D97-AF65-F5344CB8AC3E}">
        <p14:creationId xmlns:p14="http://schemas.microsoft.com/office/powerpoint/2010/main" val="12191616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3943D0DD-FB4E-4509-9AE5-7AD777C6A85B}" type="slidenum">
              <a:rPr lang="en-US" smtClean="0">
                <a:solidFill>
                  <a:prstClr val="black"/>
                </a:solidFill>
              </a:rPr>
              <a:pPr/>
              <a:t>30</a:t>
            </a:fld>
            <a:endParaRPr lang="en-US">
              <a:solidFill>
                <a:prstClr val="black"/>
              </a:solidFill>
            </a:endParaRPr>
          </a:p>
        </p:txBody>
      </p:sp>
    </p:spTree>
    <p:extLst>
      <p:ext uri="{BB962C8B-B14F-4D97-AF65-F5344CB8AC3E}">
        <p14:creationId xmlns:p14="http://schemas.microsoft.com/office/powerpoint/2010/main" val="1219161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3943D0DD-FB4E-4509-9AE5-7AD777C6A85B}" type="slidenum">
              <a:rPr lang="en-US" smtClean="0">
                <a:solidFill>
                  <a:prstClr val="black"/>
                </a:solidFill>
              </a:rPr>
              <a:pPr/>
              <a:t>31</a:t>
            </a:fld>
            <a:endParaRPr lang="en-US">
              <a:solidFill>
                <a:prstClr val="black"/>
              </a:solidFill>
            </a:endParaRPr>
          </a:p>
        </p:txBody>
      </p:sp>
    </p:spTree>
    <p:extLst>
      <p:ext uri="{BB962C8B-B14F-4D97-AF65-F5344CB8AC3E}">
        <p14:creationId xmlns:p14="http://schemas.microsoft.com/office/powerpoint/2010/main" val="1219161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3943D0DD-FB4E-4509-9AE5-7AD777C6A85B}" type="slidenum">
              <a:rPr lang="en-US" smtClean="0">
                <a:solidFill>
                  <a:prstClr val="black"/>
                </a:solidFill>
              </a:rPr>
              <a:pPr/>
              <a:t>32</a:t>
            </a:fld>
            <a:endParaRPr lang="en-US">
              <a:solidFill>
                <a:prstClr val="black"/>
              </a:solidFill>
            </a:endParaRPr>
          </a:p>
        </p:txBody>
      </p:sp>
    </p:spTree>
    <p:extLst>
      <p:ext uri="{BB962C8B-B14F-4D97-AF65-F5344CB8AC3E}">
        <p14:creationId xmlns:p14="http://schemas.microsoft.com/office/powerpoint/2010/main" val="12191616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3943D0DD-FB4E-4509-9AE5-7AD777C6A85B}" type="slidenum">
              <a:rPr lang="en-US" smtClean="0">
                <a:solidFill>
                  <a:prstClr val="black"/>
                </a:solidFill>
              </a:rPr>
              <a:pPr/>
              <a:t>33</a:t>
            </a:fld>
            <a:endParaRPr lang="en-US">
              <a:solidFill>
                <a:prstClr val="black"/>
              </a:solidFill>
            </a:endParaRPr>
          </a:p>
        </p:txBody>
      </p:sp>
    </p:spTree>
    <p:extLst>
      <p:ext uri="{BB962C8B-B14F-4D97-AF65-F5344CB8AC3E}">
        <p14:creationId xmlns:p14="http://schemas.microsoft.com/office/powerpoint/2010/main" val="12191616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3943D0DD-FB4E-4509-9AE5-7AD777C6A85B}" type="slidenum">
              <a:rPr lang="en-US" smtClean="0">
                <a:solidFill>
                  <a:prstClr val="black"/>
                </a:solidFill>
              </a:rPr>
              <a:pPr/>
              <a:t>34</a:t>
            </a:fld>
            <a:endParaRPr lang="en-US">
              <a:solidFill>
                <a:prstClr val="black"/>
              </a:solidFill>
            </a:endParaRPr>
          </a:p>
        </p:txBody>
      </p:sp>
    </p:spTree>
    <p:extLst>
      <p:ext uri="{BB962C8B-B14F-4D97-AF65-F5344CB8AC3E}">
        <p14:creationId xmlns:p14="http://schemas.microsoft.com/office/powerpoint/2010/main" val="12191616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657AE7A6-6576-4780-8A3C-DA13F739A1A6}" type="slidenum">
              <a:rPr lang="en-US" smtClean="0">
                <a:solidFill>
                  <a:prstClr val="black"/>
                </a:solidFill>
              </a:rPr>
              <a:pPr/>
              <a:t>69</a:t>
            </a:fld>
            <a:endParaRPr lang="en-US">
              <a:solidFill>
                <a:prstClr val="black"/>
              </a:solidFill>
            </a:endParaRPr>
          </a:p>
        </p:txBody>
      </p:sp>
    </p:spTree>
    <p:extLst>
      <p:ext uri="{BB962C8B-B14F-4D97-AF65-F5344CB8AC3E}">
        <p14:creationId xmlns:p14="http://schemas.microsoft.com/office/powerpoint/2010/main" val="37936344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E0DAC4DE-F16E-4800-ACE5-9F3F6A4367F3}" type="slidenum">
              <a:rPr lang="en-US" smtClean="0">
                <a:solidFill>
                  <a:prstClr val="black"/>
                </a:solidFill>
              </a:rPr>
              <a:pPr/>
              <a:t>83</a:t>
            </a:fld>
            <a:endParaRPr lang="en-US">
              <a:solidFill>
                <a:prstClr val="black"/>
              </a:solidFill>
            </a:endParaRPr>
          </a:p>
        </p:txBody>
      </p:sp>
    </p:spTree>
    <p:extLst>
      <p:ext uri="{BB962C8B-B14F-4D97-AF65-F5344CB8AC3E}">
        <p14:creationId xmlns:p14="http://schemas.microsoft.com/office/powerpoint/2010/main" val="1940534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E0DAC4DE-F16E-4800-ACE5-9F3F6A4367F3}" type="slidenum">
              <a:rPr lang="en-US" smtClean="0">
                <a:solidFill>
                  <a:prstClr val="black"/>
                </a:solidFill>
              </a:rPr>
              <a:pPr/>
              <a:t>84</a:t>
            </a:fld>
            <a:endParaRPr lang="en-US">
              <a:solidFill>
                <a:prstClr val="black"/>
              </a:solidFill>
            </a:endParaRPr>
          </a:p>
        </p:txBody>
      </p:sp>
    </p:spTree>
    <p:extLst>
      <p:ext uri="{BB962C8B-B14F-4D97-AF65-F5344CB8AC3E}">
        <p14:creationId xmlns:p14="http://schemas.microsoft.com/office/powerpoint/2010/main" val="19405347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E0DAC4DE-F16E-4800-ACE5-9F3F6A4367F3}" type="slidenum">
              <a:rPr lang="en-US" smtClean="0">
                <a:solidFill>
                  <a:prstClr val="black"/>
                </a:solidFill>
              </a:rPr>
              <a:pPr/>
              <a:t>85</a:t>
            </a:fld>
            <a:endParaRPr lang="en-US">
              <a:solidFill>
                <a:prstClr val="black"/>
              </a:solidFill>
            </a:endParaRPr>
          </a:p>
        </p:txBody>
      </p:sp>
    </p:spTree>
    <p:extLst>
      <p:ext uri="{BB962C8B-B14F-4D97-AF65-F5344CB8AC3E}">
        <p14:creationId xmlns:p14="http://schemas.microsoft.com/office/powerpoint/2010/main" val="19405347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E0DAC4DE-F16E-4800-ACE5-9F3F6A4367F3}" type="slidenum">
              <a:rPr lang="en-US" smtClean="0">
                <a:solidFill>
                  <a:prstClr val="black"/>
                </a:solidFill>
              </a:rPr>
              <a:pPr/>
              <a:t>86</a:t>
            </a:fld>
            <a:endParaRPr lang="en-US">
              <a:solidFill>
                <a:prstClr val="black"/>
              </a:solidFill>
            </a:endParaRPr>
          </a:p>
        </p:txBody>
      </p:sp>
    </p:spTree>
    <p:extLst>
      <p:ext uri="{BB962C8B-B14F-4D97-AF65-F5344CB8AC3E}">
        <p14:creationId xmlns:p14="http://schemas.microsoft.com/office/powerpoint/2010/main" val="19405347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6E0F64E9-6547-4C00-AD30-154CC440E0B0}" type="slidenum">
              <a:rPr lang="en-US" smtClean="0">
                <a:solidFill>
                  <a:prstClr val="black"/>
                </a:solidFill>
              </a:rPr>
              <a:pPr/>
              <a:t>129</a:t>
            </a:fld>
            <a:endParaRPr lang="en-US">
              <a:solidFill>
                <a:prstClr val="black"/>
              </a:solidFill>
            </a:endParaRPr>
          </a:p>
        </p:txBody>
      </p:sp>
    </p:spTree>
    <p:extLst>
      <p:ext uri="{BB962C8B-B14F-4D97-AF65-F5344CB8AC3E}">
        <p14:creationId xmlns:p14="http://schemas.microsoft.com/office/powerpoint/2010/main" val="27350953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6E0F64E9-6547-4C00-AD30-154CC440E0B0}" type="slidenum">
              <a:rPr lang="en-US" smtClean="0">
                <a:solidFill>
                  <a:prstClr val="black"/>
                </a:solidFill>
              </a:rPr>
              <a:pPr/>
              <a:t>130</a:t>
            </a:fld>
            <a:endParaRPr lang="en-US">
              <a:solidFill>
                <a:prstClr val="black"/>
              </a:solidFill>
            </a:endParaRPr>
          </a:p>
        </p:txBody>
      </p:sp>
    </p:spTree>
    <p:extLst>
      <p:ext uri="{BB962C8B-B14F-4D97-AF65-F5344CB8AC3E}">
        <p14:creationId xmlns:p14="http://schemas.microsoft.com/office/powerpoint/2010/main" val="27350953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6E0F64E9-6547-4C00-AD30-154CC440E0B0}" type="slidenum">
              <a:rPr lang="en-US" smtClean="0">
                <a:solidFill>
                  <a:prstClr val="black"/>
                </a:solidFill>
              </a:rPr>
              <a:pPr/>
              <a:t>131</a:t>
            </a:fld>
            <a:endParaRPr lang="en-US">
              <a:solidFill>
                <a:prstClr val="black"/>
              </a:solidFill>
            </a:endParaRPr>
          </a:p>
        </p:txBody>
      </p:sp>
    </p:spTree>
    <p:extLst>
      <p:ext uri="{BB962C8B-B14F-4D97-AF65-F5344CB8AC3E}">
        <p14:creationId xmlns:p14="http://schemas.microsoft.com/office/powerpoint/2010/main" val="27350953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6E0F64E9-6547-4C00-AD30-154CC440E0B0}" type="slidenum">
              <a:rPr lang="en-US" smtClean="0">
                <a:solidFill>
                  <a:prstClr val="black"/>
                </a:solidFill>
              </a:rPr>
              <a:pPr/>
              <a:t>134</a:t>
            </a:fld>
            <a:endParaRPr lang="en-US">
              <a:solidFill>
                <a:prstClr val="black"/>
              </a:solidFill>
            </a:endParaRPr>
          </a:p>
        </p:txBody>
      </p:sp>
    </p:spTree>
    <p:extLst>
      <p:ext uri="{BB962C8B-B14F-4D97-AF65-F5344CB8AC3E}">
        <p14:creationId xmlns:p14="http://schemas.microsoft.com/office/powerpoint/2010/main" val="27350953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US" dirty="0"/>
          </a:p>
        </p:txBody>
      </p:sp>
      <p:sp>
        <p:nvSpPr>
          <p:cNvPr id="4" name="3 Marcador de número de diapositiva"/>
          <p:cNvSpPr>
            <a:spLocks noGrp="1"/>
          </p:cNvSpPr>
          <p:nvPr>
            <p:ph type="sldNum" sz="quarter" idx="10"/>
          </p:nvPr>
        </p:nvSpPr>
        <p:spPr/>
        <p:txBody>
          <a:bodyPr/>
          <a:lstStyle/>
          <a:p>
            <a:fld id="{6E0F64E9-6547-4C00-AD30-154CC440E0B0}" type="slidenum">
              <a:rPr lang="en-US" smtClean="0">
                <a:solidFill>
                  <a:prstClr val="black"/>
                </a:solidFill>
              </a:rPr>
              <a:pPr/>
              <a:t>135</a:t>
            </a:fld>
            <a:endParaRPr lang="en-US">
              <a:solidFill>
                <a:prstClr val="black"/>
              </a:solidFill>
            </a:endParaRPr>
          </a:p>
        </p:txBody>
      </p:sp>
    </p:spTree>
    <p:extLst>
      <p:ext uri="{BB962C8B-B14F-4D97-AF65-F5344CB8AC3E}">
        <p14:creationId xmlns:p14="http://schemas.microsoft.com/office/powerpoint/2010/main" val="2735095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smtClean="0"/>
              <a:t>Haga clic para modificar el estilo de subtítulo del patrón</a:t>
            </a:r>
            <a:endParaRPr lang="es-AR"/>
          </a:p>
        </p:txBody>
      </p:sp>
      <p:sp>
        <p:nvSpPr>
          <p:cNvPr id="4"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81F7D330-6B2A-4495-BCF7-7FC7C15BE0A9}"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2314951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2DA9356-8CEB-401F-B835-389263574859}"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405983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smtClean="0"/>
              <a:t>Haga clic para modificar el estilo de texto del patrón</a:t>
            </a:r>
          </a:p>
        </p:txBody>
      </p:sp>
      <p:sp>
        <p:nvSpPr>
          <p:cNvPr id="4"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AE72032-87ED-4939-A19E-C1648216C4B4}"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2157081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30955F31-527A-4996-943A-6702EE2B9548}"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468855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7"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67A23AB6-11A3-4609-900F-64E49A44F8DD}"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1731977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656ED13D-0866-4B34-A78B-81E68C16F04D}"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1032324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922729C0-C842-42E6-953C-CB4114B7130C}"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369811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E116B3A7-DF1C-4868-B297-1860D0B2BA19}"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1742342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AR" noProof="0" smtClean="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5AC88CF-EB8F-47DA-8CF4-D7231471F997}"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329229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C0DF45AB-2184-48B4-A989-C045D67D5A84}"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3064900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9F63A823-160C-4508-A1DD-2615A978A499}"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27147766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9594870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1139669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2038162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6240968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n-US">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3333588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n-US">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4365060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n-US">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417545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1142608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3340172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3517155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5482947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195825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2932079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5533066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5362763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n-US">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9153036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n-US">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5071628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n-US">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2837769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9172923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3669307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7031101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72798489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1682042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55112176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41036202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71726336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n-US">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33284327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n-US">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56327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n-US">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12593605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7817156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49720152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00753398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10070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607192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2804047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97716972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1747605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n-US">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76427545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n-US">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5322722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n-US">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183951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44329056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85446756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72723827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71986525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6311008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66850690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27042112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95699024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n-US">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1251306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n-US">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5845634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n-US">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08352867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86301219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88022793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8700934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91094237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62276664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23626090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15648089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83311830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n-US">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02274063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n-US">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41249149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n-US">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52922567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09178627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01831683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64924729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23338102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07769940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2071303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15059794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05068417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n-US">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448990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n-US">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63872920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n-US">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68475579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25749865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15427293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93667744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14718540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97752942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55085939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22017553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49579015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n-US">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44551080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n-US">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75096433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n-US">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15989023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16641080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9473985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71086103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33768489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08D76F16-9EE7-42A2-91A7-03D4F48D2C1C}"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E546B10E-E5F0-42EB-ADE9-A375DF7432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34145085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8D76F16-9EE7-42A2-91A7-03D4F48D2C1C}"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E546B10E-E5F0-42EB-ADE9-A375DF7432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816362840"/>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08D76F16-9EE7-42A2-91A7-03D4F48D2C1C}"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E546B10E-E5F0-42EB-ADE9-A375DF7432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07097248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08D76F16-9EE7-42A2-91A7-03D4F48D2C1C}"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E546B10E-E5F0-42EB-ADE9-A375DF7432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39679072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08D76F16-9EE7-42A2-91A7-03D4F48D2C1C}" type="datetimeFigureOut">
              <a:rPr lang="en-US" smtClean="0">
                <a:solidFill>
                  <a:prstClr val="black">
                    <a:tint val="75000"/>
                  </a:prstClr>
                </a:solidFill>
              </a:rPr>
              <a:pPr/>
              <a:t>2/16/2013</a:t>
            </a:fld>
            <a:endParaRPr lang="en-US">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n-US">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E546B10E-E5F0-42EB-ADE9-A375DF7432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14362826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08D76F16-9EE7-42A2-91A7-03D4F48D2C1C}" type="datetimeFigureOut">
              <a:rPr lang="en-US" smtClean="0">
                <a:solidFill>
                  <a:prstClr val="black">
                    <a:tint val="75000"/>
                  </a:prstClr>
                </a:solidFill>
              </a:rPr>
              <a:pPr/>
              <a:t>2/16/2013</a:t>
            </a:fld>
            <a:endParaRPr lang="en-US">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n-US">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E546B10E-E5F0-42EB-ADE9-A375DF7432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23276301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08D76F16-9EE7-42A2-91A7-03D4F48D2C1C}" type="datetimeFigureOut">
              <a:rPr lang="en-US" smtClean="0">
                <a:solidFill>
                  <a:prstClr val="black">
                    <a:tint val="75000"/>
                  </a:prstClr>
                </a:solidFill>
              </a:rPr>
              <a:pPr/>
              <a:t>2/16/2013</a:t>
            </a:fld>
            <a:endParaRPr lang="en-US">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n-US">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E546B10E-E5F0-42EB-ADE9-A375DF7432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67457497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8D76F16-9EE7-42A2-91A7-03D4F48D2C1C}"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E546B10E-E5F0-42EB-ADE9-A375DF7432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08521774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8D76F16-9EE7-42A2-91A7-03D4F48D2C1C}"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E546B10E-E5F0-42EB-ADE9-A375DF7432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13192032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8D76F16-9EE7-42A2-91A7-03D4F48D2C1C}"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E546B10E-E5F0-42EB-ADE9-A375DF7432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10130889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8D76F16-9EE7-42A2-91A7-03D4F48D2C1C}"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E546B10E-E5F0-42EB-ADE9-A375DF7432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69669446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DCFAF3DE-F9D3-4D89-AE98-7044B1EACF66}"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EE9F0441-6F20-4681-8C20-F2917DB4CF20}"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15416908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DCFAF3DE-F9D3-4D89-AE98-7044B1EACF66}"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EE9F0441-6F20-4681-8C20-F2917DB4CF20}"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67165335"/>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DCFAF3DE-F9D3-4D89-AE98-7044B1EACF66}"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EE9F0441-6F20-4681-8C20-F2917DB4CF20}"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72065591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DCFAF3DE-F9D3-4D89-AE98-7044B1EACF66}"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EE9F0441-6F20-4681-8C20-F2917DB4CF20}"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023481620"/>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DCFAF3DE-F9D3-4D89-AE98-7044B1EACF66}" type="datetimeFigureOut">
              <a:rPr lang="en-US" smtClean="0">
                <a:solidFill>
                  <a:prstClr val="black">
                    <a:tint val="75000"/>
                  </a:prstClr>
                </a:solidFill>
              </a:rPr>
              <a:pPr/>
              <a:t>2/16/2013</a:t>
            </a:fld>
            <a:endParaRPr lang="en-US">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n-US">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EE9F0441-6F20-4681-8C20-F2917DB4CF20}"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7540319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DCFAF3DE-F9D3-4D89-AE98-7044B1EACF66}" type="datetimeFigureOut">
              <a:rPr lang="en-US" smtClean="0">
                <a:solidFill>
                  <a:prstClr val="black">
                    <a:tint val="75000"/>
                  </a:prstClr>
                </a:solidFill>
              </a:rPr>
              <a:pPr/>
              <a:t>2/16/2013</a:t>
            </a:fld>
            <a:endParaRPr lang="en-US">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n-US">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EE9F0441-6F20-4681-8C20-F2917DB4CF20}"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22856171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DCFAF3DE-F9D3-4D89-AE98-7044B1EACF66}" type="datetimeFigureOut">
              <a:rPr lang="en-US" smtClean="0">
                <a:solidFill>
                  <a:prstClr val="black">
                    <a:tint val="75000"/>
                  </a:prstClr>
                </a:solidFill>
              </a:rPr>
              <a:pPr/>
              <a:t>2/16/2013</a:t>
            </a:fld>
            <a:endParaRPr lang="en-US">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n-US">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EE9F0441-6F20-4681-8C20-F2917DB4CF20}"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95818360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DCFAF3DE-F9D3-4D89-AE98-7044B1EACF66}"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EE9F0441-6F20-4681-8C20-F2917DB4CF20}"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750928626"/>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DCFAF3DE-F9D3-4D89-AE98-7044B1EACF66}"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EE9F0441-6F20-4681-8C20-F2917DB4CF20}"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535791566"/>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DCFAF3DE-F9D3-4D89-AE98-7044B1EACF66}"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EE9F0441-6F20-4681-8C20-F2917DB4CF20}"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43713980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DCFAF3DE-F9D3-4D89-AE98-7044B1EACF66}"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EE9F0441-6F20-4681-8C20-F2917DB4CF20}"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55202087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7F314B22-89CA-475B-8BD4-CA2D7CD6B335}"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16B45FE7-7974-423E-A55B-5A9ED9A36ACB}"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12009163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7F314B22-89CA-475B-8BD4-CA2D7CD6B335}"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16B45FE7-7974-423E-A55B-5A9ED9A36ACB}"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773507559"/>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7F314B22-89CA-475B-8BD4-CA2D7CD6B335}"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16B45FE7-7974-423E-A55B-5A9ED9A36ACB}"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24372996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7F314B22-89CA-475B-8BD4-CA2D7CD6B335}"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16B45FE7-7974-423E-A55B-5A9ED9A36ACB}"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84339765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7F314B22-89CA-475B-8BD4-CA2D7CD6B335}" type="datetimeFigureOut">
              <a:rPr lang="en-US" smtClean="0">
                <a:solidFill>
                  <a:prstClr val="black">
                    <a:tint val="75000"/>
                  </a:prstClr>
                </a:solidFill>
              </a:rPr>
              <a:pPr/>
              <a:t>2/16/2013</a:t>
            </a:fld>
            <a:endParaRPr lang="en-US">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n-US">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16B45FE7-7974-423E-A55B-5A9ED9A36ACB}"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459726184"/>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7F314B22-89CA-475B-8BD4-CA2D7CD6B335}" type="datetimeFigureOut">
              <a:rPr lang="en-US" smtClean="0">
                <a:solidFill>
                  <a:prstClr val="black">
                    <a:tint val="75000"/>
                  </a:prstClr>
                </a:solidFill>
              </a:rPr>
              <a:pPr/>
              <a:t>2/16/2013</a:t>
            </a:fld>
            <a:endParaRPr lang="en-US">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n-US">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16B45FE7-7974-423E-A55B-5A9ED9A36ACB}"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116710221"/>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F314B22-89CA-475B-8BD4-CA2D7CD6B335}" type="datetimeFigureOut">
              <a:rPr lang="en-US" smtClean="0">
                <a:solidFill>
                  <a:prstClr val="black">
                    <a:tint val="75000"/>
                  </a:prstClr>
                </a:solidFill>
              </a:rPr>
              <a:pPr/>
              <a:t>2/16/2013</a:t>
            </a:fld>
            <a:endParaRPr lang="en-US">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n-US">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16B45FE7-7974-423E-A55B-5A9ED9A36ACB}"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644457046"/>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7F314B22-89CA-475B-8BD4-CA2D7CD6B335}"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16B45FE7-7974-423E-A55B-5A9ED9A36ACB}"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4013120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7F314B22-89CA-475B-8BD4-CA2D7CD6B335}"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16B45FE7-7974-423E-A55B-5A9ED9A36ACB}"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639612161"/>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7F314B22-89CA-475B-8BD4-CA2D7CD6B335}"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16B45FE7-7974-423E-A55B-5A9ED9A36ACB}"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44716620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7F314B22-89CA-475B-8BD4-CA2D7CD6B335}"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16B45FE7-7974-423E-A55B-5A9ED9A36ACB}"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359988346"/>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0A0A0C79-791E-4B00-9EEA-EAD2128CCD14}"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A2EA9143-F1A8-4B32-B4C5-519E28E1D48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677684613"/>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A0A0C79-791E-4B00-9EEA-EAD2128CCD14}"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A2EA9143-F1A8-4B32-B4C5-519E28E1D48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77292668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0A0A0C79-791E-4B00-9EEA-EAD2128CCD14}"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A2EA9143-F1A8-4B32-B4C5-519E28E1D48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013971298"/>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0A0A0C79-791E-4B00-9EEA-EAD2128CCD14}"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A2EA9143-F1A8-4B32-B4C5-519E28E1D48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876614424"/>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0A0A0C79-791E-4B00-9EEA-EAD2128CCD14}" type="datetimeFigureOut">
              <a:rPr lang="en-US" smtClean="0">
                <a:solidFill>
                  <a:prstClr val="black">
                    <a:tint val="75000"/>
                  </a:prstClr>
                </a:solidFill>
              </a:rPr>
              <a:pPr/>
              <a:t>2/16/2013</a:t>
            </a:fld>
            <a:endParaRPr lang="en-US">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n-US">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A2EA9143-F1A8-4B32-B4C5-519E28E1D48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999173354"/>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0A0A0C79-791E-4B00-9EEA-EAD2128CCD14}" type="datetimeFigureOut">
              <a:rPr lang="en-US" smtClean="0">
                <a:solidFill>
                  <a:prstClr val="black">
                    <a:tint val="75000"/>
                  </a:prstClr>
                </a:solidFill>
              </a:rPr>
              <a:pPr/>
              <a:t>2/16/2013</a:t>
            </a:fld>
            <a:endParaRPr lang="en-US">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n-US">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A2EA9143-F1A8-4B32-B4C5-519E28E1D48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644161817"/>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0A0A0C79-791E-4B00-9EEA-EAD2128CCD14}" type="datetimeFigureOut">
              <a:rPr lang="en-US" smtClean="0">
                <a:solidFill>
                  <a:prstClr val="black">
                    <a:tint val="75000"/>
                  </a:prstClr>
                </a:solidFill>
              </a:rPr>
              <a:pPr/>
              <a:t>2/16/2013</a:t>
            </a:fld>
            <a:endParaRPr lang="en-US">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n-US">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A2EA9143-F1A8-4B32-B4C5-519E28E1D48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685593210"/>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A0A0C79-791E-4B00-9EEA-EAD2128CCD14}"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A2EA9143-F1A8-4B32-B4C5-519E28E1D48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92950275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A0A0C79-791E-4B00-9EEA-EAD2128CCD14}"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A2EA9143-F1A8-4B32-B4C5-519E28E1D48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147983783"/>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A0A0C79-791E-4B00-9EEA-EAD2128CCD14}"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A2EA9143-F1A8-4B32-B4C5-519E28E1D48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90976662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A0A0C79-791E-4B00-9EEA-EAD2128CCD14}"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A2EA9143-F1A8-4B32-B4C5-519E28E1D48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86194436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A34FEC30-9BAA-4F4E-889B-175D7E0D4AE6}"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6BB75FE2-BE33-4A72-87B3-AC4AECB2AF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319865240"/>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A34FEC30-9BAA-4F4E-889B-175D7E0D4AE6}"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6BB75FE2-BE33-4A72-87B3-AC4AECB2AF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66974095"/>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A34FEC30-9BAA-4F4E-889B-175D7E0D4AE6}"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6BB75FE2-BE33-4A72-87B3-AC4AECB2AF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871539851"/>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A34FEC30-9BAA-4F4E-889B-175D7E0D4AE6}"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6BB75FE2-BE33-4A72-87B3-AC4AECB2AF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60648245"/>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A34FEC30-9BAA-4F4E-889B-175D7E0D4AE6}" type="datetimeFigureOut">
              <a:rPr lang="en-US" smtClean="0">
                <a:solidFill>
                  <a:prstClr val="black">
                    <a:tint val="75000"/>
                  </a:prstClr>
                </a:solidFill>
              </a:rPr>
              <a:pPr/>
              <a:t>2/16/2013</a:t>
            </a:fld>
            <a:endParaRPr lang="en-US">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n-US">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6BB75FE2-BE33-4A72-87B3-AC4AECB2AF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763380844"/>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A34FEC30-9BAA-4F4E-889B-175D7E0D4AE6}" type="datetimeFigureOut">
              <a:rPr lang="en-US" smtClean="0">
                <a:solidFill>
                  <a:prstClr val="black">
                    <a:tint val="75000"/>
                  </a:prstClr>
                </a:solidFill>
              </a:rPr>
              <a:pPr/>
              <a:t>2/16/2013</a:t>
            </a:fld>
            <a:endParaRPr lang="en-US">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n-US">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6BB75FE2-BE33-4A72-87B3-AC4AECB2AF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65515388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A34FEC30-9BAA-4F4E-889B-175D7E0D4AE6}" type="datetimeFigureOut">
              <a:rPr lang="en-US" smtClean="0">
                <a:solidFill>
                  <a:prstClr val="black">
                    <a:tint val="75000"/>
                  </a:prstClr>
                </a:solidFill>
              </a:rPr>
              <a:pPr/>
              <a:t>2/16/2013</a:t>
            </a:fld>
            <a:endParaRPr lang="en-US">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n-US">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6BB75FE2-BE33-4A72-87B3-AC4AECB2AF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64108056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A34FEC30-9BAA-4F4E-889B-175D7E0D4AE6}"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6BB75FE2-BE33-4A72-87B3-AC4AECB2AF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59356018"/>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A34FEC30-9BAA-4F4E-889B-175D7E0D4AE6}"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6BB75FE2-BE33-4A72-87B3-AC4AECB2AF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455494891"/>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A34FEC30-9BAA-4F4E-889B-175D7E0D4AE6}"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6BB75FE2-BE33-4A72-87B3-AC4AECB2AF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19852568"/>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A34FEC30-9BAA-4F4E-889B-175D7E0D4AE6}"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6BB75FE2-BE33-4A72-87B3-AC4AECB2AF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664609403"/>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2AF10589-1E4B-4882-B744-446BEACA890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58F6083D-0BF6-4AB9-8616-70D5FB587AE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191559958"/>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2AF10589-1E4B-4882-B744-446BEACA890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58F6083D-0BF6-4AB9-8616-70D5FB587AE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08043498"/>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2AF10589-1E4B-4882-B744-446BEACA890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58F6083D-0BF6-4AB9-8616-70D5FB587AE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980323274"/>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2AF10589-1E4B-4882-B744-446BEACA890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58F6083D-0BF6-4AB9-8616-70D5FB587AE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174841563"/>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2AF10589-1E4B-4882-B744-446BEACA8901}" type="datetimeFigureOut">
              <a:rPr lang="en-US" smtClean="0">
                <a:solidFill>
                  <a:prstClr val="black">
                    <a:tint val="75000"/>
                  </a:prstClr>
                </a:solidFill>
              </a:rPr>
              <a:pPr/>
              <a:t>2/16/2013</a:t>
            </a:fld>
            <a:endParaRPr lang="en-US">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n-US">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58F6083D-0BF6-4AB9-8616-70D5FB587AE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91764926"/>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2AF10589-1E4B-4882-B744-446BEACA8901}" type="datetimeFigureOut">
              <a:rPr lang="en-US" smtClean="0">
                <a:solidFill>
                  <a:prstClr val="black">
                    <a:tint val="75000"/>
                  </a:prstClr>
                </a:solidFill>
              </a:rPr>
              <a:pPr/>
              <a:t>2/16/2013</a:t>
            </a:fld>
            <a:endParaRPr lang="en-US">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n-US">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58F6083D-0BF6-4AB9-8616-70D5FB587AE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815629055"/>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2AF10589-1E4B-4882-B744-446BEACA8901}" type="datetimeFigureOut">
              <a:rPr lang="en-US" smtClean="0">
                <a:solidFill>
                  <a:prstClr val="black">
                    <a:tint val="75000"/>
                  </a:prstClr>
                </a:solidFill>
              </a:rPr>
              <a:pPr/>
              <a:t>2/16/2013</a:t>
            </a:fld>
            <a:endParaRPr lang="en-US">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n-US">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58F6083D-0BF6-4AB9-8616-70D5FB587AE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024798119"/>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2AF10589-1E4B-4882-B744-446BEACA890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58F6083D-0BF6-4AB9-8616-70D5FB587AE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431733597"/>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2AF10589-1E4B-4882-B744-446BEACA890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58F6083D-0BF6-4AB9-8616-70D5FB587AE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111980220"/>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2AF10589-1E4B-4882-B744-446BEACA890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58F6083D-0BF6-4AB9-8616-70D5FB587AE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512068584"/>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2AF10589-1E4B-4882-B744-446BEACA890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58F6083D-0BF6-4AB9-8616-70D5FB587AE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664238569"/>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BC8A9AF9-2A89-4F2B-93E7-4B00C3B1C5B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BB572785-EE37-4D64-B6D1-3C9851137B66}"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80784551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BC8A9AF9-2A89-4F2B-93E7-4B00C3B1C5B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BB572785-EE37-4D64-B6D1-3C9851137B66}"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781319000"/>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BC8A9AF9-2A89-4F2B-93E7-4B00C3B1C5B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BB572785-EE37-4D64-B6D1-3C9851137B66}"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885631534"/>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BC8A9AF9-2A89-4F2B-93E7-4B00C3B1C5B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BB572785-EE37-4D64-B6D1-3C9851137B66}"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26310040"/>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BC8A9AF9-2A89-4F2B-93E7-4B00C3B1C5B1}" type="datetimeFigureOut">
              <a:rPr lang="en-US" smtClean="0">
                <a:solidFill>
                  <a:prstClr val="black">
                    <a:tint val="75000"/>
                  </a:prstClr>
                </a:solidFill>
              </a:rPr>
              <a:pPr/>
              <a:t>2/16/2013</a:t>
            </a:fld>
            <a:endParaRPr lang="en-US">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n-US">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BB572785-EE37-4D64-B6D1-3C9851137B66}"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544623210"/>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BC8A9AF9-2A89-4F2B-93E7-4B00C3B1C5B1}" type="datetimeFigureOut">
              <a:rPr lang="en-US" smtClean="0">
                <a:solidFill>
                  <a:prstClr val="black">
                    <a:tint val="75000"/>
                  </a:prstClr>
                </a:solidFill>
              </a:rPr>
              <a:pPr/>
              <a:t>2/16/2013</a:t>
            </a:fld>
            <a:endParaRPr lang="en-US">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n-US">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BB572785-EE37-4D64-B6D1-3C9851137B66}"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332298386"/>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BC8A9AF9-2A89-4F2B-93E7-4B00C3B1C5B1}" type="datetimeFigureOut">
              <a:rPr lang="en-US" smtClean="0">
                <a:solidFill>
                  <a:prstClr val="black">
                    <a:tint val="75000"/>
                  </a:prstClr>
                </a:solidFill>
              </a:rPr>
              <a:pPr/>
              <a:t>2/16/2013</a:t>
            </a:fld>
            <a:endParaRPr lang="en-US">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n-US">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BB572785-EE37-4D64-B6D1-3C9851137B66}"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96531044"/>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BC8A9AF9-2A89-4F2B-93E7-4B00C3B1C5B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BB572785-EE37-4D64-B6D1-3C9851137B66}"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257022554"/>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BC8A9AF9-2A89-4F2B-93E7-4B00C3B1C5B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BB572785-EE37-4D64-B6D1-3C9851137B66}"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534339126"/>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BC8A9AF9-2A89-4F2B-93E7-4B00C3B1C5B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BB572785-EE37-4D64-B6D1-3C9851137B66}"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84388524"/>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BC8A9AF9-2A89-4F2B-93E7-4B00C3B1C5B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BB572785-EE37-4D64-B6D1-3C9851137B66}"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559381411"/>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527479086"/>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896797776"/>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589271196"/>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36160743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n-US">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518380397"/>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n-US">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543335575"/>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n-US">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948581635"/>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133119069"/>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048476840"/>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850064353"/>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5302124"/>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953898578"/>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558810307"/>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868875060"/>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03637387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n-US">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16290951"/>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n-US">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8878986"/>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n-US">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58501011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261636668"/>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068816079"/>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993397615"/>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347712134"/>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830549503"/>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195948675"/>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530223785"/>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975084670"/>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n-US">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074239543"/>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n-US">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861445013"/>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n-US">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803500100"/>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515947559"/>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n-US">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546783593"/>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199878584"/>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n-US">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531826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9.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theme" Target="../theme/theme12.xml"/><Relationship Id="rId2" Type="http://schemas.openxmlformats.org/officeDocument/2006/relationships/slideLayout" Target="../slideLayouts/slideLayout123.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0.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theme" Target="../theme/theme13.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51.xml"/><Relationship Id="rId3" Type="http://schemas.openxmlformats.org/officeDocument/2006/relationships/slideLayout" Target="../slideLayouts/slideLayout146.xml"/><Relationship Id="rId7" Type="http://schemas.openxmlformats.org/officeDocument/2006/relationships/slideLayout" Target="../slideLayouts/slideLayout150.xml"/><Relationship Id="rId12" Type="http://schemas.openxmlformats.org/officeDocument/2006/relationships/theme" Target="../theme/theme14.xml"/><Relationship Id="rId2" Type="http://schemas.openxmlformats.org/officeDocument/2006/relationships/slideLayout" Target="../slideLayouts/slideLayout145.xml"/><Relationship Id="rId1" Type="http://schemas.openxmlformats.org/officeDocument/2006/relationships/slideLayout" Target="../slideLayouts/slideLayout144.xml"/><Relationship Id="rId6" Type="http://schemas.openxmlformats.org/officeDocument/2006/relationships/slideLayout" Target="../slideLayouts/slideLayout149.xml"/><Relationship Id="rId11" Type="http://schemas.openxmlformats.org/officeDocument/2006/relationships/slideLayout" Target="../slideLayouts/slideLayout154.xml"/><Relationship Id="rId5" Type="http://schemas.openxmlformats.org/officeDocument/2006/relationships/slideLayout" Target="../slideLayouts/slideLayout148.xml"/><Relationship Id="rId10" Type="http://schemas.openxmlformats.org/officeDocument/2006/relationships/slideLayout" Target="../slideLayouts/slideLayout153.xml"/><Relationship Id="rId4" Type="http://schemas.openxmlformats.org/officeDocument/2006/relationships/slideLayout" Target="../slideLayouts/slideLayout147.xml"/><Relationship Id="rId9" Type="http://schemas.openxmlformats.org/officeDocument/2006/relationships/slideLayout" Target="../slideLayouts/slideLayout152.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62.xml"/><Relationship Id="rId3" Type="http://schemas.openxmlformats.org/officeDocument/2006/relationships/slideLayout" Target="../slideLayouts/slideLayout157.xml"/><Relationship Id="rId7" Type="http://schemas.openxmlformats.org/officeDocument/2006/relationships/slideLayout" Target="../slideLayouts/slideLayout161.xml"/><Relationship Id="rId12" Type="http://schemas.openxmlformats.org/officeDocument/2006/relationships/theme" Target="../theme/theme15.xml"/><Relationship Id="rId2" Type="http://schemas.openxmlformats.org/officeDocument/2006/relationships/slideLayout" Target="../slideLayouts/slideLayout156.xml"/><Relationship Id="rId1" Type="http://schemas.openxmlformats.org/officeDocument/2006/relationships/slideLayout" Target="../slideLayouts/slideLayout155.xml"/><Relationship Id="rId6" Type="http://schemas.openxmlformats.org/officeDocument/2006/relationships/slideLayout" Target="../slideLayouts/slideLayout160.xml"/><Relationship Id="rId11" Type="http://schemas.openxmlformats.org/officeDocument/2006/relationships/slideLayout" Target="../slideLayouts/slideLayout165.xml"/><Relationship Id="rId5" Type="http://schemas.openxmlformats.org/officeDocument/2006/relationships/slideLayout" Target="../slideLayouts/slideLayout159.xml"/><Relationship Id="rId10" Type="http://schemas.openxmlformats.org/officeDocument/2006/relationships/slideLayout" Target="../slideLayouts/slideLayout164.xml"/><Relationship Id="rId4" Type="http://schemas.openxmlformats.org/officeDocument/2006/relationships/slideLayout" Target="../slideLayouts/slideLayout158.xml"/><Relationship Id="rId9" Type="http://schemas.openxmlformats.org/officeDocument/2006/relationships/slideLayout" Target="../slideLayouts/slideLayout163.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73.xml"/><Relationship Id="rId3" Type="http://schemas.openxmlformats.org/officeDocument/2006/relationships/slideLayout" Target="../slideLayouts/slideLayout168.xml"/><Relationship Id="rId7" Type="http://schemas.openxmlformats.org/officeDocument/2006/relationships/slideLayout" Target="../slideLayouts/slideLayout172.xml"/><Relationship Id="rId12" Type="http://schemas.openxmlformats.org/officeDocument/2006/relationships/theme" Target="../theme/theme16.xml"/><Relationship Id="rId2" Type="http://schemas.openxmlformats.org/officeDocument/2006/relationships/slideLayout" Target="../slideLayouts/slideLayout167.xml"/><Relationship Id="rId1" Type="http://schemas.openxmlformats.org/officeDocument/2006/relationships/slideLayout" Target="../slideLayouts/slideLayout166.xml"/><Relationship Id="rId6" Type="http://schemas.openxmlformats.org/officeDocument/2006/relationships/slideLayout" Target="../slideLayouts/slideLayout171.xml"/><Relationship Id="rId11" Type="http://schemas.openxmlformats.org/officeDocument/2006/relationships/slideLayout" Target="../slideLayouts/slideLayout176.xml"/><Relationship Id="rId5" Type="http://schemas.openxmlformats.org/officeDocument/2006/relationships/slideLayout" Target="../slideLayouts/slideLayout170.xml"/><Relationship Id="rId10" Type="http://schemas.openxmlformats.org/officeDocument/2006/relationships/slideLayout" Target="../slideLayouts/slideLayout175.xml"/><Relationship Id="rId4" Type="http://schemas.openxmlformats.org/officeDocument/2006/relationships/slideLayout" Target="../slideLayouts/slideLayout169.xml"/><Relationship Id="rId9" Type="http://schemas.openxmlformats.org/officeDocument/2006/relationships/slideLayout" Target="../slideLayouts/slideLayout174.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184.xml"/><Relationship Id="rId3" Type="http://schemas.openxmlformats.org/officeDocument/2006/relationships/slideLayout" Target="../slideLayouts/slideLayout179.xml"/><Relationship Id="rId7" Type="http://schemas.openxmlformats.org/officeDocument/2006/relationships/slideLayout" Target="../slideLayouts/slideLayout183.xml"/><Relationship Id="rId12" Type="http://schemas.openxmlformats.org/officeDocument/2006/relationships/theme" Target="../theme/theme17.xml"/><Relationship Id="rId2" Type="http://schemas.openxmlformats.org/officeDocument/2006/relationships/slideLayout" Target="../slideLayouts/slideLayout178.xml"/><Relationship Id="rId1" Type="http://schemas.openxmlformats.org/officeDocument/2006/relationships/slideLayout" Target="../slideLayouts/slideLayout177.xml"/><Relationship Id="rId6" Type="http://schemas.openxmlformats.org/officeDocument/2006/relationships/slideLayout" Target="../slideLayouts/slideLayout182.xml"/><Relationship Id="rId11" Type="http://schemas.openxmlformats.org/officeDocument/2006/relationships/slideLayout" Target="../slideLayouts/slideLayout187.xml"/><Relationship Id="rId5" Type="http://schemas.openxmlformats.org/officeDocument/2006/relationships/slideLayout" Target="../slideLayouts/slideLayout181.xml"/><Relationship Id="rId10" Type="http://schemas.openxmlformats.org/officeDocument/2006/relationships/slideLayout" Target="../slideLayouts/slideLayout186.xml"/><Relationship Id="rId4" Type="http://schemas.openxmlformats.org/officeDocument/2006/relationships/slideLayout" Target="../slideLayouts/slideLayout180.xml"/><Relationship Id="rId9" Type="http://schemas.openxmlformats.org/officeDocument/2006/relationships/slideLayout" Target="../slideLayouts/slideLayout185.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195.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theme" Target="../theme/theme18.xml"/><Relationship Id="rId2" Type="http://schemas.openxmlformats.org/officeDocument/2006/relationships/slideLayout" Target="../slideLayouts/slideLayout189.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06.xml"/><Relationship Id="rId3" Type="http://schemas.openxmlformats.org/officeDocument/2006/relationships/slideLayout" Target="../slideLayouts/slideLayout201.xml"/><Relationship Id="rId7" Type="http://schemas.openxmlformats.org/officeDocument/2006/relationships/slideLayout" Target="../slideLayouts/slideLayout205.xml"/><Relationship Id="rId12" Type="http://schemas.openxmlformats.org/officeDocument/2006/relationships/theme" Target="../theme/theme19.xml"/><Relationship Id="rId2" Type="http://schemas.openxmlformats.org/officeDocument/2006/relationships/slideLayout" Target="../slideLayouts/slideLayout200.xml"/><Relationship Id="rId1" Type="http://schemas.openxmlformats.org/officeDocument/2006/relationships/slideLayout" Target="../slideLayouts/slideLayout199.xml"/><Relationship Id="rId6" Type="http://schemas.openxmlformats.org/officeDocument/2006/relationships/slideLayout" Target="../slideLayouts/slideLayout204.xml"/><Relationship Id="rId11" Type="http://schemas.openxmlformats.org/officeDocument/2006/relationships/slideLayout" Target="../slideLayouts/slideLayout209.xml"/><Relationship Id="rId5" Type="http://schemas.openxmlformats.org/officeDocument/2006/relationships/slideLayout" Target="../slideLayouts/slideLayout203.xml"/><Relationship Id="rId10" Type="http://schemas.openxmlformats.org/officeDocument/2006/relationships/slideLayout" Target="../slideLayouts/slideLayout208.xml"/><Relationship Id="rId4" Type="http://schemas.openxmlformats.org/officeDocument/2006/relationships/slideLayout" Target="../slideLayouts/slideLayout202.xml"/><Relationship Id="rId9" Type="http://schemas.openxmlformats.org/officeDocument/2006/relationships/slideLayout" Target="../slideLayouts/slideLayout20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s-ES" smtClean="0"/>
              <a:t>Haga clic para cambiar el estilo de título	</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fontAlgn="base">
              <a:spcBef>
                <a:spcPct val="0"/>
              </a:spcBef>
              <a:spcAft>
                <a:spcPct val="0"/>
              </a:spcAft>
              <a:defRPr/>
            </a:pPr>
            <a:endParaRPr lang="es-ES">
              <a:solidFill>
                <a:srgbClr val="000000"/>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fontAlgn="base">
              <a:spcBef>
                <a:spcPct val="0"/>
              </a:spcBef>
              <a:spcAft>
                <a:spcPct val="0"/>
              </a:spcAft>
              <a:defRPr/>
            </a:pPr>
            <a:endParaRPr lang="es-ES">
              <a:solidFill>
                <a:srgbClr val="000000"/>
              </a:solidFill>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defRPr/>
            </a:pPr>
            <a:fld id="{79DAAC8B-0669-4362-97E7-B6CECE705B9C}" type="slidenum">
              <a:rPr lang="es-ES">
                <a:solidFill>
                  <a:srgbClr val="000000"/>
                </a:solidFill>
              </a:rPr>
              <a:pPr fontAlgn="base">
                <a:spcBef>
                  <a:spcPct val="0"/>
                </a:spcBef>
                <a:spcAft>
                  <a:spcPct val="0"/>
                </a:spcAft>
                <a:defRPr/>
              </a:pPr>
              <a:t>‹Nº›</a:t>
            </a:fld>
            <a:endParaRPr lang="es-ES">
              <a:solidFill>
                <a:srgbClr val="000000"/>
              </a:solidFill>
            </a:endParaRPr>
          </a:p>
        </p:txBody>
      </p:sp>
    </p:spTree>
    <p:extLst>
      <p:ext uri="{BB962C8B-B14F-4D97-AF65-F5344CB8AC3E}">
        <p14:creationId xmlns:p14="http://schemas.microsoft.com/office/powerpoint/2010/main" val="2396328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404342000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17038467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64579475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786188100"/>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72841747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1363396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289991682"/>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438794069"/>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D76F16-9EE7-42A2-91A7-03D4F48D2C1C}"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46B10E-E5F0-42EB-ADE9-A375DF7432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853377203"/>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FAF3DE-F9D3-4D89-AE98-7044B1EACF66}"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9F0441-6F20-4681-8C20-F2917DB4CF20}"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3359938330"/>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314B22-89CA-475B-8BD4-CA2D7CD6B335}"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B45FE7-7974-423E-A55B-5A9ED9A36ACB}"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767114415"/>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0A0C79-791E-4B00-9EEA-EAD2128CCD14}"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EA9143-F1A8-4B32-B4C5-519E28E1D48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676266169"/>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4FEC30-9BAA-4F4E-889B-175D7E0D4AE6}"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B75FE2-BE33-4A72-87B3-AC4AECB2AF6D}"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089705963"/>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10589-1E4B-4882-B744-446BEACA890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F6083D-0BF6-4AB9-8616-70D5FB587AEA}"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210352908"/>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A9AF9-2A89-4F2B-93E7-4B00C3B1C5B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572785-EE37-4D64-B6D1-3C9851137B66}"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939742590"/>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524481912"/>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1094647790"/>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BCA7B-B61E-44D7-BCB0-9D0A6A984D11}" type="datetimeFigureOut">
              <a:rPr lang="en-US" smtClean="0">
                <a:solidFill>
                  <a:prstClr val="black">
                    <a:tint val="75000"/>
                  </a:prstClr>
                </a:solidFill>
              </a:rPr>
              <a:pPr/>
              <a:t>2/16/2013</a:t>
            </a:fld>
            <a:endParaRPr lang="en-US">
              <a:solidFill>
                <a:prstClr val="black">
                  <a:tint val="75000"/>
                </a:prstClr>
              </a:solidFill>
            </a:endParaRP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F09742-698D-4FBD-86CA-B214062EBA99}"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2857279895"/>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8.xml"/></Relationships>
</file>

<file path=ppt/slides/_rels/slide4.xml.rels><?xml version="1.0" encoding="UTF-8" standalone="yes"?>
<Relationships xmlns="http://schemas.openxmlformats.org/package/2006/relationships"><Relationship Id="rId8" Type="http://schemas.openxmlformats.org/officeDocument/2006/relationships/image" Target="../media/image11.gif"/><Relationship Id="rId3" Type="http://schemas.openxmlformats.org/officeDocument/2006/relationships/image" Target="../media/image6.png"/><Relationship Id="rId7" Type="http://schemas.openxmlformats.org/officeDocument/2006/relationships/image" Target="../media/image10.gif"/><Relationship Id="rId2" Type="http://schemas.openxmlformats.org/officeDocument/2006/relationships/image" Target="../media/image5.png"/><Relationship Id="rId1" Type="http://schemas.openxmlformats.org/officeDocument/2006/relationships/slideLayout" Target="../slideLayouts/slideLayout177.xml"/><Relationship Id="rId6" Type="http://schemas.openxmlformats.org/officeDocument/2006/relationships/image" Target="../media/image9.gif"/><Relationship Id="rId11" Type="http://schemas.openxmlformats.org/officeDocument/2006/relationships/image" Target="../media/image3.png"/><Relationship Id="rId5" Type="http://schemas.openxmlformats.org/officeDocument/2006/relationships/image" Target="../media/image8.gif"/><Relationship Id="rId10" Type="http://schemas.openxmlformats.org/officeDocument/2006/relationships/image" Target="../media/image13.png"/><Relationship Id="rId4" Type="http://schemas.openxmlformats.org/officeDocument/2006/relationships/image" Target="../media/image7.gif"/><Relationship Id="rId9" Type="http://schemas.openxmlformats.org/officeDocument/2006/relationships/image" Target="../media/image12.gif"/></Relationships>
</file>

<file path=ppt/slides/_rels/slide5.xml.rels><?xml version="1.0" encoding="UTF-8" standalone="yes"?>
<Relationships xmlns="http://schemas.openxmlformats.org/package/2006/relationships"><Relationship Id="rId8" Type="http://schemas.openxmlformats.org/officeDocument/2006/relationships/image" Target="../media/image20.jpeg"/><Relationship Id="rId13" Type="http://schemas.openxmlformats.org/officeDocument/2006/relationships/image" Target="../media/image25.png"/><Relationship Id="rId3" Type="http://schemas.openxmlformats.org/officeDocument/2006/relationships/image" Target="../media/image15.jpg"/><Relationship Id="rId7" Type="http://schemas.openxmlformats.org/officeDocument/2006/relationships/image" Target="../media/image19.jpg"/><Relationship Id="rId12" Type="http://schemas.openxmlformats.org/officeDocument/2006/relationships/image" Target="../media/image24.jpeg"/><Relationship Id="rId2" Type="http://schemas.openxmlformats.org/officeDocument/2006/relationships/image" Target="../media/image14.png"/><Relationship Id="rId1" Type="http://schemas.openxmlformats.org/officeDocument/2006/relationships/slideLayout" Target="../slideLayouts/slideLayout177.xml"/><Relationship Id="rId6" Type="http://schemas.openxmlformats.org/officeDocument/2006/relationships/image" Target="../media/image18.png"/><Relationship Id="rId11" Type="http://schemas.openxmlformats.org/officeDocument/2006/relationships/image" Target="../media/image23.gif"/><Relationship Id="rId5" Type="http://schemas.openxmlformats.org/officeDocument/2006/relationships/image" Target="../media/image17.jpg"/><Relationship Id="rId15" Type="http://schemas.openxmlformats.org/officeDocument/2006/relationships/image" Target="../media/image3.png"/><Relationship Id="rId10" Type="http://schemas.openxmlformats.org/officeDocument/2006/relationships/image" Target="../media/image22.jpg"/><Relationship Id="rId4" Type="http://schemas.openxmlformats.org/officeDocument/2006/relationships/image" Target="../media/image16.jpeg"/><Relationship Id="rId9" Type="http://schemas.openxmlformats.org/officeDocument/2006/relationships/image" Target="../media/image21.png"/><Relationship Id="rId14"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png"/><Relationship Id="rId1" Type="http://schemas.openxmlformats.org/officeDocument/2006/relationships/slideLayout" Target="../slideLayouts/slideLayout199.xml"/><Relationship Id="rId4" Type="http://schemas.openxmlformats.org/officeDocument/2006/relationships/hyperlink" Target="http://msdn.microsoft.com/en-us/library/ms175010(v=sql.105).aspx"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4.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3" Type="http://schemas.openxmlformats.org/officeDocument/2006/relationships/hyperlink" Target="http://support.microsoft.com/kb/305977?wa=wsignin1.0" TargetMode="External"/><Relationship Id="rId2" Type="http://schemas.openxmlformats.org/officeDocument/2006/relationships/image" Target="../media/image34.png"/><Relationship Id="rId1" Type="http://schemas.openxmlformats.org/officeDocument/2006/relationships/slideLayout" Target="../slideLayouts/slideLayout45.xml"/><Relationship Id="rId5" Type="http://schemas.openxmlformats.org/officeDocument/2006/relationships/image" Target="../media/image3.png"/><Relationship Id="rId4" Type="http://schemas.openxmlformats.org/officeDocument/2006/relationships/hyperlink" Target="http://support.microsoft.com/kb/243586"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6.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6.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6.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67.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7.xml"/></Relationships>
</file>

<file path=ppt/slides/_rels/slide21.xml.rels><?xml version="1.0" encoding="UTF-8" standalone="yes"?>
<Relationships xmlns="http://schemas.openxmlformats.org/package/2006/relationships"><Relationship Id="rId3" Type="http://schemas.openxmlformats.org/officeDocument/2006/relationships/hyperlink" Target="http://www.youtube.com/watch?v=EHSeIiuvKt8" TargetMode="External"/><Relationship Id="rId2" Type="http://schemas.openxmlformats.org/officeDocument/2006/relationships/image" Target="../media/image3.png"/><Relationship Id="rId1" Type="http://schemas.openxmlformats.org/officeDocument/2006/relationships/slideLayout" Target="../slideLayouts/slideLayout89.xml"/><Relationship Id="rId4" Type="http://schemas.openxmlformats.org/officeDocument/2006/relationships/image" Target="../media/image37.jpe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8.png"/><Relationship Id="rId1" Type="http://schemas.openxmlformats.org/officeDocument/2006/relationships/slideLayout" Target="../slideLayouts/slideLayout78.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0.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0.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0.png"/><Relationship Id="rId1" Type="http://schemas.openxmlformats.org/officeDocument/2006/relationships/slideLayout" Target="../slideLayouts/slideLayout100.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100.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00.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xml"/><Relationship Id="rId1" Type="http://schemas.openxmlformats.org/officeDocument/2006/relationships/slideLayout" Target="../slideLayouts/slideLayout100.xml"/><Relationship Id="rId6" Type="http://schemas.openxmlformats.org/officeDocument/2006/relationships/image" Target="../media/image3.png"/><Relationship Id="rId5" Type="http://schemas.openxmlformats.org/officeDocument/2006/relationships/image" Target="../media/image43.png"/><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xml"/><Relationship Id="rId1" Type="http://schemas.openxmlformats.org/officeDocument/2006/relationships/slideLayout" Target="../slideLayouts/slideLayout100.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xml"/><Relationship Id="rId1" Type="http://schemas.openxmlformats.org/officeDocument/2006/relationships/slideLayout" Target="../slideLayouts/slideLayout100.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100.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1.png"/><Relationship Id="rId7" Type="http://schemas.openxmlformats.org/officeDocument/2006/relationships/image" Target="../media/image48.png"/><Relationship Id="rId2" Type="http://schemas.openxmlformats.org/officeDocument/2006/relationships/notesSlide" Target="../notesSlides/notesSlide7.xml"/><Relationship Id="rId1" Type="http://schemas.openxmlformats.org/officeDocument/2006/relationships/slideLayout" Target="../slideLayouts/slideLayout100.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xml"/><Relationship Id="rId1" Type="http://schemas.openxmlformats.org/officeDocument/2006/relationships/slideLayout" Target="../slideLayouts/slideLayout100.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100.xml"/><Relationship Id="rId5" Type="http://schemas.openxmlformats.org/officeDocument/2006/relationships/image" Target="../media/image3.png"/><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1.xml"/></Relationships>
</file>

<file path=ppt/slides/_rels/slide3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11.xml"/><Relationship Id="rId6" Type="http://schemas.openxmlformats.org/officeDocument/2006/relationships/image" Target="../media/image3.png"/><Relationship Id="rId5" Type="http://schemas.openxmlformats.org/officeDocument/2006/relationships/image" Target="../media/image54.png"/><Relationship Id="rId4" Type="http://schemas.openxmlformats.org/officeDocument/2006/relationships/image" Target="../media/image53.png"/></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11.xml"/><Relationship Id="rId6" Type="http://schemas.openxmlformats.org/officeDocument/2006/relationships/image" Target="../media/image3.png"/><Relationship Id="rId5" Type="http://schemas.openxmlformats.org/officeDocument/2006/relationships/image" Target="../media/image58.png"/><Relationship Id="rId4" Type="http://schemas.openxmlformats.org/officeDocument/2006/relationships/image" Target="../media/image57.png"/></Relationships>
</file>

<file path=ppt/slides/_rels/slide3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11.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1.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1.xml"/></Relationships>
</file>

<file path=ppt/slides/_rels/slide4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11.xml"/><Relationship Id="rId6" Type="http://schemas.openxmlformats.org/officeDocument/2006/relationships/image" Target="../media/image3.png"/><Relationship Id="rId5" Type="http://schemas.openxmlformats.org/officeDocument/2006/relationships/image" Target="../media/image64.png"/><Relationship Id="rId4" Type="http://schemas.openxmlformats.org/officeDocument/2006/relationships/image" Target="../media/image63.png"/></Relationships>
</file>

<file path=ppt/slides/_rels/slide4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5.png"/><Relationship Id="rId1" Type="http://schemas.openxmlformats.org/officeDocument/2006/relationships/slideLayout" Target="../slideLayouts/slideLayout111.xml"/><Relationship Id="rId5" Type="http://schemas.openxmlformats.org/officeDocument/2006/relationships/image" Target="../media/image3.png"/><Relationship Id="rId4" Type="http://schemas.openxmlformats.org/officeDocument/2006/relationships/image" Target="../media/image66.png"/></Relationships>
</file>

<file path=ppt/slides/_rels/slide4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11.xml"/><Relationship Id="rId5" Type="http://schemas.openxmlformats.org/officeDocument/2006/relationships/image" Target="../media/image3.png"/><Relationship Id="rId4" Type="http://schemas.openxmlformats.org/officeDocument/2006/relationships/image" Target="../media/image69.png"/></Relationships>
</file>

<file path=ppt/slides/_rels/slide4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11.xml"/><Relationship Id="rId5" Type="http://schemas.openxmlformats.org/officeDocument/2006/relationships/image" Target="../media/image3.png"/><Relationship Id="rId4" Type="http://schemas.openxmlformats.org/officeDocument/2006/relationships/image" Target="../media/image71.png"/></Relationships>
</file>

<file path=ppt/slides/_rels/slide4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11.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11.xml"/><Relationship Id="rId6" Type="http://schemas.openxmlformats.org/officeDocument/2006/relationships/image" Target="../media/image3.png"/><Relationship Id="rId5" Type="http://schemas.openxmlformats.org/officeDocument/2006/relationships/image" Target="../media/image77.png"/><Relationship Id="rId4" Type="http://schemas.openxmlformats.org/officeDocument/2006/relationships/image" Target="../media/image76.png"/></Relationships>
</file>

<file path=ppt/slides/_rels/slide4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8.png"/><Relationship Id="rId1" Type="http://schemas.openxmlformats.org/officeDocument/2006/relationships/slideLayout" Target="../slideLayouts/slideLayout111.xml"/><Relationship Id="rId5" Type="http://schemas.openxmlformats.org/officeDocument/2006/relationships/image" Target="../media/image3.png"/><Relationship Id="rId4" Type="http://schemas.openxmlformats.org/officeDocument/2006/relationships/image" Target="../media/image79.png"/></Relationships>
</file>

<file path=ppt/slides/_rels/slide4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11.xml"/><Relationship Id="rId5" Type="http://schemas.openxmlformats.org/officeDocument/2006/relationships/image" Target="../media/image3.png"/><Relationship Id="rId4" Type="http://schemas.openxmlformats.org/officeDocument/2006/relationships/image" Target="../media/image82.png"/></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1.xml"/></Relationships>
</file>

<file path=ppt/slides/_rels/slide5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11.xml"/><Relationship Id="rId5" Type="http://schemas.openxmlformats.org/officeDocument/2006/relationships/image" Target="../media/image3.png"/><Relationship Id="rId4" Type="http://schemas.openxmlformats.org/officeDocument/2006/relationships/image" Target="../media/image85.png"/></Relationships>
</file>

<file path=ppt/slides/_rels/slide5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111.xml"/><Relationship Id="rId6" Type="http://schemas.openxmlformats.org/officeDocument/2006/relationships/image" Target="../media/image3.png"/><Relationship Id="rId5" Type="http://schemas.openxmlformats.org/officeDocument/2006/relationships/image" Target="../media/image89.png"/><Relationship Id="rId4" Type="http://schemas.openxmlformats.org/officeDocument/2006/relationships/image" Target="../media/image88.png"/></Relationships>
</file>

<file path=ppt/slides/_rels/slide5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11.xml"/><Relationship Id="rId6" Type="http://schemas.openxmlformats.org/officeDocument/2006/relationships/image" Target="../media/image3.png"/><Relationship Id="rId5" Type="http://schemas.openxmlformats.org/officeDocument/2006/relationships/image" Target="../media/image93.png"/><Relationship Id="rId4" Type="http://schemas.openxmlformats.org/officeDocument/2006/relationships/image" Target="../media/image92.png"/></Relationships>
</file>

<file path=ppt/slides/_rels/slide5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111.xml"/><Relationship Id="rId6" Type="http://schemas.openxmlformats.org/officeDocument/2006/relationships/image" Target="../media/image3.png"/><Relationship Id="rId5" Type="http://schemas.openxmlformats.org/officeDocument/2006/relationships/image" Target="../media/image97.png"/><Relationship Id="rId4" Type="http://schemas.openxmlformats.org/officeDocument/2006/relationships/image" Target="../media/image96.png"/></Relationships>
</file>

<file path=ppt/slides/_rels/slide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1.xml"/></Relationships>
</file>

<file path=ppt/slides/_rels/slide5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11.xml"/><Relationship Id="rId5" Type="http://schemas.openxmlformats.org/officeDocument/2006/relationships/image" Target="../media/image3.png"/><Relationship Id="rId4" Type="http://schemas.openxmlformats.org/officeDocument/2006/relationships/image" Target="../media/image100.png"/></Relationships>
</file>

<file path=ppt/slides/_rels/slide5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111.xml"/><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111.xml"/><Relationship Id="rId6" Type="http://schemas.openxmlformats.org/officeDocument/2006/relationships/image" Target="../media/image3.png"/><Relationship Id="rId5" Type="http://schemas.openxmlformats.org/officeDocument/2006/relationships/image" Target="../media/image106.png"/><Relationship Id="rId4" Type="http://schemas.openxmlformats.org/officeDocument/2006/relationships/image" Target="../media/image105.png"/></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upport.microsoft.com/kb/920093" TargetMode="External"/><Relationship Id="rId1" Type="http://schemas.openxmlformats.org/officeDocument/2006/relationships/slideLayout" Target="../slideLayouts/slideLayout111.xml"/></Relationships>
</file>

<file path=ppt/slides/_rels/slide59.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111.xml"/><Relationship Id="rId5" Type="http://schemas.openxmlformats.org/officeDocument/2006/relationships/image" Target="../media/image3.png"/><Relationship Id="rId4" Type="http://schemas.openxmlformats.org/officeDocument/2006/relationships/image" Target="../media/image109.png"/></Relationships>
</file>

<file path=ppt/slides/_rels/slide6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111.xml"/><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upport.microsoft.com/kb/978430" TargetMode="External"/><Relationship Id="rId1" Type="http://schemas.openxmlformats.org/officeDocument/2006/relationships/slideLayout" Target="../slideLayouts/slideLayout111.xml"/></Relationships>
</file>

<file path=ppt/slides/_rels/slide6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111.xml"/><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4.png"/><Relationship Id="rId1" Type="http://schemas.openxmlformats.org/officeDocument/2006/relationships/slideLayout" Target="../slideLayouts/slideLayout111.xml"/></Relationships>
</file>

<file path=ppt/slides/_rels/slide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1.xml"/></Relationships>
</file>

<file path=ppt/slides/_rels/slide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1.xml"/></Relationships>
</file>

<file path=ppt/slides/_rels/slide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1.xml"/></Relationships>
</file>

<file path=ppt/slides/_rels/slide6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1.xml"/></Relationships>
</file>

<file path=ppt/slides/_rels/slide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1.xml"/></Relationships>
</file>

<file path=ppt/slides/_rels/slide6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0.xml"/><Relationship Id="rId1" Type="http://schemas.openxmlformats.org/officeDocument/2006/relationships/slideLayout" Target="../slideLayouts/slideLayout111.xml"/><Relationship Id="rId5" Type="http://schemas.openxmlformats.org/officeDocument/2006/relationships/image" Target="../media/image3.png"/><Relationship Id="rId4" Type="http://schemas.openxmlformats.org/officeDocument/2006/relationships/image" Target="../media/image116.png"/></Relationships>
</file>

<file path=ppt/slides/_rels/slide70.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111.xml"/><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9.png"/><Relationship Id="rId1" Type="http://schemas.openxmlformats.org/officeDocument/2006/relationships/slideLayout" Target="../slideLayouts/slideLayout111.xml"/></Relationships>
</file>

<file path=ppt/slides/_rels/slide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1.xml"/></Relationships>
</file>

<file path=ppt/slides/_rels/slide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1.xml"/></Relationships>
</file>

<file path=ppt/slides/_rels/slide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0.png"/><Relationship Id="rId1" Type="http://schemas.openxmlformats.org/officeDocument/2006/relationships/slideLayout" Target="../slideLayouts/slideLayout111.xml"/></Relationships>
</file>

<file path=ppt/slides/_rels/slide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1.png"/><Relationship Id="rId1" Type="http://schemas.openxmlformats.org/officeDocument/2006/relationships/slideLayout" Target="../slideLayouts/slideLayout111.xml"/></Relationships>
</file>

<file path=ppt/slides/_rels/slide7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111.xml"/><Relationship Id="rId4" Type="http://schemas.openxmlformats.org/officeDocument/2006/relationships/image" Target="../media/image3.png"/></Relationships>
</file>

<file path=ppt/slides/_rels/slide77.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111.xml"/><Relationship Id="rId4" Type="http://schemas.openxmlformats.org/officeDocument/2006/relationships/image" Target="../media/image3.png"/></Relationships>
</file>

<file path=ppt/slides/_rels/slide7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2.xml"/></Relationships>
</file>

<file path=ppt/slides/_rels/slide79.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122.xml"/><Relationship Id="rId5" Type="http://schemas.openxmlformats.org/officeDocument/2006/relationships/image" Target="../media/image3.png"/><Relationship Id="rId4" Type="http://schemas.openxmlformats.org/officeDocument/2006/relationships/image" Target="../media/image128.png"/></Relationships>
</file>

<file path=ppt/slides/_rels/slide8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2.xml"/></Relationships>
</file>

<file path=ppt/slides/_rels/slide8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2.xml"/></Relationships>
</file>

<file path=ppt/slides/_rels/slide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9.png"/><Relationship Id="rId1" Type="http://schemas.openxmlformats.org/officeDocument/2006/relationships/slideLayout" Target="../slideLayouts/slideLayout122.xml"/></Relationships>
</file>

<file path=ppt/slides/_rels/slide83.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1.xml"/><Relationship Id="rId1" Type="http://schemas.openxmlformats.org/officeDocument/2006/relationships/slideLayout" Target="../slideLayouts/slideLayout122.xml"/><Relationship Id="rId5" Type="http://schemas.openxmlformats.org/officeDocument/2006/relationships/image" Target="../media/image3.png"/><Relationship Id="rId4" Type="http://schemas.openxmlformats.org/officeDocument/2006/relationships/image" Target="../media/image129.png"/></Relationships>
</file>

<file path=ppt/slides/_rels/slide84.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2.xml"/><Relationship Id="rId1" Type="http://schemas.openxmlformats.org/officeDocument/2006/relationships/slideLayout" Target="../slideLayouts/slideLayout122.xml"/><Relationship Id="rId5" Type="http://schemas.openxmlformats.org/officeDocument/2006/relationships/image" Target="../media/image3.png"/><Relationship Id="rId4" Type="http://schemas.openxmlformats.org/officeDocument/2006/relationships/image" Target="../media/image132.png"/></Relationships>
</file>

<file path=ppt/slides/_rels/slide8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22.xml"/></Relationships>
</file>

<file path=ppt/slides/_rels/slide86.xml.rels><?xml version="1.0" encoding="UTF-8" standalone="yes"?>
<Relationships xmlns="http://schemas.openxmlformats.org/package/2006/relationships"><Relationship Id="rId3" Type="http://schemas.openxmlformats.org/officeDocument/2006/relationships/image" Target="../media/image133.png"/><Relationship Id="rId7"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22.xml"/><Relationship Id="rId6" Type="http://schemas.openxmlformats.org/officeDocument/2006/relationships/image" Target="../media/image136.png"/><Relationship Id="rId5" Type="http://schemas.openxmlformats.org/officeDocument/2006/relationships/image" Target="../media/image135.png"/><Relationship Id="rId4" Type="http://schemas.openxmlformats.org/officeDocument/2006/relationships/image" Target="../media/image134.png"/></Relationships>
</file>

<file path=ppt/slides/_rels/slide87.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image" Target="../media/image3.png"/><Relationship Id="rId1" Type="http://schemas.openxmlformats.org/officeDocument/2006/relationships/slideLayout" Target="../slideLayouts/slideLayout133.xml"/><Relationship Id="rId4" Type="http://schemas.openxmlformats.org/officeDocument/2006/relationships/image" Target="../media/image138.png"/></Relationships>
</file>

<file path=ppt/slides/_rels/slide8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133.xml"/><Relationship Id="rId5" Type="http://schemas.openxmlformats.org/officeDocument/2006/relationships/image" Target="../media/image3.png"/><Relationship Id="rId4" Type="http://schemas.openxmlformats.org/officeDocument/2006/relationships/image" Target="../media/image141.png"/></Relationships>
</file>

<file path=ppt/slides/_rels/slide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2.png"/><Relationship Id="rId1" Type="http://schemas.openxmlformats.org/officeDocument/2006/relationships/slideLayout" Target="../slideLayouts/slideLayout133.xml"/></Relationships>
</file>

<file path=ppt/slides/_rels/slide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3.png"/><Relationship Id="rId1" Type="http://schemas.openxmlformats.org/officeDocument/2006/relationships/slideLayout" Target="../slideLayouts/slideLayout133.xml"/></Relationships>
</file>

<file path=ppt/slides/_rels/slide9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3.xml"/></Relationships>
</file>

<file path=ppt/slides/_rels/slide92.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133.xml"/><Relationship Id="rId4" Type="http://schemas.openxmlformats.org/officeDocument/2006/relationships/image" Target="../media/image3.png"/></Relationships>
</file>

<file path=ppt/slides/_rels/slide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4.png"/><Relationship Id="rId1" Type="http://schemas.openxmlformats.org/officeDocument/2006/relationships/slideLayout" Target="../slideLayouts/slideLayout133.xml"/></Relationships>
</file>

<file path=ppt/slides/_rels/slide9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3.xml"/></Relationships>
</file>

<file path=ppt/slides/_rels/slide9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9.png"/><Relationship Id="rId1" Type="http://schemas.openxmlformats.org/officeDocument/2006/relationships/slideLayout" Target="../slideLayouts/slideLayout133.xml"/></Relationships>
</file>

<file path=ppt/slides/_rels/slide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6.png"/><Relationship Id="rId1" Type="http://schemas.openxmlformats.org/officeDocument/2006/relationships/slideLayout" Target="../slideLayouts/slideLayout133.xml"/></Relationships>
</file>

<file path=ppt/slides/_rels/slide97.xml.rels><?xml version="1.0" encoding="UTF-8" standalone="yes"?>
<Relationships xmlns="http://schemas.openxmlformats.org/package/2006/relationships"><Relationship Id="rId3" Type="http://schemas.openxmlformats.org/officeDocument/2006/relationships/hyperlink" Target="http://msdn.microsoft.com/en-us/library/ms188396.aspx" TargetMode="External"/><Relationship Id="rId2" Type="http://schemas.openxmlformats.org/officeDocument/2006/relationships/image" Target="../media/image146.png"/><Relationship Id="rId1" Type="http://schemas.openxmlformats.org/officeDocument/2006/relationships/slideLayout" Target="../slideLayouts/slideLayout133.xml"/><Relationship Id="rId4" Type="http://schemas.openxmlformats.org/officeDocument/2006/relationships/image" Target="../media/image3.png"/></Relationships>
</file>

<file path=ppt/slides/_rels/slide9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7.png"/><Relationship Id="rId1" Type="http://schemas.openxmlformats.org/officeDocument/2006/relationships/slideLayout" Target="../slideLayouts/slideLayout133.xml"/></Relationships>
</file>

<file path=ppt/slides/_rels/slide9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3.xml"/></Relationships>
</file>

<file path=ppt/slides/_rels/slide10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3.xml"/></Relationships>
</file>

<file path=ppt/slides/_rels/slide10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3.xml"/></Relationships>
</file>

<file path=ppt/slides/_rels/slide102.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133.xml"/><Relationship Id="rId4" Type="http://schemas.openxmlformats.org/officeDocument/2006/relationships/image" Target="../media/image3.png"/></Relationships>
</file>

<file path=ppt/slides/_rels/slide10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4.xml"/></Relationships>
</file>

<file path=ppt/slides/_rels/slide10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4.xml"/></Relationships>
</file>

<file path=ppt/slides/_rels/slide105.xml.rels><?xml version="1.0" encoding="UTF-8" standalone="yes"?>
<Relationships xmlns="http://schemas.openxmlformats.org/package/2006/relationships"><Relationship Id="rId3" Type="http://schemas.openxmlformats.org/officeDocument/2006/relationships/hyperlink" Target="http://msdn.microsoft.com/en-us/library/ms178071(v=sql.105).aspx" TargetMode="External"/><Relationship Id="rId2" Type="http://schemas.openxmlformats.org/officeDocument/2006/relationships/hyperlink" Target="http://msdn.microsoft.com/en-us/library/ms175913(v=sql.105).aspx" TargetMode="External"/><Relationship Id="rId1" Type="http://schemas.openxmlformats.org/officeDocument/2006/relationships/slideLayout" Target="../slideLayouts/slideLayout144.xml"/><Relationship Id="rId4" Type="http://schemas.openxmlformats.org/officeDocument/2006/relationships/image" Target="../media/image3.png"/></Relationships>
</file>

<file path=ppt/slides/_rels/slide106.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144.xml"/><Relationship Id="rId5" Type="http://schemas.openxmlformats.org/officeDocument/2006/relationships/image" Target="../media/image3.png"/><Relationship Id="rId4" Type="http://schemas.openxmlformats.org/officeDocument/2006/relationships/image" Target="../media/image152.png"/></Relationships>
</file>

<file path=ppt/slides/_rels/slide107.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144.xml"/><Relationship Id="rId4" Type="http://schemas.openxmlformats.org/officeDocument/2006/relationships/image" Target="../media/image3.png"/></Relationships>
</file>

<file path=ppt/slides/_rels/slide10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2.png"/><Relationship Id="rId1" Type="http://schemas.openxmlformats.org/officeDocument/2006/relationships/slideLayout" Target="../slideLayouts/slideLayout144.xml"/></Relationships>
</file>

<file path=ppt/slides/_rels/slide109.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5.png"/><Relationship Id="rId1" Type="http://schemas.openxmlformats.org/officeDocument/2006/relationships/slideLayout" Target="../slideLayouts/slideLayout144.xml"/><Relationship Id="rId4" Type="http://schemas.openxmlformats.org/officeDocument/2006/relationships/image" Target="../media/image3.png"/></Relationships>
</file>

<file path=ppt/slides/_rels/slide110.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144.xml"/><Relationship Id="rId4" Type="http://schemas.openxmlformats.org/officeDocument/2006/relationships/image" Target="../media/image3.png"/></Relationships>
</file>

<file path=ppt/slides/_rels/slide111.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144.xml"/><Relationship Id="rId5" Type="http://schemas.openxmlformats.org/officeDocument/2006/relationships/image" Target="../media/image3.png"/><Relationship Id="rId4" Type="http://schemas.openxmlformats.org/officeDocument/2006/relationships/image" Target="../media/image160.png"/></Relationships>
</file>

<file path=ppt/slides/_rels/slide1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5.xml"/></Relationships>
</file>

<file path=ppt/slides/_rels/slide113.xml.rels><?xml version="1.0" encoding="UTF-8" standalone="yes"?>
<Relationships xmlns="http://schemas.openxmlformats.org/package/2006/relationships"><Relationship Id="rId3" Type="http://schemas.openxmlformats.org/officeDocument/2006/relationships/hyperlink" Target="http://msdn.microsoft.com/en-us/library/ms191426(v=sql.105).aspx" TargetMode="External"/><Relationship Id="rId2" Type="http://schemas.openxmlformats.org/officeDocument/2006/relationships/image" Target="../media/image3.png"/><Relationship Id="rId1" Type="http://schemas.openxmlformats.org/officeDocument/2006/relationships/slideLayout" Target="../slideLayouts/slideLayout155.xml"/></Relationships>
</file>

<file path=ppt/slides/_rels/slide1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9.png"/><Relationship Id="rId1" Type="http://schemas.openxmlformats.org/officeDocument/2006/relationships/slideLayout" Target="../slideLayouts/slideLayout155.xml"/></Relationships>
</file>

<file path=ppt/slides/_rels/slide115.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slideLayout" Target="../slideLayouts/slideLayout155.xml"/><Relationship Id="rId4" Type="http://schemas.openxmlformats.org/officeDocument/2006/relationships/image" Target="../media/image3.png"/></Relationships>
</file>

<file path=ppt/slides/_rels/slide116.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155.xml"/><Relationship Id="rId6" Type="http://schemas.openxmlformats.org/officeDocument/2006/relationships/image" Target="../media/image3.png"/><Relationship Id="rId5" Type="http://schemas.openxmlformats.org/officeDocument/2006/relationships/hyperlink" Target="http://msdn.microsoft.com/en-us/library/ms142566(v=sql.105).aspx" TargetMode="External"/><Relationship Id="rId4" Type="http://schemas.openxmlformats.org/officeDocument/2006/relationships/image" Target="../media/image165.png"/></Relationships>
</file>

<file path=ppt/slides/_rels/slide117.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hyperlink" Target="http://blogs.msdn.com/b/sqlfts/archive/2011/11/15/custom-proximity-search-with-near-in-sql-server-2012.aspx" TargetMode="External"/><Relationship Id="rId1" Type="http://schemas.openxmlformats.org/officeDocument/2006/relationships/slideLayout" Target="../slideLayouts/slideLayout155.xml"/><Relationship Id="rId4" Type="http://schemas.openxmlformats.org/officeDocument/2006/relationships/image" Target="../media/image3.png"/></Relationships>
</file>

<file path=ppt/slides/_rels/slide118.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hyperlink" Target="http://msdn.microsoft.com/en-us/library/ms177410(v=sql.105).aspx" TargetMode="External"/><Relationship Id="rId1" Type="http://schemas.openxmlformats.org/officeDocument/2006/relationships/slideLayout" Target="../slideLayouts/slideLayout155.xml"/><Relationship Id="rId4" Type="http://schemas.openxmlformats.org/officeDocument/2006/relationships/image" Target="../media/image3.png"/></Relationships>
</file>

<file path=ppt/slides/_rels/slide1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6.xml"/></Relationships>
</file>

<file path=ppt/slides/_rels/slide1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6.xml"/></Relationships>
</file>

<file path=ppt/slides/_rels/slide1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6.xml"/></Relationships>
</file>

<file path=ppt/slides/_rels/slide1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8.png"/><Relationship Id="rId1" Type="http://schemas.openxmlformats.org/officeDocument/2006/relationships/slideLayout" Target="../slideLayouts/slideLayout166.xml"/></Relationships>
</file>

<file path=ppt/slides/_rels/slide1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9.png"/><Relationship Id="rId1" Type="http://schemas.openxmlformats.org/officeDocument/2006/relationships/slideLayout" Target="../slideLayouts/slideLayout166.xml"/></Relationships>
</file>

<file path=ppt/slides/_rels/slide1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0.png"/><Relationship Id="rId1" Type="http://schemas.openxmlformats.org/officeDocument/2006/relationships/slideLayout" Target="../slideLayouts/slideLayout166.xml"/></Relationships>
</file>

<file path=ppt/slides/_rels/slide1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1.png"/><Relationship Id="rId1" Type="http://schemas.openxmlformats.org/officeDocument/2006/relationships/slideLayout" Target="../slideLayouts/slideLayout166.xml"/></Relationships>
</file>

<file path=ppt/slides/_rels/slide1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2.png"/><Relationship Id="rId1" Type="http://schemas.openxmlformats.org/officeDocument/2006/relationships/slideLayout" Target="../slideLayouts/slideLayout166.xml"/></Relationships>
</file>

<file path=ppt/slides/_rels/slide1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3.png"/><Relationship Id="rId1" Type="http://schemas.openxmlformats.org/officeDocument/2006/relationships/slideLayout" Target="../slideLayouts/slideLayout166.xml"/></Relationships>
</file>

<file path=ppt/slides/_rels/slide128.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174.png"/><Relationship Id="rId1" Type="http://schemas.openxmlformats.org/officeDocument/2006/relationships/slideLayout" Target="../slideLayouts/slideLayout166.xml"/><Relationship Id="rId5" Type="http://schemas.openxmlformats.org/officeDocument/2006/relationships/image" Target="../media/image3.png"/><Relationship Id="rId4" Type="http://schemas.openxmlformats.org/officeDocument/2006/relationships/hyperlink" Target="http://msdn.microsoft.com/en-us/library/cc966413.aspx" TargetMode="External"/></Relationships>
</file>

<file path=ppt/slides/_rels/slide1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66.xml"/><Relationship Id="rId4" Type="http://schemas.openxmlformats.org/officeDocument/2006/relationships/image" Target="../media/image176.png"/></Relationships>
</file>

<file path=ppt/slides/_rels/slide1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66.xml"/><Relationship Id="rId6" Type="http://schemas.openxmlformats.org/officeDocument/2006/relationships/hyperlink" Target="http://www.ietf.org/rfc/rfc4122.txt" TargetMode="External"/><Relationship Id="rId5" Type="http://schemas.openxmlformats.org/officeDocument/2006/relationships/image" Target="../media/image178.png"/><Relationship Id="rId4" Type="http://schemas.openxmlformats.org/officeDocument/2006/relationships/image" Target="../media/image177.png"/></Relationships>
</file>

<file path=ppt/slides/_rels/slide1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66.xml"/><Relationship Id="rId4" Type="http://schemas.openxmlformats.org/officeDocument/2006/relationships/image" Target="../media/image179.png"/></Relationships>
</file>

<file path=ppt/slides/_rels/slide1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6.xml"/></Relationships>
</file>

<file path=ppt/slides/_rels/slide133.xml.rels><?xml version="1.0" encoding="UTF-8" standalone="yes"?>
<Relationships xmlns="http://schemas.openxmlformats.org/package/2006/relationships"><Relationship Id="rId3" Type="http://schemas.openxmlformats.org/officeDocument/2006/relationships/hyperlink" Target="http://technet.microsoft.com/en-us/library/cc966412.aspx" TargetMode="External"/><Relationship Id="rId2" Type="http://schemas.openxmlformats.org/officeDocument/2006/relationships/hyperlink" Target="http://www.symantec.com/business/support/index?page=content&amp;id=HOWTO10723" TargetMode="External"/><Relationship Id="rId1" Type="http://schemas.openxmlformats.org/officeDocument/2006/relationships/slideLayout" Target="../slideLayouts/slideLayout166.xml"/><Relationship Id="rId5" Type="http://schemas.openxmlformats.org/officeDocument/2006/relationships/image" Target="../media/image3.png"/><Relationship Id="rId4" Type="http://schemas.openxmlformats.org/officeDocument/2006/relationships/hyperlink" Target="http://msdn.microsoft.com/en-us/library/ms130214(v=sql.105).aspx" TargetMode="External"/></Relationships>
</file>

<file path=ppt/slides/_rels/slide134.xml.rels><?xml version="1.0" encoding="UTF-8" standalone="yes"?>
<Relationships xmlns="http://schemas.openxmlformats.org/package/2006/relationships"><Relationship Id="rId3" Type="http://schemas.openxmlformats.org/officeDocument/2006/relationships/image" Target="../media/image180.jpg"/><Relationship Id="rId2" Type="http://schemas.openxmlformats.org/officeDocument/2006/relationships/notesSlide" Target="../notesSlides/notesSlide18.xml"/><Relationship Id="rId1" Type="http://schemas.openxmlformats.org/officeDocument/2006/relationships/slideLayout" Target="../slideLayouts/slideLayout166.xml"/><Relationship Id="rId4" Type="http://schemas.openxmlformats.org/officeDocument/2006/relationships/image" Target="../media/image3.png"/></Relationships>
</file>

<file path=ppt/slides/_rels/slide1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6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050" name="Rectangle 110"/>
          <p:cNvSpPr>
            <a:spLocks noGrp="1" noChangeArrowheads="1"/>
          </p:cNvSpPr>
          <p:nvPr>
            <p:ph type="ctrTitle"/>
          </p:nvPr>
        </p:nvSpPr>
        <p:spPr>
          <a:xfrm>
            <a:off x="3707905" y="549275"/>
            <a:ext cx="5077320" cy="935509"/>
          </a:xfrm>
        </p:spPr>
        <p:txBody>
          <a:bodyPr/>
          <a:lstStyle/>
          <a:p>
            <a:pPr algn="r" eaLnBrk="1" hangingPunct="1"/>
            <a:r>
              <a:rPr lang="es-UY" sz="3200" b="1" dirty="0" smtClean="0">
                <a:solidFill>
                  <a:schemeClr val="bg1"/>
                </a:solidFill>
              </a:rPr>
              <a:t>Microsoft SQL Server</a:t>
            </a:r>
            <a:br>
              <a:rPr lang="es-UY" sz="3200" b="1" dirty="0" smtClean="0">
                <a:solidFill>
                  <a:schemeClr val="bg1"/>
                </a:solidFill>
              </a:rPr>
            </a:br>
            <a:r>
              <a:rPr lang="es-UY" sz="2400" b="1" dirty="0" err="1" smtClean="0">
                <a:solidFill>
                  <a:schemeClr val="bg1"/>
                </a:solidFill>
              </a:rPr>
              <a:t>Advanced</a:t>
            </a:r>
            <a:r>
              <a:rPr lang="es-UY" sz="2400" b="1" dirty="0" smtClean="0">
                <a:solidFill>
                  <a:schemeClr val="bg1"/>
                </a:solidFill>
              </a:rPr>
              <a:t> </a:t>
            </a:r>
            <a:r>
              <a:rPr lang="es-UY" sz="2400" b="1" dirty="0" err="1" smtClean="0">
                <a:solidFill>
                  <a:schemeClr val="bg1"/>
                </a:solidFill>
              </a:rPr>
              <a:t>Workshop</a:t>
            </a:r>
            <a:endParaRPr lang="es-ES" sz="2400" b="1" dirty="0" smtClean="0">
              <a:solidFill>
                <a:schemeClr val="bg1"/>
              </a:solidFill>
            </a:endParaRPr>
          </a:p>
        </p:txBody>
      </p:sp>
      <p:sp>
        <p:nvSpPr>
          <p:cNvPr id="2" name="1 CuadroTexto"/>
          <p:cNvSpPr txBox="1"/>
          <p:nvPr/>
        </p:nvSpPr>
        <p:spPr>
          <a:xfrm>
            <a:off x="7451725" y="6573838"/>
            <a:ext cx="2016125" cy="276225"/>
          </a:xfrm>
          <a:prstGeom prst="rect">
            <a:avLst/>
          </a:prstGeom>
          <a:noFill/>
        </p:spPr>
        <p:txBody>
          <a:bodyPr>
            <a:spAutoFit/>
          </a:bodyPr>
          <a:lstStyle/>
          <a:p>
            <a:pPr fontAlgn="base">
              <a:spcBef>
                <a:spcPct val="0"/>
              </a:spcBef>
              <a:spcAft>
                <a:spcPct val="0"/>
              </a:spcAft>
              <a:defRPr/>
            </a:pPr>
            <a:r>
              <a:rPr lang="es-AR" sz="1200" b="1" dirty="0">
                <a:solidFill>
                  <a:srgbClr val="BBE0E3"/>
                </a:solidFill>
                <a:effectLst>
                  <a:outerShdw blurRad="38100" dist="38100" dir="2700000" algn="tl">
                    <a:srgbClr val="000000">
                      <a:alpha val="43137"/>
                    </a:srgbClr>
                  </a:outerShdw>
                </a:effectLst>
              </a:rPr>
              <a:t>www.bairesdev.com</a:t>
            </a:r>
          </a:p>
        </p:txBody>
      </p:sp>
      <p:pic>
        <p:nvPicPr>
          <p:cNvPr id="2053" name="5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6238" y="3644900"/>
            <a:ext cx="26828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242168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95288" y="188913"/>
            <a:ext cx="8229600" cy="981075"/>
          </a:xfrm>
        </p:spPr>
        <p:txBody>
          <a:bodyPr/>
          <a:lstStyle/>
          <a:p>
            <a:pPr eaLnBrk="1" hangingPunct="1"/>
            <a:r>
              <a:rPr lang="es-AR" sz="4000" b="1" dirty="0" smtClean="0">
                <a:solidFill>
                  <a:schemeClr val="tx1"/>
                </a:solidFill>
              </a:rPr>
              <a:t>Agenda</a:t>
            </a:r>
          </a:p>
        </p:txBody>
      </p:sp>
      <p:sp>
        <p:nvSpPr>
          <p:cNvPr id="3076" name="6 Marcador de texto"/>
          <p:cNvSpPr>
            <a:spLocks noGrp="1"/>
          </p:cNvSpPr>
          <p:nvPr>
            <p:ph type="body" idx="1"/>
          </p:nvPr>
        </p:nvSpPr>
        <p:spPr>
          <a:xfrm>
            <a:off x="457200" y="2259013"/>
            <a:ext cx="8229600" cy="2634567"/>
          </a:xfrm>
        </p:spPr>
        <p:txBody>
          <a:bodyPr>
            <a:spAutoFit/>
          </a:bodyPr>
          <a:lstStyle/>
          <a:p>
            <a:pPr algn="just" eaLnBrk="1" hangingPunct="1">
              <a:buFont typeface="+mj-lt"/>
              <a:buAutoNum type="arabicPeriod"/>
            </a:pPr>
            <a:r>
              <a:rPr lang="es-ES" sz="1400" b="1" dirty="0" err="1" smtClean="0">
                <a:solidFill>
                  <a:schemeClr val="bg2"/>
                </a:solidFill>
              </a:rPr>
              <a:t>Introduction</a:t>
            </a:r>
            <a:endParaRPr lang="es-ES" sz="1400" b="1" dirty="0" smtClean="0">
              <a:solidFill>
                <a:schemeClr val="bg2"/>
              </a:solidFill>
            </a:endParaRPr>
          </a:p>
          <a:p>
            <a:pPr algn="just" eaLnBrk="1" hangingPunct="1">
              <a:buFont typeface="+mj-lt"/>
              <a:buAutoNum type="arabicPeriod"/>
            </a:pPr>
            <a:r>
              <a:rPr lang="es-ES" sz="1400" b="1" dirty="0" smtClean="0">
                <a:solidFill>
                  <a:schemeClr val="bg2"/>
                </a:solidFill>
              </a:rPr>
              <a:t>Basic </a:t>
            </a:r>
            <a:r>
              <a:rPr lang="es-ES" sz="1400" b="1" dirty="0" err="1" smtClean="0">
                <a:solidFill>
                  <a:schemeClr val="bg2"/>
                </a:solidFill>
              </a:rPr>
              <a:t>concepts</a:t>
            </a:r>
            <a:endParaRPr lang="es-ES" sz="1400" b="1" dirty="0" smtClean="0">
              <a:solidFill>
                <a:schemeClr val="bg2"/>
              </a:solidFill>
            </a:endParaRPr>
          </a:p>
          <a:p>
            <a:pPr algn="just" eaLnBrk="1" hangingPunct="1">
              <a:buFont typeface="+mj-lt"/>
              <a:buAutoNum type="arabicPeriod"/>
            </a:pPr>
            <a:r>
              <a:rPr lang="es-ES" sz="1400" b="1" dirty="0" err="1">
                <a:solidFill>
                  <a:schemeClr val="bg2"/>
                </a:solidFill>
              </a:rPr>
              <a:t>Index</a:t>
            </a:r>
            <a:r>
              <a:rPr lang="es-ES" sz="1400" b="1" dirty="0">
                <a:solidFill>
                  <a:schemeClr val="bg2"/>
                </a:solidFill>
              </a:rPr>
              <a:t> </a:t>
            </a:r>
            <a:r>
              <a:rPr lang="es-ES" sz="1400" b="1" dirty="0" err="1">
                <a:solidFill>
                  <a:schemeClr val="bg2"/>
                </a:solidFill>
              </a:rPr>
              <a:t>Architecture</a:t>
            </a:r>
            <a:endParaRPr lang="es-ES" sz="1400" b="1" dirty="0">
              <a:solidFill>
                <a:schemeClr val="bg2"/>
              </a:solidFill>
            </a:endParaRPr>
          </a:p>
          <a:p>
            <a:pPr algn="just" eaLnBrk="1" hangingPunct="1">
              <a:buFont typeface="+mj-lt"/>
              <a:buAutoNum type="arabicPeriod"/>
            </a:pPr>
            <a:r>
              <a:rPr lang="es-ES" sz="1400" b="1" dirty="0" smtClean="0">
                <a:solidFill>
                  <a:schemeClr val="bg2"/>
                </a:solidFill>
              </a:rPr>
              <a:t>Storage Fundamentals</a:t>
            </a:r>
          </a:p>
          <a:p>
            <a:pPr algn="just" eaLnBrk="1" hangingPunct="1">
              <a:buFont typeface="+mj-lt"/>
              <a:buAutoNum type="arabicPeriod"/>
            </a:pPr>
            <a:r>
              <a:rPr lang="es-ES" sz="1400" b="1" dirty="0" err="1" smtClean="0">
                <a:solidFill>
                  <a:schemeClr val="bg2"/>
                </a:solidFill>
              </a:rPr>
              <a:t>Fragmentation</a:t>
            </a:r>
            <a:endParaRPr lang="es-ES" sz="1400" b="1" dirty="0" smtClean="0">
              <a:solidFill>
                <a:schemeClr val="bg2"/>
              </a:solidFill>
            </a:endParaRPr>
          </a:p>
          <a:p>
            <a:pPr algn="just" eaLnBrk="1" hangingPunct="1">
              <a:buFont typeface="+mj-lt"/>
              <a:buAutoNum type="arabicPeriod"/>
            </a:pPr>
            <a:r>
              <a:rPr lang="es-ES" sz="1400" b="1" dirty="0" err="1" smtClean="0">
                <a:solidFill>
                  <a:schemeClr val="bg2"/>
                </a:solidFill>
              </a:rPr>
              <a:t>Locking</a:t>
            </a:r>
            <a:endParaRPr lang="es-ES" sz="1400" b="1" dirty="0" smtClean="0">
              <a:solidFill>
                <a:schemeClr val="bg2"/>
              </a:solidFill>
            </a:endParaRPr>
          </a:p>
          <a:p>
            <a:pPr algn="just" eaLnBrk="1" hangingPunct="1">
              <a:buFont typeface="+mj-lt"/>
              <a:buAutoNum type="arabicPeriod"/>
            </a:pPr>
            <a:r>
              <a:rPr lang="es-ES" sz="1400" b="1" dirty="0" err="1" smtClean="0">
                <a:solidFill>
                  <a:schemeClr val="bg2"/>
                </a:solidFill>
              </a:rPr>
              <a:t>Query</a:t>
            </a:r>
            <a:r>
              <a:rPr lang="es-ES" sz="1400" b="1" dirty="0" smtClean="0">
                <a:solidFill>
                  <a:schemeClr val="bg2"/>
                </a:solidFill>
              </a:rPr>
              <a:t> </a:t>
            </a:r>
            <a:r>
              <a:rPr lang="es-ES" sz="1400" b="1" dirty="0" err="1" smtClean="0">
                <a:solidFill>
                  <a:schemeClr val="bg2"/>
                </a:solidFill>
              </a:rPr>
              <a:t>Execution</a:t>
            </a:r>
            <a:r>
              <a:rPr lang="es-ES" sz="1400" b="1" dirty="0" smtClean="0">
                <a:solidFill>
                  <a:schemeClr val="bg2"/>
                </a:solidFill>
              </a:rPr>
              <a:t> </a:t>
            </a:r>
            <a:r>
              <a:rPr lang="es-ES" sz="1400" b="1" dirty="0" err="1" smtClean="0">
                <a:solidFill>
                  <a:schemeClr val="bg2"/>
                </a:solidFill>
              </a:rPr>
              <a:t>Plans</a:t>
            </a:r>
            <a:endParaRPr lang="es-ES" sz="1400" b="1" dirty="0" smtClean="0">
              <a:solidFill>
                <a:schemeClr val="bg2"/>
              </a:solidFill>
            </a:endParaRPr>
          </a:p>
          <a:p>
            <a:pPr algn="just" eaLnBrk="1" hangingPunct="1">
              <a:buFont typeface="+mj-lt"/>
              <a:buAutoNum type="arabicPeriod"/>
            </a:pPr>
            <a:r>
              <a:rPr lang="es-ES" sz="1400" b="1" dirty="0" err="1" smtClean="0">
                <a:solidFill>
                  <a:schemeClr val="bg2"/>
                </a:solidFill>
              </a:rPr>
              <a:t>Advanced</a:t>
            </a:r>
            <a:r>
              <a:rPr lang="es-ES" sz="1400" b="1" dirty="0" smtClean="0">
                <a:solidFill>
                  <a:schemeClr val="bg2"/>
                </a:solidFill>
              </a:rPr>
              <a:t> </a:t>
            </a:r>
            <a:r>
              <a:rPr lang="es-ES" sz="1400" b="1" dirty="0" err="1" smtClean="0">
                <a:solidFill>
                  <a:schemeClr val="bg2"/>
                </a:solidFill>
              </a:rPr>
              <a:t>Query</a:t>
            </a:r>
            <a:r>
              <a:rPr lang="es-ES" sz="1400" b="1" dirty="0" smtClean="0">
                <a:solidFill>
                  <a:schemeClr val="bg2"/>
                </a:solidFill>
              </a:rPr>
              <a:t> </a:t>
            </a:r>
            <a:r>
              <a:rPr lang="es-ES" sz="1400" b="1" dirty="0" err="1" smtClean="0">
                <a:solidFill>
                  <a:schemeClr val="bg2"/>
                </a:solidFill>
              </a:rPr>
              <a:t>Techniques</a:t>
            </a:r>
            <a:endParaRPr lang="es-ES" sz="1400" b="1" dirty="0" smtClean="0">
              <a:solidFill>
                <a:schemeClr val="bg2"/>
              </a:solidFill>
            </a:endParaRPr>
          </a:p>
          <a:p>
            <a:pPr algn="just" eaLnBrk="1" hangingPunct="1">
              <a:buFont typeface="+mj-lt"/>
              <a:buAutoNum type="arabicPeriod"/>
            </a:pPr>
            <a:r>
              <a:rPr lang="es-ES" sz="1400" b="1" dirty="0" smtClean="0">
                <a:solidFill>
                  <a:schemeClr val="bg2"/>
                </a:solidFill>
              </a:rPr>
              <a:t>Performance in </a:t>
            </a:r>
            <a:r>
              <a:rPr lang="es-ES" sz="1400" b="1" dirty="0" err="1" smtClean="0">
                <a:solidFill>
                  <a:schemeClr val="bg2"/>
                </a:solidFill>
              </a:rPr>
              <a:t>Mission</a:t>
            </a:r>
            <a:r>
              <a:rPr lang="es-ES" sz="1400" b="1" dirty="0" smtClean="0">
                <a:solidFill>
                  <a:schemeClr val="bg2"/>
                </a:solidFill>
              </a:rPr>
              <a:t> </a:t>
            </a:r>
            <a:r>
              <a:rPr lang="es-ES" sz="1400" b="1" dirty="0" err="1" smtClean="0">
                <a:solidFill>
                  <a:schemeClr val="bg2"/>
                </a:solidFill>
              </a:rPr>
              <a:t>Critical</a:t>
            </a:r>
            <a:r>
              <a:rPr lang="es-ES" sz="1400" b="1" dirty="0" smtClean="0">
                <a:solidFill>
                  <a:schemeClr val="bg2"/>
                </a:solidFill>
              </a:rPr>
              <a:t> </a:t>
            </a:r>
            <a:r>
              <a:rPr lang="es-ES" sz="1400" b="1" dirty="0" err="1" smtClean="0">
                <a:solidFill>
                  <a:schemeClr val="bg2"/>
                </a:solidFill>
              </a:rPr>
              <a:t>Scenarios</a:t>
            </a:r>
            <a:r>
              <a:rPr lang="es-ES" sz="1400" b="1" dirty="0" smtClean="0">
                <a:solidFill>
                  <a:schemeClr val="bg2"/>
                </a:solidFill>
              </a:rPr>
              <a:t> (OLTP)</a:t>
            </a:r>
          </a:p>
          <a:p>
            <a:pPr algn="just" eaLnBrk="1" hangingPunct="1">
              <a:buFont typeface="+mj-lt"/>
              <a:buAutoNum type="arabicPeriod"/>
            </a:pPr>
            <a:r>
              <a:rPr lang="es-ES" sz="1400" b="1" dirty="0" err="1" smtClean="0">
                <a:solidFill>
                  <a:schemeClr val="bg2"/>
                </a:solidFill>
              </a:rPr>
              <a:t>Best</a:t>
            </a:r>
            <a:r>
              <a:rPr lang="es-ES" sz="1400" b="1" dirty="0" smtClean="0">
                <a:solidFill>
                  <a:schemeClr val="bg2"/>
                </a:solidFill>
              </a:rPr>
              <a:t> </a:t>
            </a:r>
            <a:r>
              <a:rPr lang="es-ES" sz="1400" b="1" dirty="0" err="1" smtClean="0">
                <a:solidFill>
                  <a:schemeClr val="bg2"/>
                </a:solidFill>
              </a:rPr>
              <a:t>Practices</a:t>
            </a:r>
            <a:endParaRPr lang="es-AR" sz="1200" b="1" dirty="0" smtClean="0">
              <a:solidFill>
                <a:schemeClr val="bg2"/>
              </a:solidFill>
            </a:endParaRPr>
          </a:p>
        </p:txBody>
      </p:sp>
      <p:sp>
        <p:nvSpPr>
          <p:cNvPr id="9" name="8 CuadroTexto"/>
          <p:cNvSpPr txBox="1"/>
          <p:nvPr/>
        </p:nvSpPr>
        <p:spPr>
          <a:xfrm>
            <a:off x="7451725" y="6573838"/>
            <a:ext cx="2016125" cy="276225"/>
          </a:xfrm>
          <a:prstGeom prst="rect">
            <a:avLst/>
          </a:prstGeom>
          <a:noFill/>
        </p:spPr>
        <p:txBody>
          <a:bodyPr>
            <a:spAutoFit/>
          </a:bodyPr>
          <a:lstStyle/>
          <a:p>
            <a:pPr fontAlgn="base">
              <a:spcBef>
                <a:spcPct val="0"/>
              </a:spcBef>
              <a:spcAft>
                <a:spcPct val="0"/>
              </a:spcAft>
              <a:defRPr/>
            </a:pPr>
            <a:r>
              <a:rPr lang="es-AR" sz="1200" b="1" dirty="0">
                <a:solidFill>
                  <a:srgbClr val="BBE0E3"/>
                </a:solidFill>
                <a:effectLst>
                  <a:outerShdw blurRad="38100" dist="38100" dir="2700000" algn="tl">
                    <a:srgbClr val="000000">
                      <a:alpha val="43137"/>
                    </a:srgbClr>
                  </a:outerShdw>
                </a:effectLst>
              </a:rPr>
              <a:t>www.bairesdev.com</a:t>
            </a:r>
          </a:p>
        </p:txBody>
      </p:sp>
    </p:spTree>
    <p:extLst>
      <p:ext uri="{BB962C8B-B14F-4D97-AF65-F5344CB8AC3E}">
        <p14:creationId xmlns:p14="http://schemas.microsoft.com/office/powerpoint/2010/main" val="39081301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34 CuadroTexto"/>
          <p:cNvSpPr txBox="1"/>
          <p:nvPr/>
        </p:nvSpPr>
        <p:spPr>
          <a:xfrm>
            <a:off x="-491" y="548680"/>
            <a:ext cx="9164031" cy="400110"/>
          </a:xfrm>
          <a:prstGeom prst="rect">
            <a:avLst/>
          </a:prstGeom>
          <a:noFill/>
        </p:spPr>
        <p:txBody>
          <a:bodyPr wrap="square" rtlCol="0">
            <a:spAutoFit/>
          </a:bodyPr>
          <a:lstStyle/>
          <a:p>
            <a:r>
              <a:rPr lang="en-US" sz="2000" b="1" dirty="0" smtClean="0">
                <a:solidFill>
                  <a:prstClr val="black"/>
                </a:solidFill>
              </a:rPr>
              <a:t>A dreamer…</a:t>
            </a:r>
            <a:endParaRPr lang="en-US" sz="2000" b="1" dirty="0">
              <a:solidFill>
                <a:prstClr val="black"/>
              </a:solidFill>
            </a:endParaRPr>
          </a:p>
        </p:txBody>
      </p:sp>
      <p:sp>
        <p:nvSpPr>
          <p:cNvPr id="40" name="39 CuadroTexto"/>
          <p:cNvSpPr txBox="1"/>
          <p:nvPr/>
        </p:nvSpPr>
        <p:spPr>
          <a:xfrm>
            <a:off x="0" y="1006994"/>
            <a:ext cx="9035993" cy="523220"/>
          </a:xfrm>
          <a:prstGeom prst="rect">
            <a:avLst/>
          </a:prstGeom>
          <a:noFill/>
        </p:spPr>
        <p:txBody>
          <a:bodyPr wrap="square" rtlCol="0">
            <a:spAutoFit/>
          </a:bodyPr>
          <a:lstStyle/>
          <a:p>
            <a:pPr marL="285750" indent="-285750">
              <a:buFont typeface="Wingdings" pitchFamily="2" charset="2"/>
              <a:buChar char="Ø"/>
            </a:pPr>
            <a:r>
              <a:rPr lang="en-US" sz="1400" dirty="0" smtClean="0">
                <a:solidFill>
                  <a:prstClr val="black"/>
                </a:solidFill>
              </a:rPr>
              <a:t>A guy who started coding by accident at the age of 10</a:t>
            </a:r>
          </a:p>
          <a:p>
            <a:pPr marL="285750" indent="-285750">
              <a:buFont typeface="Wingdings" pitchFamily="2" charset="2"/>
              <a:buChar char="Ø"/>
            </a:pPr>
            <a:r>
              <a:rPr lang="en-US" sz="1400" dirty="0" smtClean="0">
                <a:solidFill>
                  <a:prstClr val="black"/>
                </a:solidFill>
              </a:rPr>
              <a:t>Comes from a very poor family of European immigrants</a:t>
            </a:r>
          </a:p>
        </p:txBody>
      </p:sp>
      <p:sp>
        <p:nvSpPr>
          <p:cNvPr id="22" name="21 CuadroTexto"/>
          <p:cNvSpPr txBox="1"/>
          <p:nvPr/>
        </p:nvSpPr>
        <p:spPr>
          <a:xfrm>
            <a:off x="175959" y="5883796"/>
            <a:ext cx="8739441" cy="400110"/>
          </a:xfrm>
          <a:prstGeom prst="rect">
            <a:avLst/>
          </a:prstGeom>
          <a:noFill/>
        </p:spPr>
        <p:txBody>
          <a:bodyPr wrap="square" rtlCol="0">
            <a:spAutoFit/>
          </a:bodyPr>
          <a:lstStyle/>
          <a:p>
            <a:pPr algn="ctr"/>
            <a:r>
              <a:rPr lang="en-US" sz="2000" b="1" dirty="0" smtClean="0">
                <a:solidFill>
                  <a:srgbClr val="0000FF"/>
                </a:solidFill>
                <a:effectLst>
                  <a:outerShdw blurRad="38100" dist="38100" dir="2700000" algn="tl">
                    <a:srgbClr val="000000">
                      <a:alpha val="43137"/>
                    </a:srgbClr>
                  </a:outerShdw>
                </a:effectLst>
              </a:rPr>
              <a:t>The rest is a known story.</a:t>
            </a:r>
            <a:endParaRPr lang="en-US" sz="2000" b="1" dirty="0">
              <a:solidFill>
                <a:srgbClr val="0000FF"/>
              </a:solidFill>
              <a:effectLst>
                <a:outerShdw blurRad="38100" dist="38100" dir="2700000" algn="tl">
                  <a:srgbClr val="000000">
                    <a:alpha val="43137"/>
                  </a:srgbClr>
                </a:outerShdw>
              </a:effectLst>
            </a:endParaRPr>
          </a:p>
        </p:txBody>
      </p:sp>
      <p:sp>
        <p:nvSpPr>
          <p:cNvPr id="28" name="27 CuadroTexto"/>
          <p:cNvSpPr txBox="1"/>
          <p:nvPr/>
        </p:nvSpPr>
        <p:spPr>
          <a:xfrm>
            <a:off x="103883" y="2354613"/>
            <a:ext cx="8963917" cy="2923877"/>
          </a:xfrm>
          <a:prstGeom prst="rect">
            <a:avLst/>
          </a:prstGeom>
          <a:noFill/>
        </p:spPr>
        <p:txBody>
          <a:bodyPr wrap="square" rtlCol="0">
            <a:spAutoFit/>
          </a:bodyPr>
          <a:lstStyle/>
          <a:p>
            <a:pPr marL="285750" indent="-285750">
              <a:buFont typeface="Wingdings" pitchFamily="2" charset="2"/>
              <a:buChar char="Ø"/>
            </a:pPr>
            <a:r>
              <a:rPr lang="en-US" sz="1400" dirty="0" smtClean="0">
                <a:solidFill>
                  <a:prstClr val="black"/>
                </a:solidFill>
              </a:rPr>
              <a:t>Mom &amp; Dad were given a nice gift for their kids:  a </a:t>
            </a:r>
            <a:r>
              <a:rPr lang="en-US" sz="1400" i="1" dirty="0" smtClean="0">
                <a:solidFill>
                  <a:prstClr val="black"/>
                </a:solidFill>
              </a:rPr>
              <a:t>Spectrum ZX80</a:t>
            </a:r>
            <a:r>
              <a:rPr lang="en-US" sz="1400" dirty="0" smtClean="0">
                <a:solidFill>
                  <a:prstClr val="black"/>
                </a:solidFill>
              </a:rPr>
              <a:t>   (it’s a computer – don’t laugh on me </a:t>
            </a:r>
            <a:r>
              <a:rPr lang="en-US" sz="1400" dirty="0" err="1" smtClean="0">
                <a:solidFill>
                  <a:prstClr val="black"/>
                </a:solidFill>
              </a:rPr>
              <a:t>haha</a:t>
            </a:r>
            <a:r>
              <a:rPr lang="en-US" sz="1400" dirty="0" smtClean="0">
                <a:solidFill>
                  <a:prstClr val="black"/>
                </a:solidFill>
              </a:rPr>
              <a:t>!) </a:t>
            </a:r>
            <a:r>
              <a:rPr lang="en-US" sz="1400" dirty="0" smtClean="0">
                <a:solidFill>
                  <a:prstClr val="black"/>
                </a:solidFill>
                <a:sym typeface="Wingdings" pitchFamily="2" charset="2"/>
              </a:rPr>
              <a:t></a:t>
            </a:r>
          </a:p>
          <a:p>
            <a:endParaRPr lang="en-US" sz="1400" dirty="0" smtClean="0">
              <a:solidFill>
                <a:prstClr val="black"/>
              </a:solidFill>
              <a:sym typeface="Wingdings" pitchFamily="2" charset="2"/>
            </a:endParaRPr>
          </a:p>
          <a:p>
            <a:pPr marL="285750" indent="-285750">
              <a:buFont typeface="Wingdings" pitchFamily="2" charset="2"/>
              <a:buChar char="Ø"/>
            </a:pPr>
            <a:r>
              <a:rPr lang="en-US" sz="1400" dirty="0" smtClean="0">
                <a:solidFill>
                  <a:prstClr val="black"/>
                </a:solidFill>
                <a:sym typeface="Wingdings" pitchFamily="2" charset="2"/>
              </a:rPr>
              <a:t>Truth is we didn’t have any money for cartridges or things like that.</a:t>
            </a:r>
          </a:p>
          <a:p>
            <a:r>
              <a:rPr lang="en-US" sz="1400" dirty="0" smtClean="0">
                <a:solidFill>
                  <a:prstClr val="black"/>
                </a:solidFill>
                <a:sym typeface="Wingdings" pitchFamily="2" charset="2"/>
              </a:rPr>
              <a:t>       If I wanted to play a video game, </a:t>
            </a:r>
            <a:r>
              <a:rPr lang="en-US" sz="1400" u="sng" dirty="0" smtClean="0">
                <a:solidFill>
                  <a:prstClr val="black"/>
                </a:solidFill>
                <a:sym typeface="Wingdings" pitchFamily="2" charset="2"/>
              </a:rPr>
              <a:t>I needed to code it</a:t>
            </a:r>
            <a:r>
              <a:rPr lang="en-US" sz="1400" dirty="0" smtClean="0">
                <a:solidFill>
                  <a:prstClr val="black"/>
                </a:solidFill>
                <a:sym typeface="Wingdings" pitchFamily="2" charset="2"/>
              </a:rPr>
              <a:t>.  Over and over again.</a:t>
            </a:r>
          </a:p>
          <a:p>
            <a:r>
              <a:rPr lang="en-US" sz="1400" b="1" dirty="0" smtClean="0">
                <a:solidFill>
                  <a:srgbClr val="0000FF"/>
                </a:solidFill>
                <a:sym typeface="Wingdings" pitchFamily="2" charset="2"/>
              </a:rPr>
              <a:t>       </a:t>
            </a:r>
            <a:r>
              <a:rPr lang="en-US" sz="1400" dirty="0" smtClean="0">
                <a:solidFill>
                  <a:prstClr val="black"/>
                </a:solidFill>
                <a:sym typeface="Wingdings" pitchFamily="2" charset="2"/>
              </a:rPr>
              <a:t>That’s when I became a Computers Programmer </a:t>
            </a:r>
            <a:r>
              <a:rPr lang="en-US" sz="1400" b="1" dirty="0" smtClean="0">
                <a:solidFill>
                  <a:srgbClr val="0000FF"/>
                </a:solidFill>
                <a:sym typeface="Wingdings" pitchFamily="2" charset="2"/>
              </a:rPr>
              <a:t>    </a:t>
            </a:r>
            <a:r>
              <a:rPr lang="en-US" sz="1600" b="1" dirty="0" smtClean="0">
                <a:sym typeface="Wingdings" pitchFamily="2" charset="2"/>
              </a:rPr>
              <a:t>Sinclair </a:t>
            </a:r>
            <a:r>
              <a:rPr lang="en-US" sz="1600" b="1" dirty="0">
                <a:sym typeface="Wingdings" pitchFamily="2" charset="2"/>
              </a:rPr>
              <a:t>BASIC </a:t>
            </a:r>
            <a:r>
              <a:rPr lang="en-US" sz="1600" b="1" dirty="0" smtClean="0">
                <a:sym typeface="Wingdings" pitchFamily="2" charset="2"/>
              </a:rPr>
              <a:t>on a ZX80</a:t>
            </a:r>
            <a:r>
              <a:rPr lang="en-US" sz="1400" dirty="0" smtClean="0">
                <a:solidFill>
                  <a:prstClr val="black"/>
                </a:solidFill>
                <a:sym typeface="Wingdings" pitchFamily="2" charset="2"/>
              </a:rPr>
              <a:t>, at the age of 10.</a:t>
            </a:r>
          </a:p>
          <a:p>
            <a:r>
              <a:rPr lang="en-US" sz="1400" dirty="0">
                <a:solidFill>
                  <a:prstClr val="black"/>
                </a:solidFill>
                <a:sym typeface="Wingdings" pitchFamily="2" charset="2"/>
              </a:rPr>
              <a:t> </a:t>
            </a:r>
            <a:r>
              <a:rPr lang="en-US" sz="1400" dirty="0" smtClean="0">
                <a:solidFill>
                  <a:prstClr val="black"/>
                </a:solidFill>
                <a:sym typeface="Wingdings" pitchFamily="2" charset="2"/>
              </a:rPr>
              <a:t>      </a:t>
            </a:r>
          </a:p>
          <a:p>
            <a:pPr marL="285750" indent="-285750">
              <a:buFont typeface="Wingdings" pitchFamily="2" charset="2"/>
              <a:buChar char="Ø"/>
            </a:pPr>
            <a:r>
              <a:rPr lang="en-US" sz="1400" dirty="0" smtClean="0">
                <a:solidFill>
                  <a:prstClr val="black"/>
                </a:solidFill>
                <a:sym typeface="Wingdings" pitchFamily="2" charset="2"/>
              </a:rPr>
              <a:t>With the advent of the Commodore 16, Mom forced me to go to an institute; with the hope of a better future</a:t>
            </a:r>
          </a:p>
          <a:p>
            <a:r>
              <a:rPr lang="en-US" sz="1400" dirty="0" smtClean="0">
                <a:solidFill>
                  <a:prstClr val="black"/>
                </a:solidFill>
                <a:sym typeface="Wingdings" pitchFamily="2" charset="2"/>
              </a:rPr>
              <a:t>       Hence I did my best to learn RM COBOL     “</a:t>
            </a:r>
            <a:r>
              <a:rPr lang="en-US" sz="1400" i="1" dirty="0" smtClean="0">
                <a:solidFill>
                  <a:prstClr val="black"/>
                </a:solidFill>
                <a:sym typeface="Wingdings" pitchFamily="2" charset="2"/>
              </a:rPr>
              <a:t>Mom!  </a:t>
            </a:r>
            <a:r>
              <a:rPr lang="en-US" sz="1400" i="1" dirty="0">
                <a:solidFill>
                  <a:prstClr val="black"/>
                </a:solidFill>
                <a:sym typeface="Wingdings" pitchFamily="2" charset="2"/>
              </a:rPr>
              <a:t>w</a:t>
            </a:r>
            <a:r>
              <a:rPr lang="en-US" sz="1400" i="1" dirty="0" smtClean="0">
                <a:solidFill>
                  <a:prstClr val="black"/>
                </a:solidFill>
                <a:sym typeface="Wingdings" pitchFamily="2" charset="2"/>
              </a:rPr>
              <a:t>riting COBOL code in a paper is not funny!</a:t>
            </a:r>
            <a:r>
              <a:rPr lang="en-US" sz="1400" dirty="0" smtClean="0">
                <a:solidFill>
                  <a:prstClr val="black"/>
                </a:solidFill>
                <a:sym typeface="Wingdings" pitchFamily="2" charset="2"/>
              </a:rPr>
              <a:t>”</a:t>
            </a:r>
          </a:p>
          <a:p>
            <a:pPr marL="285750" indent="-285750">
              <a:buFont typeface="Wingdings" pitchFamily="2" charset="2"/>
              <a:buChar char="Ø"/>
            </a:pPr>
            <a:endParaRPr lang="en-US" sz="1400" dirty="0" smtClean="0">
              <a:solidFill>
                <a:prstClr val="black"/>
              </a:solidFill>
              <a:sym typeface="Wingdings" pitchFamily="2" charset="2"/>
            </a:endParaRPr>
          </a:p>
          <a:p>
            <a:pPr marL="285750" indent="-285750">
              <a:buFont typeface="Wingdings" pitchFamily="2" charset="2"/>
              <a:buChar char="Ø"/>
            </a:pPr>
            <a:r>
              <a:rPr lang="en-US" sz="1400" dirty="0" smtClean="0">
                <a:solidFill>
                  <a:prstClr val="black"/>
                </a:solidFill>
              </a:rPr>
              <a:t>A few years later, my parents managed to buy an IBM XT   </a:t>
            </a:r>
            <a:r>
              <a:rPr lang="en-US" sz="1400" i="1" dirty="0" smtClean="0">
                <a:solidFill>
                  <a:prstClr val="black"/>
                </a:solidFill>
              </a:rPr>
              <a:t>(2</a:t>
            </a:r>
            <a:r>
              <a:rPr lang="en-US" sz="1400" i="1" baseline="30000" dirty="0" smtClean="0">
                <a:solidFill>
                  <a:prstClr val="black"/>
                </a:solidFill>
              </a:rPr>
              <a:t>nd</a:t>
            </a:r>
            <a:r>
              <a:rPr lang="en-US" sz="1400" i="1" dirty="0" smtClean="0">
                <a:solidFill>
                  <a:prstClr val="black"/>
                </a:solidFill>
              </a:rPr>
              <a:t> release of IBM PCs)</a:t>
            </a:r>
          </a:p>
          <a:p>
            <a:pPr marL="742950" lvl="1" indent="-285750">
              <a:buFont typeface="Wingdings" pitchFamily="2" charset="2"/>
              <a:buChar char="Ø"/>
            </a:pPr>
            <a:r>
              <a:rPr lang="en-US" sz="1400" dirty="0" smtClean="0">
                <a:solidFill>
                  <a:prstClr val="black"/>
                </a:solidFill>
              </a:rPr>
              <a:t>I started playing with a popular records manager called </a:t>
            </a:r>
            <a:r>
              <a:rPr lang="en-US" sz="1400" dirty="0" err="1" smtClean="0">
                <a:solidFill>
                  <a:prstClr val="black"/>
                </a:solidFill>
              </a:rPr>
              <a:t>Btrieve</a:t>
            </a:r>
            <a:r>
              <a:rPr lang="en-US" sz="1400" dirty="0" smtClean="0">
                <a:solidFill>
                  <a:prstClr val="black"/>
                </a:solidFill>
              </a:rPr>
              <a:t>  - M</a:t>
            </a:r>
            <a:r>
              <a:rPr lang="en-US" sz="1400" i="1" dirty="0" smtClean="0">
                <a:solidFill>
                  <a:prstClr val="black"/>
                </a:solidFill>
              </a:rPr>
              <a:t>y first experience with ISAM flat files</a:t>
            </a:r>
          </a:p>
          <a:p>
            <a:pPr marL="742950" lvl="1" indent="-285750">
              <a:buFont typeface="Wingdings" pitchFamily="2" charset="2"/>
              <a:buChar char="ü"/>
            </a:pPr>
            <a:endParaRPr lang="en-US" sz="1400" dirty="0">
              <a:solidFill>
                <a:prstClr val="black"/>
              </a:solidFill>
              <a:sym typeface="Wingdings" pitchFamily="2" charset="2"/>
            </a:endParaRPr>
          </a:p>
          <a:p>
            <a:pPr marL="285750" indent="-285750">
              <a:buFont typeface="Wingdings" pitchFamily="2" charset="2"/>
              <a:buChar char="Ø"/>
            </a:pPr>
            <a:r>
              <a:rPr lang="en-US" sz="1400" i="1" dirty="0" smtClean="0">
                <a:solidFill>
                  <a:prstClr val="black"/>
                </a:solidFill>
              </a:rPr>
              <a:t>Ashton-Tate</a:t>
            </a:r>
            <a:r>
              <a:rPr lang="en-US" sz="1400" dirty="0" smtClean="0">
                <a:solidFill>
                  <a:prstClr val="black"/>
                </a:solidFill>
              </a:rPr>
              <a:t> releases DBASE 3, </a:t>
            </a:r>
            <a:r>
              <a:rPr lang="en-US" sz="1400" b="1" dirty="0" smtClean="0">
                <a:solidFill>
                  <a:prstClr val="black"/>
                </a:solidFill>
              </a:rPr>
              <a:t>the first database engine for the IBM PC</a:t>
            </a:r>
          </a:p>
        </p:txBody>
      </p:sp>
      <p:sp>
        <p:nvSpPr>
          <p:cNvPr id="17" name="16 CuadroTexto"/>
          <p:cNvSpPr txBox="1"/>
          <p:nvPr/>
        </p:nvSpPr>
        <p:spPr>
          <a:xfrm>
            <a:off x="31807" y="1969594"/>
            <a:ext cx="6673793" cy="338554"/>
          </a:xfrm>
          <a:prstGeom prst="rect">
            <a:avLst/>
          </a:prstGeom>
          <a:noFill/>
        </p:spPr>
        <p:txBody>
          <a:bodyPr wrap="square" rtlCol="0">
            <a:spAutoFit/>
          </a:bodyPr>
          <a:lstStyle/>
          <a:p>
            <a:r>
              <a:rPr lang="en-US" sz="1600" b="1" dirty="0" smtClean="0">
                <a:solidFill>
                  <a:prstClr val="black"/>
                </a:solidFill>
              </a:rPr>
              <a:t>One day, in July 1986…</a:t>
            </a:r>
            <a:endParaRPr lang="en-US" sz="1600" b="1" dirty="0">
              <a:solidFill>
                <a:prstClr val="black"/>
              </a:solidFill>
            </a:endParaRPr>
          </a:p>
        </p:txBody>
      </p:sp>
      <p:grpSp>
        <p:nvGrpSpPr>
          <p:cNvPr id="23" name="22 Grupo"/>
          <p:cNvGrpSpPr/>
          <p:nvPr/>
        </p:nvGrpSpPr>
        <p:grpSpPr>
          <a:xfrm>
            <a:off x="0" y="9525"/>
            <a:ext cx="9153525" cy="408388"/>
            <a:chOff x="0" y="9525"/>
            <a:chExt cx="9153525" cy="408388"/>
          </a:xfrm>
        </p:grpSpPr>
        <p:sp>
          <p:nvSpPr>
            <p:cNvPr id="25" name="24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Introduction:  Who I am</a:t>
              </a:r>
              <a:endParaRPr lang="en-US" b="1" dirty="0">
                <a:solidFill>
                  <a:schemeClr val="bg1"/>
                </a:solidFill>
              </a:endParaRPr>
            </a:p>
          </p:txBody>
        </p:sp>
        <p:pic>
          <p:nvPicPr>
            <p:cNvPr id="29" name="28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0" name="29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 name="30 Grupo"/>
          <p:cNvGrpSpPr/>
          <p:nvPr/>
        </p:nvGrpSpPr>
        <p:grpSpPr>
          <a:xfrm>
            <a:off x="9525" y="6574392"/>
            <a:ext cx="9134399" cy="277000"/>
            <a:chOff x="9525" y="6574392"/>
            <a:chExt cx="9134399" cy="277000"/>
          </a:xfrm>
        </p:grpSpPr>
        <p:sp>
          <p:nvSpPr>
            <p:cNvPr id="32" name="3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33" name="3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18484031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29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647" y="2462583"/>
            <a:ext cx="2648426" cy="368769"/>
          </a:xfrm>
          <a:prstGeom prst="rect">
            <a:avLst/>
          </a:prstGeom>
        </p:spPr>
      </p:pic>
      <p:sp>
        <p:nvSpPr>
          <p:cNvPr id="31" name="30 CuadroTexto"/>
          <p:cNvSpPr txBox="1"/>
          <p:nvPr/>
        </p:nvSpPr>
        <p:spPr>
          <a:xfrm>
            <a:off x="335673" y="2840336"/>
            <a:ext cx="8227863" cy="738664"/>
          </a:xfrm>
          <a:prstGeom prst="rect">
            <a:avLst/>
          </a:prstGeom>
          <a:noFill/>
        </p:spPr>
        <p:txBody>
          <a:bodyPr wrap="square" rtlCol="0">
            <a:spAutoFit/>
          </a:bodyPr>
          <a:lstStyle/>
          <a:p>
            <a:pPr marL="285750" indent="-285750">
              <a:buFont typeface="Wingdings" pitchFamily="2" charset="2"/>
              <a:buChar char="Ø"/>
            </a:pPr>
            <a:r>
              <a:rPr lang="en-US" sz="1400" dirty="0" smtClean="0">
                <a:solidFill>
                  <a:prstClr val="black"/>
                </a:solidFill>
              </a:rPr>
              <a:t>Primary Technical Contact of some Microsoft Partners in Canada</a:t>
            </a:r>
          </a:p>
          <a:p>
            <a:pPr marL="285750" indent="-285750">
              <a:buFont typeface="Wingdings" pitchFamily="2" charset="2"/>
              <a:buChar char="Ø"/>
            </a:pPr>
            <a:r>
              <a:rPr lang="en-US" sz="1400" dirty="0" smtClean="0">
                <a:solidFill>
                  <a:prstClr val="black"/>
                </a:solidFill>
              </a:rPr>
              <a:t>Technical advisor of some </a:t>
            </a:r>
            <a:r>
              <a:rPr lang="en-US" sz="1400" dirty="0">
                <a:solidFill>
                  <a:prstClr val="black"/>
                </a:solidFill>
              </a:rPr>
              <a:t>Microsoft </a:t>
            </a:r>
            <a:r>
              <a:rPr lang="en-US" sz="1400" dirty="0" smtClean="0">
                <a:solidFill>
                  <a:prstClr val="black"/>
                </a:solidFill>
              </a:rPr>
              <a:t>Partners in the USA and LATAM</a:t>
            </a:r>
          </a:p>
          <a:p>
            <a:pPr marL="285750" indent="-285750">
              <a:buFont typeface="Wingdings" pitchFamily="2" charset="2"/>
              <a:buChar char="Ø"/>
            </a:pPr>
            <a:r>
              <a:rPr lang="en-US" sz="1400" dirty="0" smtClean="0">
                <a:solidFill>
                  <a:prstClr val="black"/>
                </a:solidFill>
              </a:rPr>
              <a:t>Member of the </a:t>
            </a:r>
            <a:r>
              <a:rPr lang="en-US" sz="1400" dirty="0" err="1" smtClean="0">
                <a:solidFill>
                  <a:prstClr val="black"/>
                </a:solidFill>
              </a:rPr>
              <a:t>dev</a:t>
            </a:r>
            <a:r>
              <a:rPr lang="en-US" sz="1400" dirty="0" smtClean="0">
                <a:solidFill>
                  <a:prstClr val="black"/>
                </a:solidFill>
              </a:rPr>
              <a:t> team who developed some Microsoft </a:t>
            </a:r>
            <a:r>
              <a:rPr lang="en-US" sz="1400" dirty="0">
                <a:solidFill>
                  <a:prstClr val="black"/>
                </a:solidFill>
              </a:rPr>
              <a:t>campaigns </a:t>
            </a:r>
            <a:r>
              <a:rPr lang="en-US" sz="1400" dirty="0" smtClean="0">
                <a:solidFill>
                  <a:prstClr val="black"/>
                </a:solidFill>
              </a:rPr>
              <a:t>in LATAM</a:t>
            </a:r>
            <a:endParaRPr lang="en-US" sz="1200" dirty="0">
              <a:solidFill>
                <a:prstClr val="black"/>
              </a:solidFill>
            </a:endParaRPr>
          </a:p>
        </p:txBody>
      </p:sp>
      <p:sp>
        <p:nvSpPr>
          <p:cNvPr id="35" name="34 CuadroTexto"/>
          <p:cNvSpPr txBox="1"/>
          <p:nvPr/>
        </p:nvSpPr>
        <p:spPr>
          <a:xfrm>
            <a:off x="376585" y="1464403"/>
            <a:ext cx="8227863" cy="738664"/>
          </a:xfrm>
          <a:prstGeom prst="rect">
            <a:avLst/>
          </a:prstGeom>
          <a:noFill/>
        </p:spPr>
        <p:txBody>
          <a:bodyPr wrap="square" rtlCol="0">
            <a:spAutoFit/>
          </a:bodyPr>
          <a:lstStyle/>
          <a:p>
            <a:pPr marL="285750" indent="-285750">
              <a:buFont typeface="Wingdings" pitchFamily="2" charset="2"/>
              <a:buChar char="Ø"/>
            </a:pPr>
            <a:r>
              <a:rPr lang="en-US" sz="1400" dirty="0" smtClean="0">
                <a:solidFill>
                  <a:prstClr val="black"/>
                </a:solidFill>
              </a:rPr>
              <a:t>Software Developer at </a:t>
            </a:r>
            <a:r>
              <a:rPr lang="en-US" sz="1400" dirty="0" err="1" smtClean="0">
                <a:solidFill>
                  <a:prstClr val="black"/>
                </a:solidFill>
              </a:rPr>
              <a:t>BairesDev</a:t>
            </a: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Part of a talented Software Development Team  </a:t>
            </a:r>
          </a:p>
          <a:p>
            <a:r>
              <a:rPr lang="en-US" sz="1400" dirty="0" smtClean="0">
                <a:solidFill>
                  <a:prstClr val="black"/>
                </a:solidFill>
              </a:rPr>
              <a:t>       A little gear -part of a bigger machine- who works with awesome people </a:t>
            </a:r>
            <a:r>
              <a:rPr lang="en-US" sz="1400" dirty="0" smtClean="0">
                <a:solidFill>
                  <a:prstClr val="black"/>
                </a:solidFill>
                <a:sym typeface="Wingdings" pitchFamily="2" charset="2"/>
              </a:rPr>
              <a:t></a:t>
            </a:r>
            <a:endParaRPr lang="en-US" sz="1400" dirty="0">
              <a:solidFill>
                <a:prstClr val="black"/>
              </a:solidFill>
            </a:endParaRPr>
          </a:p>
        </p:txBody>
      </p:sp>
      <p:pic>
        <p:nvPicPr>
          <p:cNvPr id="3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647" y="1197704"/>
            <a:ext cx="1241538" cy="310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36 CuadroTexto"/>
          <p:cNvSpPr txBox="1"/>
          <p:nvPr/>
        </p:nvSpPr>
        <p:spPr>
          <a:xfrm>
            <a:off x="171843" y="4813057"/>
            <a:ext cx="8210617" cy="1384995"/>
          </a:xfrm>
          <a:prstGeom prst="rect">
            <a:avLst/>
          </a:prstGeom>
          <a:noFill/>
        </p:spPr>
        <p:txBody>
          <a:bodyPr wrap="square" rtlCol="0">
            <a:spAutoFit/>
          </a:bodyPr>
          <a:lstStyle/>
          <a:p>
            <a:pPr marL="285750" indent="-285750">
              <a:buFont typeface="Wingdings" pitchFamily="2" charset="2"/>
              <a:buChar char="Ø"/>
            </a:pPr>
            <a:r>
              <a:rPr lang="en-US" sz="1400" dirty="0" smtClean="0">
                <a:solidFill>
                  <a:prstClr val="black"/>
                </a:solidFill>
              </a:rPr>
              <a:t>MCAD 	- Microsoft </a:t>
            </a:r>
            <a:r>
              <a:rPr lang="en-US" sz="1400" dirty="0">
                <a:solidFill>
                  <a:prstClr val="black"/>
                </a:solidFill>
              </a:rPr>
              <a:t>Certified Applications </a:t>
            </a:r>
            <a:r>
              <a:rPr lang="en-US" sz="1400" dirty="0" smtClean="0">
                <a:solidFill>
                  <a:prstClr val="black"/>
                </a:solidFill>
              </a:rPr>
              <a:t>Developer   (2006)     MCP ID = </a:t>
            </a:r>
            <a:r>
              <a:rPr lang="en-US" sz="1400" dirty="0">
                <a:solidFill>
                  <a:prstClr val="black"/>
                </a:solidFill>
              </a:rPr>
              <a:t>3767541</a:t>
            </a:r>
          </a:p>
          <a:p>
            <a:pPr marL="285750" indent="-285750">
              <a:buFont typeface="Wingdings" pitchFamily="2" charset="2"/>
              <a:buChar char="Ø"/>
            </a:pPr>
            <a:r>
              <a:rPr lang="en-US" sz="1400" dirty="0" smtClean="0">
                <a:solidFill>
                  <a:prstClr val="black"/>
                </a:solidFill>
              </a:rPr>
              <a:t>MCDBA	- Microsoft </a:t>
            </a:r>
            <a:r>
              <a:rPr lang="en-US" sz="1400" dirty="0">
                <a:solidFill>
                  <a:prstClr val="black"/>
                </a:solidFill>
              </a:rPr>
              <a:t>Certified </a:t>
            </a:r>
            <a:r>
              <a:rPr lang="en-US" sz="1400" dirty="0" smtClean="0">
                <a:solidFill>
                  <a:prstClr val="black"/>
                </a:solidFill>
              </a:rPr>
              <a:t>Database Administrator  (2000)     MCP ID = 1014129</a:t>
            </a:r>
            <a:endParaRPr lang="en-US" sz="1400" dirty="0">
              <a:solidFill>
                <a:prstClr val="black"/>
              </a:solidFill>
            </a:endParaRPr>
          </a:p>
          <a:p>
            <a:pPr marL="285750" indent="-285750">
              <a:buFont typeface="Wingdings" pitchFamily="2" charset="2"/>
              <a:buChar char="Ø"/>
            </a:pPr>
            <a:r>
              <a:rPr lang="en-US" sz="1400" dirty="0" smtClean="0">
                <a:solidFill>
                  <a:prstClr val="black"/>
                </a:solidFill>
              </a:rPr>
              <a:t>MCSE	- Microsoft </a:t>
            </a:r>
            <a:r>
              <a:rPr lang="en-US" sz="1400" dirty="0">
                <a:solidFill>
                  <a:prstClr val="black"/>
                </a:solidFill>
              </a:rPr>
              <a:t>Certified </a:t>
            </a:r>
            <a:r>
              <a:rPr lang="en-US" sz="1400" dirty="0" smtClean="0">
                <a:solidFill>
                  <a:prstClr val="black"/>
                </a:solidFill>
              </a:rPr>
              <a:t>Systems Engineer             (</a:t>
            </a:r>
            <a:r>
              <a:rPr lang="en-US" sz="1400" dirty="0">
                <a:solidFill>
                  <a:prstClr val="black"/>
                </a:solidFill>
              </a:rPr>
              <a:t>2000) </a:t>
            </a:r>
            <a:r>
              <a:rPr lang="en-US" sz="1400" dirty="0" smtClean="0">
                <a:solidFill>
                  <a:prstClr val="black"/>
                </a:solidFill>
              </a:rPr>
              <a:t>    MCP ID = </a:t>
            </a:r>
            <a:r>
              <a:rPr lang="en-US" sz="1400" dirty="0">
                <a:solidFill>
                  <a:prstClr val="black"/>
                </a:solidFill>
              </a:rPr>
              <a:t>1014129</a:t>
            </a:r>
          </a:p>
          <a:p>
            <a:pPr marL="285750" indent="-285750">
              <a:buFont typeface="Wingdings" pitchFamily="2" charset="2"/>
              <a:buChar char="Ø"/>
            </a:pPr>
            <a:r>
              <a:rPr lang="en-US" sz="1400" dirty="0" smtClean="0">
                <a:solidFill>
                  <a:prstClr val="black"/>
                </a:solidFill>
              </a:rPr>
              <a:t>MCSD	- Microsoft </a:t>
            </a:r>
            <a:r>
              <a:rPr lang="en-US" sz="1400" dirty="0">
                <a:solidFill>
                  <a:prstClr val="black"/>
                </a:solidFill>
              </a:rPr>
              <a:t>Certified </a:t>
            </a:r>
            <a:r>
              <a:rPr lang="en-US" sz="1400" dirty="0" smtClean="0">
                <a:solidFill>
                  <a:prstClr val="black"/>
                </a:solidFill>
              </a:rPr>
              <a:t>Solutions Developer        </a:t>
            </a:r>
            <a:r>
              <a:rPr lang="en-US" sz="1400" dirty="0">
                <a:solidFill>
                  <a:prstClr val="black"/>
                </a:solidFill>
              </a:rPr>
              <a:t>(2000) </a:t>
            </a:r>
            <a:r>
              <a:rPr lang="en-US" sz="1400" dirty="0" smtClean="0">
                <a:solidFill>
                  <a:prstClr val="black"/>
                </a:solidFill>
              </a:rPr>
              <a:t>    MCP ID = 1014129</a:t>
            </a:r>
          </a:p>
          <a:p>
            <a:pPr marL="285750" indent="-285750">
              <a:buFont typeface="Wingdings" pitchFamily="2" charset="2"/>
              <a:buChar char="Ø"/>
            </a:pP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Certificate of Excellence - Microsoft SQL Server 6.5      (1998)   </a:t>
            </a:r>
            <a:r>
              <a:rPr lang="en-US" sz="1400" dirty="0" smtClean="0">
                <a:solidFill>
                  <a:prstClr val="black"/>
                </a:solidFill>
                <a:sym typeface="Wingdings" pitchFamily="2" charset="2"/>
              </a:rPr>
              <a:t> </a:t>
            </a:r>
            <a:r>
              <a:rPr lang="en-US" sz="1400" i="1" dirty="0" smtClean="0">
                <a:solidFill>
                  <a:prstClr val="black"/>
                </a:solidFill>
              </a:rPr>
              <a:t>that was my first tiny certification!</a:t>
            </a:r>
            <a:r>
              <a:rPr lang="en-US" sz="1400" dirty="0" smtClean="0">
                <a:solidFill>
                  <a:prstClr val="black"/>
                </a:solidFill>
              </a:rPr>
              <a:t>  </a:t>
            </a:r>
            <a:r>
              <a:rPr lang="en-US" sz="1400" dirty="0" smtClean="0">
                <a:solidFill>
                  <a:prstClr val="black"/>
                </a:solidFill>
                <a:sym typeface="Wingdings" pitchFamily="2" charset="2"/>
              </a:rPr>
              <a:t></a:t>
            </a:r>
            <a:endParaRPr lang="en-US" sz="1400" dirty="0">
              <a:solidFill>
                <a:prstClr val="black"/>
              </a:solidFill>
            </a:endParaRPr>
          </a:p>
        </p:txBody>
      </p:sp>
      <p:pic>
        <p:nvPicPr>
          <p:cNvPr id="2" name="1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3237" y="3630508"/>
            <a:ext cx="559628" cy="280379"/>
          </a:xfrm>
          <a:prstGeom prst="rect">
            <a:avLst/>
          </a:prstGeom>
        </p:spPr>
      </p:pic>
      <p:pic>
        <p:nvPicPr>
          <p:cNvPr id="3" name="2 Image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89228" y="3630507"/>
            <a:ext cx="535860" cy="280379"/>
          </a:xfrm>
          <a:prstGeom prst="rect">
            <a:avLst/>
          </a:prstGeom>
        </p:spPr>
      </p:pic>
      <p:pic>
        <p:nvPicPr>
          <p:cNvPr id="6" name="5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35742" y="3630507"/>
            <a:ext cx="526151" cy="321789"/>
          </a:xfrm>
          <a:prstGeom prst="rect">
            <a:avLst/>
          </a:prstGeom>
        </p:spPr>
      </p:pic>
      <p:pic>
        <p:nvPicPr>
          <p:cNvPr id="7" name="6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286062" y="3630507"/>
            <a:ext cx="644880" cy="321789"/>
          </a:xfrm>
          <a:prstGeom prst="rect">
            <a:avLst/>
          </a:prstGeom>
        </p:spPr>
      </p:pic>
      <p:pic>
        <p:nvPicPr>
          <p:cNvPr id="9" name="8 Imagen"/>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28809" y="3630508"/>
            <a:ext cx="493696" cy="329130"/>
          </a:xfrm>
          <a:prstGeom prst="rect">
            <a:avLst/>
          </a:prstGeom>
        </p:spPr>
      </p:pic>
      <p:pic>
        <p:nvPicPr>
          <p:cNvPr id="11" name="10 Imagen"/>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833357" y="3630507"/>
            <a:ext cx="532157" cy="354377"/>
          </a:xfrm>
          <a:prstGeom prst="rect">
            <a:avLst/>
          </a:prstGeom>
        </p:spPr>
      </p:pic>
      <p:pic>
        <p:nvPicPr>
          <p:cNvPr id="4098"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95895" y="4903852"/>
            <a:ext cx="1586565" cy="772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 name="33 CuadroTexto"/>
          <p:cNvSpPr txBox="1"/>
          <p:nvPr/>
        </p:nvSpPr>
        <p:spPr>
          <a:xfrm>
            <a:off x="171843" y="4487076"/>
            <a:ext cx="8972081" cy="307777"/>
          </a:xfrm>
          <a:prstGeom prst="rect">
            <a:avLst/>
          </a:prstGeom>
          <a:gradFill flip="none" rotWithShape="1">
            <a:gsLst>
              <a:gs pos="0">
                <a:schemeClr val="bg1">
                  <a:lumMod val="75000"/>
                </a:schemeClr>
              </a:gs>
              <a:gs pos="50000">
                <a:schemeClr val="bg1">
                  <a:lumMod val="85000"/>
                </a:schemeClr>
              </a:gs>
              <a:gs pos="100000">
                <a:schemeClr val="bg1">
                  <a:lumMod val="95000"/>
                </a:schemeClr>
              </a:gs>
            </a:gsLst>
            <a:lin ang="0" scaled="1"/>
            <a:tileRect/>
          </a:gradFill>
        </p:spPr>
        <p:txBody>
          <a:bodyPr wrap="square" rtlCol="0">
            <a:spAutoFit/>
          </a:bodyPr>
          <a:lstStyle/>
          <a:p>
            <a:r>
              <a:rPr lang="en-US" sz="1400" b="1" dirty="0" smtClean="0">
                <a:solidFill>
                  <a:prstClr val="black"/>
                </a:solidFill>
              </a:rPr>
              <a:t>Some minor credentials</a:t>
            </a:r>
            <a:endParaRPr lang="en-US" sz="1400" dirty="0">
              <a:solidFill>
                <a:prstClr val="black"/>
              </a:solidFill>
            </a:endParaRPr>
          </a:p>
        </p:txBody>
      </p:sp>
      <p:grpSp>
        <p:nvGrpSpPr>
          <p:cNvPr id="40" name="39 Grupo"/>
          <p:cNvGrpSpPr/>
          <p:nvPr/>
        </p:nvGrpSpPr>
        <p:grpSpPr>
          <a:xfrm>
            <a:off x="9525" y="6574392"/>
            <a:ext cx="9134399" cy="277000"/>
            <a:chOff x="9525" y="6574392"/>
            <a:chExt cx="9134399" cy="277000"/>
          </a:xfrm>
        </p:grpSpPr>
        <p:sp>
          <p:nvSpPr>
            <p:cNvPr id="41" name="40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42" name="41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43" name="42 Grupo"/>
          <p:cNvGrpSpPr/>
          <p:nvPr/>
        </p:nvGrpSpPr>
        <p:grpSpPr>
          <a:xfrm>
            <a:off x="0" y="9525"/>
            <a:ext cx="9153525" cy="408388"/>
            <a:chOff x="0" y="9525"/>
            <a:chExt cx="9153525" cy="408388"/>
          </a:xfrm>
        </p:grpSpPr>
        <p:sp>
          <p:nvSpPr>
            <p:cNvPr id="44" name="43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Introduction:  What I do</a:t>
              </a:r>
              <a:endParaRPr lang="en-US" b="1" dirty="0">
                <a:solidFill>
                  <a:schemeClr val="bg1"/>
                </a:solidFill>
              </a:endParaRPr>
            </a:p>
          </p:txBody>
        </p:sp>
        <p:pic>
          <p:nvPicPr>
            <p:cNvPr id="45" name="44 Imagen"/>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6" name="45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22 CuadroTexto"/>
          <p:cNvSpPr txBox="1"/>
          <p:nvPr/>
        </p:nvSpPr>
        <p:spPr>
          <a:xfrm>
            <a:off x="-491" y="548680"/>
            <a:ext cx="9164031" cy="400110"/>
          </a:xfrm>
          <a:prstGeom prst="rect">
            <a:avLst/>
          </a:prstGeom>
          <a:noFill/>
        </p:spPr>
        <p:txBody>
          <a:bodyPr wrap="square" rtlCol="0">
            <a:spAutoFit/>
          </a:bodyPr>
          <a:lstStyle/>
          <a:p>
            <a:r>
              <a:rPr lang="en-US" sz="2000" b="1" dirty="0" smtClean="0">
                <a:solidFill>
                  <a:prstClr val="black"/>
                </a:solidFill>
              </a:rPr>
              <a:t>A doer…</a:t>
            </a:r>
            <a:endParaRPr lang="en-US" sz="2000" b="1" dirty="0">
              <a:solidFill>
                <a:prstClr val="black"/>
              </a:solidFill>
            </a:endParaRPr>
          </a:p>
        </p:txBody>
      </p:sp>
    </p:spTree>
    <p:extLst>
      <p:ext uri="{BB962C8B-B14F-4D97-AF65-F5344CB8AC3E}">
        <p14:creationId xmlns:p14="http://schemas.microsoft.com/office/powerpoint/2010/main" val="30577189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1 Image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0732" y="1651391"/>
            <a:ext cx="704734" cy="533400"/>
          </a:xfrm>
          <a:prstGeom prst="rect">
            <a:avLst/>
          </a:prstGeom>
        </p:spPr>
      </p:pic>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3973" y="1749022"/>
            <a:ext cx="1524000" cy="303944"/>
          </a:xfrm>
          <a:prstGeom prst="rect">
            <a:avLst/>
          </a:prstGeom>
        </p:spPr>
      </p:pic>
      <p:pic>
        <p:nvPicPr>
          <p:cNvPr id="4" name="3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85171" y="1717146"/>
            <a:ext cx="1524000" cy="426720"/>
          </a:xfrm>
          <a:prstGeom prst="rect">
            <a:avLst/>
          </a:prstGeom>
        </p:spPr>
      </p:pic>
      <p:pic>
        <p:nvPicPr>
          <p:cNvPr id="7" name="6 Image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17973" y="1555242"/>
            <a:ext cx="1424044" cy="497724"/>
          </a:xfrm>
          <a:prstGeom prst="rect">
            <a:avLst/>
          </a:prstGeom>
        </p:spPr>
      </p:pic>
      <p:pic>
        <p:nvPicPr>
          <p:cNvPr id="9" name="8 Imagen"/>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4046" y="2997594"/>
            <a:ext cx="1964114" cy="440384"/>
          </a:xfrm>
          <a:prstGeom prst="rect">
            <a:avLst/>
          </a:prstGeom>
        </p:spPr>
      </p:pic>
      <p:pic>
        <p:nvPicPr>
          <p:cNvPr id="11" name="10 Imagen"/>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34276" y="2997594"/>
            <a:ext cx="1533086" cy="414348"/>
          </a:xfrm>
          <a:prstGeom prst="rect">
            <a:avLst/>
          </a:prstGeom>
        </p:spPr>
      </p:pic>
      <p:pic>
        <p:nvPicPr>
          <p:cNvPr id="17" name="16 Imagen"/>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918225" y="2866519"/>
            <a:ext cx="1143042" cy="648518"/>
          </a:xfrm>
          <a:prstGeom prst="rect">
            <a:avLst/>
          </a:prstGeom>
        </p:spPr>
      </p:pic>
      <p:pic>
        <p:nvPicPr>
          <p:cNvPr id="18" name="17 Imagen"/>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54263" y="4225116"/>
            <a:ext cx="718984" cy="990600"/>
          </a:xfrm>
          <a:prstGeom prst="rect">
            <a:avLst/>
          </a:prstGeom>
        </p:spPr>
      </p:pic>
      <p:pic>
        <p:nvPicPr>
          <p:cNvPr id="19" name="18 Imagen"/>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117658" y="1484784"/>
            <a:ext cx="999376" cy="891444"/>
          </a:xfrm>
          <a:prstGeom prst="rect">
            <a:avLst/>
          </a:prstGeom>
        </p:spPr>
      </p:pic>
      <p:pic>
        <p:nvPicPr>
          <p:cNvPr id="20" name="19 Imagen"/>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785981" y="4298628"/>
            <a:ext cx="1428750" cy="533400"/>
          </a:xfrm>
          <a:prstGeom prst="rect">
            <a:avLst/>
          </a:prstGeom>
        </p:spPr>
      </p:pic>
      <p:pic>
        <p:nvPicPr>
          <p:cNvPr id="22" name="21 Imagen"/>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907973" y="2997594"/>
            <a:ext cx="1261039" cy="671098"/>
          </a:xfrm>
          <a:prstGeom prst="rect">
            <a:avLst/>
          </a:prstGeom>
        </p:spPr>
      </p:pic>
      <p:pic>
        <p:nvPicPr>
          <p:cNvPr id="23" name="22 Imagen"/>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995730" y="4298628"/>
            <a:ext cx="1426881" cy="589364"/>
          </a:xfrm>
          <a:prstGeom prst="rect">
            <a:avLst/>
          </a:prstGeom>
        </p:spPr>
      </p:pic>
      <p:pic>
        <p:nvPicPr>
          <p:cNvPr id="25" name="24 Imagen"/>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337452" y="4287833"/>
            <a:ext cx="1267002" cy="600159"/>
          </a:xfrm>
          <a:prstGeom prst="rect">
            <a:avLst/>
          </a:prstGeom>
        </p:spPr>
      </p:pic>
      <p:sp>
        <p:nvSpPr>
          <p:cNvPr id="45" name="44 CuadroTexto"/>
          <p:cNvSpPr txBox="1"/>
          <p:nvPr/>
        </p:nvSpPr>
        <p:spPr>
          <a:xfrm>
            <a:off x="10940" y="692696"/>
            <a:ext cx="9132984" cy="400110"/>
          </a:xfrm>
          <a:prstGeom prst="rect">
            <a:avLst/>
          </a:prstGeom>
          <a:noFill/>
        </p:spPr>
        <p:txBody>
          <a:bodyPr wrap="square" rtlCol="0">
            <a:spAutoFit/>
          </a:bodyPr>
          <a:lstStyle/>
          <a:p>
            <a:r>
              <a:rPr lang="en-US" sz="2000" b="1" dirty="0" smtClean="0">
                <a:solidFill>
                  <a:prstClr val="black"/>
                </a:solidFill>
              </a:rPr>
              <a:t>I’m not a theorist -   I come from the trenches instead.</a:t>
            </a:r>
            <a:endParaRPr lang="en-US" sz="2000" b="1" dirty="0">
              <a:solidFill>
                <a:prstClr val="black"/>
              </a:solidFill>
            </a:endParaRPr>
          </a:p>
        </p:txBody>
      </p:sp>
      <p:sp>
        <p:nvSpPr>
          <p:cNvPr id="6" name="5 CuadroTexto"/>
          <p:cNvSpPr txBox="1"/>
          <p:nvPr/>
        </p:nvSpPr>
        <p:spPr>
          <a:xfrm>
            <a:off x="7070667" y="5291916"/>
            <a:ext cx="1817580" cy="369332"/>
          </a:xfrm>
          <a:prstGeom prst="rect">
            <a:avLst/>
          </a:prstGeom>
          <a:noFill/>
        </p:spPr>
        <p:txBody>
          <a:bodyPr wrap="square" rtlCol="0">
            <a:spAutoFit/>
          </a:bodyPr>
          <a:lstStyle/>
          <a:p>
            <a:r>
              <a:rPr lang="en-US" dirty="0" smtClean="0">
                <a:solidFill>
                  <a:prstClr val="black"/>
                </a:solidFill>
              </a:rPr>
              <a:t>…among others.</a:t>
            </a:r>
            <a:endParaRPr lang="en-US" dirty="0">
              <a:solidFill>
                <a:prstClr val="black"/>
              </a:solidFill>
            </a:endParaRPr>
          </a:p>
        </p:txBody>
      </p:sp>
      <p:grpSp>
        <p:nvGrpSpPr>
          <p:cNvPr id="41" name="40 Grupo"/>
          <p:cNvGrpSpPr/>
          <p:nvPr/>
        </p:nvGrpSpPr>
        <p:grpSpPr>
          <a:xfrm>
            <a:off x="9525" y="6574392"/>
            <a:ext cx="9134399" cy="277000"/>
            <a:chOff x="9525" y="6574392"/>
            <a:chExt cx="9134399" cy="277000"/>
          </a:xfrm>
        </p:grpSpPr>
        <p:sp>
          <p:nvSpPr>
            <p:cNvPr id="42" name="4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43" name="4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46" name="45 Grupo"/>
          <p:cNvGrpSpPr/>
          <p:nvPr/>
        </p:nvGrpSpPr>
        <p:grpSpPr>
          <a:xfrm>
            <a:off x="0" y="9525"/>
            <a:ext cx="9153525" cy="408388"/>
            <a:chOff x="0" y="9525"/>
            <a:chExt cx="9153525" cy="408388"/>
          </a:xfrm>
        </p:grpSpPr>
        <p:sp>
          <p:nvSpPr>
            <p:cNvPr id="47" name="46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Introduction:  What I do</a:t>
              </a:r>
              <a:endParaRPr lang="en-US" b="1" dirty="0">
                <a:solidFill>
                  <a:schemeClr val="bg1"/>
                </a:solidFill>
              </a:endParaRPr>
            </a:p>
          </p:txBody>
        </p:sp>
        <p:pic>
          <p:nvPicPr>
            <p:cNvPr id="48" name="47 Imagen"/>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9" name="48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25 CuadroTexto"/>
          <p:cNvSpPr txBox="1"/>
          <p:nvPr/>
        </p:nvSpPr>
        <p:spPr>
          <a:xfrm>
            <a:off x="-12551" y="6020147"/>
            <a:ext cx="9132984" cy="400110"/>
          </a:xfrm>
          <a:prstGeom prst="rect">
            <a:avLst/>
          </a:prstGeom>
          <a:noFill/>
        </p:spPr>
        <p:txBody>
          <a:bodyPr wrap="square" rtlCol="0">
            <a:spAutoFit/>
          </a:bodyPr>
          <a:lstStyle/>
          <a:p>
            <a:pPr algn="ctr"/>
            <a:r>
              <a:rPr lang="en-US" sz="2000" b="1" dirty="0" smtClean="0">
                <a:solidFill>
                  <a:srgbClr val="0000FF"/>
                </a:solidFill>
              </a:rPr>
              <a:t>Shall we start?</a:t>
            </a:r>
            <a:endParaRPr lang="en-US" sz="2000" b="1" dirty="0">
              <a:solidFill>
                <a:srgbClr val="0000FF"/>
              </a:solidFill>
            </a:endParaRPr>
          </a:p>
        </p:txBody>
      </p:sp>
    </p:spTree>
    <p:extLst>
      <p:ext uri="{BB962C8B-B14F-4D97-AF65-F5344CB8AC3E}">
        <p14:creationId xmlns:p14="http://schemas.microsoft.com/office/powerpoint/2010/main" val="29305290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0" y="571500"/>
            <a:ext cx="9144000" cy="3077766"/>
          </a:xfrm>
          <a:prstGeom prst="rect">
            <a:avLst/>
          </a:prstGeom>
          <a:noFill/>
        </p:spPr>
        <p:txBody>
          <a:bodyPr wrap="square" rtlCol="0">
            <a:spAutoFit/>
          </a:bodyPr>
          <a:lstStyle/>
          <a:p>
            <a:r>
              <a:rPr lang="en-US" sz="1400" b="1" dirty="0" smtClean="0">
                <a:solidFill>
                  <a:prstClr val="black"/>
                </a:solidFill>
              </a:rPr>
              <a:t>What is a Schema?</a:t>
            </a:r>
          </a:p>
          <a:p>
            <a:r>
              <a:rPr lang="en-US" sz="1200" dirty="0" smtClean="0">
                <a:solidFill>
                  <a:prstClr val="black"/>
                </a:solidFill>
              </a:rPr>
              <a:t>Simply put, a </a:t>
            </a:r>
            <a:r>
              <a:rPr lang="en-US" sz="1200" dirty="0">
                <a:solidFill>
                  <a:prstClr val="black"/>
                </a:solidFill>
              </a:rPr>
              <a:t>schema is </a:t>
            </a:r>
            <a:r>
              <a:rPr lang="en-US" sz="1200" dirty="0" smtClean="0">
                <a:solidFill>
                  <a:prstClr val="black"/>
                </a:solidFill>
              </a:rPr>
              <a:t>a </a:t>
            </a:r>
            <a:r>
              <a:rPr lang="en-US" sz="1200" dirty="0">
                <a:solidFill>
                  <a:prstClr val="black"/>
                </a:solidFill>
              </a:rPr>
              <a:t>container of </a:t>
            </a:r>
            <a:r>
              <a:rPr lang="en-US" sz="1200" dirty="0" smtClean="0">
                <a:solidFill>
                  <a:prstClr val="black"/>
                </a:solidFill>
              </a:rPr>
              <a:t>objects </a:t>
            </a:r>
            <a:r>
              <a:rPr lang="en-US" sz="1200" dirty="0">
                <a:solidFill>
                  <a:prstClr val="black"/>
                </a:solidFill>
              </a:rPr>
              <a:t>distinct from the user who created those objects</a:t>
            </a:r>
            <a:r>
              <a:rPr lang="en-US" sz="1200" dirty="0" smtClean="0">
                <a:solidFill>
                  <a:prstClr val="black"/>
                </a:solidFill>
              </a:rPr>
              <a:t>.</a:t>
            </a:r>
          </a:p>
          <a:p>
            <a:r>
              <a:rPr lang="en-US" sz="1200" dirty="0">
                <a:solidFill>
                  <a:prstClr val="black"/>
                </a:solidFill>
              </a:rPr>
              <a:t>You can assign a user login permissions to a single schema so that the user can only access the objects they are authorized to access</a:t>
            </a:r>
          </a:p>
          <a:p>
            <a:endParaRPr lang="en-US" sz="1200" dirty="0" smtClean="0">
              <a:solidFill>
                <a:prstClr val="black"/>
              </a:solidFill>
            </a:endParaRPr>
          </a:p>
          <a:p>
            <a:r>
              <a:rPr lang="en-US" sz="1200" b="1" dirty="0" smtClean="0">
                <a:solidFill>
                  <a:prstClr val="black"/>
                </a:solidFill>
              </a:rPr>
              <a:t>Where it comes from?</a:t>
            </a:r>
          </a:p>
          <a:p>
            <a:r>
              <a:rPr lang="en-US" sz="1200" dirty="0" smtClean="0">
                <a:solidFill>
                  <a:prstClr val="black"/>
                </a:solidFill>
              </a:rPr>
              <a:t>Before SQL Server 2005 objects were tied to the user who created them.</a:t>
            </a:r>
          </a:p>
          <a:p>
            <a:endParaRPr lang="en-US" sz="1200" i="1" dirty="0" smtClean="0">
              <a:solidFill>
                <a:prstClr val="black"/>
              </a:solidFill>
            </a:endParaRPr>
          </a:p>
          <a:p>
            <a:r>
              <a:rPr lang="en-US" sz="1200" i="1" dirty="0" smtClean="0">
                <a:solidFill>
                  <a:prstClr val="black"/>
                </a:solidFill>
              </a:rPr>
              <a:t>Example: </a:t>
            </a:r>
          </a:p>
          <a:p>
            <a:r>
              <a:rPr lang="en-US" sz="1200" dirty="0" smtClean="0">
                <a:solidFill>
                  <a:prstClr val="black"/>
                </a:solidFill>
              </a:rPr>
              <a:t>Claudio creates the customers table, so your SELECT looked like this </a:t>
            </a:r>
            <a:r>
              <a:rPr lang="en-US" sz="1200" dirty="0" smtClean="0">
                <a:solidFill>
                  <a:prstClr val="black"/>
                </a:solidFill>
                <a:sym typeface="Wingdings" pitchFamily="2" charset="2"/>
              </a:rPr>
              <a:t></a:t>
            </a:r>
            <a:r>
              <a:rPr lang="en-US" sz="1200" dirty="0" smtClean="0">
                <a:solidFill>
                  <a:prstClr val="black"/>
                </a:solidFill>
              </a:rPr>
              <a:t>  </a:t>
            </a:r>
            <a:r>
              <a:rPr lang="en-US" sz="1200" b="1" i="1" dirty="0" smtClean="0">
                <a:solidFill>
                  <a:prstClr val="black"/>
                </a:solidFill>
              </a:rPr>
              <a:t>Select * From </a:t>
            </a:r>
            <a:r>
              <a:rPr lang="en-US" sz="1200" b="1" i="1" dirty="0" err="1" smtClean="0">
                <a:solidFill>
                  <a:prstClr val="black"/>
                </a:solidFill>
              </a:rPr>
              <a:t>YourDB.Claudio.Customers</a:t>
            </a:r>
            <a:endParaRPr lang="en-US" sz="1200" b="1" i="1" dirty="0">
              <a:solidFill>
                <a:prstClr val="black"/>
              </a:solidFill>
            </a:endParaRPr>
          </a:p>
          <a:p>
            <a:r>
              <a:rPr lang="en-US" sz="1200" dirty="0" smtClean="0">
                <a:solidFill>
                  <a:prstClr val="black"/>
                </a:solidFill>
              </a:rPr>
              <a:t>Jenny </a:t>
            </a:r>
            <a:r>
              <a:rPr lang="en-US" sz="1200" dirty="0">
                <a:solidFill>
                  <a:prstClr val="black"/>
                </a:solidFill>
              </a:rPr>
              <a:t>creates his own version of the </a:t>
            </a:r>
            <a:r>
              <a:rPr lang="en-US" sz="1200" dirty="0" smtClean="0">
                <a:solidFill>
                  <a:prstClr val="black"/>
                </a:solidFill>
              </a:rPr>
              <a:t>table, </a:t>
            </a:r>
            <a:r>
              <a:rPr lang="en-US" sz="1200" dirty="0">
                <a:solidFill>
                  <a:prstClr val="black"/>
                </a:solidFill>
              </a:rPr>
              <a:t>so your SELECT looked like this</a:t>
            </a:r>
            <a:r>
              <a:rPr lang="en-US" sz="1200" dirty="0" smtClean="0">
                <a:solidFill>
                  <a:prstClr val="black"/>
                </a:solidFill>
              </a:rPr>
              <a:t> </a:t>
            </a:r>
            <a:r>
              <a:rPr lang="en-US" sz="1200" dirty="0">
                <a:solidFill>
                  <a:prstClr val="black"/>
                </a:solidFill>
                <a:sym typeface="Wingdings" pitchFamily="2" charset="2"/>
              </a:rPr>
              <a:t> </a:t>
            </a:r>
            <a:r>
              <a:rPr lang="en-US" sz="1200" b="1" i="1" dirty="0">
                <a:solidFill>
                  <a:prstClr val="black"/>
                </a:solidFill>
                <a:sym typeface="Wingdings" pitchFamily="2" charset="2"/>
              </a:rPr>
              <a:t>Select * From </a:t>
            </a:r>
            <a:r>
              <a:rPr lang="en-US" sz="1200" b="1" i="1" dirty="0" err="1" smtClean="0">
                <a:solidFill>
                  <a:prstClr val="black"/>
                </a:solidFill>
                <a:sym typeface="Wingdings" pitchFamily="2" charset="2"/>
              </a:rPr>
              <a:t>YourDB.Jenny.Customers</a:t>
            </a:r>
            <a:endParaRPr lang="en-US" sz="1200" b="1" i="1" dirty="0">
              <a:solidFill>
                <a:prstClr val="black"/>
              </a:solidFill>
            </a:endParaRPr>
          </a:p>
          <a:p>
            <a:r>
              <a:rPr lang="en-US" sz="1200" dirty="0" smtClean="0">
                <a:solidFill>
                  <a:prstClr val="black"/>
                </a:solidFill>
              </a:rPr>
              <a:t>…and so on.</a:t>
            </a:r>
          </a:p>
          <a:p>
            <a:endParaRPr lang="en-US" sz="1200" dirty="0" smtClean="0">
              <a:solidFill>
                <a:prstClr val="black"/>
              </a:solidFill>
            </a:endParaRPr>
          </a:p>
          <a:p>
            <a:r>
              <a:rPr lang="en-US" sz="1200" dirty="0" smtClean="0">
                <a:solidFill>
                  <a:prstClr val="black"/>
                </a:solidFill>
              </a:rPr>
              <a:t>The user “Claudio” cannot be deleted without </a:t>
            </a:r>
            <a:r>
              <a:rPr lang="en-US" sz="1200" dirty="0">
                <a:solidFill>
                  <a:prstClr val="black"/>
                </a:solidFill>
              </a:rPr>
              <a:t>deleting the table or first transferring it to another </a:t>
            </a:r>
            <a:r>
              <a:rPr lang="en-US" sz="1200" dirty="0" smtClean="0">
                <a:solidFill>
                  <a:prstClr val="black"/>
                </a:solidFill>
              </a:rPr>
              <a:t>user.</a:t>
            </a:r>
          </a:p>
          <a:p>
            <a:r>
              <a:rPr lang="en-US" sz="1200" dirty="0" smtClean="0">
                <a:solidFill>
                  <a:prstClr val="black"/>
                </a:solidFill>
              </a:rPr>
              <a:t>There was another drawback: something known as Permissions Chain (</a:t>
            </a:r>
            <a:r>
              <a:rPr lang="en-US" sz="1200" i="1" dirty="0" smtClean="0">
                <a:solidFill>
                  <a:prstClr val="black"/>
                </a:solidFill>
              </a:rPr>
              <a:t>for </a:t>
            </a:r>
            <a:r>
              <a:rPr lang="en-US" sz="1200" i="1" dirty="0">
                <a:solidFill>
                  <a:prstClr val="black"/>
                </a:solidFill>
              </a:rPr>
              <a:t>the sake of </a:t>
            </a:r>
            <a:r>
              <a:rPr lang="en-US" sz="1200" i="1" dirty="0" smtClean="0">
                <a:solidFill>
                  <a:prstClr val="black"/>
                </a:solidFill>
              </a:rPr>
              <a:t>brevity I won’t explain this</a:t>
            </a:r>
            <a:r>
              <a:rPr lang="en-US" sz="1200" dirty="0" smtClean="0">
                <a:solidFill>
                  <a:prstClr val="black"/>
                </a:solidFill>
              </a:rPr>
              <a:t>)</a:t>
            </a:r>
          </a:p>
          <a:p>
            <a:endParaRPr lang="en-US" sz="1200" dirty="0" smtClean="0">
              <a:solidFill>
                <a:prstClr val="black"/>
              </a:solidFill>
            </a:endParaRPr>
          </a:p>
          <a:p>
            <a:r>
              <a:rPr lang="en-US" sz="1200" dirty="0" smtClean="0">
                <a:solidFill>
                  <a:prstClr val="black"/>
                </a:solidFill>
              </a:rPr>
              <a:t>With the advent of SCHEMAS, objects </a:t>
            </a:r>
            <a:r>
              <a:rPr lang="en-US" sz="1200" dirty="0">
                <a:solidFill>
                  <a:prstClr val="black"/>
                </a:solidFill>
              </a:rPr>
              <a:t>are no longer tied to the user creating </a:t>
            </a:r>
            <a:r>
              <a:rPr lang="en-US" sz="1200" dirty="0" smtClean="0">
                <a:solidFill>
                  <a:prstClr val="black"/>
                </a:solidFill>
              </a:rPr>
              <a:t>them</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810000"/>
            <a:ext cx="5800725" cy="182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1" name="10 Grupo"/>
          <p:cNvGrpSpPr/>
          <p:nvPr/>
        </p:nvGrpSpPr>
        <p:grpSpPr>
          <a:xfrm>
            <a:off x="9525" y="6574392"/>
            <a:ext cx="9134399" cy="277000"/>
            <a:chOff x="9525" y="6574392"/>
            <a:chExt cx="9134399" cy="277000"/>
          </a:xfrm>
        </p:grpSpPr>
        <p:sp>
          <p:nvSpPr>
            <p:cNvPr id="5" name="4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9" name="8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2" name="11 Grupo"/>
          <p:cNvGrpSpPr/>
          <p:nvPr/>
        </p:nvGrpSpPr>
        <p:grpSpPr>
          <a:xfrm>
            <a:off x="0" y="9525"/>
            <a:ext cx="9153525" cy="408388"/>
            <a:chOff x="0" y="9525"/>
            <a:chExt cx="9153525" cy="408388"/>
          </a:xfrm>
        </p:grpSpPr>
        <p:sp>
          <p:nvSpPr>
            <p:cNvPr id="13" name="12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Intermediate concepts |   Schemas</a:t>
              </a:r>
              <a:endParaRPr lang="en-US" b="1" dirty="0">
                <a:solidFill>
                  <a:schemeClr val="bg1"/>
                </a:solidFill>
              </a:endParaRPr>
            </a:p>
          </p:txBody>
        </p:sp>
        <p:pic>
          <p:nvPicPr>
            <p:cNvPr id="14" name="13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 name="14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95691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0" y="768320"/>
            <a:ext cx="9144000" cy="461665"/>
          </a:xfrm>
          <a:prstGeom prst="rect">
            <a:avLst/>
          </a:prstGeom>
          <a:noFill/>
        </p:spPr>
        <p:txBody>
          <a:bodyPr wrap="square" rtlCol="0">
            <a:spAutoFit/>
          </a:bodyPr>
          <a:lstStyle/>
          <a:p>
            <a:r>
              <a:rPr lang="en-US" sz="1200" dirty="0" smtClean="0">
                <a:solidFill>
                  <a:prstClr val="black"/>
                </a:solidFill>
              </a:rPr>
              <a:t>A Cursor is a SQL Server data type that allows you to </a:t>
            </a:r>
            <a:r>
              <a:rPr lang="en-US" sz="1200" dirty="0">
                <a:solidFill>
                  <a:prstClr val="black"/>
                </a:solidFill>
              </a:rPr>
              <a:t>loop through a collection of </a:t>
            </a:r>
            <a:r>
              <a:rPr lang="en-US" sz="1200" dirty="0" smtClean="0">
                <a:solidFill>
                  <a:prstClr val="black"/>
                </a:solidFill>
              </a:rPr>
              <a:t>rows in a sequential manner.</a:t>
            </a:r>
          </a:p>
          <a:p>
            <a:r>
              <a:rPr lang="en-US" sz="1200" dirty="0" smtClean="0">
                <a:solidFill>
                  <a:prstClr val="black"/>
                </a:solidFill>
              </a:rPr>
              <a:t>They are </a:t>
            </a:r>
            <a:r>
              <a:rPr lang="en-US" sz="1200" dirty="0">
                <a:solidFill>
                  <a:prstClr val="black"/>
                </a:solidFill>
              </a:rPr>
              <a:t>typically slower because they only handle one record at a </a:t>
            </a:r>
            <a:r>
              <a:rPr lang="en-US" sz="1200" dirty="0" smtClean="0">
                <a:solidFill>
                  <a:prstClr val="black"/>
                </a:solidFill>
              </a:rPr>
              <a:t>time.</a:t>
            </a:r>
          </a:p>
        </p:txBody>
      </p:sp>
      <p:sp>
        <p:nvSpPr>
          <p:cNvPr id="5" name="4 CuadroTexto"/>
          <p:cNvSpPr txBox="1"/>
          <p:nvPr/>
        </p:nvSpPr>
        <p:spPr>
          <a:xfrm>
            <a:off x="0" y="2505075"/>
            <a:ext cx="9144000" cy="461665"/>
          </a:xfrm>
          <a:prstGeom prst="rect">
            <a:avLst/>
          </a:prstGeom>
          <a:noFill/>
        </p:spPr>
        <p:txBody>
          <a:bodyPr wrap="square" rtlCol="0">
            <a:spAutoFit/>
          </a:bodyPr>
          <a:lstStyle/>
          <a:p>
            <a:pPr marL="171450" indent="-171450">
              <a:buFont typeface="Wingdings" pitchFamily="2" charset="2"/>
              <a:buChar char="Ø"/>
            </a:pPr>
            <a:r>
              <a:rPr lang="en-US" sz="1200" dirty="0">
                <a:solidFill>
                  <a:prstClr val="black"/>
                </a:solidFill>
              </a:rPr>
              <a:t>Row-by-row </a:t>
            </a:r>
            <a:r>
              <a:rPr lang="en-US" sz="1200" dirty="0" smtClean="0">
                <a:solidFill>
                  <a:prstClr val="black"/>
                </a:solidFill>
              </a:rPr>
              <a:t>operations</a:t>
            </a:r>
          </a:p>
          <a:p>
            <a:pPr marL="171450" indent="-171450">
              <a:buFont typeface="Wingdings" pitchFamily="2" charset="2"/>
              <a:buChar char="Ø"/>
            </a:pPr>
            <a:r>
              <a:rPr lang="en-US" sz="1200" dirty="0">
                <a:solidFill>
                  <a:prstClr val="black"/>
                </a:solidFill>
              </a:rPr>
              <a:t>Quick and </a:t>
            </a:r>
            <a:r>
              <a:rPr lang="en-US" sz="1200" dirty="0" smtClean="0">
                <a:solidFill>
                  <a:prstClr val="black"/>
                </a:solidFill>
              </a:rPr>
              <a:t>dirty way of processing data </a:t>
            </a:r>
          </a:p>
        </p:txBody>
      </p:sp>
      <p:sp>
        <p:nvSpPr>
          <p:cNvPr id="6" name="5 CuadroTexto"/>
          <p:cNvSpPr txBox="1"/>
          <p:nvPr/>
        </p:nvSpPr>
        <p:spPr>
          <a:xfrm>
            <a:off x="0" y="2223776"/>
            <a:ext cx="9144000" cy="307777"/>
          </a:xfrm>
          <a:prstGeom prst="rect">
            <a:avLst/>
          </a:prstGeom>
          <a:noFill/>
        </p:spPr>
        <p:txBody>
          <a:bodyPr wrap="square" rtlCol="0">
            <a:spAutoFit/>
          </a:bodyPr>
          <a:lstStyle/>
          <a:p>
            <a:r>
              <a:rPr lang="en-US" sz="1400" b="1" dirty="0" smtClean="0">
                <a:solidFill>
                  <a:prstClr val="black"/>
                </a:solidFill>
              </a:rPr>
              <a:t>Advantages  (if any)</a:t>
            </a:r>
          </a:p>
        </p:txBody>
      </p:sp>
      <p:sp>
        <p:nvSpPr>
          <p:cNvPr id="7" name="6 CuadroTexto"/>
          <p:cNvSpPr txBox="1"/>
          <p:nvPr/>
        </p:nvSpPr>
        <p:spPr>
          <a:xfrm>
            <a:off x="-19228" y="3501104"/>
            <a:ext cx="9144000" cy="2862322"/>
          </a:xfrm>
          <a:prstGeom prst="rect">
            <a:avLst/>
          </a:prstGeom>
          <a:noFill/>
        </p:spPr>
        <p:txBody>
          <a:bodyPr wrap="square" rtlCol="0">
            <a:spAutoFit/>
          </a:bodyPr>
          <a:lstStyle/>
          <a:p>
            <a:pPr marL="171450" indent="-171450">
              <a:buFont typeface="Wingdings" pitchFamily="2" charset="2"/>
              <a:buChar char="Ø"/>
            </a:pPr>
            <a:r>
              <a:rPr lang="en-US" sz="1200" dirty="0">
                <a:solidFill>
                  <a:prstClr val="black"/>
                </a:solidFill>
              </a:rPr>
              <a:t>Resources consumed by </a:t>
            </a:r>
            <a:r>
              <a:rPr lang="en-US" sz="1200" dirty="0" smtClean="0">
                <a:solidFill>
                  <a:prstClr val="black"/>
                </a:solidFill>
              </a:rPr>
              <a:t>cursors</a:t>
            </a:r>
          </a:p>
          <a:p>
            <a:pPr marL="628650" lvl="1" indent="-171450">
              <a:buFont typeface="Wingdings" pitchFamily="2" charset="2"/>
              <a:buChar char="Ø"/>
            </a:pPr>
            <a:r>
              <a:rPr lang="en-US" sz="1200" dirty="0" smtClean="0">
                <a:solidFill>
                  <a:prstClr val="black"/>
                </a:solidFill>
              </a:rPr>
              <a:t>Memory and locks</a:t>
            </a:r>
          </a:p>
          <a:p>
            <a:pPr marL="628650" lvl="1" indent="-171450">
              <a:buFont typeface="Wingdings" pitchFamily="2" charset="2"/>
              <a:buChar char="Ø"/>
            </a:pPr>
            <a:endParaRPr lang="en-US" sz="1200" dirty="0" smtClean="0">
              <a:solidFill>
                <a:prstClr val="black"/>
              </a:solidFill>
            </a:endParaRPr>
          </a:p>
          <a:p>
            <a:pPr marL="171450" indent="-171450">
              <a:buFont typeface="Wingdings" pitchFamily="2" charset="2"/>
              <a:buChar char="Ø"/>
            </a:pPr>
            <a:r>
              <a:rPr lang="en-US" sz="1200" dirty="0">
                <a:solidFill>
                  <a:prstClr val="black"/>
                </a:solidFill>
              </a:rPr>
              <a:t>Speed and performance </a:t>
            </a:r>
            <a:r>
              <a:rPr lang="en-US" sz="1200" dirty="0" smtClean="0">
                <a:solidFill>
                  <a:prstClr val="black"/>
                </a:solidFill>
              </a:rPr>
              <a:t>issues</a:t>
            </a:r>
          </a:p>
          <a:p>
            <a:pPr marL="628650" lvl="1" indent="-171450">
              <a:buFont typeface="Wingdings" pitchFamily="2" charset="2"/>
              <a:buChar char="Ø"/>
            </a:pPr>
            <a:r>
              <a:rPr lang="en-US" sz="1200" dirty="0" smtClean="0">
                <a:solidFill>
                  <a:prstClr val="black"/>
                </a:solidFill>
              </a:rPr>
              <a:t>Number </a:t>
            </a:r>
            <a:r>
              <a:rPr lang="en-US" sz="1200" dirty="0">
                <a:solidFill>
                  <a:prstClr val="black"/>
                </a:solidFill>
              </a:rPr>
              <a:t>of rows and columns brought into the </a:t>
            </a:r>
            <a:r>
              <a:rPr lang="en-US" sz="1200" dirty="0" smtClean="0">
                <a:solidFill>
                  <a:prstClr val="black"/>
                </a:solidFill>
              </a:rPr>
              <a:t>cursor</a:t>
            </a:r>
          </a:p>
          <a:p>
            <a:pPr marL="628650" lvl="1" indent="-171450">
              <a:buFont typeface="Wingdings" pitchFamily="2" charset="2"/>
              <a:buChar char="Ø"/>
            </a:pPr>
            <a:r>
              <a:rPr lang="en-US" sz="1200" dirty="0" smtClean="0">
                <a:solidFill>
                  <a:prstClr val="black"/>
                </a:solidFill>
              </a:rPr>
              <a:t>Cursor opening + sequential fetch</a:t>
            </a:r>
          </a:p>
          <a:p>
            <a:pPr marL="171450" indent="-171450">
              <a:buFont typeface="Wingdings" pitchFamily="2" charset="2"/>
              <a:buChar char="Ø"/>
            </a:pPr>
            <a:endParaRPr lang="en-US" sz="1200" dirty="0" smtClean="0">
              <a:solidFill>
                <a:prstClr val="black"/>
              </a:solidFill>
            </a:endParaRPr>
          </a:p>
          <a:p>
            <a:pPr marL="171450" indent="-171450">
              <a:buFont typeface="Wingdings" pitchFamily="2" charset="2"/>
              <a:buChar char="Ø"/>
            </a:pPr>
            <a:r>
              <a:rPr lang="en-US" sz="1200" dirty="0">
                <a:solidFill>
                  <a:prstClr val="black"/>
                </a:solidFill>
              </a:rPr>
              <a:t>Wrong tool for the wrong </a:t>
            </a:r>
            <a:r>
              <a:rPr lang="en-US" sz="1200" dirty="0" smtClean="0">
                <a:solidFill>
                  <a:prstClr val="black"/>
                </a:solidFill>
              </a:rPr>
              <a:t>task</a:t>
            </a:r>
          </a:p>
          <a:p>
            <a:pPr marL="628650" lvl="1" indent="-171450">
              <a:buFont typeface="Wingdings" pitchFamily="2" charset="2"/>
              <a:buChar char="§"/>
            </a:pPr>
            <a:r>
              <a:rPr lang="en-US" sz="1200" dirty="0">
                <a:solidFill>
                  <a:prstClr val="black"/>
                </a:solidFill>
              </a:rPr>
              <a:t>They're used for quick-and-dirty programming when a developer does not have a good understanding of set </a:t>
            </a:r>
            <a:r>
              <a:rPr lang="en-US" sz="1200" dirty="0" smtClean="0">
                <a:solidFill>
                  <a:prstClr val="black"/>
                </a:solidFill>
              </a:rPr>
              <a:t>operations</a:t>
            </a:r>
          </a:p>
          <a:p>
            <a:pPr marL="628650" lvl="1" indent="-171450">
              <a:buFont typeface="Wingdings" pitchFamily="2" charset="2"/>
              <a:buChar char="§"/>
            </a:pPr>
            <a:endParaRPr lang="en-US" sz="1200" dirty="0" smtClean="0">
              <a:solidFill>
                <a:prstClr val="black"/>
              </a:solidFill>
            </a:endParaRPr>
          </a:p>
          <a:p>
            <a:pPr marL="171450" indent="-171450">
              <a:buFont typeface="Wingdings" pitchFamily="2" charset="2"/>
              <a:buChar char="Ø"/>
            </a:pPr>
            <a:r>
              <a:rPr lang="en-US" sz="1200" dirty="0">
                <a:solidFill>
                  <a:prstClr val="black"/>
                </a:solidFill>
              </a:rPr>
              <a:t>Subtle </a:t>
            </a:r>
            <a:r>
              <a:rPr lang="en-US" sz="1200" dirty="0" smtClean="0">
                <a:solidFill>
                  <a:prstClr val="black"/>
                </a:solidFill>
              </a:rPr>
              <a:t>errors, if not coding horrors:</a:t>
            </a:r>
          </a:p>
          <a:p>
            <a:pPr marL="628650" lvl="1" indent="-171450">
              <a:buFont typeface="Wingdings" pitchFamily="2" charset="2"/>
              <a:buChar char="§"/>
            </a:pPr>
            <a:r>
              <a:rPr lang="en-US" sz="1200" dirty="0">
                <a:solidFill>
                  <a:prstClr val="black"/>
                </a:solidFill>
              </a:rPr>
              <a:t>Failing to check the value of @@</a:t>
            </a:r>
            <a:r>
              <a:rPr lang="en-US" sz="1200" dirty="0" err="1" smtClean="0">
                <a:solidFill>
                  <a:prstClr val="black"/>
                </a:solidFill>
              </a:rPr>
              <a:t>Fetch_Status</a:t>
            </a:r>
            <a:endParaRPr lang="en-US" sz="1200" dirty="0" smtClean="0">
              <a:solidFill>
                <a:prstClr val="black"/>
              </a:solidFill>
            </a:endParaRPr>
          </a:p>
          <a:p>
            <a:pPr marL="628650" lvl="1" indent="-171450">
              <a:buFont typeface="Wingdings" pitchFamily="2" charset="2"/>
              <a:buChar char="§"/>
            </a:pPr>
            <a:r>
              <a:rPr lang="en-US" sz="1200" dirty="0">
                <a:solidFill>
                  <a:prstClr val="black"/>
                </a:solidFill>
              </a:rPr>
              <a:t>Improper indexes on the base </a:t>
            </a:r>
            <a:r>
              <a:rPr lang="en-US" sz="1200" dirty="0" smtClean="0">
                <a:solidFill>
                  <a:prstClr val="black"/>
                </a:solidFill>
              </a:rPr>
              <a:t>tables</a:t>
            </a:r>
          </a:p>
          <a:p>
            <a:pPr marL="628650" lvl="1" indent="-171450">
              <a:buFont typeface="Wingdings" pitchFamily="2" charset="2"/>
              <a:buChar char="§"/>
            </a:pPr>
            <a:r>
              <a:rPr lang="en-US" sz="1200" dirty="0">
                <a:solidFill>
                  <a:prstClr val="black"/>
                </a:solidFill>
              </a:rPr>
              <a:t>Too many columns being dragged around in </a:t>
            </a:r>
            <a:r>
              <a:rPr lang="en-US" sz="1200" dirty="0" smtClean="0">
                <a:solidFill>
                  <a:prstClr val="black"/>
                </a:solidFill>
              </a:rPr>
              <a:t>memory</a:t>
            </a:r>
          </a:p>
          <a:p>
            <a:pPr marL="628650" lvl="1" indent="-171450">
              <a:buFont typeface="Wingdings" pitchFamily="2" charset="2"/>
              <a:buChar char="§"/>
            </a:pPr>
            <a:r>
              <a:rPr lang="en-US" sz="1200" dirty="0">
                <a:solidFill>
                  <a:prstClr val="black"/>
                </a:solidFill>
              </a:rPr>
              <a:t>WHERE clause that brings too many rows into the cursor, which are subsequently filtered out by cursor logic</a:t>
            </a:r>
            <a:endParaRPr lang="en-US" sz="1200" dirty="0" smtClean="0">
              <a:solidFill>
                <a:prstClr val="black"/>
              </a:solidFill>
            </a:endParaRPr>
          </a:p>
        </p:txBody>
      </p:sp>
      <p:sp>
        <p:nvSpPr>
          <p:cNvPr id="8" name="7 CuadroTexto"/>
          <p:cNvSpPr txBox="1"/>
          <p:nvPr/>
        </p:nvSpPr>
        <p:spPr>
          <a:xfrm>
            <a:off x="-2136" y="3219805"/>
            <a:ext cx="9144000" cy="307777"/>
          </a:xfrm>
          <a:prstGeom prst="rect">
            <a:avLst/>
          </a:prstGeom>
          <a:noFill/>
        </p:spPr>
        <p:txBody>
          <a:bodyPr wrap="square" rtlCol="0">
            <a:spAutoFit/>
          </a:bodyPr>
          <a:lstStyle/>
          <a:p>
            <a:r>
              <a:rPr lang="en-US" sz="1400" b="1" dirty="0" smtClean="0">
                <a:solidFill>
                  <a:prstClr val="black"/>
                </a:solidFill>
              </a:rPr>
              <a:t>Disadvantages</a:t>
            </a:r>
          </a:p>
        </p:txBody>
      </p:sp>
      <p:grpSp>
        <p:nvGrpSpPr>
          <p:cNvPr id="14" name="13 Grupo"/>
          <p:cNvGrpSpPr/>
          <p:nvPr/>
        </p:nvGrpSpPr>
        <p:grpSpPr>
          <a:xfrm>
            <a:off x="9525" y="6574392"/>
            <a:ext cx="9134399" cy="277000"/>
            <a:chOff x="9525" y="6574392"/>
            <a:chExt cx="9134399" cy="277000"/>
          </a:xfrm>
        </p:grpSpPr>
        <p:sp>
          <p:nvSpPr>
            <p:cNvPr id="15" name="14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6" name="15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
        <p:nvSpPr>
          <p:cNvPr id="27" name="26 CuadroTexto"/>
          <p:cNvSpPr txBox="1"/>
          <p:nvPr/>
        </p:nvSpPr>
        <p:spPr>
          <a:xfrm>
            <a:off x="0" y="495300"/>
            <a:ext cx="9144000" cy="307777"/>
          </a:xfrm>
          <a:prstGeom prst="rect">
            <a:avLst/>
          </a:prstGeom>
          <a:noFill/>
        </p:spPr>
        <p:txBody>
          <a:bodyPr wrap="square" rtlCol="0">
            <a:spAutoFit/>
          </a:bodyPr>
          <a:lstStyle/>
          <a:p>
            <a:r>
              <a:rPr lang="en-US" sz="1400" b="1" dirty="0" smtClean="0">
                <a:solidFill>
                  <a:prstClr val="black"/>
                </a:solidFill>
              </a:rPr>
              <a:t>What is a Cursor?</a:t>
            </a:r>
          </a:p>
        </p:txBody>
      </p:sp>
      <p:sp>
        <p:nvSpPr>
          <p:cNvPr id="28" name="27 CuadroTexto"/>
          <p:cNvSpPr txBox="1"/>
          <p:nvPr/>
        </p:nvSpPr>
        <p:spPr>
          <a:xfrm>
            <a:off x="-12154" y="1346612"/>
            <a:ext cx="9144000" cy="646331"/>
          </a:xfrm>
          <a:prstGeom prst="rect">
            <a:avLst/>
          </a:prstGeom>
          <a:noFill/>
        </p:spPr>
        <p:txBody>
          <a:bodyPr wrap="square" rtlCol="0">
            <a:spAutoFit/>
          </a:bodyPr>
          <a:lstStyle/>
          <a:p>
            <a:r>
              <a:rPr lang="en-US" sz="1200" dirty="0" smtClean="0">
                <a:solidFill>
                  <a:prstClr val="black"/>
                </a:solidFill>
              </a:rPr>
              <a:t>More specifically, a </a:t>
            </a:r>
            <a:r>
              <a:rPr lang="en-US" sz="1200" dirty="0">
                <a:solidFill>
                  <a:prstClr val="black"/>
                </a:solidFill>
              </a:rPr>
              <a:t>cursor is a memory resident set of pointers (that’s why you need to “</a:t>
            </a:r>
            <a:r>
              <a:rPr lang="en-US" sz="1200" b="1" i="1" dirty="0">
                <a:solidFill>
                  <a:prstClr val="black"/>
                </a:solidFill>
              </a:rPr>
              <a:t>De-allocate</a:t>
            </a:r>
            <a:r>
              <a:rPr lang="en-US" sz="1200" dirty="0">
                <a:solidFill>
                  <a:prstClr val="black"/>
                </a:solidFill>
              </a:rPr>
              <a:t>” the cursor manually), </a:t>
            </a:r>
            <a:endParaRPr lang="en-US" sz="1200" dirty="0" smtClean="0">
              <a:solidFill>
                <a:prstClr val="black"/>
              </a:solidFill>
            </a:endParaRPr>
          </a:p>
          <a:p>
            <a:r>
              <a:rPr lang="en-US" sz="1200" dirty="0" smtClean="0">
                <a:solidFill>
                  <a:prstClr val="black"/>
                </a:solidFill>
              </a:rPr>
              <a:t>meaning </a:t>
            </a:r>
            <a:r>
              <a:rPr lang="en-US" sz="1200" dirty="0">
                <a:solidFill>
                  <a:prstClr val="black"/>
                </a:solidFill>
              </a:rPr>
              <a:t>it occupies memory from your system that may be available for other processes. </a:t>
            </a:r>
            <a:endParaRPr lang="en-US" sz="1200" dirty="0" smtClean="0">
              <a:solidFill>
                <a:prstClr val="black"/>
              </a:solidFill>
            </a:endParaRPr>
          </a:p>
          <a:p>
            <a:r>
              <a:rPr lang="en-US" sz="1200" dirty="0" smtClean="0">
                <a:solidFill>
                  <a:prstClr val="black"/>
                </a:solidFill>
              </a:rPr>
              <a:t>Poorly </a:t>
            </a:r>
            <a:r>
              <a:rPr lang="en-US" sz="1200" dirty="0">
                <a:solidFill>
                  <a:prstClr val="black"/>
                </a:solidFill>
              </a:rPr>
              <a:t>written cursors can completely deplete available </a:t>
            </a:r>
            <a:r>
              <a:rPr lang="en-US" sz="1200" dirty="0" smtClean="0">
                <a:solidFill>
                  <a:prstClr val="black"/>
                </a:solidFill>
              </a:rPr>
              <a:t>memory</a:t>
            </a:r>
            <a:endParaRPr lang="en-US" sz="1200" dirty="0">
              <a:solidFill>
                <a:prstClr val="black"/>
              </a:solidFill>
            </a:endParaRPr>
          </a:p>
        </p:txBody>
      </p:sp>
      <p:grpSp>
        <p:nvGrpSpPr>
          <p:cNvPr id="17" name="16 Grupo"/>
          <p:cNvGrpSpPr/>
          <p:nvPr/>
        </p:nvGrpSpPr>
        <p:grpSpPr>
          <a:xfrm>
            <a:off x="0" y="9525"/>
            <a:ext cx="9153525" cy="408388"/>
            <a:chOff x="0" y="9525"/>
            <a:chExt cx="9153525" cy="408388"/>
          </a:xfrm>
        </p:grpSpPr>
        <p:sp>
          <p:nvSpPr>
            <p:cNvPr id="18" name="1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Intermediate concepts |   Cursors</a:t>
              </a:r>
              <a:endParaRPr lang="en-US" b="1" dirty="0">
                <a:solidFill>
                  <a:schemeClr val="bg1"/>
                </a:solidFill>
              </a:endParaRPr>
            </a:p>
          </p:txBody>
        </p:sp>
        <p:pic>
          <p:nvPicPr>
            <p:cNvPr id="19" name="18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 name="19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20 CuadroTexto"/>
          <p:cNvSpPr txBox="1"/>
          <p:nvPr/>
        </p:nvSpPr>
        <p:spPr>
          <a:xfrm>
            <a:off x="3854760" y="2223776"/>
            <a:ext cx="4017168" cy="307777"/>
          </a:xfrm>
          <a:prstGeom prst="rect">
            <a:avLst/>
          </a:prstGeom>
          <a:solidFill>
            <a:srgbClr val="FF0000"/>
          </a:solidFill>
          <a:ln>
            <a:solidFill>
              <a:schemeClr val="tx1"/>
            </a:solidFill>
          </a:ln>
        </p:spPr>
        <p:txBody>
          <a:bodyPr wrap="square" rtlCol="0">
            <a:spAutoFit/>
          </a:bodyPr>
          <a:lstStyle/>
          <a:p>
            <a:r>
              <a:rPr lang="en-US" sz="1400" dirty="0" smtClean="0">
                <a:solidFill>
                  <a:schemeClr val="bg1"/>
                </a:solidFill>
              </a:rPr>
              <a:t>No advantages, actually</a:t>
            </a:r>
            <a:endParaRPr lang="en-US" sz="1400" dirty="0">
              <a:solidFill>
                <a:schemeClr val="bg1"/>
              </a:solidFill>
            </a:endParaRPr>
          </a:p>
        </p:txBody>
      </p:sp>
      <p:sp>
        <p:nvSpPr>
          <p:cNvPr id="22" name="21 CuadroTexto"/>
          <p:cNvSpPr txBox="1"/>
          <p:nvPr/>
        </p:nvSpPr>
        <p:spPr>
          <a:xfrm>
            <a:off x="3854760" y="2531553"/>
            <a:ext cx="4017168" cy="523220"/>
          </a:xfrm>
          <a:prstGeom prst="rect">
            <a:avLst/>
          </a:prstGeom>
          <a:noFill/>
          <a:ln>
            <a:solidFill>
              <a:schemeClr val="tx1"/>
            </a:solidFill>
          </a:ln>
        </p:spPr>
        <p:txBody>
          <a:bodyPr wrap="square" rtlCol="0">
            <a:spAutoFit/>
          </a:bodyPr>
          <a:lstStyle/>
          <a:p>
            <a:r>
              <a:rPr lang="en-US" sz="1400" dirty="0" smtClean="0"/>
              <a:t>Cursors can be replaced by a set of well-written </a:t>
            </a:r>
          </a:p>
          <a:p>
            <a:r>
              <a:rPr lang="en-US" sz="1400" dirty="0" smtClean="0"/>
              <a:t>SQL statements</a:t>
            </a:r>
            <a:endParaRPr lang="en-US" sz="1400" dirty="0"/>
          </a:p>
        </p:txBody>
      </p:sp>
      <p:sp>
        <p:nvSpPr>
          <p:cNvPr id="2" name="1 Flecha izquierda"/>
          <p:cNvSpPr/>
          <p:nvPr/>
        </p:nvSpPr>
        <p:spPr>
          <a:xfrm>
            <a:off x="3347864" y="2434814"/>
            <a:ext cx="383058" cy="259248"/>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56590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13 Grupo"/>
          <p:cNvGrpSpPr/>
          <p:nvPr/>
        </p:nvGrpSpPr>
        <p:grpSpPr>
          <a:xfrm>
            <a:off x="9525" y="6574392"/>
            <a:ext cx="9134399" cy="277000"/>
            <a:chOff x="9525" y="6574392"/>
            <a:chExt cx="9134399" cy="277000"/>
          </a:xfrm>
        </p:grpSpPr>
        <p:sp>
          <p:nvSpPr>
            <p:cNvPr id="15" name="14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6" name="15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
        <p:nvSpPr>
          <p:cNvPr id="27" name="26 CuadroTexto"/>
          <p:cNvSpPr txBox="1"/>
          <p:nvPr/>
        </p:nvSpPr>
        <p:spPr>
          <a:xfrm>
            <a:off x="0" y="476250"/>
            <a:ext cx="9144000" cy="307777"/>
          </a:xfrm>
          <a:prstGeom prst="rect">
            <a:avLst/>
          </a:prstGeom>
          <a:noFill/>
        </p:spPr>
        <p:txBody>
          <a:bodyPr wrap="square" rtlCol="0">
            <a:spAutoFit/>
          </a:bodyPr>
          <a:lstStyle/>
          <a:p>
            <a:r>
              <a:rPr lang="en-US" sz="1400" b="1" dirty="0" smtClean="0">
                <a:solidFill>
                  <a:prstClr val="black"/>
                </a:solidFill>
              </a:rPr>
              <a:t>Cursor Example</a:t>
            </a:r>
          </a:p>
        </p:txBody>
      </p:sp>
      <p:grpSp>
        <p:nvGrpSpPr>
          <p:cNvPr id="17" name="16 Grupo"/>
          <p:cNvGrpSpPr/>
          <p:nvPr/>
        </p:nvGrpSpPr>
        <p:grpSpPr>
          <a:xfrm>
            <a:off x="0" y="9525"/>
            <a:ext cx="9153525" cy="408388"/>
            <a:chOff x="0" y="9525"/>
            <a:chExt cx="9153525" cy="408388"/>
          </a:xfrm>
        </p:grpSpPr>
        <p:sp>
          <p:nvSpPr>
            <p:cNvPr id="18" name="1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Intermediate concepts |   Cursors</a:t>
              </a:r>
              <a:endParaRPr lang="en-US" b="1" dirty="0">
                <a:solidFill>
                  <a:schemeClr val="bg1"/>
                </a:solidFill>
              </a:endParaRPr>
            </a:p>
          </p:txBody>
        </p:sp>
        <p:pic>
          <p:nvPicPr>
            <p:cNvPr id="19" name="18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 name="19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853381"/>
            <a:ext cx="4352925" cy="5581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20 CuadroTexto"/>
          <p:cNvSpPr txBox="1"/>
          <p:nvPr/>
        </p:nvSpPr>
        <p:spPr>
          <a:xfrm>
            <a:off x="4572000" y="2015552"/>
            <a:ext cx="4020008" cy="307777"/>
          </a:xfrm>
          <a:prstGeom prst="rect">
            <a:avLst/>
          </a:prstGeom>
          <a:solidFill>
            <a:srgbClr val="FF0000"/>
          </a:solidFill>
          <a:ln>
            <a:solidFill>
              <a:schemeClr val="tx1"/>
            </a:solidFill>
          </a:ln>
        </p:spPr>
        <p:txBody>
          <a:bodyPr wrap="square" rtlCol="0">
            <a:spAutoFit/>
          </a:bodyPr>
          <a:lstStyle/>
          <a:p>
            <a:r>
              <a:rPr lang="en-US" sz="1400" dirty="0" smtClean="0">
                <a:solidFill>
                  <a:schemeClr val="bg1"/>
                </a:solidFill>
              </a:rPr>
              <a:t>This example is for </a:t>
            </a:r>
            <a:r>
              <a:rPr lang="en-US" sz="1400" b="1" dirty="0" smtClean="0">
                <a:solidFill>
                  <a:schemeClr val="bg1"/>
                </a:solidFill>
              </a:rPr>
              <a:t>educational purposes </a:t>
            </a:r>
            <a:r>
              <a:rPr lang="en-US" sz="1400" b="1" u="sng" dirty="0" smtClean="0">
                <a:solidFill>
                  <a:schemeClr val="bg1"/>
                </a:solidFill>
              </a:rPr>
              <a:t>ONLY</a:t>
            </a:r>
            <a:r>
              <a:rPr lang="en-US" sz="1400" dirty="0" smtClean="0">
                <a:solidFill>
                  <a:schemeClr val="bg1"/>
                </a:solidFill>
              </a:rPr>
              <a:t>.</a:t>
            </a:r>
            <a:endParaRPr lang="en-US" sz="1400" dirty="0">
              <a:solidFill>
                <a:schemeClr val="bg1"/>
              </a:solidFill>
            </a:endParaRPr>
          </a:p>
        </p:txBody>
      </p:sp>
      <p:sp>
        <p:nvSpPr>
          <p:cNvPr id="2" name="1 Flecha izquierda"/>
          <p:cNvSpPr/>
          <p:nvPr/>
        </p:nvSpPr>
        <p:spPr>
          <a:xfrm>
            <a:off x="3923928" y="2276872"/>
            <a:ext cx="536501" cy="216024"/>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21 CuadroTexto"/>
          <p:cNvSpPr txBox="1"/>
          <p:nvPr/>
        </p:nvSpPr>
        <p:spPr>
          <a:xfrm>
            <a:off x="4574840" y="2323329"/>
            <a:ext cx="4017168" cy="523220"/>
          </a:xfrm>
          <a:prstGeom prst="rect">
            <a:avLst/>
          </a:prstGeom>
          <a:noFill/>
          <a:ln>
            <a:solidFill>
              <a:schemeClr val="tx1"/>
            </a:solidFill>
          </a:ln>
        </p:spPr>
        <p:txBody>
          <a:bodyPr wrap="square" rtlCol="0">
            <a:spAutoFit/>
          </a:bodyPr>
          <a:lstStyle/>
          <a:p>
            <a:r>
              <a:rPr lang="en-US" sz="1400" dirty="0" smtClean="0"/>
              <a:t>My technical recommendation is to avoid cursors, </a:t>
            </a:r>
          </a:p>
          <a:p>
            <a:r>
              <a:rPr lang="en-US" sz="1400" dirty="0" smtClean="0"/>
              <a:t>with no exception.</a:t>
            </a:r>
            <a:endParaRPr lang="en-US" sz="1400" dirty="0"/>
          </a:p>
        </p:txBody>
      </p:sp>
    </p:spTree>
    <p:extLst>
      <p:ext uri="{BB962C8B-B14F-4D97-AF65-F5344CB8AC3E}">
        <p14:creationId xmlns:p14="http://schemas.microsoft.com/office/powerpoint/2010/main" val="15269456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26 CuadroTexto"/>
          <p:cNvSpPr txBox="1"/>
          <p:nvPr/>
        </p:nvSpPr>
        <p:spPr>
          <a:xfrm>
            <a:off x="-1" y="993935"/>
            <a:ext cx="9153525" cy="523220"/>
          </a:xfrm>
          <a:prstGeom prst="rect">
            <a:avLst/>
          </a:prstGeom>
          <a:noFill/>
        </p:spPr>
        <p:txBody>
          <a:bodyPr wrap="square" rtlCol="0">
            <a:spAutoFit/>
          </a:bodyPr>
          <a:lstStyle/>
          <a:p>
            <a:r>
              <a:rPr lang="en-US" sz="1400" dirty="0"/>
              <a:t>Temporary tables are similar to permanent tables, except temporary tables are stored in </a:t>
            </a:r>
            <a:r>
              <a:rPr lang="en-US" sz="1400" b="1" dirty="0" err="1" smtClean="0"/>
              <a:t>TempDB</a:t>
            </a:r>
            <a:r>
              <a:rPr lang="en-US" sz="1400" dirty="0"/>
              <a:t> and are deleted automatically when they are no longer used.</a:t>
            </a:r>
            <a:endParaRPr lang="en-US" sz="1200" dirty="0" smtClean="0">
              <a:solidFill>
                <a:prstClr val="black"/>
              </a:solidFill>
            </a:endParaRPr>
          </a:p>
        </p:txBody>
      </p:sp>
      <p:grpSp>
        <p:nvGrpSpPr>
          <p:cNvPr id="23" name="22 Grupo"/>
          <p:cNvGrpSpPr/>
          <p:nvPr/>
        </p:nvGrpSpPr>
        <p:grpSpPr>
          <a:xfrm>
            <a:off x="0" y="9525"/>
            <a:ext cx="9153525" cy="408388"/>
            <a:chOff x="0" y="9525"/>
            <a:chExt cx="9153525" cy="408388"/>
          </a:xfrm>
        </p:grpSpPr>
        <p:sp>
          <p:nvSpPr>
            <p:cNvPr id="24" name="23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Intermediate concepts |   Temporary Tables vs. Table Variables</a:t>
              </a:r>
              <a:endParaRPr lang="en-US" b="1" dirty="0">
                <a:solidFill>
                  <a:schemeClr val="bg1"/>
                </a:solidFill>
              </a:endParaRPr>
            </a:p>
          </p:txBody>
        </p:sp>
        <p:pic>
          <p:nvPicPr>
            <p:cNvPr id="30" name="29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1" name="30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9" name="38 Grupo"/>
          <p:cNvGrpSpPr/>
          <p:nvPr/>
        </p:nvGrpSpPr>
        <p:grpSpPr>
          <a:xfrm>
            <a:off x="9525" y="6574392"/>
            <a:ext cx="9134399" cy="277000"/>
            <a:chOff x="9525" y="6574392"/>
            <a:chExt cx="9134399" cy="277000"/>
          </a:xfrm>
        </p:grpSpPr>
        <p:sp>
          <p:nvSpPr>
            <p:cNvPr id="40" name="39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41" name="40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
        <p:nvSpPr>
          <p:cNvPr id="13" name="12 CuadroTexto"/>
          <p:cNvSpPr txBox="1"/>
          <p:nvPr/>
        </p:nvSpPr>
        <p:spPr>
          <a:xfrm>
            <a:off x="0" y="568871"/>
            <a:ext cx="9144000" cy="369332"/>
          </a:xfrm>
          <a:prstGeom prst="rect">
            <a:avLst/>
          </a:prstGeom>
          <a:noFill/>
        </p:spPr>
        <p:txBody>
          <a:bodyPr wrap="square" rtlCol="0">
            <a:spAutoFit/>
          </a:bodyPr>
          <a:lstStyle/>
          <a:p>
            <a:r>
              <a:rPr lang="en-US" b="1" dirty="0" smtClean="0">
                <a:solidFill>
                  <a:prstClr val="black"/>
                </a:solidFill>
              </a:rPr>
              <a:t>What is a Temporary Table?</a:t>
            </a:r>
            <a:endParaRPr lang="en-US" dirty="0" smtClean="0">
              <a:solidFill>
                <a:prstClr val="black"/>
              </a:solidFill>
            </a:endParaRPr>
          </a:p>
        </p:txBody>
      </p:sp>
      <p:sp>
        <p:nvSpPr>
          <p:cNvPr id="14" name="13 CuadroTexto"/>
          <p:cNvSpPr txBox="1"/>
          <p:nvPr/>
        </p:nvSpPr>
        <p:spPr>
          <a:xfrm>
            <a:off x="-9601" y="2551544"/>
            <a:ext cx="9153525" cy="2677656"/>
          </a:xfrm>
          <a:prstGeom prst="rect">
            <a:avLst/>
          </a:prstGeom>
          <a:noFill/>
        </p:spPr>
        <p:txBody>
          <a:bodyPr wrap="square" rtlCol="0">
            <a:spAutoFit/>
          </a:bodyPr>
          <a:lstStyle/>
          <a:p>
            <a:r>
              <a:rPr lang="en-US" sz="1400" dirty="0"/>
              <a:t>There are two types of temporary tables: local and global. They differ from each other in their names, their visibility, and their </a:t>
            </a:r>
            <a:r>
              <a:rPr lang="en-US" sz="1400" dirty="0" smtClean="0"/>
              <a:t>availability:</a:t>
            </a:r>
          </a:p>
          <a:p>
            <a:endParaRPr lang="en-US" sz="1400" dirty="0" smtClean="0"/>
          </a:p>
          <a:p>
            <a:pPr marL="285750" indent="-285750">
              <a:buFont typeface="Wingdings" pitchFamily="2" charset="2"/>
              <a:buChar char="Ø"/>
            </a:pPr>
            <a:r>
              <a:rPr lang="en-US" sz="1400" dirty="0" smtClean="0"/>
              <a:t>Local Temporary Tables</a:t>
            </a:r>
          </a:p>
          <a:p>
            <a:pPr marL="742950" lvl="1" indent="-285750">
              <a:buFont typeface="Wingdings" pitchFamily="2" charset="2"/>
              <a:buChar char="§"/>
            </a:pPr>
            <a:r>
              <a:rPr lang="en-US" sz="1400" dirty="0" smtClean="0"/>
              <a:t>They </a:t>
            </a:r>
            <a:r>
              <a:rPr lang="en-US" sz="1400" dirty="0"/>
              <a:t>are visible only to the current connection for the </a:t>
            </a:r>
            <a:r>
              <a:rPr lang="en-US" sz="1400" dirty="0" smtClean="0"/>
              <a:t>user </a:t>
            </a:r>
          </a:p>
          <a:p>
            <a:pPr marL="742950" lvl="1" indent="-285750">
              <a:buFont typeface="Wingdings" pitchFamily="2" charset="2"/>
              <a:buChar char="§"/>
            </a:pPr>
            <a:r>
              <a:rPr lang="en-US" sz="1400" dirty="0" smtClean="0"/>
              <a:t>They </a:t>
            </a:r>
            <a:r>
              <a:rPr lang="en-US" sz="1400" dirty="0"/>
              <a:t>are deleted when the user disconnects from the instance of SQL </a:t>
            </a:r>
            <a:r>
              <a:rPr lang="en-US" sz="1400" dirty="0" smtClean="0"/>
              <a:t>Server</a:t>
            </a:r>
          </a:p>
          <a:p>
            <a:pPr marL="742950" lvl="1" indent="-285750">
              <a:buFont typeface="Wingdings" pitchFamily="2" charset="2"/>
              <a:buChar char="§"/>
            </a:pPr>
            <a:r>
              <a:rPr lang="en-US" sz="1400" dirty="0" smtClean="0"/>
              <a:t>Example:  #</a:t>
            </a:r>
            <a:r>
              <a:rPr lang="en-US" sz="1400" dirty="0" err="1" smtClean="0"/>
              <a:t>MyTable</a:t>
            </a:r>
            <a:endParaRPr lang="en-US" sz="1400" dirty="0" smtClean="0"/>
          </a:p>
          <a:p>
            <a:pPr marL="285750" indent="-285750">
              <a:buFont typeface="Wingdings" pitchFamily="2" charset="2"/>
              <a:buChar char="Ø"/>
            </a:pP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Global Temporary Tables</a:t>
            </a:r>
          </a:p>
          <a:p>
            <a:pPr marL="742950" lvl="1" indent="-285750">
              <a:buFont typeface="Wingdings" pitchFamily="2" charset="2"/>
              <a:buChar char="§"/>
            </a:pPr>
            <a:r>
              <a:rPr lang="en-US" sz="1400" dirty="0" smtClean="0"/>
              <a:t>They </a:t>
            </a:r>
            <a:r>
              <a:rPr lang="en-US" sz="1400" dirty="0"/>
              <a:t>are visible to any user </a:t>
            </a:r>
            <a:endParaRPr lang="en-US" sz="1400" dirty="0" smtClean="0"/>
          </a:p>
          <a:p>
            <a:pPr marL="742950" lvl="1" indent="-285750">
              <a:buFont typeface="Wingdings" pitchFamily="2" charset="2"/>
              <a:buChar char="§"/>
            </a:pPr>
            <a:r>
              <a:rPr lang="en-US" sz="1400" dirty="0" smtClean="0"/>
              <a:t>They </a:t>
            </a:r>
            <a:r>
              <a:rPr lang="en-US" sz="1400" dirty="0"/>
              <a:t>are deleted when all users referencing the table disconnect from the instance of SQL </a:t>
            </a:r>
            <a:r>
              <a:rPr lang="en-US" sz="1400" dirty="0" smtClean="0"/>
              <a:t>Server</a:t>
            </a:r>
          </a:p>
          <a:p>
            <a:pPr marL="742950" lvl="1" indent="-285750">
              <a:buFont typeface="Wingdings" pitchFamily="2" charset="2"/>
              <a:buChar char="§"/>
            </a:pPr>
            <a:r>
              <a:rPr lang="en-US" sz="1400" dirty="0" smtClean="0">
                <a:solidFill>
                  <a:prstClr val="black"/>
                </a:solidFill>
              </a:rPr>
              <a:t>Example:  ##</a:t>
            </a:r>
            <a:r>
              <a:rPr lang="en-US" sz="1400" dirty="0" err="1" smtClean="0">
                <a:solidFill>
                  <a:prstClr val="black"/>
                </a:solidFill>
              </a:rPr>
              <a:t>MyTable</a:t>
            </a:r>
            <a:endParaRPr lang="en-US" sz="1400" dirty="0" smtClean="0">
              <a:solidFill>
                <a:prstClr val="black"/>
              </a:solidFill>
            </a:endParaRPr>
          </a:p>
        </p:txBody>
      </p:sp>
      <p:sp>
        <p:nvSpPr>
          <p:cNvPr id="15" name="14 CuadroTexto"/>
          <p:cNvSpPr txBox="1"/>
          <p:nvPr/>
        </p:nvSpPr>
        <p:spPr>
          <a:xfrm>
            <a:off x="-9600" y="2126480"/>
            <a:ext cx="9144000" cy="369332"/>
          </a:xfrm>
          <a:prstGeom prst="rect">
            <a:avLst/>
          </a:prstGeom>
          <a:noFill/>
        </p:spPr>
        <p:txBody>
          <a:bodyPr wrap="square" rtlCol="0">
            <a:spAutoFit/>
          </a:bodyPr>
          <a:lstStyle/>
          <a:p>
            <a:r>
              <a:rPr lang="en-US" b="1" dirty="0" smtClean="0">
                <a:solidFill>
                  <a:prstClr val="black"/>
                </a:solidFill>
              </a:rPr>
              <a:t>Types of Temporary Tables</a:t>
            </a:r>
            <a:endParaRPr lang="en-US" dirty="0" smtClean="0">
              <a:solidFill>
                <a:prstClr val="black"/>
              </a:solidFill>
            </a:endParaRPr>
          </a:p>
        </p:txBody>
      </p:sp>
    </p:spTree>
    <p:extLst>
      <p:ext uri="{BB962C8B-B14F-4D97-AF65-F5344CB8AC3E}">
        <p14:creationId xmlns:p14="http://schemas.microsoft.com/office/powerpoint/2010/main" val="33061158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22 Grupo"/>
          <p:cNvGrpSpPr/>
          <p:nvPr/>
        </p:nvGrpSpPr>
        <p:grpSpPr>
          <a:xfrm>
            <a:off x="0" y="9525"/>
            <a:ext cx="9153525" cy="408388"/>
            <a:chOff x="0" y="9525"/>
            <a:chExt cx="9153525" cy="408388"/>
          </a:xfrm>
        </p:grpSpPr>
        <p:sp>
          <p:nvSpPr>
            <p:cNvPr id="24" name="23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Intermediate concepts |   Temporary Tables vs. Table Variables</a:t>
              </a:r>
              <a:endParaRPr lang="en-US" b="1" dirty="0">
                <a:solidFill>
                  <a:schemeClr val="bg1"/>
                </a:solidFill>
              </a:endParaRPr>
            </a:p>
          </p:txBody>
        </p:sp>
        <p:pic>
          <p:nvPicPr>
            <p:cNvPr id="30" name="29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1" name="30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9" name="38 Grupo"/>
          <p:cNvGrpSpPr/>
          <p:nvPr/>
        </p:nvGrpSpPr>
        <p:grpSpPr>
          <a:xfrm>
            <a:off x="9525" y="6574392"/>
            <a:ext cx="9134399" cy="277000"/>
            <a:chOff x="9525" y="6574392"/>
            <a:chExt cx="9134399" cy="277000"/>
          </a:xfrm>
        </p:grpSpPr>
        <p:sp>
          <p:nvSpPr>
            <p:cNvPr id="40" name="39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41" name="40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
        <p:nvSpPr>
          <p:cNvPr id="16" name="15 CuadroTexto"/>
          <p:cNvSpPr txBox="1"/>
          <p:nvPr/>
        </p:nvSpPr>
        <p:spPr>
          <a:xfrm>
            <a:off x="-11013" y="620688"/>
            <a:ext cx="9144000" cy="369332"/>
          </a:xfrm>
          <a:prstGeom prst="rect">
            <a:avLst/>
          </a:prstGeom>
          <a:noFill/>
        </p:spPr>
        <p:txBody>
          <a:bodyPr wrap="square" rtlCol="0">
            <a:spAutoFit/>
          </a:bodyPr>
          <a:lstStyle/>
          <a:p>
            <a:r>
              <a:rPr lang="en-US" b="1" dirty="0" smtClean="0">
                <a:solidFill>
                  <a:prstClr val="black"/>
                </a:solidFill>
              </a:rPr>
              <a:t>What is a Table variable?</a:t>
            </a:r>
            <a:endParaRPr lang="en-US" dirty="0" smtClean="0">
              <a:solidFill>
                <a:prstClr val="black"/>
              </a:solidFill>
            </a:endParaRPr>
          </a:p>
        </p:txBody>
      </p:sp>
      <p:sp>
        <p:nvSpPr>
          <p:cNvPr id="17" name="16 CuadroTexto"/>
          <p:cNvSpPr txBox="1"/>
          <p:nvPr/>
        </p:nvSpPr>
        <p:spPr>
          <a:xfrm>
            <a:off x="-1488" y="983175"/>
            <a:ext cx="9153525" cy="307777"/>
          </a:xfrm>
          <a:prstGeom prst="rect">
            <a:avLst/>
          </a:prstGeom>
          <a:noFill/>
        </p:spPr>
        <p:txBody>
          <a:bodyPr wrap="square" rtlCol="0">
            <a:spAutoFit/>
          </a:bodyPr>
          <a:lstStyle/>
          <a:p>
            <a:r>
              <a:rPr lang="en-US" sz="1400" dirty="0" smtClean="0"/>
              <a:t>Table variables are a </a:t>
            </a:r>
            <a:r>
              <a:rPr lang="en-US" sz="1400" dirty="0"/>
              <a:t>special data type that can be used to store a result set for processing at a later </a:t>
            </a:r>
            <a:r>
              <a:rPr lang="en-US" sz="1400" dirty="0" smtClean="0"/>
              <a:t>time</a:t>
            </a:r>
            <a:endParaRPr lang="en-US" sz="1200" dirty="0" smtClean="0">
              <a:solidFill>
                <a:prstClr val="black"/>
              </a:solidFill>
            </a:endParaRPr>
          </a:p>
        </p:txBody>
      </p:sp>
      <p:sp>
        <p:nvSpPr>
          <p:cNvPr id="18" name="17 CuadroTexto"/>
          <p:cNvSpPr txBox="1"/>
          <p:nvPr/>
        </p:nvSpPr>
        <p:spPr>
          <a:xfrm>
            <a:off x="9228" y="1628800"/>
            <a:ext cx="9144000" cy="369332"/>
          </a:xfrm>
          <a:prstGeom prst="rect">
            <a:avLst/>
          </a:prstGeom>
          <a:noFill/>
        </p:spPr>
        <p:txBody>
          <a:bodyPr wrap="square" rtlCol="0">
            <a:spAutoFit/>
          </a:bodyPr>
          <a:lstStyle/>
          <a:p>
            <a:r>
              <a:rPr lang="en-US" b="1" dirty="0" smtClean="0">
                <a:solidFill>
                  <a:prstClr val="black"/>
                </a:solidFill>
              </a:rPr>
              <a:t>When NOT to use them</a:t>
            </a:r>
            <a:endParaRPr lang="en-US" dirty="0" smtClean="0">
              <a:solidFill>
                <a:prstClr val="black"/>
              </a:solidFill>
            </a:endParaRPr>
          </a:p>
        </p:txBody>
      </p:sp>
      <p:sp>
        <p:nvSpPr>
          <p:cNvPr id="19" name="18 CuadroTexto"/>
          <p:cNvSpPr txBox="1"/>
          <p:nvPr/>
        </p:nvSpPr>
        <p:spPr>
          <a:xfrm>
            <a:off x="18753" y="2029387"/>
            <a:ext cx="9153525" cy="523220"/>
          </a:xfrm>
          <a:prstGeom prst="rect">
            <a:avLst/>
          </a:prstGeom>
          <a:noFill/>
        </p:spPr>
        <p:txBody>
          <a:bodyPr wrap="square" rtlCol="0">
            <a:spAutoFit/>
          </a:bodyPr>
          <a:lstStyle/>
          <a:p>
            <a:r>
              <a:rPr lang="en-US" sz="1400" dirty="0"/>
              <a:t>Performance can be affected when very large table variables, or table variables in complex queries, are modified. </a:t>
            </a:r>
          </a:p>
          <a:p>
            <a:r>
              <a:rPr lang="en-US" sz="1400" dirty="0"/>
              <a:t>In these situations, consider using temporary tables instead</a:t>
            </a:r>
            <a:r>
              <a:rPr lang="en-US" sz="1400" dirty="0" smtClean="0"/>
              <a:t>.</a:t>
            </a:r>
          </a:p>
        </p:txBody>
      </p:sp>
      <p:sp>
        <p:nvSpPr>
          <p:cNvPr id="20" name="19 CuadroTexto"/>
          <p:cNvSpPr txBox="1"/>
          <p:nvPr/>
        </p:nvSpPr>
        <p:spPr>
          <a:xfrm>
            <a:off x="-11013" y="3140968"/>
            <a:ext cx="9144000" cy="369332"/>
          </a:xfrm>
          <a:prstGeom prst="rect">
            <a:avLst/>
          </a:prstGeom>
          <a:noFill/>
        </p:spPr>
        <p:txBody>
          <a:bodyPr wrap="square" rtlCol="0">
            <a:spAutoFit/>
          </a:bodyPr>
          <a:lstStyle/>
          <a:p>
            <a:r>
              <a:rPr lang="en-US" b="1" dirty="0" smtClean="0">
                <a:solidFill>
                  <a:prstClr val="black"/>
                </a:solidFill>
              </a:rPr>
              <a:t>Why?</a:t>
            </a:r>
            <a:endParaRPr lang="en-US" dirty="0" smtClean="0">
              <a:solidFill>
                <a:prstClr val="black"/>
              </a:solidFill>
            </a:endParaRPr>
          </a:p>
        </p:txBody>
      </p:sp>
      <p:sp>
        <p:nvSpPr>
          <p:cNvPr id="21" name="20 CuadroTexto"/>
          <p:cNvSpPr txBox="1"/>
          <p:nvPr/>
        </p:nvSpPr>
        <p:spPr>
          <a:xfrm>
            <a:off x="-297" y="3543307"/>
            <a:ext cx="9153525" cy="954107"/>
          </a:xfrm>
          <a:prstGeom prst="rect">
            <a:avLst/>
          </a:prstGeom>
          <a:noFill/>
        </p:spPr>
        <p:txBody>
          <a:bodyPr wrap="square" rtlCol="0">
            <a:spAutoFit/>
          </a:bodyPr>
          <a:lstStyle/>
          <a:p>
            <a:r>
              <a:rPr lang="en-US" sz="1400" dirty="0" smtClean="0"/>
              <a:t>Because Table</a:t>
            </a:r>
            <a:r>
              <a:rPr lang="en-US" sz="1400" dirty="0"/>
              <a:t> variables are not supported in the SQL Server optimizer's cost-based reasoning model. </a:t>
            </a:r>
            <a:endParaRPr lang="en-US" sz="1400" dirty="0" smtClean="0"/>
          </a:p>
          <a:p>
            <a:endParaRPr lang="en-US" sz="1400" dirty="0" smtClean="0"/>
          </a:p>
          <a:p>
            <a:r>
              <a:rPr lang="en-US" sz="1400" dirty="0" smtClean="0"/>
              <a:t>Therefore</a:t>
            </a:r>
            <a:r>
              <a:rPr lang="en-US" sz="1400" dirty="0"/>
              <a:t>, they should not be used when cost-based choices are required to achieve an efficient query plan. </a:t>
            </a:r>
            <a:endParaRPr lang="en-US" sz="1400" dirty="0" smtClean="0"/>
          </a:p>
          <a:p>
            <a:r>
              <a:rPr lang="en-US" sz="1400" dirty="0" smtClean="0"/>
              <a:t>Temporary </a:t>
            </a:r>
            <a:r>
              <a:rPr lang="en-US" sz="1400" dirty="0"/>
              <a:t>tables are preferred when cost-based choices are required. </a:t>
            </a:r>
            <a:endParaRPr lang="en-US" sz="1400" dirty="0" smtClean="0"/>
          </a:p>
        </p:txBody>
      </p:sp>
    </p:spTree>
    <p:extLst>
      <p:ext uri="{BB962C8B-B14F-4D97-AF65-F5344CB8AC3E}">
        <p14:creationId xmlns:p14="http://schemas.microsoft.com/office/powerpoint/2010/main" val="3416834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23 CuadroTexto"/>
          <p:cNvSpPr txBox="1"/>
          <p:nvPr/>
        </p:nvSpPr>
        <p:spPr>
          <a:xfrm>
            <a:off x="188536" y="5023767"/>
            <a:ext cx="8785977" cy="1384995"/>
          </a:xfrm>
          <a:prstGeom prst="rect">
            <a:avLst/>
          </a:prstGeom>
          <a:noFill/>
        </p:spPr>
        <p:txBody>
          <a:bodyPr wrap="square" rtlCol="0">
            <a:spAutoFit/>
          </a:bodyPr>
          <a:lstStyle/>
          <a:p>
            <a:pPr marL="285750" indent="-285750">
              <a:buFont typeface="Wingdings" pitchFamily="2" charset="2"/>
              <a:buChar char="Ø"/>
            </a:pPr>
            <a:r>
              <a:rPr lang="en-US" sz="1400" dirty="0" smtClean="0">
                <a:solidFill>
                  <a:prstClr val="black"/>
                </a:solidFill>
              </a:rPr>
              <a:t>In terms of space allocation, the numbers are nearly equivalent.  Not a big difference</a:t>
            </a:r>
          </a:p>
          <a:p>
            <a:pPr marL="285750" indent="-285750">
              <a:buFont typeface="Wingdings" pitchFamily="2" charset="2"/>
              <a:buChar char="Ø"/>
            </a:pPr>
            <a:endParaRPr lang="en-US" sz="1400" dirty="0" smtClean="0">
              <a:solidFill>
                <a:prstClr val="black"/>
              </a:solidFill>
            </a:endParaRPr>
          </a:p>
          <a:p>
            <a:pPr marL="285750" indent="-285750">
              <a:buFont typeface="Wingdings" pitchFamily="2" charset="2"/>
              <a:buChar char="Ø"/>
            </a:pPr>
            <a:r>
              <a:rPr lang="en-US" sz="1400" b="1" dirty="0" smtClean="0">
                <a:solidFill>
                  <a:prstClr val="black"/>
                </a:solidFill>
              </a:rPr>
              <a:t>The interesting pattern is….</a:t>
            </a:r>
          </a:p>
          <a:p>
            <a:pPr marL="742950" lvl="1" indent="-285750">
              <a:buFont typeface="Wingdings" pitchFamily="2" charset="2"/>
              <a:buChar char="Ø"/>
            </a:pPr>
            <a:r>
              <a:rPr lang="en-US" sz="1400" dirty="0" smtClean="0">
                <a:solidFill>
                  <a:prstClr val="black"/>
                </a:solidFill>
              </a:rPr>
              <a:t>They differ in the </a:t>
            </a:r>
            <a:r>
              <a:rPr lang="en-US" sz="1400" u="sng" dirty="0" smtClean="0">
                <a:solidFill>
                  <a:prstClr val="black"/>
                </a:solidFill>
              </a:rPr>
              <a:t>upper</a:t>
            </a:r>
            <a:r>
              <a:rPr lang="en-US" sz="1400" dirty="0" smtClean="0">
                <a:solidFill>
                  <a:prstClr val="black"/>
                </a:solidFill>
              </a:rPr>
              <a:t> and </a:t>
            </a:r>
            <a:r>
              <a:rPr lang="en-US" sz="1400" u="sng" dirty="0" smtClean="0">
                <a:solidFill>
                  <a:prstClr val="black"/>
                </a:solidFill>
              </a:rPr>
              <a:t>lower</a:t>
            </a:r>
            <a:r>
              <a:rPr lang="en-US" sz="1400" dirty="0" smtClean="0">
                <a:solidFill>
                  <a:prstClr val="black"/>
                </a:solidFill>
              </a:rPr>
              <a:t> boundaries, specifically    (100 records vs. 4 Million records)</a:t>
            </a:r>
          </a:p>
          <a:p>
            <a:pPr lvl="1"/>
            <a:endParaRPr lang="en-US" sz="1400" dirty="0" smtClean="0">
              <a:solidFill>
                <a:prstClr val="black"/>
              </a:solidFill>
            </a:endParaRPr>
          </a:p>
          <a:p>
            <a:pPr lvl="1"/>
            <a:r>
              <a:rPr lang="en-US" sz="1400" dirty="0" smtClean="0">
                <a:solidFill>
                  <a:prstClr val="black"/>
                </a:solidFill>
              </a:rPr>
              <a:t>                                                                                                                     (A &gt; B            vs.   A &lt; B)</a:t>
            </a:r>
          </a:p>
        </p:txBody>
      </p:sp>
      <p:grpSp>
        <p:nvGrpSpPr>
          <p:cNvPr id="27" name="26 Grupo"/>
          <p:cNvGrpSpPr/>
          <p:nvPr/>
        </p:nvGrpSpPr>
        <p:grpSpPr>
          <a:xfrm>
            <a:off x="133522" y="1999142"/>
            <a:ext cx="8812505" cy="2912662"/>
            <a:chOff x="152211" y="2206823"/>
            <a:chExt cx="8812505" cy="2912662"/>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211" y="2743200"/>
              <a:ext cx="8812505" cy="1611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8 Conector recto"/>
            <p:cNvCxnSpPr/>
            <p:nvPr/>
          </p:nvCxnSpPr>
          <p:spPr>
            <a:xfrm flipV="1">
              <a:off x="3311880" y="2514600"/>
              <a:ext cx="0" cy="45720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a:off x="3311880" y="2514600"/>
              <a:ext cx="461292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12 Conector recto de flecha"/>
            <p:cNvCxnSpPr/>
            <p:nvPr/>
          </p:nvCxnSpPr>
          <p:spPr>
            <a:xfrm>
              <a:off x="7924800" y="2514600"/>
              <a:ext cx="0" cy="4572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38 Conector recto"/>
            <p:cNvCxnSpPr/>
            <p:nvPr/>
          </p:nvCxnSpPr>
          <p:spPr>
            <a:xfrm flipV="1">
              <a:off x="8727720" y="4354535"/>
              <a:ext cx="0" cy="45720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39 Conector recto"/>
            <p:cNvCxnSpPr/>
            <p:nvPr/>
          </p:nvCxnSpPr>
          <p:spPr>
            <a:xfrm>
              <a:off x="4114800" y="4811735"/>
              <a:ext cx="461292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25 Conector recto de flecha"/>
            <p:cNvCxnSpPr/>
            <p:nvPr/>
          </p:nvCxnSpPr>
          <p:spPr>
            <a:xfrm flipV="1">
              <a:off x="4114800" y="4354535"/>
              <a:ext cx="0" cy="4572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1" name="40 CuadroTexto"/>
            <p:cNvSpPr txBox="1"/>
            <p:nvPr/>
          </p:nvSpPr>
          <p:spPr>
            <a:xfrm>
              <a:off x="3311880" y="2206823"/>
              <a:ext cx="4612920" cy="276999"/>
            </a:xfrm>
            <a:prstGeom prst="rect">
              <a:avLst/>
            </a:prstGeom>
            <a:noFill/>
          </p:spPr>
          <p:txBody>
            <a:bodyPr wrap="square" rtlCol="0">
              <a:spAutoFit/>
            </a:bodyPr>
            <a:lstStyle/>
            <a:p>
              <a:pPr algn="ctr"/>
              <a:r>
                <a:rPr lang="en-US" sz="1200" dirty="0" smtClean="0">
                  <a:solidFill>
                    <a:prstClr val="black"/>
                  </a:solidFill>
                </a:rPr>
                <a:t>(A &gt; B) Higher space allocated in the lower boundary  (few records)</a:t>
              </a:r>
            </a:p>
          </p:txBody>
        </p:sp>
        <p:sp>
          <p:nvSpPr>
            <p:cNvPr id="42" name="41 CuadroTexto"/>
            <p:cNvSpPr txBox="1"/>
            <p:nvPr/>
          </p:nvSpPr>
          <p:spPr>
            <a:xfrm>
              <a:off x="4114800" y="4842486"/>
              <a:ext cx="4612920" cy="276999"/>
            </a:xfrm>
            <a:prstGeom prst="rect">
              <a:avLst/>
            </a:prstGeom>
            <a:noFill/>
          </p:spPr>
          <p:txBody>
            <a:bodyPr wrap="square" rtlCol="0">
              <a:spAutoFit/>
            </a:bodyPr>
            <a:lstStyle/>
            <a:p>
              <a:pPr algn="ctr"/>
              <a:r>
                <a:rPr lang="en-US" sz="1200" dirty="0" smtClean="0">
                  <a:solidFill>
                    <a:prstClr val="black"/>
                  </a:solidFill>
                </a:rPr>
                <a:t>(A &lt; B)  Lower space allocated in the upper boundary  (tons of records)</a:t>
              </a:r>
            </a:p>
          </p:txBody>
        </p:sp>
      </p:grpSp>
      <p:cxnSp>
        <p:nvCxnSpPr>
          <p:cNvPr id="31" name="30 Conector recto de flecha"/>
          <p:cNvCxnSpPr/>
          <p:nvPr/>
        </p:nvCxnSpPr>
        <p:spPr>
          <a:xfrm>
            <a:off x="5620111" y="5948855"/>
            <a:ext cx="0" cy="228600"/>
          </a:xfrm>
          <a:prstGeom prst="straightConnector1">
            <a:avLst/>
          </a:prstGeom>
          <a:ln w="25400">
            <a:solidFill>
              <a:srgbClr val="FF0000"/>
            </a:solidFill>
            <a:tailEnd type="stealth"/>
          </a:ln>
        </p:spPr>
        <p:style>
          <a:lnRef idx="1">
            <a:schemeClr val="accent1"/>
          </a:lnRef>
          <a:fillRef idx="0">
            <a:schemeClr val="accent1"/>
          </a:fillRef>
          <a:effectRef idx="0">
            <a:schemeClr val="accent1"/>
          </a:effectRef>
          <a:fontRef idx="minor">
            <a:schemeClr val="tx1"/>
          </a:fontRef>
        </p:style>
      </p:cxnSp>
      <p:cxnSp>
        <p:nvCxnSpPr>
          <p:cNvPr id="45" name="44 Conector recto de flecha"/>
          <p:cNvCxnSpPr/>
          <p:nvPr/>
        </p:nvCxnSpPr>
        <p:spPr>
          <a:xfrm>
            <a:off x="6763111" y="5948855"/>
            <a:ext cx="0" cy="228600"/>
          </a:xfrm>
          <a:prstGeom prst="straightConnector1">
            <a:avLst/>
          </a:prstGeom>
          <a:ln w="25400">
            <a:solidFill>
              <a:srgbClr val="FF0000"/>
            </a:solidFill>
            <a:tailEnd type="stealth"/>
          </a:ln>
        </p:spPr>
        <p:style>
          <a:lnRef idx="1">
            <a:schemeClr val="accent1"/>
          </a:lnRef>
          <a:fillRef idx="0">
            <a:schemeClr val="accent1"/>
          </a:fillRef>
          <a:effectRef idx="0">
            <a:schemeClr val="accent1"/>
          </a:effectRef>
          <a:fontRef idx="minor">
            <a:schemeClr val="tx1"/>
          </a:fontRef>
        </p:style>
      </p:cxnSp>
      <p:grpSp>
        <p:nvGrpSpPr>
          <p:cNvPr id="44" name="43 Grupo"/>
          <p:cNvGrpSpPr/>
          <p:nvPr/>
        </p:nvGrpSpPr>
        <p:grpSpPr>
          <a:xfrm>
            <a:off x="0" y="9525"/>
            <a:ext cx="9153525" cy="408388"/>
            <a:chOff x="0" y="9525"/>
            <a:chExt cx="9153525" cy="408388"/>
          </a:xfrm>
        </p:grpSpPr>
        <p:sp>
          <p:nvSpPr>
            <p:cNvPr id="46" name="45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Intermediate concepts |   Temporary Tables vs. Table Variables</a:t>
              </a:r>
              <a:endParaRPr lang="en-US" b="1" dirty="0">
                <a:solidFill>
                  <a:schemeClr val="bg1"/>
                </a:solidFill>
              </a:endParaRPr>
            </a:p>
          </p:txBody>
        </p:sp>
        <p:pic>
          <p:nvPicPr>
            <p:cNvPr id="47" name="46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8" name="4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9" name="48 Grupo"/>
          <p:cNvGrpSpPr/>
          <p:nvPr/>
        </p:nvGrpSpPr>
        <p:grpSpPr>
          <a:xfrm>
            <a:off x="9525" y="6574392"/>
            <a:ext cx="9134399" cy="277000"/>
            <a:chOff x="9525" y="6574392"/>
            <a:chExt cx="9134399" cy="277000"/>
          </a:xfrm>
        </p:grpSpPr>
        <p:sp>
          <p:nvSpPr>
            <p:cNvPr id="50" name="49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51" name="50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
        <p:nvSpPr>
          <p:cNvPr id="56" name="55 CuadroTexto"/>
          <p:cNvSpPr txBox="1"/>
          <p:nvPr/>
        </p:nvSpPr>
        <p:spPr>
          <a:xfrm>
            <a:off x="-76" y="499099"/>
            <a:ext cx="9144000" cy="369332"/>
          </a:xfrm>
          <a:prstGeom prst="rect">
            <a:avLst/>
          </a:prstGeom>
          <a:noFill/>
        </p:spPr>
        <p:txBody>
          <a:bodyPr wrap="square" rtlCol="0">
            <a:spAutoFit/>
          </a:bodyPr>
          <a:lstStyle/>
          <a:p>
            <a:r>
              <a:rPr lang="en-US" b="1" dirty="0" smtClean="0">
                <a:solidFill>
                  <a:prstClr val="black"/>
                </a:solidFill>
              </a:rPr>
              <a:t>Best Practice</a:t>
            </a:r>
            <a:endParaRPr lang="en-US" dirty="0" smtClean="0">
              <a:solidFill>
                <a:prstClr val="black"/>
              </a:solidFill>
            </a:endParaRPr>
          </a:p>
        </p:txBody>
      </p:sp>
      <p:sp>
        <p:nvSpPr>
          <p:cNvPr id="57" name="56 CuadroTexto"/>
          <p:cNvSpPr txBox="1"/>
          <p:nvPr/>
        </p:nvSpPr>
        <p:spPr>
          <a:xfrm>
            <a:off x="9449" y="899686"/>
            <a:ext cx="9153525" cy="954107"/>
          </a:xfrm>
          <a:prstGeom prst="rect">
            <a:avLst/>
          </a:prstGeom>
          <a:noFill/>
        </p:spPr>
        <p:txBody>
          <a:bodyPr wrap="square" rtlCol="0">
            <a:spAutoFit/>
          </a:bodyPr>
          <a:lstStyle/>
          <a:p>
            <a:pPr marL="285750" indent="-285750">
              <a:buFont typeface="Wingdings" pitchFamily="2" charset="2"/>
              <a:buChar char="ü"/>
            </a:pPr>
            <a:r>
              <a:rPr lang="en-US" sz="1400" dirty="0" smtClean="0"/>
              <a:t>Do </a:t>
            </a:r>
            <a:r>
              <a:rPr lang="en-US" sz="1400" dirty="0"/>
              <a:t>not use table variables to store large amounts of data (more than 100 rows</a:t>
            </a:r>
            <a:r>
              <a:rPr lang="en-US" sz="1400" dirty="0" smtClean="0"/>
              <a:t>)</a:t>
            </a:r>
          </a:p>
          <a:p>
            <a:r>
              <a:rPr lang="en-US" sz="1400" dirty="0" smtClean="0"/>
              <a:t>       Plan </a:t>
            </a:r>
            <a:r>
              <a:rPr lang="en-US" sz="1400" dirty="0"/>
              <a:t>choices may not be optimal or stable when a table variable contains a large amount of data. </a:t>
            </a:r>
            <a:endParaRPr lang="en-US" sz="1400" dirty="0" smtClean="0"/>
          </a:p>
          <a:p>
            <a:r>
              <a:rPr lang="en-US" sz="1400" dirty="0" smtClean="0"/>
              <a:t>       Consider </a:t>
            </a:r>
            <a:r>
              <a:rPr lang="en-US" sz="1400" dirty="0"/>
              <a:t>rewriting such queries to use temporary </a:t>
            </a:r>
            <a:r>
              <a:rPr lang="en-US" sz="1400" dirty="0" smtClean="0"/>
              <a:t>tables.</a:t>
            </a:r>
          </a:p>
          <a:p>
            <a:r>
              <a:rPr lang="en-US" sz="1400" dirty="0"/>
              <a:t> </a:t>
            </a:r>
            <a:r>
              <a:rPr lang="en-US" sz="1400" dirty="0" smtClean="0"/>
              <a:t>      </a:t>
            </a:r>
            <a:r>
              <a:rPr lang="en-US" sz="1200" dirty="0" smtClean="0">
                <a:solidFill>
                  <a:prstClr val="black"/>
                </a:solidFill>
                <a:hlinkClick r:id="rId4"/>
              </a:rPr>
              <a:t>http</a:t>
            </a:r>
            <a:r>
              <a:rPr lang="en-US" sz="1200" dirty="0">
                <a:solidFill>
                  <a:prstClr val="black"/>
                </a:solidFill>
                <a:hlinkClick r:id="rId4"/>
              </a:rPr>
              <a:t>://msdn.microsoft.com/en-us/library/ms175010(v=sql.105).</a:t>
            </a:r>
            <a:r>
              <a:rPr lang="en-US" sz="1200" dirty="0" smtClean="0">
                <a:solidFill>
                  <a:prstClr val="black"/>
                </a:solidFill>
                <a:hlinkClick r:id="rId4"/>
              </a:rPr>
              <a:t>aspx</a:t>
            </a:r>
            <a:r>
              <a:rPr lang="en-US" sz="1200" dirty="0" smtClean="0">
                <a:solidFill>
                  <a:prstClr val="black"/>
                </a:solidFill>
              </a:rPr>
              <a:t> </a:t>
            </a:r>
          </a:p>
        </p:txBody>
      </p:sp>
    </p:spTree>
    <p:extLst>
      <p:ext uri="{BB962C8B-B14F-4D97-AF65-F5344CB8AC3E}">
        <p14:creationId xmlns:p14="http://schemas.microsoft.com/office/powerpoint/2010/main" val="39362447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234" y="4121696"/>
            <a:ext cx="6145328" cy="1515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569" y="1454696"/>
            <a:ext cx="5425904"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25 CuadroTexto"/>
          <p:cNvSpPr txBox="1"/>
          <p:nvPr/>
        </p:nvSpPr>
        <p:spPr>
          <a:xfrm>
            <a:off x="0" y="530771"/>
            <a:ext cx="9144000" cy="369332"/>
          </a:xfrm>
          <a:prstGeom prst="rect">
            <a:avLst/>
          </a:prstGeom>
          <a:noFill/>
        </p:spPr>
        <p:txBody>
          <a:bodyPr wrap="square" rtlCol="0">
            <a:spAutoFit/>
          </a:bodyPr>
          <a:lstStyle/>
          <a:p>
            <a:r>
              <a:rPr lang="en-US" b="1" dirty="0" smtClean="0">
                <a:solidFill>
                  <a:prstClr val="black"/>
                </a:solidFill>
              </a:rPr>
              <a:t>Temporary Tables trigger statement recompiles more often</a:t>
            </a:r>
            <a:endParaRPr lang="en-US" dirty="0" smtClean="0">
              <a:solidFill>
                <a:prstClr val="black"/>
              </a:solidFill>
            </a:endParaRPr>
          </a:p>
        </p:txBody>
      </p:sp>
      <p:sp>
        <p:nvSpPr>
          <p:cNvPr id="27" name="26 CuadroTexto"/>
          <p:cNvSpPr txBox="1"/>
          <p:nvPr/>
        </p:nvSpPr>
        <p:spPr>
          <a:xfrm>
            <a:off x="185574" y="993935"/>
            <a:ext cx="8683606" cy="307777"/>
          </a:xfrm>
          <a:prstGeom prst="rect">
            <a:avLst/>
          </a:prstGeom>
          <a:noFill/>
        </p:spPr>
        <p:txBody>
          <a:bodyPr wrap="square" rtlCol="0">
            <a:spAutoFit/>
          </a:bodyPr>
          <a:lstStyle/>
          <a:p>
            <a:pPr marL="285750" indent="-285750">
              <a:buFont typeface="Wingdings" pitchFamily="2" charset="2"/>
              <a:buChar char="Ø"/>
            </a:pPr>
            <a:r>
              <a:rPr lang="en-US" sz="1400" dirty="0" smtClean="0">
                <a:solidFill>
                  <a:prstClr val="black"/>
                </a:solidFill>
              </a:rPr>
              <a:t>In addition, there’s a cost associated with the Temp Table disposal (the table is removed from </a:t>
            </a:r>
            <a:r>
              <a:rPr lang="en-US" sz="1400" dirty="0" err="1" smtClean="0">
                <a:solidFill>
                  <a:prstClr val="black"/>
                </a:solidFill>
              </a:rPr>
              <a:t>TempDB</a:t>
            </a:r>
            <a:r>
              <a:rPr lang="en-US" sz="1400" dirty="0" smtClean="0">
                <a:solidFill>
                  <a:prstClr val="black"/>
                </a:solidFill>
              </a:rPr>
              <a:t>)</a:t>
            </a:r>
            <a:endParaRPr lang="en-US" sz="1200" dirty="0" smtClean="0">
              <a:solidFill>
                <a:prstClr val="black"/>
              </a:solidFill>
            </a:endParaRPr>
          </a:p>
        </p:txBody>
      </p:sp>
      <p:grpSp>
        <p:nvGrpSpPr>
          <p:cNvPr id="23" name="22 Grupo"/>
          <p:cNvGrpSpPr/>
          <p:nvPr/>
        </p:nvGrpSpPr>
        <p:grpSpPr>
          <a:xfrm>
            <a:off x="0" y="9525"/>
            <a:ext cx="9153525" cy="408388"/>
            <a:chOff x="0" y="9525"/>
            <a:chExt cx="9153525" cy="408388"/>
          </a:xfrm>
        </p:grpSpPr>
        <p:sp>
          <p:nvSpPr>
            <p:cNvPr id="24" name="23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Intermediate concepts |   Temporary Tables vs. Table Variables</a:t>
              </a:r>
              <a:endParaRPr lang="en-US" b="1" dirty="0">
                <a:solidFill>
                  <a:schemeClr val="bg1"/>
                </a:solidFill>
              </a:endParaRPr>
            </a:p>
          </p:txBody>
        </p:sp>
        <p:pic>
          <p:nvPicPr>
            <p:cNvPr id="30" name="29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1" name="30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9" name="38 Grupo"/>
          <p:cNvGrpSpPr/>
          <p:nvPr/>
        </p:nvGrpSpPr>
        <p:grpSpPr>
          <a:xfrm>
            <a:off x="9525" y="6574392"/>
            <a:ext cx="9134399" cy="277000"/>
            <a:chOff x="9525" y="6574392"/>
            <a:chExt cx="9134399" cy="277000"/>
          </a:xfrm>
        </p:grpSpPr>
        <p:sp>
          <p:nvSpPr>
            <p:cNvPr id="40" name="39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41" name="40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2199678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22 CuadroTexto"/>
          <p:cNvSpPr txBox="1"/>
          <p:nvPr/>
        </p:nvSpPr>
        <p:spPr>
          <a:xfrm>
            <a:off x="9525" y="568871"/>
            <a:ext cx="9144000" cy="369332"/>
          </a:xfrm>
          <a:prstGeom prst="rect">
            <a:avLst/>
          </a:prstGeom>
          <a:noFill/>
        </p:spPr>
        <p:txBody>
          <a:bodyPr wrap="square" rtlCol="0">
            <a:spAutoFit/>
          </a:bodyPr>
          <a:lstStyle/>
          <a:p>
            <a:r>
              <a:rPr lang="en-US" b="1" dirty="0">
                <a:solidFill>
                  <a:prstClr val="black"/>
                </a:solidFill>
              </a:rPr>
              <a:t>Table variables </a:t>
            </a:r>
            <a:r>
              <a:rPr lang="en-US" b="1" dirty="0" smtClean="0">
                <a:solidFill>
                  <a:prstClr val="black"/>
                </a:solidFill>
              </a:rPr>
              <a:t>trigger fewer recompiles than Temporary Tables</a:t>
            </a:r>
            <a:endParaRPr lang="en-US" dirty="0" smtClean="0">
              <a:solidFill>
                <a:prstClr val="black"/>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0246" y="5576783"/>
            <a:ext cx="5464496" cy="593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212" y="3086802"/>
            <a:ext cx="4862146"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23 CuadroTexto"/>
          <p:cNvSpPr txBox="1"/>
          <p:nvPr/>
        </p:nvSpPr>
        <p:spPr>
          <a:xfrm>
            <a:off x="411003" y="1076672"/>
            <a:ext cx="7922924" cy="1815882"/>
          </a:xfrm>
          <a:prstGeom prst="rect">
            <a:avLst/>
          </a:prstGeom>
          <a:noFill/>
        </p:spPr>
        <p:txBody>
          <a:bodyPr wrap="square" rtlCol="0">
            <a:spAutoFit/>
          </a:bodyPr>
          <a:lstStyle/>
          <a:p>
            <a:pPr marL="285750" indent="-285750">
              <a:buFont typeface="Wingdings" pitchFamily="2" charset="2"/>
              <a:buChar char="Ø"/>
            </a:pPr>
            <a:r>
              <a:rPr lang="en-US" sz="1400" dirty="0" smtClean="0">
                <a:solidFill>
                  <a:prstClr val="black"/>
                </a:solidFill>
              </a:rPr>
              <a:t>With </a:t>
            </a:r>
            <a:r>
              <a:rPr lang="en-US" sz="1400" dirty="0">
                <a:solidFill>
                  <a:prstClr val="black"/>
                </a:solidFill>
              </a:rPr>
              <a:t>SQL Server 2005+, </a:t>
            </a:r>
            <a:r>
              <a:rPr lang="en-US" sz="1400" b="1" dirty="0">
                <a:solidFill>
                  <a:srgbClr val="0000FF"/>
                </a:solidFill>
              </a:rPr>
              <a:t>recompilation now occurs at the individual statement level</a:t>
            </a:r>
            <a:r>
              <a:rPr lang="en-US" sz="1400" dirty="0">
                <a:solidFill>
                  <a:prstClr val="black"/>
                </a:solidFill>
              </a:rPr>
              <a:t> rather than stored procedure level. </a:t>
            </a:r>
            <a:endParaRPr lang="en-US" sz="1400" dirty="0" smtClean="0">
              <a:solidFill>
                <a:prstClr val="black"/>
              </a:solidFill>
            </a:endParaRPr>
          </a:p>
          <a:p>
            <a:pPr marL="285750" indent="-285750">
              <a:buFont typeface="Wingdings" pitchFamily="2" charset="2"/>
              <a:buChar char="Ø"/>
            </a:pP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This </a:t>
            </a:r>
            <a:r>
              <a:rPr lang="en-US" sz="1400" dirty="0">
                <a:solidFill>
                  <a:prstClr val="black"/>
                </a:solidFill>
              </a:rPr>
              <a:t>is advantageous because when input parameters change in a stored procedure the majority of the stored procedure can still utilize the cached execution plan. </a:t>
            </a:r>
            <a:r>
              <a:rPr lang="en-US" sz="1400" dirty="0" smtClean="0">
                <a:solidFill>
                  <a:prstClr val="black"/>
                </a:solidFill>
              </a:rPr>
              <a:t>This known as partial usage (more on this later)</a:t>
            </a:r>
          </a:p>
          <a:p>
            <a:pPr marL="285750" indent="-285750">
              <a:buFont typeface="Wingdings" pitchFamily="2" charset="2"/>
              <a:buChar char="Ø"/>
            </a:pP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This </a:t>
            </a:r>
            <a:r>
              <a:rPr lang="en-US" sz="1400" dirty="0">
                <a:solidFill>
                  <a:prstClr val="black"/>
                </a:solidFill>
              </a:rPr>
              <a:t>is especially beneficial to stored procedures that contain many statements</a:t>
            </a:r>
            <a:endParaRPr lang="en-US" sz="1400" dirty="0" smtClean="0">
              <a:solidFill>
                <a:prstClr val="black"/>
              </a:solidFill>
            </a:endParaRPr>
          </a:p>
        </p:txBody>
      </p:sp>
      <p:grpSp>
        <p:nvGrpSpPr>
          <p:cNvPr id="26" name="25 Grupo"/>
          <p:cNvGrpSpPr/>
          <p:nvPr/>
        </p:nvGrpSpPr>
        <p:grpSpPr>
          <a:xfrm>
            <a:off x="9525" y="6574392"/>
            <a:ext cx="9134399" cy="277000"/>
            <a:chOff x="9525" y="6574392"/>
            <a:chExt cx="9134399" cy="277000"/>
          </a:xfrm>
        </p:grpSpPr>
        <p:sp>
          <p:nvSpPr>
            <p:cNvPr id="27" name="26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30" name="29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7" name="16 Grupo"/>
          <p:cNvGrpSpPr/>
          <p:nvPr/>
        </p:nvGrpSpPr>
        <p:grpSpPr>
          <a:xfrm>
            <a:off x="0" y="9525"/>
            <a:ext cx="9153525" cy="408388"/>
            <a:chOff x="0" y="9525"/>
            <a:chExt cx="9153525" cy="408388"/>
          </a:xfrm>
        </p:grpSpPr>
        <p:sp>
          <p:nvSpPr>
            <p:cNvPr id="18" name="1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Intermediate concepts |   Temporary Tables vs. Table Variables</a:t>
              </a:r>
              <a:endParaRPr lang="en-US" b="1" dirty="0">
                <a:solidFill>
                  <a:schemeClr val="bg1"/>
                </a:solidFill>
              </a:endParaRPr>
            </a:p>
          </p:txBody>
        </p:sp>
        <p:pic>
          <p:nvPicPr>
            <p:cNvPr id="19" name="18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 name="19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96518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25 CuadroTexto"/>
          <p:cNvSpPr txBox="1"/>
          <p:nvPr/>
        </p:nvSpPr>
        <p:spPr>
          <a:xfrm>
            <a:off x="9524" y="620688"/>
            <a:ext cx="9134399" cy="369332"/>
          </a:xfrm>
          <a:prstGeom prst="rect">
            <a:avLst/>
          </a:prstGeom>
          <a:noFill/>
        </p:spPr>
        <p:txBody>
          <a:bodyPr wrap="square" rtlCol="0">
            <a:spAutoFit/>
          </a:bodyPr>
          <a:lstStyle/>
          <a:p>
            <a:r>
              <a:rPr lang="en-US" b="1" dirty="0" smtClean="0">
                <a:solidFill>
                  <a:prstClr val="black"/>
                </a:solidFill>
              </a:rPr>
              <a:t>So what should I use?    Table Variables or Temporary Tables</a:t>
            </a:r>
            <a:r>
              <a:rPr lang="en-US" b="1" dirty="0">
                <a:solidFill>
                  <a:prstClr val="black"/>
                </a:solidFill>
              </a:rPr>
              <a:t>?</a:t>
            </a:r>
            <a:endParaRPr lang="en-US" b="1" dirty="0" smtClean="0">
              <a:solidFill>
                <a:prstClr val="black"/>
              </a:solidFill>
            </a:endParaRPr>
          </a:p>
        </p:txBody>
      </p:sp>
      <p:sp>
        <p:nvSpPr>
          <p:cNvPr id="27" name="26 CuadroTexto"/>
          <p:cNvSpPr txBox="1"/>
          <p:nvPr/>
        </p:nvSpPr>
        <p:spPr>
          <a:xfrm>
            <a:off x="9525" y="1323345"/>
            <a:ext cx="9134398" cy="1169551"/>
          </a:xfrm>
          <a:prstGeom prst="rect">
            <a:avLst/>
          </a:prstGeom>
          <a:noFill/>
        </p:spPr>
        <p:txBody>
          <a:bodyPr wrap="square" rtlCol="0">
            <a:spAutoFit/>
          </a:bodyPr>
          <a:lstStyle/>
          <a:p>
            <a:r>
              <a:rPr lang="en-US" sz="1400" b="1" dirty="0" smtClean="0">
                <a:solidFill>
                  <a:prstClr val="black"/>
                </a:solidFill>
              </a:rPr>
              <a:t>The </a:t>
            </a:r>
            <a:r>
              <a:rPr lang="en-US" sz="1400" b="1" dirty="0">
                <a:solidFill>
                  <a:prstClr val="black"/>
                </a:solidFill>
              </a:rPr>
              <a:t>answer depends on these </a:t>
            </a:r>
            <a:r>
              <a:rPr lang="en-US" sz="1400" b="1" dirty="0" smtClean="0">
                <a:solidFill>
                  <a:prstClr val="black"/>
                </a:solidFill>
              </a:rPr>
              <a:t>3 factors</a:t>
            </a:r>
            <a:r>
              <a:rPr lang="en-US" sz="1400" dirty="0" smtClean="0">
                <a:solidFill>
                  <a:prstClr val="black"/>
                </a:solidFill>
              </a:rPr>
              <a:t>:</a:t>
            </a:r>
          </a:p>
          <a:p>
            <a:endParaRPr lang="en-US" sz="1400" dirty="0">
              <a:solidFill>
                <a:prstClr val="black"/>
              </a:solidFill>
            </a:endParaRPr>
          </a:p>
          <a:p>
            <a:pPr marL="285750" indent="-285750">
              <a:buFont typeface="Wingdings" pitchFamily="2" charset="2"/>
              <a:buChar char="Ø"/>
            </a:pPr>
            <a:r>
              <a:rPr lang="en-US" sz="1400" dirty="0">
                <a:solidFill>
                  <a:prstClr val="black"/>
                </a:solidFill>
              </a:rPr>
              <a:t>The </a:t>
            </a:r>
            <a:r>
              <a:rPr lang="en-US" sz="1400" u="sng" dirty="0">
                <a:solidFill>
                  <a:prstClr val="black"/>
                </a:solidFill>
              </a:rPr>
              <a:t>number of rows that are inserted</a:t>
            </a:r>
            <a:r>
              <a:rPr lang="en-US" sz="1400" dirty="0">
                <a:solidFill>
                  <a:prstClr val="black"/>
                </a:solidFill>
              </a:rPr>
              <a:t> to the table.</a:t>
            </a:r>
          </a:p>
          <a:p>
            <a:pPr marL="285750" indent="-285750">
              <a:buFont typeface="Wingdings" pitchFamily="2" charset="2"/>
              <a:buChar char="Ø"/>
            </a:pPr>
            <a:r>
              <a:rPr lang="en-US" sz="1400" dirty="0">
                <a:solidFill>
                  <a:prstClr val="black"/>
                </a:solidFill>
              </a:rPr>
              <a:t>The number of </a:t>
            </a:r>
            <a:r>
              <a:rPr lang="en-US" sz="1400" u="sng" dirty="0">
                <a:solidFill>
                  <a:prstClr val="black"/>
                </a:solidFill>
              </a:rPr>
              <a:t>recompilations</a:t>
            </a:r>
            <a:r>
              <a:rPr lang="en-US" sz="1400" dirty="0">
                <a:solidFill>
                  <a:prstClr val="black"/>
                </a:solidFill>
              </a:rPr>
              <a:t> the query is saved from.</a:t>
            </a:r>
          </a:p>
          <a:p>
            <a:pPr marL="285750" indent="-285750">
              <a:buFont typeface="Wingdings" pitchFamily="2" charset="2"/>
              <a:buChar char="Ø"/>
            </a:pPr>
            <a:r>
              <a:rPr lang="en-US" sz="1400" dirty="0">
                <a:solidFill>
                  <a:prstClr val="black"/>
                </a:solidFill>
              </a:rPr>
              <a:t>The type of queries and their dependency on indexes and </a:t>
            </a:r>
            <a:r>
              <a:rPr lang="en-US" sz="1400" u="sng" dirty="0">
                <a:solidFill>
                  <a:prstClr val="black"/>
                </a:solidFill>
              </a:rPr>
              <a:t>statistics</a:t>
            </a:r>
            <a:r>
              <a:rPr lang="en-US" sz="1400" dirty="0">
                <a:solidFill>
                  <a:prstClr val="black"/>
                </a:solidFill>
              </a:rPr>
              <a:t> for performance.</a:t>
            </a:r>
          </a:p>
        </p:txBody>
      </p:sp>
      <p:grpSp>
        <p:nvGrpSpPr>
          <p:cNvPr id="23" name="22 Grupo"/>
          <p:cNvGrpSpPr/>
          <p:nvPr/>
        </p:nvGrpSpPr>
        <p:grpSpPr>
          <a:xfrm>
            <a:off x="9525" y="6574392"/>
            <a:ext cx="9134399" cy="277000"/>
            <a:chOff x="9525" y="6574392"/>
            <a:chExt cx="9134399" cy="277000"/>
          </a:xfrm>
        </p:grpSpPr>
        <p:sp>
          <p:nvSpPr>
            <p:cNvPr id="24" name="23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30" name="29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5" name="14 Grupo"/>
          <p:cNvGrpSpPr/>
          <p:nvPr/>
        </p:nvGrpSpPr>
        <p:grpSpPr>
          <a:xfrm>
            <a:off x="0" y="9525"/>
            <a:ext cx="9153525" cy="408388"/>
            <a:chOff x="0" y="9525"/>
            <a:chExt cx="9153525" cy="408388"/>
          </a:xfrm>
        </p:grpSpPr>
        <p:sp>
          <p:nvSpPr>
            <p:cNvPr id="16" name="15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Intermediate concepts |   Temporary Tables vs. Table Variables</a:t>
              </a:r>
              <a:endParaRPr lang="en-US" b="1" dirty="0">
                <a:solidFill>
                  <a:schemeClr val="bg1"/>
                </a:solidFill>
              </a:endParaRPr>
            </a:p>
          </p:txBody>
        </p:sp>
        <p:pic>
          <p:nvPicPr>
            <p:cNvPr id="17" name="16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1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0587373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1" y="967399"/>
            <a:ext cx="9122617" cy="738664"/>
          </a:xfrm>
          <a:prstGeom prst="rect">
            <a:avLst/>
          </a:prstGeom>
          <a:noFill/>
        </p:spPr>
        <p:txBody>
          <a:bodyPr wrap="square" rtlCol="0">
            <a:spAutoFit/>
          </a:bodyPr>
          <a:lstStyle/>
          <a:p>
            <a:pPr marL="285750" indent="-285750">
              <a:buFont typeface="Wingdings" pitchFamily="2" charset="2"/>
              <a:buChar char="ü"/>
            </a:pPr>
            <a:r>
              <a:rPr lang="en-US" sz="1400" b="1" dirty="0">
                <a:solidFill>
                  <a:prstClr val="black"/>
                </a:solidFill>
              </a:rPr>
              <a:t>They are not the same </a:t>
            </a:r>
            <a:r>
              <a:rPr lang="en-US" sz="1400" b="1" dirty="0" smtClean="0">
                <a:solidFill>
                  <a:prstClr val="black"/>
                </a:solidFill>
              </a:rPr>
              <a:t>thing</a:t>
            </a:r>
          </a:p>
          <a:p>
            <a:pPr marL="285750" indent="-285750">
              <a:buFont typeface="Wingdings" pitchFamily="2" charset="2"/>
              <a:buChar char="ü"/>
            </a:pPr>
            <a:endParaRPr lang="en-US" sz="1400" i="1" dirty="0" smtClean="0">
              <a:solidFill>
                <a:prstClr val="black"/>
              </a:solidFill>
            </a:endParaRPr>
          </a:p>
          <a:p>
            <a:pPr marL="285750" indent="-285750">
              <a:buFont typeface="Wingdings" pitchFamily="2" charset="2"/>
              <a:buChar char="ü"/>
            </a:pPr>
            <a:r>
              <a:rPr lang="en-US" sz="1400" b="1" dirty="0" smtClean="0">
                <a:solidFill>
                  <a:prstClr val="black"/>
                </a:solidFill>
              </a:rPr>
              <a:t>Prefer table </a:t>
            </a:r>
            <a:r>
              <a:rPr lang="en-US" sz="1400" b="1" dirty="0">
                <a:solidFill>
                  <a:prstClr val="black"/>
                </a:solidFill>
              </a:rPr>
              <a:t>variables </a:t>
            </a:r>
            <a:r>
              <a:rPr lang="en-US" sz="1400" b="1" dirty="0" smtClean="0">
                <a:solidFill>
                  <a:prstClr val="black"/>
                </a:solidFill>
              </a:rPr>
              <a:t>whenever possible:</a:t>
            </a:r>
          </a:p>
        </p:txBody>
      </p:sp>
      <p:sp>
        <p:nvSpPr>
          <p:cNvPr id="23" name="22 CuadroTexto"/>
          <p:cNvSpPr txBox="1"/>
          <p:nvPr/>
        </p:nvSpPr>
        <p:spPr>
          <a:xfrm>
            <a:off x="314533" y="1691299"/>
            <a:ext cx="8533984" cy="954107"/>
          </a:xfrm>
          <a:prstGeom prst="rect">
            <a:avLst/>
          </a:prstGeom>
          <a:noFill/>
        </p:spPr>
        <p:txBody>
          <a:bodyPr wrap="square" rtlCol="0">
            <a:spAutoFit/>
          </a:bodyPr>
          <a:lstStyle/>
          <a:p>
            <a:pPr marL="285750" indent="-285750">
              <a:buFont typeface="Wingdings" pitchFamily="2" charset="2"/>
              <a:buChar char="Ø"/>
            </a:pPr>
            <a:r>
              <a:rPr lang="en-US" sz="1400" dirty="0" smtClean="0">
                <a:solidFill>
                  <a:prstClr val="black"/>
                </a:solidFill>
              </a:rPr>
              <a:t>If you are dealing with a small amount of rows</a:t>
            </a:r>
          </a:p>
          <a:p>
            <a:pPr marL="285750" indent="-285750">
              <a:buFont typeface="Wingdings" pitchFamily="2" charset="2"/>
              <a:buChar char="Ø"/>
            </a:pPr>
            <a:r>
              <a:rPr lang="en-US" sz="1400" dirty="0" smtClean="0">
                <a:solidFill>
                  <a:prstClr val="black"/>
                </a:solidFill>
              </a:rPr>
              <a:t>Better performance, in general</a:t>
            </a:r>
          </a:p>
          <a:p>
            <a:pPr marL="285750" indent="-285750">
              <a:buFont typeface="Wingdings" pitchFamily="2" charset="2"/>
              <a:buChar char="Ø"/>
            </a:pPr>
            <a:r>
              <a:rPr lang="en-US" sz="1400" dirty="0" smtClean="0">
                <a:solidFill>
                  <a:prstClr val="black"/>
                </a:solidFill>
              </a:rPr>
              <a:t>Less locking </a:t>
            </a:r>
          </a:p>
          <a:p>
            <a:pPr marL="285750" indent="-285750">
              <a:buFont typeface="Wingdings" pitchFamily="2" charset="2"/>
              <a:buChar char="Ø"/>
            </a:pPr>
            <a:r>
              <a:rPr lang="en-US" sz="1400" dirty="0" smtClean="0">
                <a:solidFill>
                  <a:prstClr val="black"/>
                </a:solidFill>
              </a:rPr>
              <a:t>Less logging:  Transaction </a:t>
            </a:r>
            <a:r>
              <a:rPr lang="en-US" sz="1400" dirty="0">
                <a:solidFill>
                  <a:prstClr val="black"/>
                </a:solidFill>
              </a:rPr>
              <a:t>rollbacks do not affect </a:t>
            </a:r>
            <a:r>
              <a:rPr lang="en-US" sz="1400" dirty="0" smtClean="0">
                <a:solidFill>
                  <a:prstClr val="black"/>
                </a:solidFill>
              </a:rPr>
              <a:t>them</a:t>
            </a:r>
          </a:p>
        </p:txBody>
      </p:sp>
      <p:sp>
        <p:nvSpPr>
          <p:cNvPr id="26" name="25 CuadroTexto"/>
          <p:cNvSpPr txBox="1"/>
          <p:nvPr/>
        </p:nvSpPr>
        <p:spPr>
          <a:xfrm>
            <a:off x="33628" y="2899309"/>
            <a:ext cx="3276600" cy="307777"/>
          </a:xfrm>
          <a:prstGeom prst="rect">
            <a:avLst/>
          </a:prstGeom>
          <a:noFill/>
        </p:spPr>
        <p:txBody>
          <a:bodyPr wrap="square" rtlCol="0">
            <a:spAutoFit/>
          </a:bodyPr>
          <a:lstStyle/>
          <a:p>
            <a:r>
              <a:rPr lang="en-US" sz="1400" b="1" dirty="0" smtClean="0">
                <a:solidFill>
                  <a:prstClr val="black"/>
                </a:solidFill>
              </a:rPr>
              <a:t>Tips:</a:t>
            </a:r>
          </a:p>
        </p:txBody>
      </p:sp>
      <p:sp>
        <p:nvSpPr>
          <p:cNvPr id="27" name="26 CuadroTexto"/>
          <p:cNvSpPr txBox="1"/>
          <p:nvPr/>
        </p:nvSpPr>
        <p:spPr>
          <a:xfrm>
            <a:off x="500353" y="2930862"/>
            <a:ext cx="8622264" cy="2893100"/>
          </a:xfrm>
          <a:prstGeom prst="rect">
            <a:avLst/>
          </a:prstGeom>
          <a:noFill/>
        </p:spPr>
        <p:txBody>
          <a:bodyPr wrap="square" rtlCol="0">
            <a:spAutoFit/>
          </a:bodyPr>
          <a:lstStyle/>
          <a:p>
            <a:pPr marL="285750" indent="-285750">
              <a:buFont typeface="Wingdings" pitchFamily="2" charset="2"/>
              <a:buChar char="Ø"/>
            </a:pPr>
            <a:r>
              <a:rPr lang="en-US" sz="1400" dirty="0" smtClean="0">
                <a:solidFill>
                  <a:prstClr val="black"/>
                </a:solidFill>
              </a:rPr>
              <a:t>Fewer </a:t>
            </a:r>
            <a:r>
              <a:rPr lang="en-US" sz="1400" dirty="0">
                <a:solidFill>
                  <a:prstClr val="black"/>
                </a:solidFill>
              </a:rPr>
              <a:t>recompilations </a:t>
            </a:r>
            <a:r>
              <a:rPr lang="en-US" sz="1400" dirty="0" smtClean="0">
                <a:solidFill>
                  <a:prstClr val="black"/>
                </a:solidFill>
              </a:rPr>
              <a:t>as </a:t>
            </a:r>
            <a:r>
              <a:rPr lang="en-US" sz="1400" dirty="0">
                <a:solidFill>
                  <a:prstClr val="black"/>
                </a:solidFill>
              </a:rPr>
              <a:t>compared to temporary tables</a:t>
            </a:r>
            <a:r>
              <a:rPr lang="en-US" sz="1400" dirty="0" smtClean="0">
                <a:solidFill>
                  <a:prstClr val="black"/>
                </a:solidFill>
              </a:rPr>
              <a:t>.</a:t>
            </a:r>
          </a:p>
          <a:p>
            <a:pPr marL="285750" indent="-285750">
              <a:buFont typeface="Wingdings" pitchFamily="2" charset="2"/>
              <a:buChar char="Ø"/>
            </a:pP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Well </a:t>
            </a:r>
            <a:r>
              <a:rPr lang="en-US" sz="1400" dirty="0">
                <a:solidFill>
                  <a:prstClr val="black"/>
                </a:solidFill>
              </a:rPr>
              <a:t>defined </a:t>
            </a:r>
            <a:r>
              <a:rPr lang="en-US" sz="1400" dirty="0" smtClean="0">
                <a:solidFill>
                  <a:prstClr val="black"/>
                </a:solidFill>
              </a:rPr>
              <a:t>scope, </a:t>
            </a:r>
            <a:r>
              <a:rPr lang="en-US" sz="1400" dirty="0">
                <a:solidFill>
                  <a:prstClr val="black"/>
                </a:solidFill>
              </a:rPr>
              <a:t>at the end of which they are automatically cleared.</a:t>
            </a:r>
            <a:endParaRPr lang="en-US" sz="1400" dirty="0" smtClean="0">
              <a:solidFill>
                <a:prstClr val="black"/>
              </a:solidFill>
            </a:endParaRPr>
          </a:p>
          <a:p>
            <a:pPr marL="285750" indent="-285750">
              <a:buFont typeface="Wingdings" pitchFamily="2" charset="2"/>
              <a:buChar char="Ø"/>
            </a:pP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Transactions </a:t>
            </a:r>
            <a:r>
              <a:rPr lang="en-US" sz="1400" dirty="0">
                <a:solidFill>
                  <a:prstClr val="black"/>
                </a:solidFill>
              </a:rPr>
              <a:t>that involve table variables last only for the duration of an update on the table variable. </a:t>
            </a:r>
            <a:endParaRPr lang="en-US" sz="1400" dirty="0" smtClean="0">
              <a:solidFill>
                <a:prstClr val="black"/>
              </a:solidFill>
            </a:endParaRPr>
          </a:p>
          <a:p>
            <a:r>
              <a:rPr lang="en-US" sz="1400" dirty="0" smtClean="0">
                <a:solidFill>
                  <a:prstClr val="black"/>
                </a:solidFill>
              </a:rPr>
              <a:t>        Therefore</a:t>
            </a:r>
            <a:r>
              <a:rPr lang="en-US" sz="1400" dirty="0">
                <a:solidFill>
                  <a:prstClr val="black"/>
                </a:solidFill>
              </a:rPr>
              <a:t>, table variables require less locking and logging resources. </a:t>
            </a:r>
            <a:endParaRPr lang="en-US" sz="1400" dirty="0" smtClean="0">
              <a:solidFill>
                <a:prstClr val="black"/>
              </a:solidFill>
            </a:endParaRPr>
          </a:p>
          <a:p>
            <a:r>
              <a:rPr lang="en-US" sz="1400" dirty="0">
                <a:solidFill>
                  <a:prstClr val="black"/>
                </a:solidFill>
              </a:rPr>
              <a:t> </a:t>
            </a:r>
            <a:r>
              <a:rPr lang="en-US" sz="1400" dirty="0" smtClean="0">
                <a:solidFill>
                  <a:prstClr val="black"/>
                </a:solidFill>
              </a:rPr>
              <a:t>       Because </a:t>
            </a:r>
            <a:r>
              <a:rPr lang="en-US" sz="1400" dirty="0">
                <a:solidFill>
                  <a:prstClr val="black"/>
                </a:solidFill>
              </a:rPr>
              <a:t>table variables have </a:t>
            </a:r>
            <a:r>
              <a:rPr lang="en-US" sz="1400" dirty="0" smtClean="0">
                <a:solidFill>
                  <a:prstClr val="black"/>
                </a:solidFill>
              </a:rPr>
              <a:t>limited scope </a:t>
            </a:r>
            <a:r>
              <a:rPr lang="en-US" sz="1400" dirty="0">
                <a:solidFill>
                  <a:prstClr val="black"/>
                </a:solidFill>
              </a:rPr>
              <a:t>and are not part </a:t>
            </a:r>
            <a:r>
              <a:rPr lang="en-US" sz="1400" dirty="0" smtClean="0">
                <a:solidFill>
                  <a:prstClr val="black"/>
                </a:solidFill>
              </a:rPr>
              <a:t>of </a:t>
            </a:r>
            <a:r>
              <a:rPr lang="en-US" sz="1400" dirty="0">
                <a:solidFill>
                  <a:prstClr val="black"/>
                </a:solidFill>
              </a:rPr>
              <a:t>the persistent database, </a:t>
            </a:r>
            <a:endParaRPr lang="en-US" sz="1400" dirty="0" smtClean="0">
              <a:solidFill>
                <a:prstClr val="black"/>
              </a:solidFill>
            </a:endParaRPr>
          </a:p>
          <a:p>
            <a:r>
              <a:rPr lang="en-US" sz="1400" dirty="0">
                <a:solidFill>
                  <a:prstClr val="black"/>
                </a:solidFill>
              </a:rPr>
              <a:t> </a:t>
            </a:r>
            <a:r>
              <a:rPr lang="en-US" sz="1400" dirty="0" smtClean="0">
                <a:solidFill>
                  <a:prstClr val="black"/>
                </a:solidFill>
              </a:rPr>
              <a:t>       transaction </a:t>
            </a:r>
            <a:r>
              <a:rPr lang="en-US" sz="1400" dirty="0">
                <a:solidFill>
                  <a:prstClr val="black"/>
                </a:solidFill>
              </a:rPr>
              <a:t>rollbacks do not affect them.</a:t>
            </a:r>
            <a:endParaRPr lang="en-US" sz="1400" dirty="0" smtClean="0">
              <a:solidFill>
                <a:prstClr val="black"/>
              </a:solidFill>
            </a:endParaRPr>
          </a:p>
          <a:p>
            <a:pPr marL="285750" indent="-285750">
              <a:buFont typeface="Wingdings" pitchFamily="2" charset="2"/>
              <a:buChar char="Ø"/>
            </a:pP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Table variables are </a:t>
            </a:r>
            <a:r>
              <a:rPr lang="en-US" sz="1400" b="1" dirty="0">
                <a:solidFill>
                  <a:srgbClr val="0000FF"/>
                </a:solidFill>
              </a:rPr>
              <a:t>always</a:t>
            </a:r>
            <a:r>
              <a:rPr lang="en-US" sz="1400" dirty="0">
                <a:solidFill>
                  <a:srgbClr val="0000FF"/>
                </a:solidFill>
              </a:rPr>
              <a:t> </a:t>
            </a:r>
            <a:r>
              <a:rPr lang="en-US" sz="1400" dirty="0">
                <a:solidFill>
                  <a:prstClr val="black"/>
                </a:solidFill>
              </a:rPr>
              <a:t>useful for </a:t>
            </a:r>
            <a:r>
              <a:rPr lang="en-US" sz="1400" dirty="0" smtClean="0">
                <a:solidFill>
                  <a:prstClr val="black"/>
                </a:solidFill>
              </a:rPr>
              <a:t>small result sets      </a:t>
            </a:r>
            <a:r>
              <a:rPr lang="en-US" sz="1400" dirty="0" smtClean="0">
                <a:solidFill>
                  <a:prstClr val="black"/>
                </a:solidFill>
                <a:sym typeface="Wingdings" pitchFamily="2" charset="2"/>
              </a:rPr>
              <a:t></a:t>
            </a:r>
            <a:r>
              <a:rPr lang="en-US" sz="1400" dirty="0" smtClean="0">
                <a:solidFill>
                  <a:prstClr val="black"/>
                </a:solidFill>
              </a:rPr>
              <a:t> </a:t>
            </a:r>
            <a:r>
              <a:rPr lang="en-US" sz="1400" i="1" dirty="0" smtClean="0">
                <a:solidFill>
                  <a:prstClr val="black"/>
                </a:solidFill>
              </a:rPr>
              <a:t>“small” </a:t>
            </a:r>
            <a:r>
              <a:rPr lang="en-US" sz="1400" dirty="0" smtClean="0">
                <a:solidFill>
                  <a:prstClr val="black"/>
                </a:solidFill>
              </a:rPr>
              <a:t>means</a:t>
            </a:r>
            <a:r>
              <a:rPr lang="en-US" sz="1400" i="1" dirty="0" smtClean="0">
                <a:solidFill>
                  <a:prstClr val="black"/>
                </a:solidFill>
              </a:rPr>
              <a:t> “less than 10K records”</a:t>
            </a:r>
          </a:p>
          <a:p>
            <a:pPr marL="285750" indent="-285750">
              <a:buFont typeface="Wingdings" pitchFamily="2" charset="2"/>
              <a:buChar char="Ø"/>
            </a:pPr>
            <a:endParaRPr lang="en-US" sz="1400" i="1" dirty="0" smtClean="0">
              <a:solidFill>
                <a:prstClr val="black"/>
              </a:solidFill>
            </a:endParaRPr>
          </a:p>
          <a:p>
            <a:pPr marL="285750" indent="-285750">
              <a:buFont typeface="Wingdings" pitchFamily="2" charset="2"/>
              <a:buChar char="Ø"/>
            </a:pPr>
            <a:r>
              <a:rPr lang="en-US" sz="1400" dirty="0" smtClean="0">
                <a:solidFill>
                  <a:prstClr val="black"/>
                </a:solidFill>
              </a:rPr>
              <a:t>If </a:t>
            </a:r>
            <a:r>
              <a:rPr lang="en-US" sz="1400" dirty="0">
                <a:solidFill>
                  <a:prstClr val="black"/>
                </a:solidFill>
              </a:rPr>
              <a:t>the result set returns a large number of records, we </a:t>
            </a:r>
            <a:r>
              <a:rPr lang="en-US" sz="1400" dirty="0" smtClean="0">
                <a:solidFill>
                  <a:prstClr val="black"/>
                </a:solidFill>
              </a:rPr>
              <a:t>must consider whether a Temporary Table will give us a better throughput</a:t>
            </a:r>
            <a:endParaRPr lang="en-US" sz="1400" dirty="0">
              <a:solidFill>
                <a:prstClr val="black"/>
              </a:solidFill>
            </a:endParaRPr>
          </a:p>
        </p:txBody>
      </p:sp>
      <p:pic>
        <p:nvPicPr>
          <p:cNvPr id="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0083" y="1197606"/>
            <a:ext cx="4182534"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p:cNvSpPr txBox="1"/>
          <p:nvPr/>
        </p:nvSpPr>
        <p:spPr>
          <a:xfrm>
            <a:off x="2915816" y="5831224"/>
            <a:ext cx="4218665" cy="553998"/>
          </a:xfrm>
          <a:prstGeom prst="rect">
            <a:avLst/>
          </a:prstGeom>
          <a:noFill/>
        </p:spPr>
        <p:txBody>
          <a:bodyPr wrap="square" rtlCol="0">
            <a:spAutoFit/>
          </a:bodyPr>
          <a:lstStyle/>
          <a:p>
            <a:r>
              <a:rPr lang="en-US" sz="1000" dirty="0">
                <a:solidFill>
                  <a:prstClr val="black"/>
                </a:solidFill>
              </a:rPr>
              <a:t>More on this </a:t>
            </a:r>
            <a:r>
              <a:rPr lang="en-US" sz="1000" dirty="0" smtClean="0">
                <a:solidFill>
                  <a:prstClr val="black"/>
                </a:solidFill>
              </a:rPr>
              <a:t>at:</a:t>
            </a:r>
            <a:endParaRPr lang="en-US" sz="1000" dirty="0">
              <a:solidFill>
                <a:prstClr val="black"/>
              </a:solidFill>
            </a:endParaRPr>
          </a:p>
          <a:p>
            <a:pPr marL="171450" indent="-171450">
              <a:buFont typeface="Wingdings" pitchFamily="2" charset="2"/>
              <a:buChar char="Ø"/>
            </a:pPr>
            <a:r>
              <a:rPr lang="en-US" sz="1000" dirty="0" smtClean="0">
                <a:solidFill>
                  <a:prstClr val="black"/>
                </a:solidFill>
                <a:hlinkClick r:id="rId3"/>
              </a:rPr>
              <a:t>http</a:t>
            </a:r>
            <a:r>
              <a:rPr lang="en-US" sz="1000" dirty="0">
                <a:solidFill>
                  <a:prstClr val="black"/>
                </a:solidFill>
                <a:hlinkClick r:id="rId3"/>
              </a:rPr>
              <a:t>://</a:t>
            </a:r>
            <a:r>
              <a:rPr lang="en-US" sz="1000" dirty="0" smtClean="0">
                <a:solidFill>
                  <a:prstClr val="black"/>
                </a:solidFill>
                <a:hlinkClick r:id="rId3"/>
              </a:rPr>
              <a:t>support.microsoft.com/kb/305977?wa=wsignin1.0</a:t>
            </a:r>
            <a:r>
              <a:rPr lang="en-US" sz="1000" dirty="0" smtClean="0">
                <a:solidFill>
                  <a:prstClr val="black"/>
                </a:solidFill>
              </a:rPr>
              <a:t> </a:t>
            </a:r>
          </a:p>
          <a:p>
            <a:pPr marL="171450" indent="-171450">
              <a:buFont typeface="Wingdings" pitchFamily="2" charset="2"/>
              <a:buChar char="Ø"/>
            </a:pPr>
            <a:r>
              <a:rPr lang="en-US" sz="1000" dirty="0">
                <a:solidFill>
                  <a:prstClr val="black"/>
                </a:solidFill>
                <a:hlinkClick r:id="rId4"/>
              </a:rPr>
              <a:t>http://</a:t>
            </a:r>
            <a:r>
              <a:rPr lang="en-US" sz="1000" dirty="0" smtClean="0">
                <a:solidFill>
                  <a:prstClr val="black"/>
                </a:solidFill>
                <a:hlinkClick r:id="rId4"/>
              </a:rPr>
              <a:t>support.microsoft.com/kb/243586</a:t>
            </a:r>
            <a:r>
              <a:rPr lang="en-US" sz="1000" dirty="0" smtClean="0">
                <a:solidFill>
                  <a:prstClr val="black"/>
                </a:solidFill>
              </a:rPr>
              <a:t> </a:t>
            </a:r>
          </a:p>
        </p:txBody>
      </p:sp>
      <p:grpSp>
        <p:nvGrpSpPr>
          <p:cNvPr id="42" name="41 Grupo"/>
          <p:cNvGrpSpPr/>
          <p:nvPr/>
        </p:nvGrpSpPr>
        <p:grpSpPr>
          <a:xfrm>
            <a:off x="9525" y="6574392"/>
            <a:ext cx="9134399" cy="277000"/>
            <a:chOff x="9525" y="6574392"/>
            <a:chExt cx="9134399" cy="277000"/>
          </a:xfrm>
        </p:grpSpPr>
        <p:sp>
          <p:nvSpPr>
            <p:cNvPr id="43" name="42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44" name="43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
        <p:nvSpPr>
          <p:cNvPr id="45" name="44 CuadroTexto"/>
          <p:cNvSpPr txBox="1"/>
          <p:nvPr/>
        </p:nvSpPr>
        <p:spPr>
          <a:xfrm>
            <a:off x="9524" y="529630"/>
            <a:ext cx="9134475" cy="369332"/>
          </a:xfrm>
          <a:prstGeom prst="rect">
            <a:avLst/>
          </a:prstGeom>
          <a:noFill/>
        </p:spPr>
        <p:txBody>
          <a:bodyPr wrap="square" rtlCol="0">
            <a:spAutoFit/>
          </a:bodyPr>
          <a:lstStyle/>
          <a:p>
            <a:r>
              <a:rPr lang="en-US" b="1" u="sng" dirty="0" smtClean="0">
                <a:solidFill>
                  <a:prstClr val="black"/>
                </a:solidFill>
              </a:rPr>
              <a:t>Conclusions</a:t>
            </a:r>
            <a:r>
              <a:rPr lang="en-US" b="1" dirty="0" smtClean="0">
                <a:solidFill>
                  <a:prstClr val="black"/>
                </a:solidFill>
              </a:rPr>
              <a:t>:</a:t>
            </a:r>
          </a:p>
        </p:txBody>
      </p:sp>
      <p:grpSp>
        <p:nvGrpSpPr>
          <p:cNvPr id="20" name="19 Grupo"/>
          <p:cNvGrpSpPr/>
          <p:nvPr/>
        </p:nvGrpSpPr>
        <p:grpSpPr>
          <a:xfrm>
            <a:off x="0" y="9525"/>
            <a:ext cx="9153525" cy="408388"/>
            <a:chOff x="0" y="9525"/>
            <a:chExt cx="9153525" cy="408388"/>
          </a:xfrm>
        </p:grpSpPr>
        <p:sp>
          <p:nvSpPr>
            <p:cNvPr id="21" name="20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Intermediate concepts |   Temporary Tables vs. Table Variables</a:t>
              </a:r>
              <a:endParaRPr lang="en-US" b="1" dirty="0">
                <a:solidFill>
                  <a:schemeClr val="bg1"/>
                </a:solidFill>
              </a:endParaRPr>
            </a:p>
          </p:txBody>
        </p:sp>
        <p:pic>
          <p:nvPicPr>
            <p:cNvPr id="22" name="21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4" name="23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007301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1024 CuadroTexto"/>
          <p:cNvSpPr txBox="1"/>
          <p:nvPr/>
        </p:nvSpPr>
        <p:spPr>
          <a:xfrm>
            <a:off x="55901" y="620688"/>
            <a:ext cx="8663241" cy="369332"/>
          </a:xfrm>
          <a:prstGeom prst="rect">
            <a:avLst/>
          </a:prstGeom>
          <a:noFill/>
        </p:spPr>
        <p:txBody>
          <a:bodyPr wrap="square" rtlCol="0">
            <a:spAutoFit/>
          </a:bodyPr>
          <a:lstStyle/>
          <a:p>
            <a:r>
              <a:rPr lang="en-US" b="1" dirty="0" smtClean="0">
                <a:solidFill>
                  <a:prstClr val="black"/>
                </a:solidFill>
              </a:rPr>
              <a:t>What’s an Indexed View?</a:t>
            </a:r>
            <a:endParaRPr lang="en-US" b="1" dirty="0">
              <a:solidFill>
                <a:prstClr val="black"/>
              </a:solidFill>
            </a:endParaRPr>
          </a:p>
        </p:txBody>
      </p:sp>
      <p:sp>
        <p:nvSpPr>
          <p:cNvPr id="4" name="3 CuadroTexto"/>
          <p:cNvSpPr txBox="1"/>
          <p:nvPr/>
        </p:nvSpPr>
        <p:spPr>
          <a:xfrm>
            <a:off x="135016" y="1259463"/>
            <a:ext cx="8823706" cy="4185761"/>
          </a:xfrm>
          <a:prstGeom prst="rect">
            <a:avLst/>
          </a:prstGeom>
          <a:noFill/>
        </p:spPr>
        <p:txBody>
          <a:bodyPr wrap="square" rtlCol="0">
            <a:spAutoFit/>
          </a:bodyPr>
          <a:lstStyle/>
          <a:p>
            <a:r>
              <a:rPr lang="en-US" sz="1400" b="1" dirty="0" smtClean="0">
                <a:solidFill>
                  <a:prstClr val="black"/>
                </a:solidFill>
              </a:rPr>
              <a:t>Short Answer:  It’s a “virtual” table.   Nothing but a regular view + 4 major restrictions.</a:t>
            </a:r>
          </a:p>
          <a:p>
            <a:endParaRPr lang="en-US" sz="1400" dirty="0" smtClean="0">
              <a:solidFill>
                <a:prstClr val="black"/>
              </a:solidFill>
            </a:endParaRPr>
          </a:p>
          <a:p>
            <a:r>
              <a:rPr lang="en-US" sz="1400" b="1" dirty="0" smtClean="0">
                <a:solidFill>
                  <a:prstClr val="black"/>
                </a:solidFill>
              </a:rPr>
              <a:t>1)</a:t>
            </a:r>
            <a:r>
              <a:rPr lang="en-US" sz="1400" dirty="0" smtClean="0">
                <a:solidFill>
                  <a:prstClr val="black"/>
                </a:solidFill>
              </a:rPr>
              <a:t>   They have a </a:t>
            </a:r>
            <a:r>
              <a:rPr lang="en-US" sz="1400" b="1" dirty="0">
                <a:solidFill>
                  <a:prstClr val="black"/>
                </a:solidFill>
              </a:rPr>
              <a:t>U</a:t>
            </a:r>
            <a:r>
              <a:rPr lang="en-US" sz="1400" b="1" dirty="0" smtClean="0">
                <a:solidFill>
                  <a:prstClr val="black"/>
                </a:solidFill>
              </a:rPr>
              <a:t>nique Clustered index</a:t>
            </a:r>
            <a:r>
              <a:rPr lang="en-US" sz="1400" dirty="0" smtClean="0">
                <a:solidFill>
                  <a:prstClr val="black"/>
                </a:solidFill>
              </a:rPr>
              <a:t>  (you must create such index manually)</a:t>
            </a:r>
          </a:p>
          <a:p>
            <a:r>
              <a:rPr lang="en-US" sz="1400" dirty="0" smtClean="0">
                <a:solidFill>
                  <a:prstClr val="black"/>
                </a:solidFill>
              </a:rPr>
              <a:t>       </a:t>
            </a:r>
            <a:r>
              <a:rPr lang="en-US" sz="1400" i="1" dirty="0" smtClean="0">
                <a:solidFill>
                  <a:prstClr val="black"/>
                </a:solidFill>
              </a:rPr>
              <a:t>Why?</a:t>
            </a:r>
            <a:r>
              <a:rPr lang="en-US" sz="1400" dirty="0" smtClean="0">
                <a:solidFill>
                  <a:prstClr val="black"/>
                </a:solidFill>
              </a:rPr>
              <a:t>  </a:t>
            </a:r>
            <a:r>
              <a:rPr lang="en-US" sz="1400" dirty="0" smtClean="0">
                <a:solidFill>
                  <a:prstClr val="black"/>
                </a:solidFill>
                <a:sym typeface="Wingdings" pitchFamily="2" charset="2"/>
              </a:rPr>
              <a:t></a:t>
            </a:r>
            <a:r>
              <a:rPr lang="en-US" sz="1400" dirty="0" smtClean="0">
                <a:solidFill>
                  <a:prstClr val="black"/>
                </a:solidFill>
              </a:rPr>
              <a:t> see next slide</a:t>
            </a:r>
          </a:p>
          <a:p>
            <a:endParaRPr lang="en-US" sz="1400" dirty="0" smtClean="0">
              <a:solidFill>
                <a:prstClr val="black"/>
              </a:solidFill>
            </a:endParaRPr>
          </a:p>
          <a:p>
            <a:r>
              <a:rPr lang="en-US" sz="1400" b="1" dirty="0" smtClean="0">
                <a:solidFill>
                  <a:prstClr val="black"/>
                </a:solidFill>
              </a:rPr>
              <a:t>2)</a:t>
            </a:r>
            <a:r>
              <a:rPr lang="en-US" sz="1400" dirty="0" smtClean="0">
                <a:solidFill>
                  <a:prstClr val="black"/>
                </a:solidFill>
              </a:rPr>
              <a:t>   You must declare them with the attribute “</a:t>
            </a:r>
            <a:r>
              <a:rPr lang="en-US" sz="1400" b="1" i="1" dirty="0" smtClean="0">
                <a:solidFill>
                  <a:prstClr val="black"/>
                </a:solidFill>
              </a:rPr>
              <a:t>SCHEMABINDING</a:t>
            </a:r>
            <a:r>
              <a:rPr lang="en-US" sz="1400" dirty="0" smtClean="0">
                <a:solidFill>
                  <a:prstClr val="black"/>
                </a:solidFill>
              </a:rPr>
              <a:t>”</a:t>
            </a:r>
          </a:p>
          <a:p>
            <a:r>
              <a:rPr lang="en-US" sz="1400" dirty="0" smtClean="0">
                <a:solidFill>
                  <a:prstClr val="black"/>
                </a:solidFill>
              </a:rPr>
              <a:t>       </a:t>
            </a:r>
            <a:r>
              <a:rPr lang="en-US" sz="1400" i="1" dirty="0" smtClean="0">
                <a:solidFill>
                  <a:prstClr val="black"/>
                </a:solidFill>
              </a:rPr>
              <a:t>Why?</a:t>
            </a:r>
            <a:r>
              <a:rPr lang="en-US" sz="1400" dirty="0" smtClean="0">
                <a:solidFill>
                  <a:prstClr val="black"/>
                </a:solidFill>
              </a:rPr>
              <a:t> </a:t>
            </a:r>
            <a:r>
              <a:rPr lang="en-US" sz="1400" dirty="0" smtClean="0">
                <a:solidFill>
                  <a:prstClr val="black"/>
                </a:solidFill>
                <a:sym typeface="Wingdings" pitchFamily="2" charset="2"/>
              </a:rPr>
              <a:t> Because they are bound to the underlying </a:t>
            </a:r>
            <a:r>
              <a:rPr lang="en-US" sz="1400" dirty="0">
                <a:solidFill>
                  <a:prstClr val="black"/>
                </a:solidFill>
                <a:sym typeface="Wingdings" pitchFamily="2" charset="2"/>
              </a:rPr>
              <a:t>schema. </a:t>
            </a:r>
            <a:endParaRPr lang="en-US" sz="1400" dirty="0" smtClean="0">
              <a:solidFill>
                <a:prstClr val="black"/>
              </a:solidFill>
              <a:sym typeface="Wingdings" pitchFamily="2" charset="2"/>
            </a:endParaRPr>
          </a:p>
          <a:p>
            <a:r>
              <a:rPr lang="en-US" sz="1400" dirty="0">
                <a:solidFill>
                  <a:prstClr val="black"/>
                </a:solidFill>
                <a:sym typeface="Wingdings" pitchFamily="2" charset="2"/>
              </a:rPr>
              <a:t> </a:t>
            </a:r>
            <a:r>
              <a:rPr lang="en-US" sz="1400" dirty="0" smtClean="0">
                <a:solidFill>
                  <a:prstClr val="black"/>
                </a:solidFill>
                <a:sym typeface="Wingdings" pitchFamily="2" charset="2"/>
              </a:rPr>
              <a:t>                       This </a:t>
            </a:r>
            <a:r>
              <a:rPr lang="en-US" sz="1400" dirty="0">
                <a:solidFill>
                  <a:prstClr val="black"/>
                </a:solidFill>
                <a:sym typeface="Wingdings" pitchFamily="2" charset="2"/>
              </a:rPr>
              <a:t>option prohibits the schema of the base tables from being changed </a:t>
            </a:r>
          </a:p>
          <a:p>
            <a:r>
              <a:rPr lang="en-US" sz="1400" dirty="0" smtClean="0">
                <a:solidFill>
                  <a:prstClr val="black"/>
                </a:solidFill>
                <a:sym typeface="Wingdings" pitchFamily="2" charset="2"/>
              </a:rPr>
              <a:t>                        (</a:t>
            </a:r>
            <a:r>
              <a:rPr lang="en-US" sz="1400" dirty="0">
                <a:solidFill>
                  <a:prstClr val="black"/>
                </a:solidFill>
                <a:sym typeface="Wingdings" pitchFamily="2" charset="2"/>
              </a:rPr>
              <a:t>adding or dropping a column, for instance). </a:t>
            </a:r>
            <a:endParaRPr lang="en-US" sz="1400" dirty="0" smtClean="0">
              <a:solidFill>
                <a:prstClr val="black"/>
              </a:solidFill>
              <a:sym typeface="Wingdings" pitchFamily="2" charset="2"/>
            </a:endParaRPr>
          </a:p>
          <a:p>
            <a:r>
              <a:rPr lang="en-US" sz="1400" dirty="0">
                <a:solidFill>
                  <a:prstClr val="black"/>
                </a:solidFill>
                <a:sym typeface="Wingdings" pitchFamily="2" charset="2"/>
              </a:rPr>
              <a:t> </a:t>
            </a:r>
            <a:r>
              <a:rPr lang="en-US" sz="1400" dirty="0" smtClean="0">
                <a:solidFill>
                  <a:prstClr val="black"/>
                </a:solidFill>
                <a:sym typeface="Wingdings" pitchFamily="2" charset="2"/>
              </a:rPr>
              <a:t>                       To </a:t>
            </a:r>
            <a:r>
              <a:rPr lang="en-US" sz="1400" dirty="0">
                <a:solidFill>
                  <a:prstClr val="black"/>
                </a:solidFill>
                <a:sym typeface="Wingdings" pitchFamily="2" charset="2"/>
              </a:rPr>
              <a:t>change the tables</a:t>
            </a:r>
            <a:r>
              <a:rPr lang="en-US" sz="1400" dirty="0" smtClean="0">
                <a:solidFill>
                  <a:prstClr val="black"/>
                </a:solidFill>
                <a:sym typeface="Wingdings" pitchFamily="2" charset="2"/>
              </a:rPr>
              <a:t>, the </a:t>
            </a:r>
            <a:r>
              <a:rPr lang="en-US" sz="1400" dirty="0">
                <a:solidFill>
                  <a:prstClr val="black"/>
                </a:solidFill>
                <a:sym typeface="Wingdings" pitchFamily="2" charset="2"/>
              </a:rPr>
              <a:t>Indexed view must be dropped.</a:t>
            </a:r>
            <a:endParaRPr lang="en-US" sz="1400" dirty="0" smtClean="0">
              <a:solidFill>
                <a:prstClr val="black"/>
              </a:solidFill>
            </a:endParaRPr>
          </a:p>
          <a:p>
            <a:pPr marL="342900" indent="-342900">
              <a:buFont typeface="+mj-lt"/>
              <a:buAutoNum type="arabicPeriod"/>
            </a:pPr>
            <a:endParaRPr lang="en-US" sz="1400" dirty="0">
              <a:solidFill>
                <a:prstClr val="black"/>
              </a:solidFill>
            </a:endParaRPr>
          </a:p>
          <a:p>
            <a:r>
              <a:rPr lang="en-US" sz="1400" b="1" dirty="0" smtClean="0">
                <a:solidFill>
                  <a:prstClr val="black"/>
                </a:solidFill>
              </a:rPr>
              <a:t>3)</a:t>
            </a:r>
            <a:r>
              <a:rPr lang="en-US" sz="1400" dirty="0" smtClean="0">
                <a:solidFill>
                  <a:prstClr val="black"/>
                </a:solidFill>
              </a:rPr>
              <a:t>   </a:t>
            </a:r>
            <a:r>
              <a:rPr lang="en-US" sz="1400" dirty="0">
                <a:solidFill>
                  <a:prstClr val="black"/>
                </a:solidFill>
              </a:rPr>
              <a:t>Your query is required to use a two-part syntax     (example </a:t>
            </a:r>
            <a:r>
              <a:rPr lang="en-US" sz="1400" dirty="0">
                <a:solidFill>
                  <a:prstClr val="black"/>
                </a:solidFill>
                <a:sym typeface="Wingdings" pitchFamily="2" charset="2"/>
              </a:rPr>
              <a:t> </a:t>
            </a:r>
            <a:r>
              <a:rPr lang="en-US" sz="1400" b="1" dirty="0" err="1">
                <a:solidFill>
                  <a:prstClr val="black"/>
                </a:solidFill>
              </a:rPr>
              <a:t>schema.object</a:t>
            </a:r>
            <a:r>
              <a:rPr lang="en-US" sz="1400" dirty="0">
                <a:solidFill>
                  <a:prstClr val="black"/>
                </a:solidFill>
              </a:rPr>
              <a:t>)</a:t>
            </a:r>
          </a:p>
          <a:p>
            <a:r>
              <a:rPr lang="en-US" sz="1400" dirty="0">
                <a:solidFill>
                  <a:prstClr val="black"/>
                </a:solidFill>
              </a:rPr>
              <a:t>       </a:t>
            </a:r>
            <a:r>
              <a:rPr lang="en-US" sz="1400" i="1" dirty="0">
                <a:solidFill>
                  <a:prstClr val="black"/>
                </a:solidFill>
              </a:rPr>
              <a:t>Why?</a:t>
            </a:r>
            <a:r>
              <a:rPr lang="en-US" sz="1400" dirty="0">
                <a:solidFill>
                  <a:prstClr val="black"/>
                </a:solidFill>
              </a:rPr>
              <a:t> </a:t>
            </a:r>
            <a:r>
              <a:rPr lang="en-US" sz="1400" dirty="0">
                <a:solidFill>
                  <a:prstClr val="black"/>
                </a:solidFill>
                <a:sym typeface="Wingdings" pitchFamily="2" charset="2"/>
              </a:rPr>
              <a:t></a:t>
            </a:r>
            <a:r>
              <a:rPr lang="en-US" sz="1400" dirty="0">
                <a:solidFill>
                  <a:prstClr val="black"/>
                </a:solidFill>
              </a:rPr>
              <a:t> Because of </a:t>
            </a:r>
            <a:r>
              <a:rPr lang="en-US" sz="1400" dirty="0" smtClean="0">
                <a:solidFill>
                  <a:prstClr val="black"/>
                </a:solidFill>
              </a:rPr>
              <a:t>Ownership </a:t>
            </a:r>
            <a:r>
              <a:rPr lang="en-US" sz="1400" dirty="0">
                <a:solidFill>
                  <a:prstClr val="black"/>
                </a:solidFill>
              </a:rPr>
              <a:t>Chains  (more on this later)</a:t>
            </a:r>
          </a:p>
          <a:p>
            <a:pPr marL="342900" indent="-342900">
              <a:buFont typeface="+mj-lt"/>
              <a:buAutoNum type="arabicPeriod"/>
            </a:pPr>
            <a:endParaRPr lang="en-US" sz="1400" dirty="0">
              <a:solidFill>
                <a:prstClr val="black"/>
              </a:solidFill>
            </a:endParaRPr>
          </a:p>
          <a:p>
            <a:r>
              <a:rPr lang="en-US" sz="1400" b="1" dirty="0" smtClean="0">
                <a:solidFill>
                  <a:prstClr val="black"/>
                </a:solidFill>
              </a:rPr>
              <a:t>4)</a:t>
            </a:r>
            <a:r>
              <a:rPr lang="en-US" sz="1400" dirty="0" smtClean="0">
                <a:solidFill>
                  <a:prstClr val="black"/>
                </a:solidFill>
              </a:rPr>
              <a:t>   Your underlying query is confined to a </a:t>
            </a:r>
            <a:r>
              <a:rPr lang="en-US" sz="1400" b="1" dirty="0" smtClean="0">
                <a:solidFill>
                  <a:prstClr val="black"/>
                </a:solidFill>
              </a:rPr>
              <a:t>limited set of statements</a:t>
            </a:r>
            <a:endParaRPr lang="en-US" sz="1400" b="1" dirty="0">
              <a:solidFill>
                <a:prstClr val="black"/>
              </a:solidFill>
            </a:endParaRPr>
          </a:p>
          <a:p>
            <a:r>
              <a:rPr lang="en-US" sz="1400" dirty="0">
                <a:solidFill>
                  <a:prstClr val="black"/>
                </a:solidFill>
              </a:rPr>
              <a:t>       </a:t>
            </a:r>
            <a:r>
              <a:rPr lang="en-US" sz="1400" i="1" dirty="0">
                <a:solidFill>
                  <a:prstClr val="black"/>
                </a:solidFill>
              </a:rPr>
              <a:t>Why?</a:t>
            </a:r>
            <a:r>
              <a:rPr lang="en-US" sz="1400" dirty="0">
                <a:solidFill>
                  <a:prstClr val="black"/>
                </a:solidFill>
              </a:rPr>
              <a:t> </a:t>
            </a:r>
            <a:r>
              <a:rPr lang="en-US" sz="1400" dirty="0">
                <a:solidFill>
                  <a:prstClr val="black"/>
                </a:solidFill>
                <a:sym typeface="Wingdings" pitchFamily="2" charset="2"/>
              </a:rPr>
              <a:t></a:t>
            </a:r>
            <a:r>
              <a:rPr lang="en-US" sz="1400" dirty="0">
                <a:solidFill>
                  <a:prstClr val="black"/>
                </a:solidFill>
              </a:rPr>
              <a:t> </a:t>
            </a:r>
            <a:r>
              <a:rPr lang="en-US" sz="1400" dirty="0" smtClean="0">
                <a:solidFill>
                  <a:prstClr val="black"/>
                </a:solidFill>
              </a:rPr>
              <a:t>Because the </a:t>
            </a:r>
            <a:r>
              <a:rPr lang="en-US" sz="1400" dirty="0">
                <a:solidFill>
                  <a:prstClr val="black"/>
                </a:solidFill>
              </a:rPr>
              <a:t>definition of an indexed view must be </a:t>
            </a:r>
            <a:r>
              <a:rPr lang="en-US" sz="1400" b="1" u="sng" dirty="0" smtClean="0">
                <a:solidFill>
                  <a:prstClr val="black"/>
                </a:solidFill>
              </a:rPr>
              <a:t>deterministic</a:t>
            </a:r>
            <a:r>
              <a:rPr lang="en-US" sz="1400" dirty="0" smtClean="0">
                <a:solidFill>
                  <a:prstClr val="black"/>
                </a:solidFill>
              </a:rPr>
              <a:t>, among other things.</a:t>
            </a:r>
            <a:endParaRPr lang="en-US" sz="1400" dirty="0">
              <a:solidFill>
                <a:prstClr val="black"/>
              </a:solidFill>
            </a:endParaRPr>
          </a:p>
          <a:p>
            <a:r>
              <a:rPr lang="en-US" sz="1400" dirty="0" smtClean="0">
                <a:solidFill>
                  <a:prstClr val="black"/>
                </a:solidFill>
              </a:rPr>
              <a:t>                        </a:t>
            </a:r>
            <a:r>
              <a:rPr lang="en-US" sz="1400" i="1" dirty="0" smtClean="0">
                <a:solidFill>
                  <a:prstClr val="black"/>
                </a:solidFill>
              </a:rPr>
              <a:t>Deterministic </a:t>
            </a:r>
            <a:r>
              <a:rPr lang="en-US" sz="1400" i="1" dirty="0">
                <a:solidFill>
                  <a:prstClr val="black"/>
                </a:solidFill>
              </a:rPr>
              <a:t>expressions</a:t>
            </a:r>
            <a:r>
              <a:rPr lang="en-US" sz="1400" dirty="0">
                <a:solidFill>
                  <a:prstClr val="black"/>
                </a:solidFill>
              </a:rPr>
              <a:t> always return the same result any time they are evaluated with a specific </a:t>
            </a:r>
            <a:endParaRPr lang="en-US" sz="1400" dirty="0" smtClean="0">
              <a:solidFill>
                <a:prstClr val="black"/>
              </a:solidFill>
            </a:endParaRPr>
          </a:p>
          <a:p>
            <a:r>
              <a:rPr lang="en-US" sz="1400" dirty="0">
                <a:solidFill>
                  <a:prstClr val="black"/>
                </a:solidFill>
              </a:rPr>
              <a:t> </a:t>
            </a:r>
            <a:r>
              <a:rPr lang="en-US" sz="1400" dirty="0" smtClean="0">
                <a:solidFill>
                  <a:prstClr val="black"/>
                </a:solidFill>
              </a:rPr>
              <a:t>                       set </a:t>
            </a:r>
            <a:r>
              <a:rPr lang="en-US" sz="1400" dirty="0">
                <a:solidFill>
                  <a:prstClr val="black"/>
                </a:solidFill>
              </a:rPr>
              <a:t>of input values</a:t>
            </a:r>
            <a:r>
              <a:rPr lang="en-US" sz="1400" dirty="0" smtClean="0">
                <a:solidFill>
                  <a:prstClr val="black"/>
                </a:solidFill>
              </a:rPr>
              <a:t>.       example </a:t>
            </a:r>
            <a:r>
              <a:rPr lang="en-US" sz="1400" dirty="0" smtClean="0">
                <a:solidFill>
                  <a:prstClr val="black"/>
                </a:solidFill>
                <a:sym typeface="Wingdings" pitchFamily="2" charset="2"/>
              </a:rPr>
              <a:t>   [D] </a:t>
            </a:r>
            <a:r>
              <a:rPr lang="en-US" sz="1400" dirty="0" err="1" smtClean="0">
                <a:solidFill>
                  <a:prstClr val="black"/>
                </a:solidFill>
                <a:sym typeface="Wingdings" pitchFamily="2" charset="2"/>
              </a:rPr>
              <a:t>DateAdd</a:t>
            </a:r>
            <a:r>
              <a:rPr lang="en-US" sz="1400" dirty="0" smtClean="0">
                <a:solidFill>
                  <a:prstClr val="black"/>
                </a:solidFill>
                <a:sym typeface="Wingdings" pitchFamily="2" charset="2"/>
              </a:rPr>
              <a:t>()   vs.  [ND] </a:t>
            </a:r>
            <a:r>
              <a:rPr lang="en-US" sz="1400" dirty="0" err="1" smtClean="0">
                <a:solidFill>
                  <a:prstClr val="black"/>
                </a:solidFill>
                <a:sym typeface="Wingdings" pitchFamily="2" charset="2"/>
              </a:rPr>
              <a:t>GetDate</a:t>
            </a:r>
            <a:r>
              <a:rPr lang="en-US" sz="1400" dirty="0" smtClean="0">
                <a:solidFill>
                  <a:prstClr val="black"/>
                </a:solidFill>
                <a:sym typeface="Wingdings" pitchFamily="2" charset="2"/>
              </a:rPr>
              <a:t>()</a:t>
            </a:r>
          </a:p>
          <a:p>
            <a:r>
              <a:rPr lang="en-US" sz="1400" dirty="0">
                <a:solidFill>
                  <a:prstClr val="black"/>
                </a:solidFill>
                <a:sym typeface="Wingdings" pitchFamily="2" charset="2"/>
              </a:rPr>
              <a:t> </a:t>
            </a:r>
            <a:r>
              <a:rPr lang="en-US" sz="1400" dirty="0" smtClean="0">
                <a:solidFill>
                  <a:prstClr val="black"/>
                </a:solidFill>
                <a:sym typeface="Wingdings" pitchFamily="2" charset="2"/>
              </a:rPr>
              <a:t>                       </a:t>
            </a:r>
            <a:endParaRPr lang="en-US" sz="1400" dirty="0">
              <a:solidFill>
                <a:prstClr val="black"/>
              </a:solidFill>
            </a:endParaRPr>
          </a:p>
        </p:txBody>
      </p:sp>
      <p:grpSp>
        <p:nvGrpSpPr>
          <p:cNvPr id="32" name="31 Grupo"/>
          <p:cNvGrpSpPr/>
          <p:nvPr/>
        </p:nvGrpSpPr>
        <p:grpSpPr>
          <a:xfrm>
            <a:off x="9525" y="6574392"/>
            <a:ext cx="9134399" cy="277000"/>
            <a:chOff x="9525" y="6574392"/>
            <a:chExt cx="9134399" cy="277000"/>
          </a:xfrm>
        </p:grpSpPr>
        <p:sp>
          <p:nvSpPr>
            <p:cNvPr id="33" name="32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34" name="33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1" name="10 Grupo"/>
          <p:cNvGrpSpPr/>
          <p:nvPr/>
        </p:nvGrpSpPr>
        <p:grpSpPr>
          <a:xfrm>
            <a:off x="0" y="9525"/>
            <a:ext cx="9153525" cy="408388"/>
            <a:chOff x="0" y="9525"/>
            <a:chExt cx="9153525" cy="408388"/>
          </a:xfrm>
        </p:grpSpPr>
        <p:sp>
          <p:nvSpPr>
            <p:cNvPr id="12" name="11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Intermediate concepts |   Indexed Views</a:t>
              </a:r>
              <a:endParaRPr lang="en-US" b="1" dirty="0">
                <a:solidFill>
                  <a:schemeClr val="bg1"/>
                </a:solidFill>
              </a:endParaRPr>
            </a:p>
          </p:txBody>
        </p:sp>
        <p:pic>
          <p:nvPicPr>
            <p:cNvPr id="13" name="12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13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287102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22 CuadroTexto"/>
          <p:cNvSpPr txBox="1"/>
          <p:nvPr/>
        </p:nvSpPr>
        <p:spPr>
          <a:xfrm>
            <a:off x="90508" y="620688"/>
            <a:ext cx="8659928" cy="2893100"/>
          </a:xfrm>
          <a:prstGeom prst="rect">
            <a:avLst/>
          </a:prstGeom>
          <a:noFill/>
        </p:spPr>
        <p:txBody>
          <a:bodyPr wrap="square" rtlCol="0">
            <a:spAutoFit/>
          </a:bodyPr>
          <a:lstStyle/>
          <a:p>
            <a:r>
              <a:rPr lang="en-US" sz="1400" dirty="0" smtClean="0">
                <a:solidFill>
                  <a:prstClr val="black"/>
                </a:solidFill>
              </a:rPr>
              <a:t>SQL Server treats such clustered </a:t>
            </a:r>
            <a:r>
              <a:rPr lang="en-US" sz="1400" dirty="0">
                <a:solidFill>
                  <a:prstClr val="black"/>
                </a:solidFill>
              </a:rPr>
              <a:t>index </a:t>
            </a:r>
            <a:r>
              <a:rPr lang="en-US" sz="1400" dirty="0" smtClean="0">
                <a:solidFill>
                  <a:prstClr val="black"/>
                </a:solidFill>
              </a:rPr>
              <a:t>like </a:t>
            </a:r>
            <a:r>
              <a:rPr lang="en-US" sz="1400" dirty="0">
                <a:solidFill>
                  <a:prstClr val="black"/>
                </a:solidFill>
              </a:rPr>
              <a:t>any other clustered </a:t>
            </a:r>
            <a:r>
              <a:rPr lang="en-US" sz="1400" dirty="0" smtClean="0">
                <a:solidFill>
                  <a:prstClr val="black"/>
                </a:solidFill>
              </a:rPr>
              <a:t>index. </a:t>
            </a:r>
          </a:p>
          <a:p>
            <a:r>
              <a:rPr lang="en-US" sz="1400" dirty="0" smtClean="0">
                <a:solidFill>
                  <a:prstClr val="black"/>
                </a:solidFill>
              </a:rPr>
              <a:t>That’s why an indexed view is a good candidate in terms of Query Plan resolution.</a:t>
            </a:r>
          </a:p>
          <a:p>
            <a:endParaRPr lang="en-US" sz="1400" dirty="0">
              <a:solidFill>
                <a:prstClr val="black"/>
              </a:solidFill>
            </a:endParaRPr>
          </a:p>
          <a:p>
            <a:r>
              <a:rPr lang="en-US" sz="1400" b="1" dirty="0" smtClean="0">
                <a:solidFill>
                  <a:prstClr val="black"/>
                </a:solidFill>
              </a:rPr>
              <a:t>Scenario #1:  </a:t>
            </a:r>
            <a:r>
              <a:rPr lang="en-US" sz="1400" b="1" dirty="0">
                <a:solidFill>
                  <a:prstClr val="black"/>
                </a:solidFill>
              </a:rPr>
              <a:t>Direct reference</a:t>
            </a:r>
          </a:p>
          <a:p>
            <a:pPr marL="285750" indent="-285750">
              <a:buFont typeface="Wingdings" pitchFamily="2" charset="2"/>
              <a:buChar char="Ø"/>
            </a:pPr>
            <a:r>
              <a:rPr lang="en-US" sz="1400" dirty="0">
                <a:solidFill>
                  <a:prstClr val="black"/>
                </a:solidFill>
              </a:rPr>
              <a:t>Your query references the indexed view directly</a:t>
            </a:r>
          </a:p>
          <a:p>
            <a:pPr marL="285750" indent="-285750">
              <a:buFont typeface="Wingdings" pitchFamily="2" charset="2"/>
              <a:buChar char="Ø"/>
            </a:pPr>
            <a:endParaRPr lang="en-US" sz="1400" dirty="0" smtClean="0">
              <a:solidFill>
                <a:prstClr val="black"/>
              </a:solidFill>
            </a:endParaRPr>
          </a:p>
          <a:p>
            <a:pPr marL="285750" indent="-285750">
              <a:buFont typeface="Wingdings" pitchFamily="2" charset="2"/>
              <a:buChar char="Ø"/>
            </a:pPr>
            <a:endParaRPr lang="en-US" sz="1400" dirty="0" smtClean="0">
              <a:solidFill>
                <a:prstClr val="black"/>
              </a:solidFill>
            </a:endParaRPr>
          </a:p>
          <a:p>
            <a:r>
              <a:rPr lang="en-US" sz="1400" b="1" dirty="0" smtClean="0">
                <a:solidFill>
                  <a:prstClr val="black"/>
                </a:solidFill>
              </a:rPr>
              <a:t>Scenario #2:  Engine decision</a:t>
            </a:r>
          </a:p>
          <a:p>
            <a:pPr marL="285750" indent="-285750">
              <a:buFont typeface="Wingdings" pitchFamily="2" charset="2"/>
              <a:buChar char="Ø"/>
            </a:pPr>
            <a:r>
              <a:rPr lang="en-US" sz="1400" dirty="0" smtClean="0">
                <a:solidFill>
                  <a:prstClr val="black"/>
                </a:solidFill>
              </a:rPr>
              <a:t>The </a:t>
            </a:r>
            <a:r>
              <a:rPr lang="en-US" sz="1400" dirty="0">
                <a:solidFill>
                  <a:prstClr val="black"/>
                </a:solidFill>
              </a:rPr>
              <a:t>query optimizer can select the </a:t>
            </a:r>
            <a:r>
              <a:rPr lang="en-US" sz="1400" dirty="0" smtClean="0">
                <a:solidFill>
                  <a:prstClr val="black"/>
                </a:solidFill>
              </a:rPr>
              <a:t>indexed view </a:t>
            </a:r>
            <a:r>
              <a:rPr lang="en-US" sz="1400" dirty="0">
                <a:solidFill>
                  <a:prstClr val="black"/>
                </a:solidFill>
              </a:rPr>
              <a:t>if it determines that the view can be substituted </a:t>
            </a:r>
            <a:endParaRPr lang="en-US" sz="1400" dirty="0" smtClean="0">
              <a:solidFill>
                <a:prstClr val="black"/>
              </a:solidFill>
            </a:endParaRPr>
          </a:p>
          <a:p>
            <a:r>
              <a:rPr lang="en-US" sz="1400" dirty="0">
                <a:solidFill>
                  <a:prstClr val="black"/>
                </a:solidFill>
              </a:rPr>
              <a:t> </a:t>
            </a:r>
            <a:r>
              <a:rPr lang="en-US" sz="1400" dirty="0" smtClean="0">
                <a:solidFill>
                  <a:prstClr val="black"/>
                </a:solidFill>
              </a:rPr>
              <a:t>      for </a:t>
            </a:r>
            <a:r>
              <a:rPr lang="en-US" sz="1400" dirty="0">
                <a:solidFill>
                  <a:prstClr val="black"/>
                </a:solidFill>
              </a:rPr>
              <a:t>some or all of the query in the </a:t>
            </a:r>
            <a:r>
              <a:rPr lang="en-US" sz="1400" b="1" dirty="0">
                <a:solidFill>
                  <a:srgbClr val="0000FF"/>
                </a:solidFill>
              </a:rPr>
              <a:t>lowest-cost query </a:t>
            </a:r>
            <a:r>
              <a:rPr lang="en-US" sz="1400" b="1" dirty="0" smtClean="0">
                <a:solidFill>
                  <a:srgbClr val="0000FF"/>
                </a:solidFill>
              </a:rPr>
              <a:t>plan</a:t>
            </a:r>
            <a:r>
              <a:rPr lang="en-US" sz="1400" dirty="0" smtClean="0">
                <a:solidFill>
                  <a:prstClr val="black"/>
                </a:solidFill>
              </a:rPr>
              <a:t>.</a:t>
            </a:r>
          </a:p>
          <a:p>
            <a:endParaRPr lang="en-US" sz="1400" dirty="0">
              <a:solidFill>
                <a:prstClr val="black"/>
              </a:solidFill>
            </a:endParaRPr>
          </a:p>
          <a:p>
            <a:pPr marL="285750" indent="-285750">
              <a:buFont typeface="Wingdings" pitchFamily="2" charset="2"/>
              <a:buChar char="Ø"/>
            </a:pPr>
            <a:r>
              <a:rPr lang="en-US" sz="1400" dirty="0" smtClean="0">
                <a:solidFill>
                  <a:prstClr val="black"/>
                </a:solidFill>
              </a:rPr>
              <a:t>The </a:t>
            </a:r>
            <a:r>
              <a:rPr lang="en-US" sz="1400" dirty="0">
                <a:solidFill>
                  <a:prstClr val="black"/>
                </a:solidFill>
              </a:rPr>
              <a:t>indexed view is used instead of the underlying tables and their ordinary </a:t>
            </a:r>
            <a:r>
              <a:rPr lang="en-US" sz="1400" dirty="0" smtClean="0">
                <a:solidFill>
                  <a:prstClr val="black"/>
                </a:solidFill>
              </a:rPr>
              <a:t>indexes, with the resulting performance gain.</a:t>
            </a:r>
            <a:endParaRPr lang="en-US" sz="1400" dirty="0">
              <a:solidFill>
                <a:prstClr val="black"/>
              </a:solidFill>
            </a:endParaRPr>
          </a:p>
        </p:txBody>
      </p:sp>
      <p:sp>
        <p:nvSpPr>
          <p:cNvPr id="4" name="3 CuadroTexto"/>
          <p:cNvSpPr txBox="1"/>
          <p:nvPr/>
        </p:nvSpPr>
        <p:spPr>
          <a:xfrm>
            <a:off x="107623" y="4149080"/>
            <a:ext cx="8736128" cy="307777"/>
          </a:xfrm>
          <a:prstGeom prst="rect">
            <a:avLst/>
          </a:prstGeom>
          <a:noFill/>
        </p:spPr>
        <p:txBody>
          <a:bodyPr wrap="square" rtlCol="0">
            <a:spAutoFit/>
          </a:bodyPr>
          <a:lstStyle/>
          <a:p>
            <a:r>
              <a:rPr lang="en-US" sz="1400" b="1" dirty="0" smtClean="0">
                <a:solidFill>
                  <a:prstClr val="black"/>
                </a:solidFill>
              </a:rPr>
              <a:t>Indexed </a:t>
            </a:r>
            <a:r>
              <a:rPr lang="en-US" sz="1400" b="1" dirty="0">
                <a:solidFill>
                  <a:prstClr val="black"/>
                </a:solidFill>
              </a:rPr>
              <a:t>views </a:t>
            </a:r>
            <a:r>
              <a:rPr lang="en-US" sz="1400" b="1" dirty="0" smtClean="0">
                <a:solidFill>
                  <a:prstClr val="black"/>
                </a:solidFill>
              </a:rPr>
              <a:t>provide additional </a:t>
            </a:r>
            <a:r>
              <a:rPr lang="en-US" sz="1400" b="1" dirty="0">
                <a:solidFill>
                  <a:prstClr val="black"/>
                </a:solidFill>
              </a:rPr>
              <a:t>performance benefits that cannot be achieved </a:t>
            </a:r>
            <a:r>
              <a:rPr lang="en-US" sz="1400" b="1" dirty="0" smtClean="0">
                <a:solidFill>
                  <a:prstClr val="black"/>
                </a:solidFill>
              </a:rPr>
              <a:t>using </a:t>
            </a:r>
            <a:r>
              <a:rPr lang="en-US" sz="1400" b="1" dirty="0">
                <a:solidFill>
                  <a:prstClr val="black"/>
                </a:solidFill>
              </a:rPr>
              <a:t>standard </a:t>
            </a:r>
            <a:r>
              <a:rPr lang="en-US" sz="1400" b="1" dirty="0" smtClean="0">
                <a:solidFill>
                  <a:prstClr val="black"/>
                </a:solidFill>
              </a:rPr>
              <a:t>indexes.</a:t>
            </a:r>
            <a:endParaRPr lang="en-US" sz="1400" b="1" dirty="0">
              <a:solidFill>
                <a:prstClr val="black"/>
              </a:solidFill>
            </a:endParaRPr>
          </a:p>
        </p:txBody>
      </p:sp>
      <p:sp>
        <p:nvSpPr>
          <p:cNvPr id="6" name="5 CuadroTexto"/>
          <p:cNvSpPr txBox="1"/>
          <p:nvPr/>
        </p:nvSpPr>
        <p:spPr>
          <a:xfrm>
            <a:off x="215348" y="4509197"/>
            <a:ext cx="8649016" cy="954107"/>
          </a:xfrm>
          <a:prstGeom prst="rect">
            <a:avLst/>
          </a:prstGeom>
          <a:noFill/>
        </p:spPr>
        <p:txBody>
          <a:bodyPr wrap="square" rtlCol="0">
            <a:spAutoFit/>
          </a:bodyPr>
          <a:lstStyle/>
          <a:p>
            <a:pPr marL="285750" indent="-285750">
              <a:buFont typeface="Wingdings" pitchFamily="2" charset="2"/>
              <a:buChar char="ü"/>
            </a:pPr>
            <a:r>
              <a:rPr lang="en-US" sz="1400" dirty="0">
                <a:solidFill>
                  <a:prstClr val="black"/>
                </a:solidFill>
              </a:rPr>
              <a:t>Aggregations can be </a:t>
            </a:r>
            <a:r>
              <a:rPr lang="en-US" sz="1400" dirty="0" err="1">
                <a:solidFill>
                  <a:prstClr val="black"/>
                </a:solidFill>
              </a:rPr>
              <a:t>precomputed</a:t>
            </a:r>
            <a:r>
              <a:rPr lang="en-US" sz="1400" dirty="0">
                <a:solidFill>
                  <a:prstClr val="black"/>
                </a:solidFill>
              </a:rPr>
              <a:t> and stored in the index to minimize expensive computations during query execution</a:t>
            </a:r>
            <a:r>
              <a:rPr lang="en-US" sz="1400" dirty="0" smtClean="0">
                <a:solidFill>
                  <a:prstClr val="black"/>
                </a:solidFill>
              </a:rPr>
              <a:t>.</a:t>
            </a:r>
          </a:p>
          <a:p>
            <a:pPr marL="285750" indent="-285750">
              <a:buFont typeface="Wingdings" pitchFamily="2" charset="2"/>
              <a:buChar char="ü"/>
            </a:pPr>
            <a:r>
              <a:rPr lang="en-US" sz="1400" dirty="0">
                <a:solidFill>
                  <a:prstClr val="black"/>
                </a:solidFill>
              </a:rPr>
              <a:t>Tables can be </a:t>
            </a:r>
            <a:r>
              <a:rPr lang="en-US" sz="1400" dirty="0" err="1">
                <a:solidFill>
                  <a:prstClr val="black"/>
                </a:solidFill>
              </a:rPr>
              <a:t>prejoined</a:t>
            </a:r>
            <a:r>
              <a:rPr lang="en-US" sz="1400" dirty="0">
                <a:solidFill>
                  <a:prstClr val="black"/>
                </a:solidFill>
              </a:rPr>
              <a:t> and the resulting data set stored</a:t>
            </a:r>
            <a:r>
              <a:rPr lang="en-US" sz="1400" dirty="0" smtClean="0">
                <a:solidFill>
                  <a:prstClr val="black"/>
                </a:solidFill>
              </a:rPr>
              <a:t>.</a:t>
            </a:r>
          </a:p>
          <a:p>
            <a:pPr marL="285750" indent="-285750">
              <a:buFont typeface="Wingdings" pitchFamily="2" charset="2"/>
              <a:buChar char="ü"/>
            </a:pPr>
            <a:r>
              <a:rPr lang="en-US" sz="1400" dirty="0">
                <a:solidFill>
                  <a:prstClr val="black"/>
                </a:solidFill>
              </a:rPr>
              <a:t>Combinations of joins or aggregations can be stored.</a:t>
            </a:r>
          </a:p>
        </p:txBody>
      </p:sp>
      <p:grpSp>
        <p:nvGrpSpPr>
          <p:cNvPr id="22" name="21 Grupo"/>
          <p:cNvGrpSpPr/>
          <p:nvPr/>
        </p:nvGrpSpPr>
        <p:grpSpPr>
          <a:xfrm>
            <a:off x="9525" y="6574392"/>
            <a:ext cx="9134399" cy="277000"/>
            <a:chOff x="9525" y="6574392"/>
            <a:chExt cx="9134399" cy="277000"/>
          </a:xfrm>
        </p:grpSpPr>
        <p:sp>
          <p:nvSpPr>
            <p:cNvPr id="25" name="24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8" name="27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2" name="11 Grupo"/>
          <p:cNvGrpSpPr/>
          <p:nvPr/>
        </p:nvGrpSpPr>
        <p:grpSpPr>
          <a:xfrm>
            <a:off x="0" y="9525"/>
            <a:ext cx="9153525" cy="408388"/>
            <a:chOff x="0" y="9525"/>
            <a:chExt cx="9153525" cy="408388"/>
          </a:xfrm>
        </p:grpSpPr>
        <p:sp>
          <p:nvSpPr>
            <p:cNvPr id="13" name="12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Intermediate concepts |   Indexed Views</a:t>
              </a:r>
              <a:endParaRPr lang="en-US" b="1" dirty="0">
                <a:solidFill>
                  <a:schemeClr val="bg1"/>
                </a:solidFill>
              </a:endParaRPr>
            </a:p>
          </p:txBody>
        </p:sp>
        <p:pic>
          <p:nvPicPr>
            <p:cNvPr id="14" name="13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 name="14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429450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112509" y="836712"/>
            <a:ext cx="8659928" cy="3539430"/>
          </a:xfrm>
          <a:prstGeom prst="rect">
            <a:avLst/>
          </a:prstGeom>
          <a:noFill/>
        </p:spPr>
        <p:txBody>
          <a:bodyPr wrap="square" rtlCol="0">
            <a:spAutoFit/>
          </a:bodyPr>
          <a:lstStyle/>
          <a:p>
            <a:r>
              <a:rPr lang="en-US" sz="1400" b="1" dirty="0" smtClean="0">
                <a:solidFill>
                  <a:prstClr val="black"/>
                </a:solidFill>
              </a:rPr>
              <a:t>Eligibility criteria performed by the engine</a:t>
            </a:r>
          </a:p>
          <a:p>
            <a:endParaRPr lang="en-US" sz="1400" dirty="0">
              <a:solidFill>
                <a:prstClr val="black"/>
              </a:solidFill>
            </a:endParaRPr>
          </a:p>
          <a:p>
            <a:pPr marL="285750" indent="-285750">
              <a:buFont typeface="Wingdings" pitchFamily="2" charset="2"/>
              <a:buChar char="Ø"/>
            </a:pPr>
            <a:r>
              <a:rPr lang="en-US" sz="1400" dirty="0">
                <a:solidFill>
                  <a:prstClr val="black"/>
                </a:solidFill>
              </a:rPr>
              <a:t>The tables in the query </a:t>
            </a:r>
            <a:r>
              <a:rPr lang="en-US" sz="1400" b="1" dirty="0">
                <a:solidFill>
                  <a:prstClr val="black"/>
                </a:solidFill>
              </a:rPr>
              <a:t>FROM</a:t>
            </a:r>
            <a:r>
              <a:rPr lang="en-US" sz="1400" dirty="0">
                <a:solidFill>
                  <a:prstClr val="black"/>
                </a:solidFill>
              </a:rPr>
              <a:t> clause </a:t>
            </a:r>
            <a:r>
              <a:rPr lang="en-US" sz="1400" u="sng" dirty="0">
                <a:solidFill>
                  <a:prstClr val="black"/>
                </a:solidFill>
              </a:rPr>
              <a:t>must be a superset</a:t>
            </a:r>
            <a:r>
              <a:rPr lang="en-US" sz="1400" dirty="0">
                <a:solidFill>
                  <a:prstClr val="black"/>
                </a:solidFill>
              </a:rPr>
              <a:t> of the tables in the indexed view FROM clause.</a:t>
            </a:r>
          </a:p>
          <a:p>
            <a:endParaRPr lang="en-US" sz="1400" dirty="0">
              <a:solidFill>
                <a:prstClr val="black"/>
              </a:solidFill>
            </a:endParaRPr>
          </a:p>
          <a:p>
            <a:pPr marL="285750" indent="-285750">
              <a:buFont typeface="Wingdings" pitchFamily="2" charset="2"/>
              <a:buChar char="Ø"/>
            </a:pPr>
            <a:r>
              <a:rPr lang="en-US" sz="1400" dirty="0">
                <a:solidFill>
                  <a:prstClr val="black"/>
                </a:solidFill>
              </a:rPr>
              <a:t>The </a:t>
            </a:r>
            <a:r>
              <a:rPr lang="en-US" sz="1400" b="1" dirty="0">
                <a:solidFill>
                  <a:prstClr val="black"/>
                </a:solidFill>
              </a:rPr>
              <a:t>join conditions</a:t>
            </a:r>
            <a:r>
              <a:rPr lang="en-US" sz="1400" dirty="0">
                <a:solidFill>
                  <a:prstClr val="black"/>
                </a:solidFill>
              </a:rPr>
              <a:t> in the query must be a </a:t>
            </a:r>
            <a:r>
              <a:rPr lang="en-US" sz="1400" u="sng" dirty="0">
                <a:solidFill>
                  <a:prstClr val="black"/>
                </a:solidFill>
              </a:rPr>
              <a:t>superset of the join</a:t>
            </a:r>
            <a:r>
              <a:rPr lang="en-US" sz="1400" dirty="0">
                <a:solidFill>
                  <a:prstClr val="black"/>
                </a:solidFill>
              </a:rPr>
              <a:t> conditions in the view.</a:t>
            </a:r>
          </a:p>
          <a:p>
            <a:endParaRPr lang="en-US" sz="1400" dirty="0">
              <a:solidFill>
                <a:prstClr val="black"/>
              </a:solidFill>
            </a:endParaRPr>
          </a:p>
          <a:p>
            <a:pPr marL="285750" indent="-285750">
              <a:buFont typeface="Wingdings" pitchFamily="2" charset="2"/>
              <a:buChar char="Ø"/>
            </a:pPr>
            <a:r>
              <a:rPr lang="en-US" sz="1400" dirty="0">
                <a:solidFill>
                  <a:prstClr val="black"/>
                </a:solidFill>
              </a:rPr>
              <a:t>The </a:t>
            </a:r>
            <a:r>
              <a:rPr lang="en-US" sz="1400" b="1" dirty="0">
                <a:solidFill>
                  <a:prstClr val="black"/>
                </a:solidFill>
              </a:rPr>
              <a:t>aggregate</a:t>
            </a:r>
            <a:r>
              <a:rPr lang="en-US" sz="1400" dirty="0">
                <a:solidFill>
                  <a:prstClr val="black"/>
                </a:solidFill>
              </a:rPr>
              <a:t> columns in the query </a:t>
            </a:r>
            <a:r>
              <a:rPr lang="en-US" sz="1400" u="sng" dirty="0">
                <a:solidFill>
                  <a:prstClr val="black"/>
                </a:solidFill>
              </a:rPr>
              <a:t>must be derivable</a:t>
            </a:r>
            <a:r>
              <a:rPr lang="en-US" sz="1400" dirty="0">
                <a:solidFill>
                  <a:prstClr val="black"/>
                </a:solidFill>
              </a:rPr>
              <a:t> from a subset of the aggregate columns in the view.</a:t>
            </a:r>
          </a:p>
          <a:p>
            <a:endParaRPr lang="en-US" sz="1400" dirty="0">
              <a:solidFill>
                <a:prstClr val="black"/>
              </a:solidFill>
            </a:endParaRPr>
          </a:p>
          <a:p>
            <a:pPr marL="285750" indent="-285750">
              <a:buFont typeface="Wingdings" pitchFamily="2" charset="2"/>
              <a:buChar char="Ø"/>
            </a:pPr>
            <a:r>
              <a:rPr lang="en-US" sz="1400" b="1" dirty="0">
                <a:solidFill>
                  <a:prstClr val="black"/>
                </a:solidFill>
              </a:rPr>
              <a:t>All expressions</a:t>
            </a:r>
            <a:r>
              <a:rPr lang="en-US" sz="1400" dirty="0">
                <a:solidFill>
                  <a:prstClr val="black"/>
                </a:solidFill>
              </a:rPr>
              <a:t> in the query select list </a:t>
            </a:r>
            <a:r>
              <a:rPr lang="en-US" sz="1400" u="sng" dirty="0">
                <a:solidFill>
                  <a:prstClr val="black"/>
                </a:solidFill>
              </a:rPr>
              <a:t>must be derivable</a:t>
            </a:r>
            <a:r>
              <a:rPr lang="en-US" sz="1400" dirty="0">
                <a:solidFill>
                  <a:prstClr val="black"/>
                </a:solidFill>
              </a:rPr>
              <a:t> from the view select </a:t>
            </a:r>
            <a:r>
              <a:rPr lang="en-US" sz="1400" dirty="0" smtClean="0">
                <a:solidFill>
                  <a:prstClr val="black"/>
                </a:solidFill>
              </a:rPr>
              <a:t>list, </a:t>
            </a:r>
            <a:r>
              <a:rPr lang="en-US" sz="1400" dirty="0">
                <a:solidFill>
                  <a:prstClr val="black"/>
                </a:solidFill>
              </a:rPr>
              <a:t>or from the tables not included in the view definition.</a:t>
            </a:r>
          </a:p>
          <a:p>
            <a:endParaRPr lang="en-US" sz="1400" dirty="0">
              <a:solidFill>
                <a:prstClr val="black"/>
              </a:solidFill>
            </a:endParaRPr>
          </a:p>
          <a:p>
            <a:pPr marL="285750" indent="-285750">
              <a:buFont typeface="Wingdings" pitchFamily="2" charset="2"/>
              <a:buChar char="Ø"/>
            </a:pPr>
            <a:r>
              <a:rPr lang="en-US" sz="1400" b="1" dirty="0">
                <a:solidFill>
                  <a:prstClr val="black"/>
                </a:solidFill>
              </a:rPr>
              <a:t>One predicate subsumes another </a:t>
            </a:r>
            <a:r>
              <a:rPr lang="en-US" sz="1400" b="1" dirty="0" smtClean="0">
                <a:solidFill>
                  <a:srgbClr val="0000FF"/>
                </a:solidFill>
              </a:rPr>
              <a:t>IF </a:t>
            </a:r>
            <a:r>
              <a:rPr lang="en-US" sz="1400" b="1" dirty="0">
                <a:solidFill>
                  <a:srgbClr val="0000FF"/>
                </a:solidFill>
              </a:rPr>
              <a:t>it matches</a:t>
            </a:r>
            <a:r>
              <a:rPr lang="en-US" sz="1400" b="1" dirty="0">
                <a:solidFill>
                  <a:prstClr val="black"/>
                </a:solidFill>
              </a:rPr>
              <a:t> a superset of the rows matched by the other.</a:t>
            </a:r>
            <a:r>
              <a:rPr lang="en-US" sz="1400" dirty="0">
                <a:solidFill>
                  <a:prstClr val="black"/>
                </a:solidFill>
              </a:rPr>
              <a:t> </a:t>
            </a:r>
            <a:endParaRPr lang="en-US" sz="1400" dirty="0" smtClean="0">
              <a:solidFill>
                <a:prstClr val="black"/>
              </a:solidFill>
            </a:endParaRPr>
          </a:p>
          <a:p>
            <a:pPr marL="285750" indent="-285750">
              <a:buFont typeface="Wingdings" pitchFamily="2" charset="2"/>
              <a:buChar char="Ø"/>
            </a:pPr>
            <a:endParaRPr lang="en-US" sz="1400" dirty="0">
              <a:solidFill>
                <a:prstClr val="black"/>
              </a:solidFill>
            </a:endParaRPr>
          </a:p>
          <a:p>
            <a:pPr marL="285750" indent="-285750">
              <a:buFont typeface="Wingdings" pitchFamily="2" charset="2"/>
              <a:buChar char="Ø"/>
            </a:pPr>
            <a:r>
              <a:rPr lang="en-US" sz="1400" dirty="0" smtClean="0">
                <a:solidFill>
                  <a:prstClr val="black"/>
                </a:solidFill>
              </a:rPr>
              <a:t>For </a:t>
            </a:r>
            <a:r>
              <a:rPr lang="en-US" sz="1400" dirty="0">
                <a:solidFill>
                  <a:prstClr val="black"/>
                </a:solidFill>
              </a:rPr>
              <a:t>example, "</a:t>
            </a:r>
            <a:r>
              <a:rPr lang="en-US" sz="1400" dirty="0" err="1">
                <a:solidFill>
                  <a:prstClr val="black"/>
                </a:solidFill>
              </a:rPr>
              <a:t>T.a</a:t>
            </a:r>
            <a:r>
              <a:rPr lang="en-US" sz="1400" dirty="0">
                <a:solidFill>
                  <a:prstClr val="black"/>
                </a:solidFill>
              </a:rPr>
              <a:t>=10" subsumes "</a:t>
            </a:r>
            <a:r>
              <a:rPr lang="en-US" sz="1400" dirty="0" err="1">
                <a:solidFill>
                  <a:prstClr val="black"/>
                </a:solidFill>
              </a:rPr>
              <a:t>T.a</a:t>
            </a:r>
            <a:r>
              <a:rPr lang="en-US" sz="1400" dirty="0">
                <a:solidFill>
                  <a:prstClr val="black"/>
                </a:solidFill>
              </a:rPr>
              <a:t>=10 and </a:t>
            </a:r>
            <a:r>
              <a:rPr lang="en-US" sz="1400" dirty="0" err="1">
                <a:solidFill>
                  <a:prstClr val="black"/>
                </a:solidFill>
              </a:rPr>
              <a:t>T.b</a:t>
            </a:r>
            <a:r>
              <a:rPr lang="en-US" sz="1400" dirty="0">
                <a:solidFill>
                  <a:prstClr val="black"/>
                </a:solidFill>
              </a:rPr>
              <a:t>=20." Any predicate subsumes itself. The part of the predicate of the view that restricts values of one table must subsume the part of the predicate of the query that restricts the same table. Furthermore, it must do so in a way that SQL Server can verify.</a:t>
            </a:r>
            <a:endParaRPr lang="en-US" sz="1400" dirty="0" smtClean="0">
              <a:solidFill>
                <a:prstClr val="black"/>
              </a:solidFill>
            </a:endParaRPr>
          </a:p>
        </p:txBody>
      </p:sp>
      <p:grpSp>
        <p:nvGrpSpPr>
          <p:cNvPr id="20" name="19 Grupo"/>
          <p:cNvGrpSpPr/>
          <p:nvPr/>
        </p:nvGrpSpPr>
        <p:grpSpPr>
          <a:xfrm>
            <a:off x="9525" y="6574392"/>
            <a:ext cx="9134399" cy="277000"/>
            <a:chOff x="9525" y="6574392"/>
            <a:chExt cx="9134399" cy="277000"/>
          </a:xfrm>
        </p:grpSpPr>
        <p:sp>
          <p:nvSpPr>
            <p:cNvPr id="22" name="2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30" name="29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0" name="9 Grupo"/>
          <p:cNvGrpSpPr/>
          <p:nvPr/>
        </p:nvGrpSpPr>
        <p:grpSpPr>
          <a:xfrm>
            <a:off x="0" y="9525"/>
            <a:ext cx="9153525" cy="408388"/>
            <a:chOff x="0" y="9525"/>
            <a:chExt cx="9153525" cy="408388"/>
          </a:xfrm>
        </p:grpSpPr>
        <p:sp>
          <p:nvSpPr>
            <p:cNvPr id="11" name="10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Intermediate concepts |   Indexed Views</a:t>
              </a:r>
              <a:endParaRPr lang="en-US" b="1" dirty="0">
                <a:solidFill>
                  <a:schemeClr val="bg1"/>
                </a:solidFill>
              </a:endParaRPr>
            </a:p>
          </p:txBody>
        </p:sp>
        <p:pic>
          <p:nvPicPr>
            <p:cNvPr id="12" name="11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12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13 CuadroTexto"/>
          <p:cNvSpPr txBox="1"/>
          <p:nvPr/>
        </p:nvSpPr>
        <p:spPr>
          <a:xfrm>
            <a:off x="7543800" y="6019800"/>
            <a:ext cx="1600200" cy="369332"/>
          </a:xfrm>
          <a:prstGeom prst="rect">
            <a:avLst/>
          </a:prstGeom>
          <a:solidFill>
            <a:schemeClr val="accent3">
              <a:lumMod val="75000"/>
            </a:schemeClr>
          </a:solidFill>
        </p:spPr>
        <p:txBody>
          <a:bodyPr wrap="square" rtlCol="0">
            <a:spAutoFit/>
          </a:bodyPr>
          <a:lstStyle/>
          <a:p>
            <a:pPr algn="r"/>
            <a:r>
              <a:rPr lang="en-US" dirty="0" smtClean="0">
                <a:solidFill>
                  <a:prstClr val="white"/>
                </a:solidFill>
              </a:rPr>
              <a:t>Hands On </a:t>
            </a:r>
            <a:r>
              <a:rPr lang="en-US" dirty="0" smtClean="0">
                <a:solidFill>
                  <a:prstClr val="white"/>
                </a:solidFill>
                <a:sym typeface="Wingdings" pitchFamily="2" charset="2"/>
              </a:rPr>
              <a:t></a:t>
            </a:r>
            <a:endParaRPr lang="en-US" dirty="0">
              <a:solidFill>
                <a:prstClr val="white"/>
              </a:solidFill>
            </a:endParaRPr>
          </a:p>
        </p:txBody>
      </p:sp>
    </p:spTree>
    <p:extLst>
      <p:ext uri="{BB962C8B-B14F-4D97-AF65-F5344CB8AC3E}">
        <p14:creationId xmlns:p14="http://schemas.microsoft.com/office/powerpoint/2010/main" val="20333232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163" y="1180894"/>
            <a:ext cx="4543425" cy="240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23 CuadroTexto"/>
          <p:cNvSpPr txBox="1"/>
          <p:nvPr/>
        </p:nvSpPr>
        <p:spPr>
          <a:xfrm>
            <a:off x="3877381" y="2210654"/>
            <a:ext cx="4507022" cy="523220"/>
          </a:xfrm>
          <a:prstGeom prst="rect">
            <a:avLst/>
          </a:prstGeom>
          <a:solidFill>
            <a:schemeClr val="bg1">
              <a:lumMod val="75000"/>
            </a:schemeClr>
          </a:solidFill>
        </p:spPr>
        <p:txBody>
          <a:bodyPr wrap="square" rtlCol="0">
            <a:spAutoFit/>
          </a:bodyPr>
          <a:lstStyle/>
          <a:p>
            <a:r>
              <a:rPr lang="en-US" sz="1400" dirty="0" smtClean="0">
                <a:solidFill>
                  <a:prstClr val="black"/>
                </a:solidFill>
              </a:rPr>
              <a:t>The indexed view results in a </a:t>
            </a:r>
            <a:r>
              <a:rPr lang="en-US" sz="1400" b="1" dirty="0" smtClean="0">
                <a:solidFill>
                  <a:prstClr val="black"/>
                </a:solidFill>
              </a:rPr>
              <a:t>significant performance gain</a:t>
            </a:r>
            <a:r>
              <a:rPr lang="en-US" sz="1400" dirty="0" smtClean="0">
                <a:solidFill>
                  <a:prstClr val="black"/>
                </a:solidFill>
              </a:rPr>
              <a:t>, </a:t>
            </a:r>
          </a:p>
          <a:p>
            <a:r>
              <a:rPr lang="en-US" sz="1400" dirty="0" smtClean="0">
                <a:solidFill>
                  <a:prstClr val="black"/>
                </a:solidFill>
              </a:rPr>
              <a:t>as per evidence below:</a:t>
            </a:r>
          </a:p>
        </p:txBody>
      </p:sp>
      <p:sp>
        <p:nvSpPr>
          <p:cNvPr id="27" name="26 CuadroTexto"/>
          <p:cNvSpPr txBox="1"/>
          <p:nvPr/>
        </p:nvSpPr>
        <p:spPr>
          <a:xfrm>
            <a:off x="83303" y="764704"/>
            <a:ext cx="8659928" cy="307777"/>
          </a:xfrm>
          <a:prstGeom prst="rect">
            <a:avLst/>
          </a:prstGeom>
          <a:noFill/>
        </p:spPr>
        <p:txBody>
          <a:bodyPr wrap="square" rtlCol="0">
            <a:spAutoFit/>
          </a:bodyPr>
          <a:lstStyle/>
          <a:p>
            <a:r>
              <a:rPr lang="en-US" sz="1400" b="1" dirty="0" smtClean="0">
                <a:solidFill>
                  <a:prstClr val="black"/>
                </a:solidFill>
              </a:rPr>
              <a:t>As per class exercise with a </a:t>
            </a:r>
            <a:r>
              <a:rPr lang="en-US" sz="1400" b="1" i="1" dirty="0" smtClean="0">
                <a:solidFill>
                  <a:prstClr val="black"/>
                </a:solidFill>
              </a:rPr>
              <a:t>Very Large Database</a:t>
            </a:r>
            <a:r>
              <a:rPr lang="en-US" sz="1400" b="1" dirty="0" smtClean="0">
                <a:solidFill>
                  <a:prstClr val="black"/>
                </a:solidFill>
              </a:rPr>
              <a:t>, we demonstrated that:  </a:t>
            </a:r>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195" y="3726822"/>
            <a:ext cx="8881413" cy="2140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Flecha abajo"/>
          <p:cNvSpPr/>
          <p:nvPr/>
        </p:nvSpPr>
        <p:spPr>
          <a:xfrm>
            <a:off x="6014948" y="2964822"/>
            <a:ext cx="268344" cy="533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26" name="25 Grupo"/>
          <p:cNvGrpSpPr/>
          <p:nvPr/>
        </p:nvGrpSpPr>
        <p:grpSpPr>
          <a:xfrm>
            <a:off x="0" y="9525"/>
            <a:ext cx="9153525" cy="408388"/>
            <a:chOff x="0" y="9525"/>
            <a:chExt cx="9153525" cy="408388"/>
          </a:xfrm>
        </p:grpSpPr>
        <p:sp>
          <p:nvSpPr>
            <p:cNvPr id="41" name="40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Views vs. Indexed Views</a:t>
              </a:r>
              <a:endParaRPr lang="en-US" b="1" dirty="0">
                <a:solidFill>
                  <a:schemeClr val="bg1"/>
                </a:solidFill>
              </a:endParaRPr>
            </a:p>
          </p:txBody>
        </p:sp>
        <p:pic>
          <p:nvPicPr>
            <p:cNvPr id="42" name="41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3" name="42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4" name="43 Grupo"/>
          <p:cNvGrpSpPr/>
          <p:nvPr/>
        </p:nvGrpSpPr>
        <p:grpSpPr>
          <a:xfrm>
            <a:off x="9525" y="6574392"/>
            <a:ext cx="9134399" cy="277000"/>
            <a:chOff x="9525" y="6574392"/>
            <a:chExt cx="9134399" cy="277000"/>
          </a:xfrm>
        </p:grpSpPr>
        <p:sp>
          <p:nvSpPr>
            <p:cNvPr id="45" name="44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46" name="45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249650029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25 CuadroTexto"/>
          <p:cNvSpPr txBox="1"/>
          <p:nvPr/>
        </p:nvSpPr>
        <p:spPr>
          <a:xfrm>
            <a:off x="41200" y="620688"/>
            <a:ext cx="8995295" cy="1600438"/>
          </a:xfrm>
          <a:prstGeom prst="rect">
            <a:avLst/>
          </a:prstGeom>
          <a:noFill/>
        </p:spPr>
        <p:txBody>
          <a:bodyPr wrap="square" rtlCol="0">
            <a:spAutoFit/>
          </a:bodyPr>
          <a:lstStyle/>
          <a:p>
            <a:r>
              <a:rPr lang="en-US" sz="1400" b="1" dirty="0" smtClean="0">
                <a:solidFill>
                  <a:prstClr val="black"/>
                </a:solidFill>
              </a:rPr>
              <a:t>Benefits and liabilities</a:t>
            </a:r>
          </a:p>
          <a:p>
            <a:pPr marL="742950" lvl="1" indent="-285750">
              <a:buFont typeface="Wingdings" pitchFamily="2" charset="2"/>
              <a:buChar char="Ø"/>
            </a:pPr>
            <a:r>
              <a:rPr lang="en-US" sz="1400" dirty="0" smtClean="0">
                <a:solidFill>
                  <a:prstClr val="black"/>
                </a:solidFill>
              </a:rPr>
              <a:t>Large scale OLTP </a:t>
            </a:r>
            <a:r>
              <a:rPr lang="en-US" sz="1400" dirty="0">
                <a:solidFill>
                  <a:prstClr val="black"/>
                </a:solidFill>
              </a:rPr>
              <a:t>environments are </a:t>
            </a:r>
            <a:r>
              <a:rPr lang="en-US" sz="1400" u="sng" dirty="0" smtClean="0">
                <a:solidFill>
                  <a:prstClr val="black"/>
                </a:solidFill>
              </a:rPr>
              <a:t>less suitable</a:t>
            </a:r>
            <a:r>
              <a:rPr lang="en-US" sz="1400" dirty="0" smtClean="0">
                <a:solidFill>
                  <a:prstClr val="black"/>
                </a:solidFill>
              </a:rPr>
              <a:t> </a:t>
            </a:r>
            <a:r>
              <a:rPr lang="en-US" sz="1400" dirty="0">
                <a:solidFill>
                  <a:prstClr val="black"/>
                </a:solidFill>
              </a:rPr>
              <a:t>for indexed </a:t>
            </a:r>
            <a:r>
              <a:rPr lang="en-US" sz="1400" dirty="0" smtClean="0">
                <a:solidFill>
                  <a:prstClr val="black"/>
                </a:solidFill>
              </a:rPr>
              <a:t>views. </a:t>
            </a:r>
          </a:p>
          <a:p>
            <a:pPr marL="1200150" lvl="2" indent="-285750">
              <a:buFont typeface="Wingdings" pitchFamily="2" charset="2"/>
              <a:buChar char="Ø"/>
            </a:pPr>
            <a:r>
              <a:rPr lang="en-US" sz="1400" dirty="0" smtClean="0">
                <a:solidFill>
                  <a:prstClr val="black"/>
                </a:solidFill>
              </a:rPr>
              <a:t>Works fine, </a:t>
            </a:r>
            <a:r>
              <a:rPr lang="en-US" sz="1400" b="1" dirty="0" smtClean="0">
                <a:solidFill>
                  <a:prstClr val="black"/>
                </a:solidFill>
              </a:rPr>
              <a:t>if you know what you’re doing</a:t>
            </a:r>
            <a:r>
              <a:rPr lang="en-US" sz="1400" dirty="0" smtClean="0">
                <a:solidFill>
                  <a:prstClr val="black"/>
                </a:solidFill>
              </a:rPr>
              <a:t>.  No room for mistakes.</a:t>
            </a:r>
          </a:p>
          <a:p>
            <a:pPr marL="742950" lvl="1" indent="-285750">
              <a:buFont typeface="Wingdings" pitchFamily="2" charset="2"/>
              <a:buChar char="Ø"/>
            </a:pPr>
            <a:endParaRPr lang="en-US" sz="1400" dirty="0" smtClean="0">
              <a:solidFill>
                <a:prstClr val="black"/>
              </a:solidFill>
            </a:endParaRPr>
          </a:p>
          <a:p>
            <a:pPr marL="742950" lvl="1" indent="-285750">
              <a:buFont typeface="Wingdings" pitchFamily="2" charset="2"/>
              <a:buChar char="Ø"/>
            </a:pPr>
            <a:r>
              <a:rPr lang="en-US" sz="1400" dirty="0" smtClean="0">
                <a:solidFill>
                  <a:prstClr val="black"/>
                </a:solidFill>
              </a:rPr>
              <a:t>Mid-scale and low-scale </a:t>
            </a:r>
            <a:r>
              <a:rPr lang="en-US" sz="1400" dirty="0">
                <a:solidFill>
                  <a:prstClr val="black"/>
                </a:solidFill>
              </a:rPr>
              <a:t>OLTP environments </a:t>
            </a:r>
            <a:r>
              <a:rPr lang="en-US" sz="1400" u="sng" dirty="0" smtClean="0">
                <a:solidFill>
                  <a:prstClr val="black"/>
                </a:solidFill>
              </a:rPr>
              <a:t>are fine, as long as you do it carefully</a:t>
            </a:r>
            <a:r>
              <a:rPr lang="en-US" sz="1400" dirty="0" smtClean="0">
                <a:solidFill>
                  <a:prstClr val="black"/>
                </a:solidFill>
              </a:rPr>
              <a:t>.</a:t>
            </a:r>
          </a:p>
          <a:p>
            <a:pPr marL="742950" lvl="1" indent="-285750">
              <a:buFont typeface="Wingdings" pitchFamily="2" charset="2"/>
              <a:buChar char="Ø"/>
            </a:pPr>
            <a:endParaRPr lang="en-US" sz="1400" dirty="0" smtClean="0">
              <a:solidFill>
                <a:prstClr val="black"/>
              </a:solidFill>
            </a:endParaRPr>
          </a:p>
          <a:p>
            <a:pPr marL="742950" lvl="1" indent="-285750">
              <a:buFont typeface="Wingdings" pitchFamily="2" charset="2"/>
              <a:buChar char="Ø"/>
            </a:pPr>
            <a:r>
              <a:rPr lang="en-US" sz="1400" dirty="0" smtClean="0">
                <a:solidFill>
                  <a:prstClr val="black"/>
                </a:solidFill>
              </a:rPr>
              <a:t>OLAP and isolated OLTP environments </a:t>
            </a:r>
            <a:r>
              <a:rPr lang="en-US" sz="1400" u="sng" dirty="0" smtClean="0">
                <a:solidFill>
                  <a:prstClr val="black"/>
                </a:solidFill>
              </a:rPr>
              <a:t>are perfect</a:t>
            </a:r>
            <a:r>
              <a:rPr lang="en-US" sz="1400" dirty="0" smtClean="0">
                <a:solidFill>
                  <a:prstClr val="black"/>
                </a:solidFill>
              </a:rPr>
              <a:t> scenarios for an indexed view.</a:t>
            </a:r>
          </a:p>
        </p:txBody>
      </p:sp>
      <p:grpSp>
        <p:nvGrpSpPr>
          <p:cNvPr id="20" name="19 Grupo"/>
          <p:cNvGrpSpPr/>
          <p:nvPr/>
        </p:nvGrpSpPr>
        <p:grpSpPr>
          <a:xfrm>
            <a:off x="0" y="9525"/>
            <a:ext cx="9153525" cy="408388"/>
            <a:chOff x="0" y="9525"/>
            <a:chExt cx="9153525" cy="408388"/>
          </a:xfrm>
        </p:grpSpPr>
        <p:sp>
          <p:nvSpPr>
            <p:cNvPr id="22" name="21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Views vs. Indexed Views</a:t>
              </a:r>
              <a:endParaRPr lang="en-US" b="1" dirty="0">
                <a:solidFill>
                  <a:schemeClr val="bg1"/>
                </a:solidFill>
              </a:endParaRPr>
            </a:p>
          </p:txBody>
        </p:sp>
        <p:pic>
          <p:nvPicPr>
            <p:cNvPr id="23" name="22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4" name="23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 name="26 Grupo"/>
          <p:cNvGrpSpPr/>
          <p:nvPr/>
        </p:nvGrpSpPr>
        <p:grpSpPr>
          <a:xfrm>
            <a:off x="9525" y="6574392"/>
            <a:ext cx="9134399" cy="277000"/>
            <a:chOff x="9525" y="6574392"/>
            <a:chExt cx="9134399" cy="277000"/>
          </a:xfrm>
        </p:grpSpPr>
        <p:sp>
          <p:nvSpPr>
            <p:cNvPr id="41" name="40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42" name="41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806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22 CuadroTexto"/>
          <p:cNvSpPr txBox="1"/>
          <p:nvPr/>
        </p:nvSpPr>
        <p:spPr>
          <a:xfrm>
            <a:off x="-9500" y="2293421"/>
            <a:ext cx="9144000" cy="830997"/>
          </a:xfrm>
          <a:prstGeom prst="rect">
            <a:avLst/>
          </a:prstGeom>
          <a:noFill/>
        </p:spPr>
        <p:txBody>
          <a:bodyPr wrap="square" rtlCol="0">
            <a:spAutoFit/>
          </a:bodyPr>
          <a:lstStyle/>
          <a:p>
            <a:pPr algn="ctr"/>
            <a:r>
              <a:rPr lang="en-US" sz="4800" b="1" dirty="0" smtClean="0">
                <a:solidFill>
                  <a:prstClr val="black"/>
                </a:solidFill>
              </a:rPr>
              <a:t>Hands </a:t>
            </a:r>
            <a:r>
              <a:rPr lang="en-US" sz="4800" b="1" dirty="0" smtClean="0">
                <a:solidFill>
                  <a:srgbClr val="FF0000"/>
                </a:solidFill>
              </a:rPr>
              <a:t>ON</a:t>
            </a:r>
            <a:r>
              <a:rPr lang="en-US" sz="4800" b="1" dirty="0" smtClean="0">
                <a:solidFill>
                  <a:prstClr val="black"/>
                </a:solidFill>
              </a:rPr>
              <a:t>, from now </a:t>
            </a:r>
            <a:r>
              <a:rPr lang="en-US" sz="4800" b="1" dirty="0" smtClean="0">
                <a:solidFill>
                  <a:srgbClr val="FF0000"/>
                </a:solidFill>
              </a:rPr>
              <a:t>ON</a:t>
            </a:r>
            <a:endParaRPr lang="en-US" sz="4800" b="1" dirty="0">
              <a:solidFill>
                <a:prstClr val="black"/>
              </a:solidFill>
            </a:endParaRPr>
          </a:p>
        </p:txBody>
      </p:sp>
      <p:grpSp>
        <p:nvGrpSpPr>
          <p:cNvPr id="20" name="19 Grupo"/>
          <p:cNvGrpSpPr/>
          <p:nvPr/>
        </p:nvGrpSpPr>
        <p:grpSpPr>
          <a:xfrm>
            <a:off x="0" y="9525"/>
            <a:ext cx="9153525" cy="408388"/>
            <a:chOff x="0" y="9525"/>
            <a:chExt cx="9153525" cy="408388"/>
          </a:xfrm>
        </p:grpSpPr>
        <p:sp>
          <p:nvSpPr>
            <p:cNvPr id="22" name="21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Turning up the heat</a:t>
              </a:r>
              <a:endParaRPr lang="en-US" b="1" dirty="0">
                <a:solidFill>
                  <a:schemeClr val="bg1"/>
                </a:solidFill>
              </a:endParaRPr>
            </a:p>
          </p:txBody>
        </p:sp>
        <p:pic>
          <p:nvPicPr>
            <p:cNvPr id="31" name="30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9" name="38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 name="39 Grupo"/>
          <p:cNvGrpSpPr/>
          <p:nvPr/>
        </p:nvGrpSpPr>
        <p:grpSpPr>
          <a:xfrm>
            <a:off x="9525" y="6574392"/>
            <a:ext cx="9134399" cy="277000"/>
            <a:chOff x="9525" y="6574392"/>
            <a:chExt cx="9134399" cy="277000"/>
          </a:xfrm>
        </p:grpSpPr>
        <p:sp>
          <p:nvSpPr>
            <p:cNvPr id="41" name="40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42" name="41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pic>
        <p:nvPicPr>
          <p:cNvPr id="3074" name="Picture 2">
            <a:hlinkClick r:id="rId3"/>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44208" y="4797152"/>
            <a:ext cx="2520280" cy="1440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41262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112508" y="665262"/>
            <a:ext cx="8923987" cy="1015663"/>
          </a:xfrm>
          <a:prstGeom prst="rect">
            <a:avLst/>
          </a:prstGeom>
          <a:noFill/>
        </p:spPr>
        <p:txBody>
          <a:bodyPr wrap="square" rtlCol="0">
            <a:spAutoFit/>
          </a:bodyPr>
          <a:lstStyle/>
          <a:p>
            <a:r>
              <a:rPr lang="en-US" b="1" dirty="0" smtClean="0">
                <a:solidFill>
                  <a:prstClr val="black"/>
                </a:solidFill>
              </a:rPr>
              <a:t>We want Millions of records</a:t>
            </a:r>
          </a:p>
          <a:p>
            <a:pPr marL="285750" indent="-285750">
              <a:buFont typeface="Wingdings" pitchFamily="2" charset="2"/>
              <a:buChar char="Ø"/>
            </a:pPr>
            <a:r>
              <a:rPr lang="en-US" sz="1400" dirty="0">
                <a:solidFill>
                  <a:prstClr val="black"/>
                </a:solidFill>
              </a:rPr>
              <a:t>I come from the trenches, remember?  </a:t>
            </a:r>
            <a:r>
              <a:rPr lang="en-US" sz="1400" dirty="0">
                <a:solidFill>
                  <a:prstClr val="black"/>
                </a:solidFill>
                <a:sym typeface="Wingdings" pitchFamily="2" charset="2"/>
              </a:rPr>
              <a:t>  </a:t>
            </a:r>
            <a:r>
              <a:rPr lang="en-US" sz="1400" dirty="0" err="1">
                <a:solidFill>
                  <a:prstClr val="black"/>
                </a:solidFill>
                <a:sym typeface="Wingdings" pitchFamily="2" charset="2"/>
              </a:rPr>
              <a:t>lol</a:t>
            </a:r>
            <a:endParaRPr lang="en-US" sz="1400" dirty="0">
              <a:solidFill>
                <a:prstClr val="black"/>
              </a:solidFill>
            </a:endParaRPr>
          </a:p>
          <a:p>
            <a:pPr marL="285750" indent="-285750">
              <a:buFont typeface="Wingdings" pitchFamily="2" charset="2"/>
              <a:buChar char="Ø"/>
            </a:pPr>
            <a:r>
              <a:rPr lang="en-US" sz="1400" dirty="0" smtClean="0">
                <a:solidFill>
                  <a:prstClr val="black"/>
                </a:solidFill>
              </a:rPr>
              <a:t>In real life, Mission Critical Applications use a </a:t>
            </a:r>
            <a:r>
              <a:rPr lang="en-US" sz="1400" b="1" dirty="0" smtClean="0">
                <a:solidFill>
                  <a:prstClr val="black"/>
                </a:solidFill>
              </a:rPr>
              <a:t>VLDB</a:t>
            </a:r>
            <a:r>
              <a:rPr lang="en-US" sz="1400" dirty="0" smtClean="0">
                <a:solidFill>
                  <a:prstClr val="black"/>
                </a:solidFill>
              </a:rPr>
              <a:t> (</a:t>
            </a:r>
            <a:r>
              <a:rPr lang="en-US" sz="1400" i="1" dirty="0" smtClean="0">
                <a:solidFill>
                  <a:prstClr val="black"/>
                </a:solidFill>
              </a:rPr>
              <a:t>Very Large Database</a:t>
            </a:r>
            <a:r>
              <a:rPr lang="en-US" sz="1400" dirty="0" smtClean="0">
                <a:solidFill>
                  <a:prstClr val="black"/>
                </a:solidFill>
              </a:rPr>
              <a:t>) </a:t>
            </a:r>
          </a:p>
          <a:p>
            <a:pPr marL="285750" indent="-285750">
              <a:buFont typeface="Wingdings" pitchFamily="2" charset="2"/>
              <a:buChar char="Ø"/>
            </a:pPr>
            <a:r>
              <a:rPr lang="en-US" sz="1400" dirty="0" smtClean="0">
                <a:solidFill>
                  <a:prstClr val="black"/>
                </a:solidFill>
              </a:rPr>
              <a:t>Our database will be populated with </a:t>
            </a:r>
            <a:r>
              <a:rPr lang="en-US" sz="1400" b="1" dirty="0" smtClean="0">
                <a:solidFill>
                  <a:prstClr val="black"/>
                </a:solidFill>
              </a:rPr>
              <a:t>millions of records</a:t>
            </a:r>
            <a:r>
              <a:rPr lang="en-US" sz="1400" dirty="0" smtClean="0">
                <a:solidFill>
                  <a:prstClr val="black"/>
                </a:solidFill>
              </a:rPr>
              <a:t> in order to replicate a large-scale scenario</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302" y="3197430"/>
            <a:ext cx="6927909" cy="3039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23 CuadroTexto"/>
          <p:cNvSpPr txBox="1"/>
          <p:nvPr/>
        </p:nvSpPr>
        <p:spPr>
          <a:xfrm>
            <a:off x="167047" y="2860455"/>
            <a:ext cx="8659928" cy="307777"/>
          </a:xfrm>
          <a:prstGeom prst="rect">
            <a:avLst/>
          </a:prstGeom>
          <a:noFill/>
        </p:spPr>
        <p:txBody>
          <a:bodyPr wrap="square" rtlCol="0">
            <a:spAutoFit/>
          </a:bodyPr>
          <a:lstStyle/>
          <a:p>
            <a:r>
              <a:rPr lang="en-US" sz="1400" b="1" dirty="0" smtClean="0">
                <a:solidFill>
                  <a:prstClr val="black"/>
                </a:solidFill>
              </a:rPr>
              <a:t>Physical Implementation of our sample Model   (ERD)</a:t>
            </a:r>
            <a:endParaRPr lang="en-US" sz="1400" dirty="0" smtClean="0">
              <a:solidFill>
                <a:prstClr val="black"/>
              </a:solidFill>
            </a:endParaRPr>
          </a:p>
        </p:txBody>
      </p:sp>
      <p:grpSp>
        <p:nvGrpSpPr>
          <p:cNvPr id="22" name="21 Grupo"/>
          <p:cNvGrpSpPr/>
          <p:nvPr/>
        </p:nvGrpSpPr>
        <p:grpSpPr>
          <a:xfrm>
            <a:off x="0" y="9525"/>
            <a:ext cx="9153525" cy="408388"/>
            <a:chOff x="0" y="9525"/>
            <a:chExt cx="9153525" cy="408388"/>
          </a:xfrm>
        </p:grpSpPr>
        <p:sp>
          <p:nvSpPr>
            <p:cNvPr id="23" name="22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Views vs. Indexed Views</a:t>
              </a:r>
              <a:endParaRPr lang="en-US" b="1" dirty="0">
                <a:solidFill>
                  <a:schemeClr val="bg1"/>
                </a:solidFill>
              </a:endParaRPr>
            </a:p>
          </p:txBody>
        </p:sp>
        <p:pic>
          <p:nvPicPr>
            <p:cNvPr id="26" name="25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7" name="26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29 Grupo"/>
          <p:cNvGrpSpPr/>
          <p:nvPr/>
        </p:nvGrpSpPr>
        <p:grpSpPr>
          <a:xfrm>
            <a:off x="9525" y="6574392"/>
            <a:ext cx="9134399" cy="277000"/>
            <a:chOff x="9525" y="6574392"/>
            <a:chExt cx="9134399" cy="277000"/>
          </a:xfrm>
        </p:grpSpPr>
        <p:sp>
          <p:nvSpPr>
            <p:cNvPr id="42" name="4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43" name="4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pic>
        <p:nvPicPr>
          <p:cNvPr id="4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1636" y="1847850"/>
            <a:ext cx="38100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40824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533400" y="1141908"/>
            <a:ext cx="4495800" cy="369332"/>
          </a:xfrm>
          <a:prstGeom prst="rect">
            <a:avLst/>
          </a:prstGeom>
          <a:noFill/>
        </p:spPr>
        <p:txBody>
          <a:bodyPr wrap="square" rtlCol="0">
            <a:spAutoFit/>
          </a:bodyPr>
          <a:lstStyle/>
          <a:p>
            <a:r>
              <a:rPr lang="en-US" b="1" dirty="0">
                <a:solidFill>
                  <a:prstClr val="black"/>
                </a:solidFill>
              </a:rPr>
              <a:t>a</a:t>
            </a:r>
            <a:r>
              <a:rPr lang="en-US" b="1" dirty="0" smtClean="0">
                <a:solidFill>
                  <a:prstClr val="black"/>
                </a:solidFill>
              </a:rPr>
              <a:t>) Clustered Indexes</a:t>
            </a:r>
            <a:endParaRPr lang="en-US" b="1" dirty="0">
              <a:solidFill>
                <a:prstClr val="black"/>
              </a:solidFill>
            </a:endParaRPr>
          </a:p>
        </p:txBody>
      </p:sp>
      <p:sp>
        <p:nvSpPr>
          <p:cNvPr id="5" name="4 CuadroTexto"/>
          <p:cNvSpPr txBox="1"/>
          <p:nvPr/>
        </p:nvSpPr>
        <p:spPr>
          <a:xfrm>
            <a:off x="533400" y="1663640"/>
            <a:ext cx="5257800" cy="1477328"/>
          </a:xfrm>
          <a:prstGeom prst="rect">
            <a:avLst/>
          </a:prstGeom>
          <a:noFill/>
        </p:spPr>
        <p:txBody>
          <a:bodyPr wrap="square" rtlCol="0">
            <a:spAutoFit/>
          </a:bodyPr>
          <a:lstStyle/>
          <a:p>
            <a:r>
              <a:rPr lang="en-US" b="1" dirty="0" smtClean="0">
                <a:solidFill>
                  <a:prstClr val="black"/>
                </a:solidFill>
              </a:rPr>
              <a:t>b) Non-Clustered Indexes</a:t>
            </a:r>
          </a:p>
          <a:p>
            <a:r>
              <a:rPr lang="en-US" b="1" dirty="0" smtClean="0">
                <a:solidFill>
                  <a:prstClr val="black"/>
                </a:solidFill>
              </a:rPr>
              <a:t>    </a:t>
            </a:r>
            <a:r>
              <a:rPr lang="en-US" u="sng" dirty="0" smtClean="0">
                <a:solidFill>
                  <a:prstClr val="black"/>
                </a:solidFill>
              </a:rPr>
              <a:t>Sub Types:</a:t>
            </a:r>
          </a:p>
          <a:p>
            <a:pPr marL="742950" lvl="1" indent="-285750">
              <a:buFont typeface="Wingdings" pitchFamily="2" charset="2"/>
              <a:buChar char="Ø"/>
            </a:pPr>
            <a:r>
              <a:rPr lang="en-US" dirty="0" smtClean="0">
                <a:solidFill>
                  <a:prstClr val="black"/>
                </a:solidFill>
              </a:rPr>
              <a:t>b.1) Unique Non-Clustered Indexes</a:t>
            </a:r>
          </a:p>
          <a:p>
            <a:pPr marL="742950" lvl="1" indent="-285750">
              <a:buFont typeface="Wingdings" pitchFamily="2" charset="2"/>
              <a:buChar char="Ø"/>
            </a:pPr>
            <a:r>
              <a:rPr lang="en-US" dirty="0">
                <a:solidFill>
                  <a:prstClr val="black"/>
                </a:solidFill>
              </a:rPr>
              <a:t>b</a:t>
            </a:r>
            <a:r>
              <a:rPr lang="en-US" dirty="0" smtClean="0">
                <a:solidFill>
                  <a:prstClr val="black"/>
                </a:solidFill>
              </a:rPr>
              <a:t>.2) Non-Unique Non-Clustered Indexes</a:t>
            </a:r>
          </a:p>
          <a:p>
            <a:pPr marL="742950" lvl="1" indent="-285750">
              <a:buFont typeface="Wingdings" pitchFamily="2" charset="2"/>
              <a:buChar char="Ø"/>
            </a:pPr>
            <a:r>
              <a:rPr lang="en-US" dirty="0">
                <a:solidFill>
                  <a:prstClr val="black"/>
                </a:solidFill>
              </a:rPr>
              <a:t>b</a:t>
            </a:r>
            <a:r>
              <a:rPr lang="en-US" dirty="0" smtClean="0">
                <a:solidFill>
                  <a:prstClr val="black"/>
                </a:solidFill>
              </a:rPr>
              <a:t>.3) Filtered Indexes (introduced in SQL 2008)</a:t>
            </a:r>
            <a:endParaRPr lang="en-US" dirty="0">
              <a:solidFill>
                <a:prstClr val="black"/>
              </a:solidFill>
            </a:endParaRPr>
          </a:p>
        </p:txBody>
      </p:sp>
      <p:sp>
        <p:nvSpPr>
          <p:cNvPr id="8" name="7 CuadroTexto"/>
          <p:cNvSpPr txBox="1"/>
          <p:nvPr/>
        </p:nvSpPr>
        <p:spPr>
          <a:xfrm>
            <a:off x="0" y="632936"/>
            <a:ext cx="9143924" cy="400110"/>
          </a:xfrm>
          <a:prstGeom prst="rect">
            <a:avLst/>
          </a:prstGeom>
          <a:noFill/>
        </p:spPr>
        <p:txBody>
          <a:bodyPr wrap="square" rtlCol="0">
            <a:spAutoFit/>
          </a:bodyPr>
          <a:lstStyle/>
          <a:p>
            <a:r>
              <a:rPr lang="en-US" sz="2000" b="1" dirty="0" smtClean="0">
                <a:solidFill>
                  <a:prstClr val="black"/>
                </a:solidFill>
              </a:rPr>
              <a:t>Types of Indexes</a:t>
            </a:r>
            <a:endParaRPr lang="en-US" sz="2000" b="1" dirty="0">
              <a:solidFill>
                <a:prstClr val="black"/>
              </a:solidFill>
            </a:endParaRPr>
          </a:p>
        </p:txBody>
      </p:sp>
      <p:grpSp>
        <p:nvGrpSpPr>
          <p:cNvPr id="6" name="5 Grupo"/>
          <p:cNvGrpSpPr/>
          <p:nvPr/>
        </p:nvGrpSpPr>
        <p:grpSpPr>
          <a:xfrm>
            <a:off x="0" y="9525"/>
            <a:ext cx="9153525" cy="408388"/>
            <a:chOff x="0" y="9525"/>
            <a:chExt cx="9153525" cy="408388"/>
          </a:xfrm>
        </p:grpSpPr>
        <p:sp>
          <p:nvSpPr>
            <p:cNvPr id="7" name="6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Index Internals</a:t>
              </a:r>
              <a:endParaRPr lang="en-US" b="1" dirty="0">
                <a:solidFill>
                  <a:schemeClr val="bg1"/>
                </a:solidFill>
              </a:endParaRPr>
            </a:p>
          </p:txBody>
        </p:sp>
        <p:pic>
          <p:nvPicPr>
            <p:cNvPr id="9" name="8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9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10 Grupo"/>
          <p:cNvGrpSpPr/>
          <p:nvPr/>
        </p:nvGrpSpPr>
        <p:grpSpPr>
          <a:xfrm>
            <a:off x="9525" y="6574392"/>
            <a:ext cx="9134399" cy="277000"/>
            <a:chOff x="9525" y="6574392"/>
            <a:chExt cx="9134399" cy="277000"/>
          </a:xfrm>
        </p:grpSpPr>
        <p:sp>
          <p:nvSpPr>
            <p:cNvPr id="12" name="1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3" name="1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222422702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2 Grupo"/>
          <p:cNvGrpSpPr/>
          <p:nvPr/>
        </p:nvGrpSpPr>
        <p:grpSpPr>
          <a:xfrm>
            <a:off x="-2136" y="491530"/>
            <a:ext cx="9661956" cy="5784051"/>
            <a:chOff x="-2136" y="685800"/>
            <a:chExt cx="9661956" cy="5784051"/>
          </a:xfrm>
        </p:grpSpPr>
        <p:sp>
          <p:nvSpPr>
            <p:cNvPr id="9" name="8 CuadroTexto"/>
            <p:cNvSpPr txBox="1"/>
            <p:nvPr/>
          </p:nvSpPr>
          <p:spPr>
            <a:xfrm>
              <a:off x="-2136" y="5979624"/>
              <a:ext cx="685800" cy="307777"/>
            </a:xfrm>
            <a:prstGeom prst="rect">
              <a:avLst/>
            </a:prstGeom>
            <a:noFill/>
          </p:spPr>
          <p:txBody>
            <a:bodyPr wrap="square" rtlCol="0">
              <a:spAutoFit/>
            </a:bodyPr>
            <a:lstStyle/>
            <a:p>
              <a:r>
                <a:rPr lang="en-US" sz="1400" b="1" dirty="0" smtClean="0">
                  <a:solidFill>
                    <a:prstClr val="black"/>
                  </a:solidFill>
                </a:rPr>
                <a:t>Leaf</a:t>
              </a:r>
              <a:endParaRPr lang="en-US" sz="1400" b="1" dirty="0">
                <a:solidFill>
                  <a:prstClr val="black"/>
                </a:solidFill>
              </a:endParaRPr>
            </a:p>
          </p:txBody>
        </p:sp>
        <p:sp>
          <p:nvSpPr>
            <p:cNvPr id="10" name="9 CuadroTexto"/>
            <p:cNvSpPr txBox="1"/>
            <p:nvPr/>
          </p:nvSpPr>
          <p:spPr>
            <a:xfrm>
              <a:off x="8400806" y="5848521"/>
              <a:ext cx="649480" cy="276999"/>
            </a:xfrm>
            <a:prstGeom prst="rect">
              <a:avLst/>
            </a:prstGeom>
            <a:noFill/>
          </p:spPr>
          <p:txBody>
            <a:bodyPr wrap="square" rtlCol="0">
              <a:spAutoFit/>
            </a:bodyPr>
            <a:lstStyle/>
            <a:p>
              <a:r>
                <a:rPr lang="en-US" sz="1200" b="1" dirty="0" smtClean="0">
                  <a:solidFill>
                    <a:prstClr val="black"/>
                  </a:solidFill>
                </a:rPr>
                <a:t>Level 0</a:t>
              </a:r>
              <a:endParaRPr lang="en-US" sz="1200" b="1" dirty="0">
                <a:solidFill>
                  <a:prstClr val="black"/>
                </a:solidFill>
              </a:endParaRPr>
            </a:p>
          </p:txBody>
        </p:sp>
        <p:sp>
          <p:nvSpPr>
            <p:cNvPr id="12" name="11 CuadroTexto"/>
            <p:cNvSpPr txBox="1"/>
            <p:nvPr/>
          </p:nvSpPr>
          <p:spPr>
            <a:xfrm>
              <a:off x="67654" y="2942996"/>
              <a:ext cx="1232019" cy="307777"/>
            </a:xfrm>
            <a:prstGeom prst="rect">
              <a:avLst/>
            </a:prstGeom>
            <a:noFill/>
          </p:spPr>
          <p:txBody>
            <a:bodyPr wrap="square" rtlCol="0">
              <a:spAutoFit/>
            </a:bodyPr>
            <a:lstStyle/>
            <a:p>
              <a:r>
                <a:rPr lang="en-US" sz="1400" b="1" dirty="0" smtClean="0">
                  <a:solidFill>
                    <a:prstClr val="black"/>
                  </a:solidFill>
                </a:rPr>
                <a:t>Intermediate</a:t>
              </a:r>
              <a:endParaRPr lang="en-US" sz="1400" b="1" dirty="0">
                <a:solidFill>
                  <a:prstClr val="black"/>
                </a:solidFill>
              </a:endParaRPr>
            </a:p>
          </p:txBody>
        </p:sp>
        <p:sp>
          <p:nvSpPr>
            <p:cNvPr id="13" name="12 CuadroTexto"/>
            <p:cNvSpPr txBox="1"/>
            <p:nvPr/>
          </p:nvSpPr>
          <p:spPr>
            <a:xfrm>
              <a:off x="134953" y="1147144"/>
              <a:ext cx="997821" cy="307777"/>
            </a:xfrm>
            <a:prstGeom prst="rect">
              <a:avLst/>
            </a:prstGeom>
            <a:noFill/>
          </p:spPr>
          <p:txBody>
            <a:bodyPr wrap="square" rtlCol="0">
              <a:spAutoFit/>
            </a:bodyPr>
            <a:lstStyle/>
            <a:p>
              <a:r>
                <a:rPr lang="en-US" sz="1400" b="1" dirty="0" smtClean="0">
                  <a:solidFill>
                    <a:prstClr val="black"/>
                  </a:solidFill>
                </a:rPr>
                <a:t>Root Page</a:t>
              </a:r>
              <a:endParaRPr lang="en-US" sz="1400" b="1" dirty="0">
                <a:solidFill>
                  <a:prstClr val="black"/>
                </a:solidFill>
              </a:endParaRPr>
            </a:p>
          </p:txBody>
        </p:sp>
        <p:grpSp>
          <p:nvGrpSpPr>
            <p:cNvPr id="6" name="5 Grupo"/>
            <p:cNvGrpSpPr/>
            <p:nvPr/>
          </p:nvGrpSpPr>
          <p:grpSpPr>
            <a:xfrm>
              <a:off x="1745379" y="2771442"/>
              <a:ext cx="980630" cy="984474"/>
              <a:chOff x="3115654" y="3505200"/>
              <a:chExt cx="980630" cy="984474"/>
            </a:xfrm>
          </p:grpSpPr>
          <p:sp>
            <p:nvSpPr>
              <p:cNvPr id="81" name="80 Rectángulo"/>
              <p:cNvSpPr/>
              <p:nvPr/>
            </p:nvSpPr>
            <p:spPr>
              <a:xfrm>
                <a:off x="3200400" y="3538954"/>
                <a:ext cx="762000" cy="95072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1 CuadroTexto"/>
              <p:cNvSpPr txBox="1"/>
              <p:nvPr/>
            </p:nvSpPr>
            <p:spPr>
              <a:xfrm>
                <a:off x="3115654" y="3865565"/>
                <a:ext cx="980630" cy="246221"/>
              </a:xfrm>
              <a:prstGeom prst="rect">
                <a:avLst/>
              </a:prstGeom>
              <a:noFill/>
            </p:spPr>
            <p:txBody>
              <a:bodyPr wrap="square" rtlCol="0">
                <a:spAutoFit/>
              </a:bodyPr>
              <a:lstStyle/>
              <a:p>
                <a:pPr algn="ctr"/>
                <a:r>
                  <a:rPr lang="en-US" sz="1000" dirty="0" smtClean="0">
                    <a:solidFill>
                      <a:prstClr val="black"/>
                    </a:solidFill>
                  </a:rPr>
                  <a:t>Index rows</a:t>
                </a:r>
                <a:endParaRPr lang="en-US" sz="1000" dirty="0">
                  <a:solidFill>
                    <a:prstClr val="black"/>
                  </a:solidFill>
                </a:endParaRPr>
              </a:p>
            </p:txBody>
          </p:sp>
          <p:sp>
            <p:nvSpPr>
              <p:cNvPr id="56" name="55 CuadroTexto"/>
              <p:cNvSpPr txBox="1"/>
              <p:nvPr/>
            </p:nvSpPr>
            <p:spPr>
              <a:xfrm>
                <a:off x="3149125" y="3508177"/>
                <a:ext cx="456844" cy="246221"/>
              </a:xfrm>
              <a:prstGeom prst="rect">
                <a:avLst/>
              </a:prstGeom>
              <a:noFill/>
            </p:spPr>
            <p:txBody>
              <a:bodyPr wrap="square" rtlCol="0">
                <a:spAutoFit/>
              </a:bodyPr>
              <a:lstStyle/>
              <a:p>
                <a:r>
                  <a:rPr lang="en-US" sz="1000" dirty="0" err="1" smtClean="0">
                    <a:solidFill>
                      <a:prstClr val="black"/>
                    </a:solidFill>
                  </a:rPr>
                  <a:t>Prev</a:t>
                </a:r>
                <a:endParaRPr lang="en-US" sz="1000" dirty="0">
                  <a:solidFill>
                    <a:prstClr val="black"/>
                  </a:solidFill>
                </a:endParaRPr>
              </a:p>
            </p:txBody>
          </p:sp>
          <p:sp>
            <p:nvSpPr>
              <p:cNvPr id="57" name="56 CuadroTexto"/>
              <p:cNvSpPr txBox="1"/>
              <p:nvPr/>
            </p:nvSpPr>
            <p:spPr>
              <a:xfrm>
                <a:off x="3590302" y="3505200"/>
                <a:ext cx="456844" cy="246221"/>
              </a:xfrm>
              <a:prstGeom prst="rect">
                <a:avLst/>
              </a:prstGeom>
              <a:noFill/>
            </p:spPr>
            <p:txBody>
              <a:bodyPr wrap="square" rtlCol="0">
                <a:spAutoFit/>
              </a:bodyPr>
              <a:lstStyle/>
              <a:p>
                <a:r>
                  <a:rPr lang="en-US" sz="1000" dirty="0" smtClean="0">
                    <a:solidFill>
                      <a:prstClr val="black"/>
                    </a:solidFill>
                  </a:rPr>
                  <a:t>Next</a:t>
                </a:r>
                <a:endParaRPr lang="en-US" sz="1000" dirty="0">
                  <a:solidFill>
                    <a:prstClr val="black"/>
                  </a:solidFill>
                </a:endParaRPr>
              </a:p>
            </p:txBody>
          </p:sp>
          <p:cxnSp>
            <p:nvCxnSpPr>
              <p:cNvPr id="4" name="3 Conector recto"/>
              <p:cNvCxnSpPr/>
              <p:nvPr/>
            </p:nvCxnSpPr>
            <p:spPr>
              <a:xfrm>
                <a:off x="3301928" y="376294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63 Conector recto"/>
              <p:cNvCxnSpPr/>
              <p:nvPr/>
            </p:nvCxnSpPr>
            <p:spPr>
              <a:xfrm>
                <a:off x="3301927" y="380567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65 Conector recto"/>
              <p:cNvCxnSpPr/>
              <p:nvPr/>
            </p:nvCxnSpPr>
            <p:spPr>
              <a:xfrm>
                <a:off x="3309046" y="385552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66 Conector recto"/>
              <p:cNvCxnSpPr/>
              <p:nvPr/>
            </p:nvCxnSpPr>
            <p:spPr>
              <a:xfrm>
                <a:off x="3309045" y="389825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67 Conector recto"/>
              <p:cNvCxnSpPr/>
              <p:nvPr/>
            </p:nvCxnSpPr>
            <p:spPr>
              <a:xfrm>
                <a:off x="3291954" y="408626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68 Conector recto"/>
              <p:cNvCxnSpPr/>
              <p:nvPr/>
            </p:nvCxnSpPr>
            <p:spPr>
              <a:xfrm>
                <a:off x="3291953" y="412899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69 Conector recto"/>
              <p:cNvCxnSpPr/>
              <p:nvPr/>
            </p:nvCxnSpPr>
            <p:spPr>
              <a:xfrm>
                <a:off x="3299072" y="417884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70 Conector recto"/>
              <p:cNvCxnSpPr/>
              <p:nvPr/>
            </p:nvCxnSpPr>
            <p:spPr>
              <a:xfrm>
                <a:off x="3299071" y="422157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71 Conector recto"/>
              <p:cNvCxnSpPr/>
              <p:nvPr/>
            </p:nvCxnSpPr>
            <p:spPr>
              <a:xfrm>
                <a:off x="3291954" y="4291368"/>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72 Conector recto"/>
              <p:cNvCxnSpPr/>
              <p:nvPr/>
            </p:nvCxnSpPr>
            <p:spPr>
              <a:xfrm>
                <a:off x="3291953" y="4334098"/>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74 Conector recto"/>
              <p:cNvCxnSpPr/>
              <p:nvPr/>
            </p:nvCxnSpPr>
            <p:spPr>
              <a:xfrm>
                <a:off x="3299072" y="4383946"/>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75 Conector recto"/>
              <p:cNvCxnSpPr/>
              <p:nvPr/>
            </p:nvCxnSpPr>
            <p:spPr>
              <a:xfrm>
                <a:off x="3299071" y="4426676"/>
                <a:ext cx="566777"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77" name="76 Grupo"/>
            <p:cNvGrpSpPr/>
            <p:nvPr/>
          </p:nvGrpSpPr>
          <p:grpSpPr>
            <a:xfrm>
              <a:off x="529127" y="5485377"/>
              <a:ext cx="989889" cy="984474"/>
              <a:chOff x="3149125" y="3505200"/>
              <a:chExt cx="989889" cy="984474"/>
            </a:xfrm>
          </p:grpSpPr>
          <p:sp>
            <p:nvSpPr>
              <p:cNvPr id="79" name="78 Rectángulo"/>
              <p:cNvSpPr/>
              <p:nvPr/>
            </p:nvSpPr>
            <p:spPr>
              <a:xfrm>
                <a:off x="3200400" y="3538954"/>
                <a:ext cx="762000" cy="95072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6" name="95 CuadroTexto"/>
              <p:cNvSpPr txBox="1"/>
              <p:nvPr/>
            </p:nvSpPr>
            <p:spPr>
              <a:xfrm>
                <a:off x="3158384" y="3865565"/>
                <a:ext cx="980630" cy="246221"/>
              </a:xfrm>
              <a:prstGeom prst="rect">
                <a:avLst/>
              </a:prstGeom>
              <a:noFill/>
            </p:spPr>
            <p:txBody>
              <a:bodyPr wrap="square" rtlCol="0">
                <a:spAutoFit/>
              </a:bodyPr>
              <a:lstStyle/>
              <a:p>
                <a:r>
                  <a:rPr lang="en-US" sz="1000" dirty="0" smtClean="0">
                    <a:solidFill>
                      <a:prstClr val="black"/>
                    </a:solidFill>
                  </a:rPr>
                  <a:t>Rows of Data</a:t>
                </a:r>
                <a:endParaRPr lang="en-US" sz="1000" dirty="0">
                  <a:solidFill>
                    <a:prstClr val="black"/>
                  </a:solidFill>
                </a:endParaRPr>
              </a:p>
            </p:txBody>
          </p:sp>
          <p:sp>
            <p:nvSpPr>
              <p:cNvPr id="97" name="96 CuadroTexto"/>
              <p:cNvSpPr txBox="1"/>
              <p:nvPr/>
            </p:nvSpPr>
            <p:spPr>
              <a:xfrm>
                <a:off x="3149125" y="3508177"/>
                <a:ext cx="456844" cy="246221"/>
              </a:xfrm>
              <a:prstGeom prst="rect">
                <a:avLst/>
              </a:prstGeom>
              <a:noFill/>
            </p:spPr>
            <p:txBody>
              <a:bodyPr wrap="square" rtlCol="0">
                <a:spAutoFit/>
              </a:bodyPr>
              <a:lstStyle/>
              <a:p>
                <a:r>
                  <a:rPr lang="en-US" sz="1000" dirty="0" err="1" smtClean="0">
                    <a:solidFill>
                      <a:prstClr val="black"/>
                    </a:solidFill>
                  </a:rPr>
                  <a:t>Prev</a:t>
                </a:r>
                <a:endParaRPr lang="en-US" sz="1000" dirty="0">
                  <a:solidFill>
                    <a:prstClr val="black"/>
                  </a:solidFill>
                </a:endParaRPr>
              </a:p>
            </p:txBody>
          </p:sp>
          <p:sp>
            <p:nvSpPr>
              <p:cNvPr id="98" name="97 CuadroTexto"/>
              <p:cNvSpPr txBox="1"/>
              <p:nvPr/>
            </p:nvSpPr>
            <p:spPr>
              <a:xfrm>
                <a:off x="3590302" y="3505200"/>
                <a:ext cx="456844" cy="246221"/>
              </a:xfrm>
              <a:prstGeom prst="rect">
                <a:avLst/>
              </a:prstGeom>
              <a:noFill/>
            </p:spPr>
            <p:txBody>
              <a:bodyPr wrap="square" rtlCol="0">
                <a:spAutoFit/>
              </a:bodyPr>
              <a:lstStyle/>
              <a:p>
                <a:r>
                  <a:rPr lang="en-US" sz="1000" dirty="0" smtClean="0">
                    <a:solidFill>
                      <a:prstClr val="black"/>
                    </a:solidFill>
                  </a:rPr>
                  <a:t>Next</a:t>
                </a:r>
                <a:endParaRPr lang="en-US" sz="1000" dirty="0">
                  <a:solidFill>
                    <a:prstClr val="black"/>
                  </a:solidFill>
                </a:endParaRPr>
              </a:p>
            </p:txBody>
          </p:sp>
          <p:cxnSp>
            <p:nvCxnSpPr>
              <p:cNvPr id="99" name="98 Conector recto"/>
              <p:cNvCxnSpPr/>
              <p:nvPr/>
            </p:nvCxnSpPr>
            <p:spPr>
              <a:xfrm>
                <a:off x="3301928" y="376294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99 Conector recto"/>
              <p:cNvCxnSpPr/>
              <p:nvPr/>
            </p:nvCxnSpPr>
            <p:spPr>
              <a:xfrm>
                <a:off x="3301927" y="380567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1" name="100 Conector recto"/>
              <p:cNvCxnSpPr/>
              <p:nvPr/>
            </p:nvCxnSpPr>
            <p:spPr>
              <a:xfrm>
                <a:off x="3309046" y="385552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101 Conector recto"/>
              <p:cNvCxnSpPr/>
              <p:nvPr/>
            </p:nvCxnSpPr>
            <p:spPr>
              <a:xfrm>
                <a:off x="3309045" y="389825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102 Conector recto"/>
              <p:cNvCxnSpPr/>
              <p:nvPr/>
            </p:nvCxnSpPr>
            <p:spPr>
              <a:xfrm>
                <a:off x="3291954" y="408626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103 Conector recto"/>
              <p:cNvCxnSpPr/>
              <p:nvPr/>
            </p:nvCxnSpPr>
            <p:spPr>
              <a:xfrm>
                <a:off x="3291953" y="412899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104 Conector recto"/>
              <p:cNvCxnSpPr/>
              <p:nvPr/>
            </p:nvCxnSpPr>
            <p:spPr>
              <a:xfrm>
                <a:off x="3299072" y="417884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105 Conector recto"/>
              <p:cNvCxnSpPr/>
              <p:nvPr/>
            </p:nvCxnSpPr>
            <p:spPr>
              <a:xfrm>
                <a:off x="3299071" y="422157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106 Conector recto"/>
              <p:cNvCxnSpPr/>
              <p:nvPr/>
            </p:nvCxnSpPr>
            <p:spPr>
              <a:xfrm>
                <a:off x="3291954" y="4291368"/>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107 Conector recto"/>
              <p:cNvCxnSpPr/>
              <p:nvPr/>
            </p:nvCxnSpPr>
            <p:spPr>
              <a:xfrm>
                <a:off x="3291953" y="4334098"/>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108 Conector recto"/>
              <p:cNvCxnSpPr/>
              <p:nvPr/>
            </p:nvCxnSpPr>
            <p:spPr>
              <a:xfrm>
                <a:off x="3299072" y="4383946"/>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109 Conector recto"/>
              <p:cNvCxnSpPr/>
              <p:nvPr/>
            </p:nvCxnSpPr>
            <p:spPr>
              <a:xfrm>
                <a:off x="3299071" y="4426676"/>
                <a:ext cx="566777"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11" name="110 Grupo"/>
            <p:cNvGrpSpPr/>
            <p:nvPr/>
          </p:nvGrpSpPr>
          <p:grpSpPr>
            <a:xfrm>
              <a:off x="1783792" y="5485377"/>
              <a:ext cx="989889" cy="984474"/>
              <a:chOff x="3149125" y="3505200"/>
              <a:chExt cx="989889" cy="984474"/>
            </a:xfrm>
          </p:grpSpPr>
          <p:sp>
            <p:nvSpPr>
              <p:cNvPr id="112" name="111 Rectángulo"/>
              <p:cNvSpPr/>
              <p:nvPr/>
            </p:nvSpPr>
            <p:spPr>
              <a:xfrm>
                <a:off x="3200400" y="3538954"/>
                <a:ext cx="762000" cy="95072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3" name="112 CuadroTexto"/>
              <p:cNvSpPr txBox="1"/>
              <p:nvPr/>
            </p:nvSpPr>
            <p:spPr>
              <a:xfrm>
                <a:off x="3158384" y="3865565"/>
                <a:ext cx="980630" cy="246221"/>
              </a:xfrm>
              <a:prstGeom prst="rect">
                <a:avLst/>
              </a:prstGeom>
              <a:noFill/>
            </p:spPr>
            <p:txBody>
              <a:bodyPr wrap="square" rtlCol="0">
                <a:spAutoFit/>
              </a:bodyPr>
              <a:lstStyle/>
              <a:p>
                <a:r>
                  <a:rPr lang="en-US" sz="1000" dirty="0" smtClean="0">
                    <a:solidFill>
                      <a:prstClr val="black"/>
                    </a:solidFill>
                  </a:rPr>
                  <a:t>Rows of Data</a:t>
                </a:r>
                <a:endParaRPr lang="en-US" sz="1000" dirty="0">
                  <a:solidFill>
                    <a:prstClr val="black"/>
                  </a:solidFill>
                </a:endParaRPr>
              </a:p>
            </p:txBody>
          </p:sp>
          <p:sp>
            <p:nvSpPr>
              <p:cNvPr id="114" name="113 CuadroTexto"/>
              <p:cNvSpPr txBox="1"/>
              <p:nvPr/>
            </p:nvSpPr>
            <p:spPr>
              <a:xfrm>
                <a:off x="3149125" y="3508177"/>
                <a:ext cx="456844" cy="246221"/>
              </a:xfrm>
              <a:prstGeom prst="rect">
                <a:avLst/>
              </a:prstGeom>
              <a:noFill/>
            </p:spPr>
            <p:txBody>
              <a:bodyPr wrap="square" rtlCol="0">
                <a:spAutoFit/>
              </a:bodyPr>
              <a:lstStyle/>
              <a:p>
                <a:r>
                  <a:rPr lang="en-US" sz="1000" dirty="0" err="1" smtClean="0">
                    <a:solidFill>
                      <a:prstClr val="black"/>
                    </a:solidFill>
                  </a:rPr>
                  <a:t>Prev</a:t>
                </a:r>
                <a:endParaRPr lang="en-US" sz="1000" dirty="0">
                  <a:solidFill>
                    <a:prstClr val="black"/>
                  </a:solidFill>
                </a:endParaRPr>
              </a:p>
            </p:txBody>
          </p:sp>
          <p:sp>
            <p:nvSpPr>
              <p:cNvPr id="115" name="114 CuadroTexto"/>
              <p:cNvSpPr txBox="1"/>
              <p:nvPr/>
            </p:nvSpPr>
            <p:spPr>
              <a:xfrm>
                <a:off x="3590302" y="3505200"/>
                <a:ext cx="456844" cy="246221"/>
              </a:xfrm>
              <a:prstGeom prst="rect">
                <a:avLst/>
              </a:prstGeom>
              <a:noFill/>
            </p:spPr>
            <p:txBody>
              <a:bodyPr wrap="square" rtlCol="0">
                <a:spAutoFit/>
              </a:bodyPr>
              <a:lstStyle/>
              <a:p>
                <a:r>
                  <a:rPr lang="en-US" sz="1000" dirty="0" smtClean="0">
                    <a:solidFill>
                      <a:prstClr val="black"/>
                    </a:solidFill>
                  </a:rPr>
                  <a:t>Next</a:t>
                </a:r>
                <a:endParaRPr lang="en-US" sz="1000" dirty="0">
                  <a:solidFill>
                    <a:prstClr val="black"/>
                  </a:solidFill>
                </a:endParaRPr>
              </a:p>
            </p:txBody>
          </p:sp>
          <p:cxnSp>
            <p:nvCxnSpPr>
              <p:cNvPr id="116" name="115 Conector recto"/>
              <p:cNvCxnSpPr/>
              <p:nvPr/>
            </p:nvCxnSpPr>
            <p:spPr>
              <a:xfrm>
                <a:off x="3301928" y="376294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116 Conector recto"/>
              <p:cNvCxnSpPr/>
              <p:nvPr/>
            </p:nvCxnSpPr>
            <p:spPr>
              <a:xfrm>
                <a:off x="3301927" y="380567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117 Conector recto"/>
              <p:cNvCxnSpPr/>
              <p:nvPr/>
            </p:nvCxnSpPr>
            <p:spPr>
              <a:xfrm>
                <a:off x="3309046" y="385552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 name="118 Conector recto"/>
              <p:cNvCxnSpPr/>
              <p:nvPr/>
            </p:nvCxnSpPr>
            <p:spPr>
              <a:xfrm>
                <a:off x="3309045" y="389825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119 Conector recto"/>
              <p:cNvCxnSpPr/>
              <p:nvPr/>
            </p:nvCxnSpPr>
            <p:spPr>
              <a:xfrm>
                <a:off x="3291954" y="408626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120 Conector recto"/>
              <p:cNvCxnSpPr/>
              <p:nvPr/>
            </p:nvCxnSpPr>
            <p:spPr>
              <a:xfrm>
                <a:off x="3291953" y="412899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121 Conector recto"/>
              <p:cNvCxnSpPr/>
              <p:nvPr/>
            </p:nvCxnSpPr>
            <p:spPr>
              <a:xfrm>
                <a:off x="3299072" y="417884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122 Conector recto"/>
              <p:cNvCxnSpPr/>
              <p:nvPr/>
            </p:nvCxnSpPr>
            <p:spPr>
              <a:xfrm>
                <a:off x="3299071" y="422157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123 Conector recto"/>
              <p:cNvCxnSpPr/>
              <p:nvPr/>
            </p:nvCxnSpPr>
            <p:spPr>
              <a:xfrm>
                <a:off x="3291954" y="4291368"/>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124 Conector recto"/>
              <p:cNvCxnSpPr/>
              <p:nvPr/>
            </p:nvCxnSpPr>
            <p:spPr>
              <a:xfrm>
                <a:off x="3291953" y="4334098"/>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125 Conector recto"/>
              <p:cNvCxnSpPr/>
              <p:nvPr/>
            </p:nvCxnSpPr>
            <p:spPr>
              <a:xfrm>
                <a:off x="3299072" y="4383946"/>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126 Conector recto"/>
              <p:cNvCxnSpPr/>
              <p:nvPr/>
            </p:nvCxnSpPr>
            <p:spPr>
              <a:xfrm>
                <a:off x="3299071" y="4426676"/>
                <a:ext cx="566777"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53" name="152 Grupo"/>
            <p:cNvGrpSpPr/>
            <p:nvPr/>
          </p:nvGrpSpPr>
          <p:grpSpPr>
            <a:xfrm>
              <a:off x="3038457" y="5485377"/>
              <a:ext cx="989889" cy="984474"/>
              <a:chOff x="3149125" y="3505200"/>
              <a:chExt cx="989889" cy="984474"/>
            </a:xfrm>
          </p:grpSpPr>
          <p:sp>
            <p:nvSpPr>
              <p:cNvPr id="154" name="153 Rectángulo"/>
              <p:cNvSpPr/>
              <p:nvPr/>
            </p:nvSpPr>
            <p:spPr>
              <a:xfrm>
                <a:off x="3200400" y="3538954"/>
                <a:ext cx="762000" cy="95072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55" name="154 CuadroTexto"/>
              <p:cNvSpPr txBox="1"/>
              <p:nvPr/>
            </p:nvSpPr>
            <p:spPr>
              <a:xfrm>
                <a:off x="3158384" y="3865565"/>
                <a:ext cx="980630" cy="246221"/>
              </a:xfrm>
              <a:prstGeom prst="rect">
                <a:avLst/>
              </a:prstGeom>
              <a:noFill/>
            </p:spPr>
            <p:txBody>
              <a:bodyPr wrap="square" rtlCol="0">
                <a:spAutoFit/>
              </a:bodyPr>
              <a:lstStyle/>
              <a:p>
                <a:r>
                  <a:rPr lang="en-US" sz="1000" dirty="0" smtClean="0">
                    <a:solidFill>
                      <a:prstClr val="black"/>
                    </a:solidFill>
                  </a:rPr>
                  <a:t>Rows of Data</a:t>
                </a:r>
                <a:endParaRPr lang="en-US" sz="1000" dirty="0">
                  <a:solidFill>
                    <a:prstClr val="black"/>
                  </a:solidFill>
                </a:endParaRPr>
              </a:p>
            </p:txBody>
          </p:sp>
          <p:sp>
            <p:nvSpPr>
              <p:cNvPr id="156" name="155 CuadroTexto"/>
              <p:cNvSpPr txBox="1"/>
              <p:nvPr/>
            </p:nvSpPr>
            <p:spPr>
              <a:xfrm>
                <a:off x="3149125" y="3508177"/>
                <a:ext cx="456844" cy="246221"/>
              </a:xfrm>
              <a:prstGeom prst="rect">
                <a:avLst/>
              </a:prstGeom>
              <a:noFill/>
            </p:spPr>
            <p:txBody>
              <a:bodyPr wrap="square" rtlCol="0">
                <a:spAutoFit/>
              </a:bodyPr>
              <a:lstStyle/>
              <a:p>
                <a:r>
                  <a:rPr lang="en-US" sz="1000" dirty="0" err="1" smtClean="0">
                    <a:solidFill>
                      <a:prstClr val="black"/>
                    </a:solidFill>
                  </a:rPr>
                  <a:t>Prev</a:t>
                </a:r>
                <a:endParaRPr lang="en-US" sz="1000" dirty="0">
                  <a:solidFill>
                    <a:prstClr val="black"/>
                  </a:solidFill>
                </a:endParaRPr>
              </a:p>
            </p:txBody>
          </p:sp>
          <p:sp>
            <p:nvSpPr>
              <p:cNvPr id="158" name="157 CuadroTexto"/>
              <p:cNvSpPr txBox="1"/>
              <p:nvPr/>
            </p:nvSpPr>
            <p:spPr>
              <a:xfrm>
                <a:off x="3590302" y="3505200"/>
                <a:ext cx="456844" cy="246221"/>
              </a:xfrm>
              <a:prstGeom prst="rect">
                <a:avLst/>
              </a:prstGeom>
              <a:noFill/>
            </p:spPr>
            <p:txBody>
              <a:bodyPr wrap="square" rtlCol="0">
                <a:spAutoFit/>
              </a:bodyPr>
              <a:lstStyle/>
              <a:p>
                <a:r>
                  <a:rPr lang="en-US" sz="1000" dirty="0" smtClean="0">
                    <a:solidFill>
                      <a:prstClr val="black"/>
                    </a:solidFill>
                  </a:rPr>
                  <a:t>Next</a:t>
                </a:r>
                <a:endParaRPr lang="en-US" sz="1000" dirty="0">
                  <a:solidFill>
                    <a:prstClr val="black"/>
                  </a:solidFill>
                </a:endParaRPr>
              </a:p>
            </p:txBody>
          </p:sp>
          <p:cxnSp>
            <p:nvCxnSpPr>
              <p:cNvPr id="160" name="159 Conector recto"/>
              <p:cNvCxnSpPr/>
              <p:nvPr/>
            </p:nvCxnSpPr>
            <p:spPr>
              <a:xfrm>
                <a:off x="3301928" y="376294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1" name="160 Conector recto"/>
              <p:cNvCxnSpPr/>
              <p:nvPr/>
            </p:nvCxnSpPr>
            <p:spPr>
              <a:xfrm>
                <a:off x="3301927" y="380567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3" name="162 Conector recto"/>
              <p:cNvCxnSpPr/>
              <p:nvPr/>
            </p:nvCxnSpPr>
            <p:spPr>
              <a:xfrm>
                <a:off x="3309046" y="385552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5" name="164 Conector recto"/>
              <p:cNvCxnSpPr/>
              <p:nvPr/>
            </p:nvCxnSpPr>
            <p:spPr>
              <a:xfrm>
                <a:off x="3309045" y="389825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6" name="165 Conector recto"/>
              <p:cNvCxnSpPr/>
              <p:nvPr/>
            </p:nvCxnSpPr>
            <p:spPr>
              <a:xfrm>
                <a:off x="3291954" y="408626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7" name="166 Conector recto"/>
              <p:cNvCxnSpPr/>
              <p:nvPr/>
            </p:nvCxnSpPr>
            <p:spPr>
              <a:xfrm>
                <a:off x="3291953" y="412899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8" name="167 Conector recto"/>
              <p:cNvCxnSpPr/>
              <p:nvPr/>
            </p:nvCxnSpPr>
            <p:spPr>
              <a:xfrm>
                <a:off x="3299072" y="417884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9" name="168 Conector recto"/>
              <p:cNvCxnSpPr/>
              <p:nvPr/>
            </p:nvCxnSpPr>
            <p:spPr>
              <a:xfrm>
                <a:off x="3299071" y="422157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1" name="170 Conector recto"/>
              <p:cNvCxnSpPr/>
              <p:nvPr/>
            </p:nvCxnSpPr>
            <p:spPr>
              <a:xfrm>
                <a:off x="3291954" y="4291368"/>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3" name="172 Conector recto"/>
              <p:cNvCxnSpPr/>
              <p:nvPr/>
            </p:nvCxnSpPr>
            <p:spPr>
              <a:xfrm>
                <a:off x="3291953" y="4334098"/>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4" name="173 Conector recto"/>
              <p:cNvCxnSpPr/>
              <p:nvPr/>
            </p:nvCxnSpPr>
            <p:spPr>
              <a:xfrm>
                <a:off x="3299072" y="4383946"/>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5" name="174 Conector recto"/>
              <p:cNvCxnSpPr/>
              <p:nvPr/>
            </p:nvCxnSpPr>
            <p:spPr>
              <a:xfrm>
                <a:off x="3299071" y="4426676"/>
                <a:ext cx="566777"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77" name="176 Grupo"/>
            <p:cNvGrpSpPr/>
            <p:nvPr/>
          </p:nvGrpSpPr>
          <p:grpSpPr>
            <a:xfrm>
              <a:off x="4958980" y="5485377"/>
              <a:ext cx="989889" cy="984474"/>
              <a:chOff x="3149125" y="3505200"/>
              <a:chExt cx="989889" cy="984474"/>
            </a:xfrm>
          </p:grpSpPr>
          <p:sp>
            <p:nvSpPr>
              <p:cNvPr id="179" name="178 Rectángulo"/>
              <p:cNvSpPr/>
              <p:nvPr/>
            </p:nvSpPr>
            <p:spPr>
              <a:xfrm>
                <a:off x="3200400" y="3538954"/>
                <a:ext cx="762000" cy="95072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1" name="180 CuadroTexto"/>
              <p:cNvSpPr txBox="1"/>
              <p:nvPr/>
            </p:nvSpPr>
            <p:spPr>
              <a:xfrm>
                <a:off x="3158384" y="3865565"/>
                <a:ext cx="980630" cy="246221"/>
              </a:xfrm>
              <a:prstGeom prst="rect">
                <a:avLst/>
              </a:prstGeom>
              <a:noFill/>
            </p:spPr>
            <p:txBody>
              <a:bodyPr wrap="square" rtlCol="0">
                <a:spAutoFit/>
              </a:bodyPr>
              <a:lstStyle/>
              <a:p>
                <a:r>
                  <a:rPr lang="en-US" sz="1000" dirty="0" smtClean="0">
                    <a:solidFill>
                      <a:prstClr val="black"/>
                    </a:solidFill>
                  </a:rPr>
                  <a:t>Rows of Data</a:t>
                </a:r>
                <a:endParaRPr lang="en-US" sz="1000" dirty="0">
                  <a:solidFill>
                    <a:prstClr val="black"/>
                  </a:solidFill>
                </a:endParaRPr>
              </a:p>
            </p:txBody>
          </p:sp>
          <p:sp>
            <p:nvSpPr>
              <p:cNvPr id="183" name="182 CuadroTexto"/>
              <p:cNvSpPr txBox="1"/>
              <p:nvPr/>
            </p:nvSpPr>
            <p:spPr>
              <a:xfrm>
                <a:off x="3149125" y="3508177"/>
                <a:ext cx="456844" cy="246221"/>
              </a:xfrm>
              <a:prstGeom prst="rect">
                <a:avLst/>
              </a:prstGeom>
              <a:noFill/>
            </p:spPr>
            <p:txBody>
              <a:bodyPr wrap="square" rtlCol="0">
                <a:spAutoFit/>
              </a:bodyPr>
              <a:lstStyle/>
              <a:p>
                <a:r>
                  <a:rPr lang="en-US" sz="1000" dirty="0" err="1" smtClean="0">
                    <a:solidFill>
                      <a:prstClr val="black"/>
                    </a:solidFill>
                  </a:rPr>
                  <a:t>Prev</a:t>
                </a:r>
                <a:endParaRPr lang="en-US" sz="1000" dirty="0">
                  <a:solidFill>
                    <a:prstClr val="black"/>
                  </a:solidFill>
                </a:endParaRPr>
              </a:p>
            </p:txBody>
          </p:sp>
          <p:sp>
            <p:nvSpPr>
              <p:cNvPr id="185" name="184 CuadroTexto"/>
              <p:cNvSpPr txBox="1"/>
              <p:nvPr/>
            </p:nvSpPr>
            <p:spPr>
              <a:xfrm>
                <a:off x="3590302" y="3505200"/>
                <a:ext cx="456844" cy="246221"/>
              </a:xfrm>
              <a:prstGeom prst="rect">
                <a:avLst/>
              </a:prstGeom>
              <a:noFill/>
            </p:spPr>
            <p:txBody>
              <a:bodyPr wrap="square" rtlCol="0">
                <a:spAutoFit/>
              </a:bodyPr>
              <a:lstStyle/>
              <a:p>
                <a:r>
                  <a:rPr lang="en-US" sz="1000" dirty="0" smtClean="0">
                    <a:solidFill>
                      <a:prstClr val="black"/>
                    </a:solidFill>
                  </a:rPr>
                  <a:t>Next</a:t>
                </a:r>
                <a:endParaRPr lang="en-US" sz="1000" dirty="0">
                  <a:solidFill>
                    <a:prstClr val="black"/>
                  </a:solidFill>
                </a:endParaRPr>
              </a:p>
            </p:txBody>
          </p:sp>
          <p:cxnSp>
            <p:nvCxnSpPr>
              <p:cNvPr id="186" name="185 Conector recto"/>
              <p:cNvCxnSpPr/>
              <p:nvPr/>
            </p:nvCxnSpPr>
            <p:spPr>
              <a:xfrm>
                <a:off x="3301928" y="376294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8" name="187 Conector recto"/>
              <p:cNvCxnSpPr/>
              <p:nvPr/>
            </p:nvCxnSpPr>
            <p:spPr>
              <a:xfrm>
                <a:off x="3301927" y="380567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0" name="189 Conector recto"/>
              <p:cNvCxnSpPr/>
              <p:nvPr/>
            </p:nvCxnSpPr>
            <p:spPr>
              <a:xfrm>
                <a:off x="3309046" y="385552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2" name="191 Conector recto"/>
              <p:cNvCxnSpPr/>
              <p:nvPr/>
            </p:nvCxnSpPr>
            <p:spPr>
              <a:xfrm>
                <a:off x="3309045" y="389825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3" name="192 Conector recto"/>
              <p:cNvCxnSpPr/>
              <p:nvPr/>
            </p:nvCxnSpPr>
            <p:spPr>
              <a:xfrm>
                <a:off x="3291954" y="408626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4" name="193 Conector recto"/>
              <p:cNvCxnSpPr/>
              <p:nvPr/>
            </p:nvCxnSpPr>
            <p:spPr>
              <a:xfrm>
                <a:off x="3291953" y="412899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5" name="194 Conector recto"/>
              <p:cNvCxnSpPr/>
              <p:nvPr/>
            </p:nvCxnSpPr>
            <p:spPr>
              <a:xfrm>
                <a:off x="3299072" y="417884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6" name="195 Conector recto"/>
              <p:cNvCxnSpPr/>
              <p:nvPr/>
            </p:nvCxnSpPr>
            <p:spPr>
              <a:xfrm>
                <a:off x="3299071" y="422157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7" name="196 Conector recto"/>
              <p:cNvCxnSpPr/>
              <p:nvPr/>
            </p:nvCxnSpPr>
            <p:spPr>
              <a:xfrm>
                <a:off x="3291954" y="4291368"/>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8" name="197 Conector recto"/>
              <p:cNvCxnSpPr/>
              <p:nvPr/>
            </p:nvCxnSpPr>
            <p:spPr>
              <a:xfrm>
                <a:off x="3291953" y="4334098"/>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9" name="198 Conector recto"/>
              <p:cNvCxnSpPr/>
              <p:nvPr/>
            </p:nvCxnSpPr>
            <p:spPr>
              <a:xfrm>
                <a:off x="3299072" y="4383946"/>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0" name="199 Conector recto"/>
              <p:cNvCxnSpPr/>
              <p:nvPr/>
            </p:nvCxnSpPr>
            <p:spPr>
              <a:xfrm>
                <a:off x="3299071" y="4426676"/>
                <a:ext cx="566777"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01" name="200 Grupo"/>
            <p:cNvGrpSpPr/>
            <p:nvPr/>
          </p:nvGrpSpPr>
          <p:grpSpPr>
            <a:xfrm>
              <a:off x="6213645" y="5485377"/>
              <a:ext cx="989889" cy="984474"/>
              <a:chOff x="3149125" y="3505200"/>
              <a:chExt cx="989889" cy="984474"/>
            </a:xfrm>
          </p:grpSpPr>
          <p:sp>
            <p:nvSpPr>
              <p:cNvPr id="202" name="201 Rectángulo"/>
              <p:cNvSpPr/>
              <p:nvPr/>
            </p:nvSpPr>
            <p:spPr>
              <a:xfrm>
                <a:off x="3200400" y="3538954"/>
                <a:ext cx="762000" cy="95072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03" name="202 CuadroTexto"/>
              <p:cNvSpPr txBox="1"/>
              <p:nvPr/>
            </p:nvSpPr>
            <p:spPr>
              <a:xfrm>
                <a:off x="3158384" y="3865565"/>
                <a:ext cx="980630" cy="246221"/>
              </a:xfrm>
              <a:prstGeom prst="rect">
                <a:avLst/>
              </a:prstGeom>
              <a:noFill/>
            </p:spPr>
            <p:txBody>
              <a:bodyPr wrap="square" rtlCol="0">
                <a:spAutoFit/>
              </a:bodyPr>
              <a:lstStyle/>
              <a:p>
                <a:r>
                  <a:rPr lang="en-US" sz="1000" dirty="0" smtClean="0">
                    <a:solidFill>
                      <a:prstClr val="black"/>
                    </a:solidFill>
                  </a:rPr>
                  <a:t>Rows of Data</a:t>
                </a:r>
                <a:endParaRPr lang="en-US" sz="1000" dirty="0">
                  <a:solidFill>
                    <a:prstClr val="black"/>
                  </a:solidFill>
                </a:endParaRPr>
              </a:p>
            </p:txBody>
          </p:sp>
          <p:sp>
            <p:nvSpPr>
              <p:cNvPr id="204" name="203 CuadroTexto"/>
              <p:cNvSpPr txBox="1"/>
              <p:nvPr/>
            </p:nvSpPr>
            <p:spPr>
              <a:xfrm>
                <a:off x="3149125" y="3508177"/>
                <a:ext cx="456844" cy="246221"/>
              </a:xfrm>
              <a:prstGeom prst="rect">
                <a:avLst/>
              </a:prstGeom>
              <a:noFill/>
            </p:spPr>
            <p:txBody>
              <a:bodyPr wrap="square" rtlCol="0">
                <a:spAutoFit/>
              </a:bodyPr>
              <a:lstStyle/>
              <a:p>
                <a:r>
                  <a:rPr lang="en-US" sz="1000" dirty="0" err="1" smtClean="0">
                    <a:solidFill>
                      <a:prstClr val="black"/>
                    </a:solidFill>
                  </a:rPr>
                  <a:t>Prev</a:t>
                </a:r>
                <a:endParaRPr lang="en-US" sz="1000" dirty="0">
                  <a:solidFill>
                    <a:prstClr val="black"/>
                  </a:solidFill>
                </a:endParaRPr>
              </a:p>
            </p:txBody>
          </p:sp>
          <p:sp>
            <p:nvSpPr>
              <p:cNvPr id="205" name="204 CuadroTexto"/>
              <p:cNvSpPr txBox="1"/>
              <p:nvPr/>
            </p:nvSpPr>
            <p:spPr>
              <a:xfrm>
                <a:off x="3590302" y="3505200"/>
                <a:ext cx="456844" cy="246221"/>
              </a:xfrm>
              <a:prstGeom prst="rect">
                <a:avLst/>
              </a:prstGeom>
              <a:noFill/>
            </p:spPr>
            <p:txBody>
              <a:bodyPr wrap="square" rtlCol="0">
                <a:spAutoFit/>
              </a:bodyPr>
              <a:lstStyle/>
              <a:p>
                <a:r>
                  <a:rPr lang="en-US" sz="1000" dirty="0" smtClean="0">
                    <a:solidFill>
                      <a:prstClr val="black"/>
                    </a:solidFill>
                  </a:rPr>
                  <a:t>Next</a:t>
                </a:r>
                <a:endParaRPr lang="en-US" sz="1000" dirty="0">
                  <a:solidFill>
                    <a:prstClr val="black"/>
                  </a:solidFill>
                </a:endParaRPr>
              </a:p>
            </p:txBody>
          </p:sp>
          <p:cxnSp>
            <p:nvCxnSpPr>
              <p:cNvPr id="206" name="205 Conector recto"/>
              <p:cNvCxnSpPr/>
              <p:nvPr/>
            </p:nvCxnSpPr>
            <p:spPr>
              <a:xfrm>
                <a:off x="3301928" y="376294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7" name="206 Conector recto"/>
              <p:cNvCxnSpPr/>
              <p:nvPr/>
            </p:nvCxnSpPr>
            <p:spPr>
              <a:xfrm>
                <a:off x="3301927" y="380567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8" name="207 Conector recto"/>
              <p:cNvCxnSpPr/>
              <p:nvPr/>
            </p:nvCxnSpPr>
            <p:spPr>
              <a:xfrm>
                <a:off x="3309046" y="385552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9" name="208 Conector recto"/>
              <p:cNvCxnSpPr/>
              <p:nvPr/>
            </p:nvCxnSpPr>
            <p:spPr>
              <a:xfrm>
                <a:off x="3309045" y="389825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0" name="209 Conector recto"/>
              <p:cNvCxnSpPr/>
              <p:nvPr/>
            </p:nvCxnSpPr>
            <p:spPr>
              <a:xfrm>
                <a:off x="3291954" y="408626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1" name="210 Conector recto"/>
              <p:cNvCxnSpPr/>
              <p:nvPr/>
            </p:nvCxnSpPr>
            <p:spPr>
              <a:xfrm>
                <a:off x="3291953" y="412899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2" name="211 Conector recto"/>
              <p:cNvCxnSpPr/>
              <p:nvPr/>
            </p:nvCxnSpPr>
            <p:spPr>
              <a:xfrm>
                <a:off x="3299072" y="417884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3" name="212 Conector recto"/>
              <p:cNvCxnSpPr/>
              <p:nvPr/>
            </p:nvCxnSpPr>
            <p:spPr>
              <a:xfrm>
                <a:off x="3299071" y="422157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4" name="213 Conector recto"/>
              <p:cNvCxnSpPr/>
              <p:nvPr/>
            </p:nvCxnSpPr>
            <p:spPr>
              <a:xfrm>
                <a:off x="3291954" y="4291368"/>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5" name="214 Conector recto"/>
              <p:cNvCxnSpPr/>
              <p:nvPr/>
            </p:nvCxnSpPr>
            <p:spPr>
              <a:xfrm>
                <a:off x="3291953" y="4334098"/>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6" name="215 Conector recto"/>
              <p:cNvCxnSpPr/>
              <p:nvPr/>
            </p:nvCxnSpPr>
            <p:spPr>
              <a:xfrm>
                <a:off x="3299072" y="4383946"/>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7" name="216 Conector recto"/>
              <p:cNvCxnSpPr/>
              <p:nvPr/>
            </p:nvCxnSpPr>
            <p:spPr>
              <a:xfrm>
                <a:off x="3299071" y="4426676"/>
                <a:ext cx="566777"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19" name="218 Grupo"/>
            <p:cNvGrpSpPr/>
            <p:nvPr/>
          </p:nvGrpSpPr>
          <p:grpSpPr>
            <a:xfrm>
              <a:off x="7468311" y="5485377"/>
              <a:ext cx="989889" cy="984474"/>
              <a:chOff x="3149125" y="3505200"/>
              <a:chExt cx="989889" cy="984474"/>
            </a:xfrm>
          </p:grpSpPr>
          <p:sp>
            <p:nvSpPr>
              <p:cNvPr id="220" name="219 Rectángulo"/>
              <p:cNvSpPr/>
              <p:nvPr/>
            </p:nvSpPr>
            <p:spPr>
              <a:xfrm>
                <a:off x="3200400" y="3538954"/>
                <a:ext cx="762000" cy="95072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21" name="220 CuadroTexto"/>
              <p:cNvSpPr txBox="1"/>
              <p:nvPr/>
            </p:nvSpPr>
            <p:spPr>
              <a:xfrm>
                <a:off x="3158384" y="3865565"/>
                <a:ext cx="980630" cy="246221"/>
              </a:xfrm>
              <a:prstGeom prst="rect">
                <a:avLst/>
              </a:prstGeom>
              <a:noFill/>
            </p:spPr>
            <p:txBody>
              <a:bodyPr wrap="square" rtlCol="0">
                <a:spAutoFit/>
              </a:bodyPr>
              <a:lstStyle/>
              <a:p>
                <a:r>
                  <a:rPr lang="en-US" sz="1000" dirty="0" smtClean="0">
                    <a:solidFill>
                      <a:prstClr val="black"/>
                    </a:solidFill>
                  </a:rPr>
                  <a:t>Rows of Data</a:t>
                </a:r>
                <a:endParaRPr lang="en-US" sz="1000" dirty="0">
                  <a:solidFill>
                    <a:prstClr val="black"/>
                  </a:solidFill>
                </a:endParaRPr>
              </a:p>
            </p:txBody>
          </p:sp>
          <p:sp>
            <p:nvSpPr>
              <p:cNvPr id="222" name="221 CuadroTexto"/>
              <p:cNvSpPr txBox="1"/>
              <p:nvPr/>
            </p:nvSpPr>
            <p:spPr>
              <a:xfrm>
                <a:off x="3149125" y="3508177"/>
                <a:ext cx="456844" cy="246221"/>
              </a:xfrm>
              <a:prstGeom prst="rect">
                <a:avLst/>
              </a:prstGeom>
              <a:noFill/>
            </p:spPr>
            <p:txBody>
              <a:bodyPr wrap="square" rtlCol="0">
                <a:spAutoFit/>
              </a:bodyPr>
              <a:lstStyle/>
              <a:p>
                <a:r>
                  <a:rPr lang="en-US" sz="1000" dirty="0" err="1" smtClean="0">
                    <a:solidFill>
                      <a:prstClr val="black"/>
                    </a:solidFill>
                  </a:rPr>
                  <a:t>Prev</a:t>
                </a:r>
                <a:endParaRPr lang="en-US" sz="1000" dirty="0">
                  <a:solidFill>
                    <a:prstClr val="black"/>
                  </a:solidFill>
                </a:endParaRPr>
              </a:p>
            </p:txBody>
          </p:sp>
          <p:sp>
            <p:nvSpPr>
              <p:cNvPr id="223" name="222 CuadroTexto"/>
              <p:cNvSpPr txBox="1"/>
              <p:nvPr/>
            </p:nvSpPr>
            <p:spPr>
              <a:xfrm>
                <a:off x="3590302" y="3505200"/>
                <a:ext cx="456844" cy="246221"/>
              </a:xfrm>
              <a:prstGeom prst="rect">
                <a:avLst/>
              </a:prstGeom>
              <a:noFill/>
            </p:spPr>
            <p:txBody>
              <a:bodyPr wrap="square" rtlCol="0">
                <a:spAutoFit/>
              </a:bodyPr>
              <a:lstStyle/>
              <a:p>
                <a:r>
                  <a:rPr lang="en-US" sz="1000" dirty="0" smtClean="0">
                    <a:solidFill>
                      <a:prstClr val="black"/>
                    </a:solidFill>
                  </a:rPr>
                  <a:t>Next</a:t>
                </a:r>
                <a:endParaRPr lang="en-US" sz="1000" dirty="0">
                  <a:solidFill>
                    <a:prstClr val="black"/>
                  </a:solidFill>
                </a:endParaRPr>
              </a:p>
            </p:txBody>
          </p:sp>
          <p:cxnSp>
            <p:nvCxnSpPr>
              <p:cNvPr id="224" name="223 Conector recto"/>
              <p:cNvCxnSpPr/>
              <p:nvPr/>
            </p:nvCxnSpPr>
            <p:spPr>
              <a:xfrm>
                <a:off x="3301928" y="376294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5" name="224 Conector recto"/>
              <p:cNvCxnSpPr/>
              <p:nvPr/>
            </p:nvCxnSpPr>
            <p:spPr>
              <a:xfrm>
                <a:off x="3301927" y="380567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6" name="225 Conector recto"/>
              <p:cNvCxnSpPr/>
              <p:nvPr/>
            </p:nvCxnSpPr>
            <p:spPr>
              <a:xfrm>
                <a:off x="3309046" y="385552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7" name="226 Conector recto"/>
              <p:cNvCxnSpPr/>
              <p:nvPr/>
            </p:nvCxnSpPr>
            <p:spPr>
              <a:xfrm>
                <a:off x="3309045" y="389825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8" name="227 Conector recto"/>
              <p:cNvCxnSpPr/>
              <p:nvPr/>
            </p:nvCxnSpPr>
            <p:spPr>
              <a:xfrm>
                <a:off x="3291954" y="408626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9" name="228 Conector recto"/>
              <p:cNvCxnSpPr/>
              <p:nvPr/>
            </p:nvCxnSpPr>
            <p:spPr>
              <a:xfrm>
                <a:off x="3291953" y="412899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0" name="229 Conector recto"/>
              <p:cNvCxnSpPr/>
              <p:nvPr/>
            </p:nvCxnSpPr>
            <p:spPr>
              <a:xfrm>
                <a:off x="3299072" y="417884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1" name="230 Conector recto"/>
              <p:cNvCxnSpPr/>
              <p:nvPr/>
            </p:nvCxnSpPr>
            <p:spPr>
              <a:xfrm>
                <a:off x="3299071" y="422157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2" name="231 Conector recto"/>
              <p:cNvCxnSpPr/>
              <p:nvPr/>
            </p:nvCxnSpPr>
            <p:spPr>
              <a:xfrm>
                <a:off x="3291954" y="4291368"/>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3" name="232 Conector recto"/>
              <p:cNvCxnSpPr/>
              <p:nvPr/>
            </p:nvCxnSpPr>
            <p:spPr>
              <a:xfrm>
                <a:off x="3291953" y="4334098"/>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4" name="233 Conector recto"/>
              <p:cNvCxnSpPr/>
              <p:nvPr/>
            </p:nvCxnSpPr>
            <p:spPr>
              <a:xfrm>
                <a:off x="3299072" y="4383946"/>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5" name="234 Conector recto"/>
              <p:cNvCxnSpPr/>
              <p:nvPr/>
            </p:nvCxnSpPr>
            <p:spPr>
              <a:xfrm>
                <a:off x="3299071" y="4426676"/>
                <a:ext cx="566777"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36" name="235 Grupo"/>
            <p:cNvGrpSpPr/>
            <p:nvPr/>
          </p:nvGrpSpPr>
          <p:grpSpPr>
            <a:xfrm>
              <a:off x="3896170" y="2771442"/>
              <a:ext cx="980630" cy="984474"/>
              <a:chOff x="3115654" y="3505200"/>
              <a:chExt cx="980630" cy="984474"/>
            </a:xfrm>
          </p:grpSpPr>
          <p:sp>
            <p:nvSpPr>
              <p:cNvPr id="237" name="236 Rectángulo"/>
              <p:cNvSpPr/>
              <p:nvPr/>
            </p:nvSpPr>
            <p:spPr>
              <a:xfrm>
                <a:off x="3200400" y="3538954"/>
                <a:ext cx="762000" cy="95072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8" name="237 CuadroTexto"/>
              <p:cNvSpPr txBox="1"/>
              <p:nvPr/>
            </p:nvSpPr>
            <p:spPr>
              <a:xfrm>
                <a:off x="3115654" y="3865565"/>
                <a:ext cx="980630" cy="246221"/>
              </a:xfrm>
              <a:prstGeom prst="rect">
                <a:avLst/>
              </a:prstGeom>
              <a:noFill/>
            </p:spPr>
            <p:txBody>
              <a:bodyPr wrap="square" rtlCol="0">
                <a:spAutoFit/>
              </a:bodyPr>
              <a:lstStyle/>
              <a:p>
                <a:pPr algn="ctr"/>
                <a:r>
                  <a:rPr lang="en-US" sz="1000" dirty="0" smtClean="0">
                    <a:solidFill>
                      <a:prstClr val="black"/>
                    </a:solidFill>
                  </a:rPr>
                  <a:t>Index rows</a:t>
                </a:r>
                <a:endParaRPr lang="en-US" sz="1000" dirty="0">
                  <a:solidFill>
                    <a:prstClr val="black"/>
                  </a:solidFill>
                </a:endParaRPr>
              </a:p>
            </p:txBody>
          </p:sp>
          <p:sp>
            <p:nvSpPr>
              <p:cNvPr id="239" name="238 CuadroTexto"/>
              <p:cNvSpPr txBox="1"/>
              <p:nvPr/>
            </p:nvSpPr>
            <p:spPr>
              <a:xfrm>
                <a:off x="3149125" y="3508177"/>
                <a:ext cx="456844" cy="246221"/>
              </a:xfrm>
              <a:prstGeom prst="rect">
                <a:avLst/>
              </a:prstGeom>
              <a:noFill/>
            </p:spPr>
            <p:txBody>
              <a:bodyPr wrap="square" rtlCol="0">
                <a:spAutoFit/>
              </a:bodyPr>
              <a:lstStyle/>
              <a:p>
                <a:r>
                  <a:rPr lang="en-US" sz="1000" dirty="0" err="1" smtClean="0">
                    <a:solidFill>
                      <a:prstClr val="black"/>
                    </a:solidFill>
                  </a:rPr>
                  <a:t>Prev</a:t>
                </a:r>
                <a:endParaRPr lang="en-US" sz="1000" dirty="0">
                  <a:solidFill>
                    <a:prstClr val="black"/>
                  </a:solidFill>
                </a:endParaRPr>
              </a:p>
            </p:txBody>
          </p:sp>
          <p:sp>
            <p:nvSpPr>
              <p:cNvPr id="240" name="239 CuadroTexto"/>
              <p:cNvSpPr txBox="1"/>
              <p:nvPr/>
            </p:nvSpPr>
            <p:spPr>
              <a:xfrm>
                <a:off x="3590302" y="3505200"/>
                <a:ext cx="456844" cy="246221"/>
              </a:xfrm>
              <a:prstGeom prst="rect">
                <a:avLst/>
              </a:prstGeom>
              <a:noFill/>
            </p:spPr>
            <p:txBody>
              <a:bodyPr wrap="square" rtlCol="0">
                <a:spAutoFit/>
              </a:bodyPr>
              <a:lstStyle/>
              <a:p>
                <a:r>
                  <a:rPr lang="en-US" sz="1000" dirty="0" smtClean="0">
                    <a:solidFill>
                      <a:prstClr val="black"/>
                    </a:solidFill>
                  </a:rPr>
                  <a:t>Next</a:t>
                </a:r>
                <a:endParaRPr lang="en-US" sz="1000" dirty="0">
                  <a:solidFill>
                    <a:prstClr val="black"/>
                  </a:solidFill>
                </a:endParaRPr>
              </a:p>
            </p:txBody>
          </p:sp>
          <p:cxnSp>
            <p:nvCxnSpPr>
              <p:cNvPr id="241" name="240 Conector recto"/>
              <p:cNvCxnSpPr/>
              <p:nvPr/>
            </p:nvCxnSpPr>
            <p:spPr>
              <a:xfrm>
                <a:off x="3301928" y="376294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2" name="241 Conector recto"/>
              <p:cNvCxnSpPr/>
              <p:nvPr/>
            </p:nvCxnSpPr>
            <p:spPr>
              <a:xfrm>
                <a:off x="3301927" y="380567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3" name="242 Conector recto"/>
              <p:cNvCxnSpPr/>
              <p:nvPr/>
            </p:nvCxnSpPr>
            <p:spPr>
              <a:xfrm>
                <a:off x="3309046" y="385552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4" name="243 Conector recto"/>
              <p:cNvCxnSpPr/>
              <p:nvPr/>
            </p:nvCxnSpPr>
            <p:spPr>
              <a:xfrm>
                <a:off x="3309045" y="389825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5" name="244 Conector recto"/>
              <p:cNvCxnSpPr/>
              <p:nvPr/>
            </p:nvCxnSpPr>
            <p:spPr>
              <a:xfrm>
                <a:off x="3291954" y="408626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6" name="245 Conector recto"/>
              <p:cNvCxnSpPr/>
              <p:nvPr/>
            </p:nvCxnSpPr>
            <p:spPr>
              <a:xfrm>
                <a:off x="3291953" y="412899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7" name="246 Conector recto"/>
              <p:cNvCxnSpPr/>
              <p:nvPr/>
            </p:nvCxnSpPr>
            <p:spPr>
              <a:xfrm>
                <a:off x="3299072" y="417884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8" name="247 Conector recto"/>
              <p:cNvCxnSpPr/>
              <p:nvPr/>
            </p:nvCxnSpPr>
            <p:spPr>
              <a:xfrm>
                <a:off x="3299071" y="422157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9" name="248 Conector recto"/>
              <p:cNvCxnSpPr/>
              <p:nvPr/>
            </p:nvCxnSpPr>
            <p:spPr>
              <a:xfrm>
                <a:off x="3291954" y="4291368"/>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0" name="249 Conector recto"/>
              <p:cNvCxnSpPr/>
              <p:nvPr/>
            </p:nvCxnSpPr>
            <p:spPr>
              <a:xfrm>
                <a:off x="3291953" y="4334098"/>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1" name="250 Conector recto"/>
              <p:cNvCxnSpPr/>
              <p:nvPr/>
            </p:nvCxnSpPr>
            <p:spPr>
              <a:xfrm>
                <a:off x="3299072" y="4383946"/>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2" name="251 Conector recto"/>
              <p:cNvCxnSpPr/>
              <p:nvPr/>
            </p:nvCxnSpPr>
            <p:spPr>
              <a:xfrm>
                <a:off x="3299071" y="4426676"/>
                <a:ext cx="566777"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53" name="252 Grupo"/>
            <p:cNvGrpSpPr/>
            <p:nvPr/>
          </p:nvGrpSpPr>
          <p:grpSpPr>
            <a:xfrm>
              <a:off x="5867400" y="2771442"/>
              <a:ext cx="980630" cy="984474"/>
              <a:chOff x="3115654" y="3505200"/>
              <a:chExt cx="980630" cy="984474"/>
            </a:xfrm>
          </p:grpSpPr>
          <p:sp>
            <p:nvSpPr>
              <p:cNvPr id="254" name="253 Rectángulo"/>
              <p:cNvSpPr/>
              <p:nvPr/>
            </p:nvSpPr>
            <p:spPr>
              <a:xfrm>
                <a:off x="3200400" y="3538954"/>
                <a:ext cx="762000" cy="95072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55" name="254 CuadroTexto"/>
              <p:cNvSpPr txBox="1"/>
              <p:nvPr/>
            </p:nvSpPr>
            <p:spPr>
              <a:xfrm>
                <a:off x="3115654" y="3865565"/>
                <a:ext cx="980630" cy="246221"/>
              </a:xfrm>
              <a:prstGeom prst="rect">
                <a:avLst/>
              </a:prstGeom>
              <a:noFill/>
            </p:spPr>
            <p:txBody>
              <a:bodyPr wrap="square" rtlCol="0">
                <a:spAutoFit/>
              </a:bodyPr>
              <a:lstStyle/>
              <a:p>
                <a:pPr algn="ctr"/>
                <a:r>
                  <a:rPr lang="en-US" sz="1000" dirty="0" smtClean="0">
                    <a:solidFill>
                      <a:prstClr val="black"/>
                    </a:solidFill>
                  </a:rPr>
                  <a:t>Index rows</a:t>
                </a:r>
                <a:endParaRPr lang="en-US" sz="1000" dirty="0">
                  <a:solidFill>
                    <a:prstClr val="black"/>
                  </a:solidFill>
                </a:endParaRPr>
              </a:p>
            </p:txBody>
          </p:sp>
          <p:sp>
            <p:nvSpPr>
              <p:cNvPr id="256" name="255 CuadroTexto"/>
              <p:cNvSpPr txBox="1"/>
              <p:nvPr/>
            </p:nvSpPr>
            <p:spPr>
              <a:xfrm>
                <a:off x="3149125" y="3508177"/>
                <a:ext cx="456844" cy="246221"/>
              </a:xfrm>
              <a:prstGeom prst="rect">
                <a:avLst/>
              </a:prstGeom>
              <a:noFill/>
            </p:spPr>
            <p:txBody>
              <a:bodyPr wrap="square" rtlCol="0">
                <a:spAutoFit/>
              </a:bodyPr>
              <a:lstStyle/>
              <a:p>
                <a:r>
                  <a:rPr lang="en-US" sz="1000" dirty="0" err="1" smtClean="0">
                    <a:solidFill>
                      <a:prstClr val="black"/>
                    </a:solidFill>
                  </a:rPr>
                  <a:t>Prev</a:t>
                </a:r>
                <a:endParaRPr lang="en-US" sz="1000" dirty="0">
                  <a:solidFill>
                    <a:prstClr val="black"/>
                  </a:solidFill>
                </a:endParaRPr>
              </a:p>
            </p:txBody>
          </p:sp>
          <p:sp>
            <p:nvSpPr>
              <p:cNvPr id="257" name="256 CuadroTexto"/>
              <p:cNvSpPr txBox="1"/>
              <p:nvPr/>
            </p:nvSpPr>
            <p:spPr>
              <a:xfrm>
                <a:off x="3590302" y="3505200"/>
                <a:ext cx="456844" cy="246221"/>
              </a:xfrm>
              <a:prstGeom prst="rect">
                <a:avLst/>
              </a:prstGeom>
              <a:noFill/>
            </p:spPr>
            <p:txBody>
              <a:bodyPr wrap="square" rtlCol="0">
                <a:spAutoFit/>
              </a:bodyPr>
              <a:lstStyle/>
              <a:p>
                <a:r>
                  <a:rPr lang="en-US" sz="1000" dirty="0" smtClean="0">
                    <a:solidFill>
                      <a:prstClr val="black"/>
                    </a:solidFill>
                  </a:rPr>
                  <a:t>Next</a:t>
                </a:r>
                <a:endParaRPr lang="en-US" sz="1000" dirty="0">
                  <a:solidFill>
                    <a:prstClr val="black"/>
                  </a:solidFill>
                </a:endParaRPr>
              </a:p>
            </p:txBody>
          </p:sp>
          <p:cxnSp>
            <p:nvCxnSpPr>
              <p:cNvPr id="258" name="257 Conector recto"/>
              <p:cNvCxnSpPr/>
              <p:nvPr/>
            </p:nvCxnSpPr>
            <p:spPr>
              <a:xfrm>
                <a:off x="3301928" y="376294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9" name="258 Conector recto"/>
              <p:cNvCxnSpPr/>
              <p:nvPr/>
            </p:nvCxnSpPr>
            <p:spPr>
              <a:xfrm>
                <a:off x="3301927" y="380567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0" name="259 Conector recto"/>
              <p:cNvCxnSpPr/>
              <p:nvPr/>
            </p:nvCxnSpPr>
            <p:spPr>
              <a:xfrm>
                <a:off x="3309046" y="385552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1" name="260 Conector recto"/>
              <p:cNvCxnSpPr/>
              <p:nvPr/>
            </p:nvCxnSpPr>
            <p:spPr>
              <a:xfrm>
                <a:off x="3309045" y="389825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2" name="261 Conector recto"/>
              <p:cNvCxnSpPr/>
              <p:nvPr/>
            </p:nvCxnSpPr>
            <p:spPr>
              <a:xfrm>
                <a:off x="3291954" y="408626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3" name="262 Conector recto"/>
              <p:cNvCxnSpPr/>
              <p:nvPr/>
            </p:nvCxnSpPr>
            <p:spPr>
              <a:xfrm>
                <a:off x="3291953" y="412899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4" name="263 Conector recto"/>
              <p:cNvCxnSpPr/>
              <p:nvPr/>
            </p:nvCxnSpPr>
            <p:spPr>
              <a:xfrm>
                <a:off x="3299072" y="417884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5" name="264 Conector recto"/>
              <p:cNvCxnSpPr/>
              <p:nvPr/>
            </p:nvCxnSpPr>
            <p:spPr>
              <a:xfrm>
                <a:off x="3299071" y="422157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6" name="265 Conector recto"/>
              <p:cNvCxnSpPr/>
              <p:nvPr/>
            </p:nvCxnSpPr>
            <p:spPr>
              <a:xfrm>
                <a:off x="3291954" y="4291368"/>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7" name="266 Conector recto"/>
              <p:cNvCxnSpPr/>
              <p:nvPr/>
            </p:nvCxnSpPr>
            <p:spPr>
              <a:xfrm>
                <a:off x="3291953" y="4334098"/>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8" name="267 Conector recto"/>
              <p:cNvCxnSpPr/>
              <p:nvPr/>
            </p:nvCxnSpPr>
            <p:spPr>
              <a:xfrm>
                <a:off x="3299072" y="4383946"/>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9" name="268 Conector recto"/>
              <p:cNvCxnSpPr/>
              <p:nvPr/>
            </p:nvCxnSpPr>
            <p:spPr>
              <a:xfrm>
                <a:off x="3299071" y="4426676"/>
                <a:ext cx="566777"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5" name="24 Conector recto"/>
            <p:cNvCxnSpPr/>
            <p:nvPr/>
          </p:nvCxnSpPr>
          <p:spPr>
            <a:xfrm flipV="1">
              <a:off x="381000" y="5334000"/>
              <a:ext cx="0" cy="409121"/>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26 Conector recto"/>
            <p:cNvCxnSpPr/>
            <p:nvPr/>
          </p:nvCxnSpPr>
          <p:spPr>
            <a:xfrm flipV="1">
              <a:off x="1629698" y="5334000"/>
              <a:ext cx="0" cy="409121"/>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28 Conector recto"/>
            <p:cNvCxnSpPr/>
            <p:nvPr/>
          </p:nvCxnSpPr>
          <p:spPr>
            <a:xfrm flipV="1">
              <a:off x="2891327" y="5334000"/>
              <a:ext cx="0" cy="409121"/>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30 Conector recto"/>
            <p:cNvCxnSpPr/>
            <p:nvPr/>
          </p:nvCxnSpPr>
          <p:spPr>
            <a:xfrm flipV="1">
              <a:off x="4852585" y="3445084"/>
              <a:ext cx="0" cy="22980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32 Conector recto"/>
            <p:cNvCxnSpPr/>
            <p:nvPr/>
          </p:nvCxnSpPr>
          <p:spPr>
            <a:xfrm flipV="1">
              <a:off x="6071785" y="5334000"/>
              <a:ext cx="0" cy="400575"/>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34 Conector recto"/>
            <p:cNvCxnSpPr/>
            <p:nvPr/>
          </p:nvCxnSpPr>
          <p:spPr>
            <a:xfrm flipV="1">
              <a:off x="7296774" y="5334000"/>
              <a:ext cx="0" cy="39759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38 Conector recto"/>
            <p:cNvCxnSpPr/>
            <p:nvPr/>
          </p:nvCxnSpPr>
          <p:spPr>
            <a:xfrm flipH="1">
              <a:off x="3266880" y="3140284"/>
              <a:ext cx="7140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0" name="269 Conector recto"/>
            <p:cNvCxnSpPr/>
            <p:nvPr/>
          </p:nvCxnSpPr>
          <p:spPr>
            <a:xfrm flipH="1">
              <a:off x="3479634" y="3232862"/>
              <a:ext cx="5012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1" name="270 Conector recto"/>
            <p:cNvCxnSpPr/>
            <p:nvPr/>
          </p:nvCxnSpPr>
          <p:spPr>
            <a:xfrm flipH="1">
              <a:off x="3546042" y="3343960"/>
              <a:ext cx="43487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49 Conector recto"/>
            <p:cNvCxnSpPr/>
            <p:nvPr/>
          </p:nvCxnSpPr>
          <p:spPr>
            <a:xfrm>
              <a:off x="4744777" y="3445084"/>
              <a:ext cx="1144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57 Conector recto"/>
            <p:cNvCxnSpPr/>
            <p:nvPr/>
          </p:nvCxnSpPr>
          <p:spPr>
            <a:xfrm>
              <a:off x="4751466" y="3574702"/>
              <a:ext cx="2587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2" name="271 Conector recto"/>
            <p:cNvCxnSpPr/>
            <p:nvPr/>
          </p:nvCxnSpPr>
          <p:spPr>
            <a:xfrm>
              <a:off x="4751466" y="3687548"/>
              <a:ext cx="66435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5" name="274 Conector recto"/>
            <p:cNvCxnSpPr/>
            <p:nvPr/>
          </p:nvCxnSpPr>
          <p:spPr>
            <a:xfrm flipH="1">
              <a:off x="381001" y="3140284"/>
              <a:ext cx="2885878" cy="219371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7" name="276 Conector recto"/>
            <p:cNvCxnSpPr/>
            <p:nvPr/>
          </p:nvCxnSpPr>
          <p:spPr>
            <a:xfrm flipH="1">
              <a:off x="1629700" y="3237134"/>
              <a:ext cx="1834973" cy="209686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9" name="278 Conector recto"/>
            <p:cNvCxnSpPr/>
            <p:nvPr/>
          </p:nvCxnSpPr>
          <p:spPr>
            <a:xfrm flipH="1">
              <a:off x="2891327" y="3343960"/>
              <a:ext cx="654714" cy="199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1" name="280 Conector recto"/>
            <p:cNvCxnSpPr/>
            <p:nvPr/>
          </p:nvCxnSpPr>
          <p:spPr>
            <a:xfrm>
              <a:off x="5010255" y="3574702"/>
              <a:ext cx="1061530" cy="175929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7" name="286 Conector recto"/>
            <p:cNvCxnSpPr/>
            <p:nvPr/>
          </p:nvCxnSpPr>
          <p:spPr>
            <a:xfrm>
              <a:off x="5415824" y="3692918"/>
              <a:ext cx="1880950" cy="164108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9" name="288 Conector recto de flecha"/>
            <p:cNvCxnSpPr/>
            <p:nvPr/>
          </p:nvCxnSpPr>
          <p:spPr>
            <a:xfrm flipV="1">
              <a:off x="381000" y="5731598"/>
              <a:ext cx="199402" cy="297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1" name="290 Conector recto de flecha"/>
            <p:cNvCxnSpPr/>
            <p:nvPr/>
          </p:nvCxnSpPr>
          <p:spPr>
            <a:xfrm flipV="1">
              <a:off x="1629698" y="5731598"/>
              <a:ext cx="205369" cy="297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3" name="292 Conector recto de flecha"/>
            <p:cNvCxnSpPr/>
            <p:nvPr/>
          </p:nvCxnSpPr>
          <p:spPr>
            <a:xfrm>
              <a:off x="2891327" y="5734575"/>
              <a:ext cx="19840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7" name="296 Conector recto de flecha"/>
            <p:cNvCxnSpPr/>
            <p:nvPr/>
          </p:nvCxnSpPr>
          <p:spPr>
            <a:xfrm>
              <a:off x="6071785" y="5731598"/>
              <a:ext cx="193135" cy="115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9" name="298 Conector recto de flecha"/>
            <p:cNvCxnSpPr/>
            <p:nvPr/>
          </p:nvCxnSpPr>
          <p:spPr>
            <a:xfrm>
              <a:off x="7296774" y="5731598"/>
              <a:ext cx="22281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0" name="309 Conector recto de flecha"/>
            <p:cNvCxnSpPr/>
            <p:nvPr/>
          </p:nvCxnSpPr>
          <p:spPr>
            <a:xfrm>
              <a:off x="4852585" y="5734575"/>
              <a:ext cx="157670" cy="85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314" name="313 Grupo"/>
            <p:cNvGrpSpPr/>
            <p:nvPr/>
          </p:nvGrpSpPr>
          <p:grpSpPr>
            <a:xfrm>
              <a:off x="3896170" y="858933"/>
              <a:ext cx="980630" cy="984474"/>
              <a:chOff x="3115654" y="3505200"/>
              <a:chExt cx="980630" cy="984474"/>
            </a:xfrm>
          </p:grpSpPr>
          <p:sp>
            <p:nvSpPr>
              <p:cNvPr id="315" name="314 Rectángulo"/>
              <p:cNvSpPr/>
              <p:nvPr/>
            </p:nvSpPr>
            <p:spPr>
              <a:xfrm>
                <a:off x="3200400" y="3538954"/>
                <a:ext cx="762000" cy="95072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6" name="315 CuadroTexto"/>
              <p:cNvSpPr txBox="1"/>
              <p:nvPr/>
            </p:nvSpPr>
            <p:spPr>
              <a:xfrm>
                <a:off x="3115654" y="3865565"/>
                <a:ext cx="980630" cy="246221"/>
              </a:xfrm>
              <a:prstGeom prst="rect">
                <a:avLst/>
              </a:prstGeom>
              <a:noFill/>
            </p:spPr>
            <p:txBody>
              <a:bodyPr wrap="square" rtlCol="0">
                <a:spAutoFit/>
              </a:bodyPr>
              <a:lstStyle/>
              <a:p>
                <a:pPr algn="ctr"/>
                <a:r>
                  <a:rPr lang="en-US" sz="1000" dirty="0" smtClean="0">
                    <a:solidFill>
                      <a:prstClr val="black"/>
                    </a:solidFill>
                  </a:rPr>
                  <a:t>Index rows</a:t>
                </a:r>
                <a:endParaRPr lang="en-US" sz="1000" dirty="0">
                  <a:solidFill>
                    <a:prstClr val="black"/>
                  </a:solidFill>
                </a:endParaRPr>
              </a:p>
            </p:txBody>
          </p:sp>
          <p:sp>
            <p:nvSpPr>
              <p:cNvPr id="317" name="316 CuadroTexto"/>
              <p:cNvSpPr txBox="1"/>
              <p:nvPr/>
            </p:nvSpPr>
            <p:spPr>
              <a:xfrm>
                <a:off x="3149125" y="3508177"/>
                <a:ext cx="456844" cy="246221"/>
              </a:xfrm>
              <a:prstGeom prst="rect">
                <a:avLst/>
              </a:prstGeom>
              <a:noFill/>
            </p:spPr>
            <p:txBody>
              <a:bodyPr wrap="square" rtlCol="0">
                <a:spAutoFit/>
              </a:bodyPr>
              <a:lstStyle/>
              <a:p>
                <a:r>
                  <a:rPr lang="en-US" sz="1000" dirty="0" err="1" smtClean="0">
                    <a:solidFill>
                      <a:prstClr val="black"/>
                    </a:solidFill>
                  </a:rPr>
                  <a:t>Prev</a:t>
                </a:r>
                <a:endParaRPr lang="en-US" sz="1000" dirty="0">
                  <a:solidFill>
                    <a:prstClr val="black"/>
                  </a:solidFill>
                </a:endParaRPr>
              </a:p>
            </p:txBody>
          </p:sp>
          <p:sp>
            <p:nvSpPr>
              <p:cNvPr id="318" name="317 CuadroTexto"/>
              <p:cNvSpPr txBox="1"/>
              <p:nvPr/>
            </p:nvSpPr>
            <p:spPr>
              <a:xfrm>
                <a:off x="3590302" y="3505200"/>
                <a:ext cx="456844" cy="246221"/>
              </a:xfrm>
              <a:prstGeom prst="rect">
                <a:avLst/>
              </a:prstGeom>
              <a:noFill/>
            </p:spPr>
            <p:txBody>
              <a:bodyPr wrap="square" rtlCol="0">
                <a:spAutoFit/>
              </a:bodyPr>
              <a:lstStyle/>
              <a:p>
                <a:r>
                  <a:rPr lang="en-US" sz="1000" dirty="0" smtClean="0">
                    <a:solidFill>
                      <a:prstClr val="black"/>
                    </a:solidFill>
                  </a:rPr>
                  <a:t>Next</a:t>
                </a:r>
                <a:endParaRPr lang="en-US" sz="1000" dirty="0">
                  <a:solidFill>
                    <a:prstClr val="black"/>
                  </a:solidFill>
                </a:endParaRPr>
              </a:p>
            </p:txBody>
          </p:sp>
          <p:cxnSp>
            <p:nvCxnSpPr>
              <p:cNvPr id="319" name="318 Conector recto"/>
              <p:cNvCxnSpPr/>
              <p:nvPr/>
            </p:nvCxnSpPr>
            <p:spPr>
              <a:xfrm>
                <a:off x="3301928" y="376294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0" name="319 Conector recto"/>
              <p:cNvCxnSpPr/>
              <p:nvPr/>
            </p:nvCxnSpPr>
            <p:spPr>
              <a:xfrm>
                <a:off x="3301927" y="380567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1" name="320 Conector recto"/>
              <p:cNvCxnSpPr/>
              <p:nvPr/>
            </p:nvCxnSpPr>
            <p:spPr>
              <a:xfrm>
                <a:off x="3309046" y="385552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2" name="321 Conector recto"/>
              <p:cNvCxnSpPr/>
              <p:nvPr/>
            </p:nvCxnSpPr>
            <p:spPr>
              <a:xfrm>
                <a:off x="3309045" y="389825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3" name="322 Conector recto"/>
              <p:cNvCxnSpPr/>
              <p:nvPr/>
            </p:nvCxnSpPr>
            <p:spPr>
              <a:xfrm>
                <a:off x="3291954" y="408626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4" name="323 Conector recto"/>
              <p:cNvCxnSpPr/>
              <p:nvPr/>
            </p:nvCxnSpPr>
            <p:spPr>
              <a:xfrm>
                <a:off x="3291953" y="4128994"/>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5" name="324 Conector recto"/>
              <p:cNvCxnSpPr/>
              <p:nvPr/>
            </p:nvCxnSpPr>
            <p:spPr>
              <a:xfrm>
                <a:off x="3299072" y="417884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6" name="325 Conector recto"/>
              <p:cNvCxnSpPr/>
              <p:nvPr/>
            </p:nvCxnSpPr>
            <p:spPr>
              <a:xfrm>
                <a:off x="3299071" y="4221572"/>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7" name="326 Conector recto"/>
              <p:cNvCxnSpPr/>
              <p:nvPr/>
            </p:nvCxnSpPr>
            <p:spPr>
              <a:xfrm>
                <a:off x="3291954" y="4291368"/>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8" name="327 Conector recto"/>
              <p:cNvCxnSpPr/>
              <p:nvPr/>
            </p:nvCxnSpPr>
            <p:spPr>
              <a:xfrm>
                <a:off x="3291953" y="4334098"/>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9" name="328 Conector recto"/>
              <p:cNvCxnSpPr/>
              <p:nvPr/>
            </p:nvCxnSpPr>
            <p:spPr>
              <a:xfrm>
                <a:off x="3299072" y="4383946"/>
                <a:ext cx="5667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0" name="329 Conector recto"/>
              <p:cNvCxnSpPr/>
              <p:nvPr/>
            </p:nvCxnSpPr>
            <p:spPr>
              <a:xfrm>
                <a:off x="3299071" y="4426676"/>
                <a:ext cx="566777"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34" name="333 Conector recto"/>
            <p:cNvCxnSpPr/>
            <p:nvPr/>
          </p:nvCxnSpPr>
          <p:spPr>
            <a:xfrm flipH="1">
              <a:off x="1427148" y="1108131"/>
              <a:ext cx="2553768" cy="85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8" name="337 Conector recto"/>
            <p:cNvCxnSpPr/>
            <p:nvPr/>
          </p:nvCxnSpPr>
          <p:spPr>
            <a:xfrm>
              <a:off x="4751466" y="1645101"/>
              <a:ext cx="87711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2" name="341 Conector recto"/>
            <p:cNvCxnSpPr/>
            <p:nvPr/>
          </p:nvCxnSpPr>
          <p:spPr>
            <a:xfrm>
              <a:off x="1427148" y="1116677"/>
              <a:ext cx="0" cy="1900986"/>
            </a:xfrm>
            <a:prstGeom prst="line">
              <a:avLst/>
            </a:prstGeom>
          </p:spPr>
          <p:style>
            <a:lnRef idx="1">
              <a:schemeClr val="accent1"/>
            </a:lnRef>
            <a:fillRef idx="0">
              <a:schemeClr val="accent1"/>
            </a:fillRef>
            <a:effectRef idx="0">
              <a:schemeClr val="accent1"/>
            </a:effectRef>
            <a:fontRef idx="minor">
              <a:schemeClr val="tx1"/>
            </a:fontRef>
          </p:style>
        </p:cxnSp>
        <p:cxnSp>
          <p:nvCxnSpPr>
            <p:cNvPr id="346" name="345 Conector recto"/>
            <p:cNvCxnSpPr/>
            <p:nvPr/>
          </p:nvCxnSpPr>
          <p:spPr>
            <a:xfrm>
              <a:off x="5628579" y="1645101"/>
              <a:ext cx="0" cy="13725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8" name="357 Conector recto de flecha"/>
            <p:cNvCxnSpPr/>
            <p:nvPr/>
          </p:nvCxnSpPr>
          <p:spPr>
            <a:xfrm>
              <a:off x="1427148" y="3029186"/>
              <a:ext cx="396791"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0" name="359 Conector recto de flecha"/>
            <p:cNvCxnSpPr/>
            <p:nvPr/>
          </p:nvCxnSpPr>
          <p:spPr>
            <a:xfrm>
              <a:off x="3733694" y="3042811"/>
              <a:ext cx="221585"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2" name="361 Conector recto de flecha"/>
            <p:cNvCxnSpPr/>
            <p:nvPr/>
          </p:nvCxnSpPr>
          <p:spPr>
            <a:xfrm>
              <a:off x="5628579" y="3017663"/>
              <a:ext cx="320290" cy="115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2" name="371 Conector recto"/>
            <p:cNvCxnSpPr/>
            <p:nvPr/>
          </p:nvCxnSpPr>
          <p:spPr>
            <a:xfrm flipV="1">
              <a:off x="3733694" y="1251985"/>
              <a:ext cx="0" cy="1777201"/>
            </a:xfrm>
            <a:prstGeom prst="line">
              <a:avLst/>
            </a:prstGeom>
          </p:spPr>
          <p:style>
            <a:lnRef idx="1">
              <a:schemeClr val="accent1"/>
            </a:lnRef>
            <a:fillRef idx="0">
              <a:schemeClr val="accent1"/>
            </a:fillRef>
            <a:effectRef idx="0">
              <a:schemeClr val="accent1"/>
            </a:effectRef>
            <a:fontRef idx="minor">
              <a:schemeClr val="tx1"/>
            </a:fontRef>
          </p:style>
        </p:cxnSp>
        <p:cxnSp>
          <p:nvCxnSpPr>
            <p:cNvPr id="374" name="373 Conector recto"/>
            <p:cNvCxnSpPr/>
            <p:nvPr/>
          </p:nvCxnSpPr>
          <p:spPr>
            <a:xfrm>
              <a:off x="3733694" y="1251985"/>
              <a:ext cx="247223" cy="0"/>
            </a:xfrm>
            <a:prstGeom prst="line">
              <a:avLst/>
            </a:prstGeom>
          </p:spPr>
          <p:style>
            <a:lnRef idx="1">
              <a:schemeClr val="accent1"/>
            </a:lnRef>
            <a:fillRef idx="0">
              <a:schemeClr val="accent1"/>
            </a:fillRef>
            <a:effectRef idx="0">
              <a:schemeClr val="accent1"/>
            </a:effectRef>
            <a:fontRef idx="minor">
              <a:schemeClr val="tx1"/>
            </a:fontRef>
          </p:style>
        </p:cxnSp>
        <p:sp>
          <p:nvSpPr>
            <p:cNvPr id="375" name="374 CuadroTexto"/>
            <p:cNvSpPr txBox="1"/>
            <p:nvPr/>
          </p:nvSpPr>
          <p:spPr>
            <a:xfrm>
              <a:off x="6894320" y="3120792"/>
              <a:ext cx="649480" cy="276999"/>
            </a:xfrm>
            <a:prstGeom prst="rect">
              <a:avLst/>
            </a:prstGeom>
            <a:noFill/>
          </p:spPr>
          <p:txBody>
            <a:bodyPr wrap="square" rtlCol="0">
              <a:spAutoFit/>
            </a:bodyPr>
            <a:lstStyle/>
            <a:p>
              <a:r>
                <a:rPr lang="en-US" sz="1200" b="1" dirty="0" smtClean="0">
                  <a:solidFill>
                    <a:prstClr val="black"/>
                  </a:solidFill>
                </a:rPr>
                <a:t>Level 1</a:t>
              </a:r>
              <a:endParaRPr lang="en-US" sz="1200" b="1" dirty="0">
                <a:solidFill>
                  <a:prstClr val="black"/>
                </a:solidFill>
              </a:endParaRPr>
            </a:p>
          </p:txBody>
        </p:sp>
        <p:sp>
          <p:nvSpPr>
            <p:cNvPr id="376" name="375 CuadroTexto"/>
            <p:cNvSpPr txBox="1"/>
            <p:nvPr/>
          </p:nvSpPr>
          <p:spPr>
            <a:xfrm>
              <a:off x="4876800" y="1008644"/>
              <a:ext cx="649480" cy="276999"/>
            </a:xfrm>
            <a:prstGeom prst="rect">
              <a:avLst/>
            </a:prstGeom>
            <a:noFill/>
          </p:spPr>
          <p:txBody>
            <a:bodyPr wrap="square" rtlCol="0">
              <a:spAutoFit/>
            </a:bodyPr>
            <a:lstStyle/>
            <a:p>
              <a:r>
                <a:rPr lang="en-US" sz="1200" b="1" dirty="0" smtClean="0">
                  <a:solidFill>
                    <a:prstClr val="black"/>
                  </a:solidFill>
                </a:rPr>
                <a:t>Level n</a:t>
              </a:r>
              <a:endParaRPr lang="en-US" sz="1200" b="1" dirty="0">
                <a:solidFill>
                  <a:prstClr val="black"/>
                </a:solidFill>
              </a:endParaRPr>
            </a:p>
          </p:txBody>
        </p:sp>
        <p:sp>
          <p:nvSpPr>
            <p:cNvPr id="378" name="377 Flecha curvada hacia abajo"/>
            <p:cNvSpPr/>
            <p:nvPr/>
          </p:nvSpPr>
          <p:spPr>
            <a:xfrm>
              <a:off x="1132774" y="5105400"/>
              <a:ext cx="879440" cy="379977"/>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black"/>
                </a:solidFill>
              </a:endParaRPr>
            </a:p>
          </p:txBody>
        </p:sp>
        <p:sp>
          <p:nvSpPr>
            <p:cNvPr id="379" name="378 Flecha curvada hacia abajo"/>
            <p:cNvSpPr/>
            <p:nvPr/>
          </p:nvSpPr>
          <p:spPr>
            <a:xfrm>
              <a:off x="2503372" y="5105400"/>
              <a:ext cx="763507" cy="379977"/>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black"/>
                </a:solidFill>
              </a:endParaRPr>
            </a:p>
          </p:txBody>
        </p:sp>
        <p:sp>
          <p:nvSpPr>
            <p:cNvPr id="382" name="381 Flecha curvada hacia abajo"/>
            <p:cNvSpPr/>
            <p:nvPr/>
          </p:nvSpPr>
          <p:spPr>
            <a:xfrm>
              <a:off x="5541020" y="5105400"/>
              <a:ext cx="832546" cy="382954"/>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black"/>
                </a:solidFill>
              </a:endParaRPr>
            </a:p>
          </p:txBody>
        </p:sp>
        <p:sp>
          <p:nvSpPr>
            <p:cNvPr id="383" name="382 Flecha curvada hacia abajo"/>
            <p:cNvSpPr/>
            <p:nvPr/>
          </p:nvSpPr>
          <p:spPr>
            <a:xfrm>
              <a:off x="6848030" y="5105400"/>
              <a:ext cx="848703" cy="379977"/>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black"/>
                </a:solidFill>
              </a:endParaRPr>
            </a:p>
          </p:txBody>
        </p:sp>
        <p:sp>
          <p:nvSpPr>
            <p:cNvPr id="384" name="383 CuadroTexto"/>
            <p:cNvSpPr txBox="1"/>
            <p:nvPr/>
          </p:nvSpPr>
          <p:spPr>
            <a:xfrm>
              <a:off x="4168192" y="5866188"/>
              <a:ext cx="403808" cy="276999"/>
            </a:xfrm>
            <a:prstGeom prst="rect">
              <a:avLst/>
            </a:prstGeom>
            <a:noFill/>
          </p:spPr>
          <p:txBody>
            <a:bodyPr wrap="square" rtlCol="0">
              <a:spAutoFit/>
            </a:bodyPr>
            <a:lstStyle/>
            <a:p>
              <a:r>
                <a:rPr lang="en-US" sz="1200" b="1" dirty="0" smtClean="0">
                  <a:solidFill>
                    <a:prstClr val="black"/>
                  </a:solidFill>
                </a:rPr>
                <a:t>……</a:t>
              </a:r>
              <a:endParaRPr lang="en-US" sz="1200" b="1" dirty="0">
                <a:solidFill>
                  <a:prstClr val="black"/>
                </a:solidFill>
              </a:endParaRPr>
            </a:p>
          </p:txBody>
        </p:sp>
        <p:sp>
          <p:nvSpPr>
            <p:cNvPr id="388" name="387 CuadroTexto"/>
            <p:cNvSpPr txBox="1"/>
            <p:nvPr/>
          </p:nvSpPr>
          <p:spPr>
            <a:xfrm>
              <a:off x="7848600" y="2125111"/>
              <a:ext cx="1811220" cy="646331"/>
            </a:xfrm>
            <a:prstGeom prst="rect">
              <a:avLst/>
            </a:prstGeom>
            <a:noFill/>
          </p:spPr>
          <p:txBody>
            <a:bodyPr wrap="square" rtlCol="0">
              <a:spAutoFit/>
            </a:bodyPr>
            <a:lstStyle/>
            <a:p>
              <a:r>
                <a:rPr lang="en-US" sz="1200" b="1" dirty="0" smtClean="0">
                  <a:solidFill>
                    <a:prstClr val="black"/>
                  </a:solidFill>
                </a:rPr>
                <a:t>B-Tree or </a:t>
              </a:r>
            </a:p>
            <a:p>
              <a:r>
                <a:rPr lang="en-US" sz="1200" b="1" dirty="0" smtClean="0">
                  <a:solidFill>
                    <a:prstClr val="black"/>
                  </a:solidFill>
                </a:rPr>
                <a:t>Non-Leaf Level(s)</a:t>
              </a:r>
            </a:p>
            <a:p>
              <a:r>
                <a:rPr lang="en-US" sz="1200" b="1" dirty="0" smtClean="0">
                  <a:solidFill>
                    <a:prstClr val="black"/>
                  </a:solidFill>
                </a:rPr>
                <a:t>1-n</a:t>
              </a:r>
              <a:endParaRPr lang="en-US" sz="1200" b="1" dirty="0">
                <a:solidFill>
                  <a:prstClr val="black"/>
                </a:solidFill>
              </a:endParaRPr>
            </a:p>
          </p:txBody>
        </p:sp>
        <p:grpSp>
          <p:nvGrpSpPr>
            <p:cNvPr id="11" name="10 Grupo"/>
            <p:cNvGrpSpPr/>
            <p:nvPr/>
          </p:nvGrpSpPr>
          <p:grpSpPr>
            <a:xfrm>
              <a:off x="7405999" y="685800"/>
              <a:ext cx="366401" cy="3810000"/>
              <a:chOff x="6670489" y="685800"/>
              <a:chExt cx="366401" cy="3810000"/>
            </a:xfrm>
          </p:grpSpPr>
          <p:cxnSp>
            <p:nvCxnSpPr>
              <p:cNvPr id="5" name="4 Conector recto"/>
              <p:cNvCxnSpPr/>
              <p:nvPr/>
            </p:nvCxnSpPr>
            <p:spPr>
              <a:xfrm>
                <a:off x="6670489" y="685800"/>
                <a:ext cx="35643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3" name="272 Conector recto"/>
              <p:cNvCxnSpPr/>
              <p:nvPr/>
            </p:nvCxnSpPr>
            <p:spPr>
              <a:xfrm>
                <a:off x="6680459" y="4495800"/>
                <a:ext cx="35643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7 Conector recto"/>
              <p:cNvCxnSpPr/>
              <p:nvPr/>
            </p:nvCxnSpPr>
            <p:spPr>
              <a:xfrm>
                <a:off x="7026920" y="685800"/>
                <a:ext cx="9970" cy="381000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274" name="273 Grupo"/>
          <p:cNvGrpSpPr/>
          <p:nvPr/>
        </p:nvGrpSpPr>
        <p:grpSpPr>
          <a:xfrm>
            <a:off x="0" y="9525"/>
            <a:ext cx="9153525" cy="408388"/>
            <a:chOff x="0" y="9525"/>
            <a:chExt cx="9153525" cy="408388"/>
          </a:xfrm>
        </p:grpSpPr>
        <p:sp>
          <p:nvSpPr>
            <p:cNvPr id="276" name="275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Index Internals  |  Structure of an Index</a:t>
              </a:r>
              <a:endParaRPr lang="en-US" b="1" dirty="0">
                <a:solidFill>
                  <a:schemeClr val="bg1"/>
                </a:solidFill>
              </a:endParaRPr>
            </a:p>
          </p:txBody>
        </p:sp>
        <p:pic>
          <p:nvPicPr>
            <p:cNvPr id="278" name="277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80" name="279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82" name="281 Grupo"/>
          <p:cNvGrpSpPr/>
          <p:nvPr/>
        </p:nvGrpSpPr>
        <p:grpSpPr>
          <a:xfrm>
            <a:off x="9525" y="6574392"/>
            <a:ext cx="9134399" cy="277000"/>
            <a:chOff x="9525" y="6574392"/>
            <a:chExt cx="9134399" cy="277000"/>
          </a:xfrm>
        </p:grpSpPr>
        <p:sp>
          <p:nvSpPr>
            <p:cNvPr id="283" name="282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84" name="283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129732203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6231" y="1495425"/>
            <a:ext cx="5114896" cy="3247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9 CuadroTexto"/>
          <p:cNvSpPr txBox="1"/>
          <p:nvPr/>
        </p:nvSpPr>
        <p:spPr>
          <a:xfrm>
            <a:off x="0" y="611509"/>
            <a:ext cx="9146136" cy="738664"/>
          </a:xfrm>
          <a:prstGeom prst="rect">
            <a:avLst/>
          </a:prstGeom>
          <a:noFill/>
        </p:spPr>
        <p:txBody>
          <a:bodyPr wrap="square" rtlCol="0">
            <a:spAutoFit/>
          </a:bodyPr>
          <a:lstStyle/>
          <a:p>
            <a:r>
              <a:rPr lang="en-US" sz="1400" dirty="0" smtClean="0">
                <a:solidFill>
                  <a:prstClr val="black"/>
                </a:solidFill>
              </a:rPr>
              <a:t>Every index has at least 2 levels:  </a:t>
            </a:r>
          </a:p>
          <a:p>
            <a:pPr marL="285750" indent="-285750">
              <a:buFont typeface="Wingdings" pitchFamily="2" charset="2"/>
              <a:buChar char="Ø"/>
            </a:pPr>
            <a:r>
              <a:rPr lang="en-US" sz="1400" dirty="0" smtClean="0">
                <a:solidFill>
                  <a:prstClr val="black"/>
                </a:solidFill>
              </a:rPr>
              <a:t>One </a:t>
            </a:r>
            <a:r>
              <a:rPr lang="en-US" sz="1400" b="1" dirty="0" smtClean="0">
                <a:solidFill>
                  <a:prstClr val="black"/>
                </a:solidFill>
              </a:rPr>
              <a:t>leaf-level</a:t>
            </a:r>
            <a:r>
              <a:rPr lang="en-US" sz="1400" dirty="0" smtClean="0">
                <a:solidFill>
                  <a:prstClr val="black"/>
                </a:solidFill>
              </a:rPr>
              <a:t>, which contains the real data values</a:t>
            </a:r>
          </a:p>
          <a:p>
            <a:pPr marL="285750" indent="-285750">
              <a:buFont typeface="Wingdings" pitchFamily="2" charset="2"/>
              <a:buChar char="Ø"/>
            </a:pPr>
            <a:r>
              <a:rPr lang="en-US" sz="1400" dirty="0" smtClean="0">
                <a:solidFill>
                  <a:prstClr val="black"/>
                </a:solidFill>
              </a:rPr>
              <a:t>One or more </a:t>
            </a:r>
            <a:r>
              <a:rPr lang="en-US" sz="1400" b="1" dirty="0" smtClean="0">
                <a:solidFill>
                  <a:prstClr val="black"/>
                </a:solidFill>
              </a:rPr>
              <a:t>Non-Leaf levels</a:t>
            </a:r>
            <a:r>
              <a:rPr lang="en-US" sz="1400" dirty="0" smtClean="0">
                <a:solidFill>
                  <a:prstClr val="black"/>
                </a:solidFill>
              </a:rPr>
              <a:t>, used for internal navigation and transversal of the index structure</a:t>
            </a:r>
          </a:p>
        </p:txBody>
      </p:sp>
      <p:sp>
        <p:nvSpPr>
          <p:cNvPr id="13" name="12 CuadroTexto"/>
          <p:cNvSpPr txBox="1"/>
          <p:nvPr/>
        </p:nvSpPr>
        <p:spPr>
          <a:xfrm>
            <a:off x="0" y="5133975"/>
            <a:ext cx="9146136" cy="523220"/>
          </a:xfrm>
          <a:prstGeom prst="rect">
            <a:avLst/>
          </a:prstGeom>
          <a:noFill/>
        </p:spPr>
        <p:txBody>
          <a:bodyPr wrap="square" rtlCol="0">
            <a:spAutoFit/>
          </a:bodyPr>
          <a:lstStyle/>
          <a:p>
            <a:r>
              <a:rPr lang="en-US" sz="1400" dirty="0">
                <a:solidFill>
                  <a:prstClr val="black"/>
                </a:solidFill>
              </a:rPr>
              <a:t>Data is only returned from the Leaf level of the index.</a:t>
            </a:r>
          </a:p>
          <a:p>
            <a:r>
              <a:rPr lang="en-US" sz="1400" dirty="0">
                <a:solidFill>
                  <a:prstClr val="black"/>
                </a:solidFill>
              </a:rPr>
              <a:t>SQL Server never uses information from the Intermediate or root levels to return data to the client</a:t>
            </a:r>
          </a:p>
        </p:txBody>
      </p:sp>
      <p:sp>
        <p:nvSpPr>
          <p:cNvPr id="14" name="13 CuadroTexto"/>
          <p:cNvSpPr txBox="1"/>
          <p:nvPr/>
        </p:nvSpPr>
        <p:spPr>
          <a:xfrm>
            <a:off x="152400" y="1935533"/>
            <a:ext cx="2743200" cy="523220"/>
          </a:xfrm>
          <a:prstGeom prst="rect">
            <a:avLst/>
          </a:prstGeom>
          <a:noFill/>
        </p:spPr>
        <p:txBody>
          <a:bodyPr wrap="square" rtlCol="0">
            <a:spAutoFit/>
          </a:bodyPr>
          <a:lstStyle/>
          <a:p>
            <a:r>
              <a:rPr lang="en-US" sz="1400" dirty="0">
                <a:solidFill>
                  <a:prstClr val="black"/>
                </a:solidFill>
              </a:rPr>
              <a:t>The upper portion of the index </a:t>
            </a:r>
            <a:endParaRPr lang="en-US" sz="1400" dirty="0" smtClean="0">
              <a:solidFill>
                <a:prstClr val="black"/>
              </a:solidFill>
            </a:endParaRPr>
          </a:p>
          <a:p>
            <a:r>
              <a:rPr lang="en-US" sz="1400" dirty="0" smtClean="0">
                <a:solidFill>
                  <a:prstClr val="black"/>
                </a:solidFill>
              </a:rPr>
              <a:t>is </a:t>
            </a:r>
            <a:r>
              <a:rPr lang="en-US" sz="1400" dirty="0">
                <a:solidFill>
                  <a:prstClr val="black"/>
                </a:solidFill>
              </a:rPr>
              <a:t>used for navigation </a:t>
            </a:r>
            <a:r>
              <a:rPr lang="en-US" sz="1400" dirty="0" smtClean="0">
                <a:solidFill>
                  <a:prstClr val="black"/>
                </a:solidFill>
              </a:rPr>
              <a:t>only</a:t>
            </a:r>
            <a:endParaRPr lang="en-US" sz="1400" dirty="0">
              <a:solidFill>
                <a:prstClr val="black"/>
              </a:solidFill>
            </a:endParaRPr>
          </a:p>
        </p:txBody>
      </p:sp>
      <p:sp>
        <p:nvSpPr>
          <p:cNvPr id="2" name="1 Rectángulo"/>
          <p:cNvSpPr/>
          <p:nvPr/>
        </p:nvSpPr>
        <p:spPr>
          <a:xfrm>
            <a:off x="3657600" y="1343025"/>
            <a:ext cx="4648200" cy="2057400"/>
          </a:xfrm>
          <a:prstGeom prst="rect">
            <a:avLst/>
          </a:prstGeom>
          <a:no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5" name="14 Rectángulo"/>
          <p:cNvSpPr/>
          <p:nvPr/>
        </p:nvSpPr>
        <p:spPr>
          <a:xfrm>
            <a:off x="3657600" y="3803824"/>
            <a:ext cx="5334000" cy="1196801"/>
          </a:xfrm>
          <a:prstGeom prst="rect">
            <a:avLst/>
          </a:prstGeom>
          <a:no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 name="15 CuadroTexto"/>
          <p:cNvSpPr txBox="1"/>
          <p:nvPr/>
        </p:nvSpPr>
        <p:spPr>
          <a:xfrm>
            <a:off x="152400" y="4010025"/>
            <a:ext cx="2743200" cy="523220"/>
          </a:xfrm>
          <a:prstGeom prst="rect">
            <a:avLst/>
          </a:prstGeom>
          <a:noFill/>
        </p:spPr>
        <p:txBody>
          <a:bodyPr wrap="square" rtlCol="0">
            <a:spAutoFit/>
          </a:bodyPr>
          <a:lstStyle/>
          <a:p>
            <a:r>
              <a:rPr lang="en-US" sz="1400" dirty="0">
                <a:solidFill>
                  <a:prstClr val="black"/>
                </a:solidFill>
              </a:rPr>
              <a:t>The </a:t>
            </a:r>
            <a:r>
              <a:rPr lang="en-US" sz="1400" dirty="0" smtClean="0">
                <a:solidFill>
                  <a:prstClr val="black"/>
                </a:solidFill>
              </a:rPr>
              <a:t>lower portion </a:t>
            </a:r>
            <a:r>
              <a:rPr lang="en-US" sz="1400" dirty="0">
                <a:solidFill>
                  <a:prstClr val="black"/>
                </a:solidFill>
              </a:rPr>
              <a:t>of the index </a:t>
            </a:r>
            <a:r>
              <a:rPr lang="en-US" sz="1400" dirty="0" smtClean="0">
                <a:solidFill>
                  <a:prstClr val="black"/>
                </a:solidFill>
              </a:rPr>
              <a:t>contains </a:t>
            </a:r>
            <a:r>
              <a:rPr lang="en-US" sz="1400" dirty="0">
                <a:solidFill>
                  <a:prstClr val="black"/>
                </a:solidFill>
              </a:rPr>
              <a:t>the </a:t>
            </a:r>
            <a:r>
              <a:rPr lang="en-US" sz="1400" dirty="0" smtClean="0">
                <a:solidFill>
                  <a:prstClr val="black"/>
                </a:solidFill>
              </a:rPr>
              <a:t>actual data</a:t>
            </a:r>
            <a:r>
              <a:rPr lang="en-US" sz="1400" dirty="0">
                <a:solidFill>
                  <a:prstClr val="black"/>
                </a:solidFill>
              </a:rPr>
              <a:t>.</a:t>
            </a:r>
          </a:p>
        </p:txBody>
      </p:sp>
      <p:sp>
        <p:nvSpPr>
          <p:cNvPr id="3" name="2 Flecha derecha"/>
          <p:cNvSpPr/>
          <p:nvPr/>
        </p:nvSpPr>
        <p:spPr>
          <a:xfrm>
            <a:off x="2971800" y="2028825"/>
            <a:ext cx="457200" cy="2484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9" name="18 Flecha derecha"/>
          <p:cNvSpPr/>
          <p:nvPr/>
        </p:nvSpPr>
        <p:spPr>
          <a:xfrm>
            <a:off x="2971800" y="4144113"/>
            <a:ext cx="457200" cy="2484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0" name="19 CuadroTexto"/>
          <p:cNvSpPr txBox="1"/>
          <p:nvPr/>
        </p:nvSpPr>
        <p:spPr>
          <a:xfrm>
            <a:off x="-15667" y="5743575"/>
            <a:ext cx="9146136" cy="523220"/>
          </a:xfrm>
          <a:prstGeom prst="rect">
            <a:avLst/>
          </a:prstGeom>
          <a:noFill/>
        </p:spPr>
        <p:txBody>
          <a:bodyPr wrap="square" rtlCol="0">
            <a:spAutoFit/>
          </a:bodyPr>
          <a:lstStyle/>
          <a:p>
            <a:r>
              <a:rPr lang="en-US" sz="1400" dirty="0">
                <a:solidFill>
                  <a:prstClr val="black"/>
                </a:solidFill>
              </a:rPr>
              <a:t>SQL </a:t>
            </a:r>
            <a:r>
              <a:rPr lang="en-US" sz="1400" dirty="0" smtClean="0">
                <a:solidFill>
                  <a:prstClr val="black"/>
                </a:solidFill>
              </a:rPr>
              <a:t>Server numbers </a:t>
            </a:r>
            <a:r>
              <a:rPr lang="en-US" sz="1400" dirty="0">
                <a:solidFill>
                  <a:prstClr val="black"/>
                </a:solidFill>
              </a:rPr>
              <a:t>the levels from </a:t>
            </a:r>
            <a:r>
              <a:rPr lang="en-US" sz="1400" dirty="0" smtClean="0">
                <a:solidFill>
                  <a:prstClr val="black"/>
                </a:solidFill>
              </a:rPr>
              <a:t>zero </a:t>
            </a:r>
            <a:r>
              <a:rPr lang="en-US" sz="1400" dirty="0">
                <a:solidFill>
                  <a:prstClr val="black"/>
                </a:solidFill>
              </a:rPr>
              <a:t>up to what whatever is the root level. This is called </a:t>
            </a:r>
            <a:r>
              <a:rPr lang="en-US" sz="1400" b="1" dirty="0">
                <a:solidFill>
                  <a:prstClr val="black"/>
                </a:solidFill>
              </a:rPr>
              <a:t>Index Depth</a:t>
            </a:r>
            <a:r>
              <a:rPr lang="en-US" sz="1400" dirty="0">
                <a:solidFill>
                  <a:prstClr val="black"/>
                </a:solidFill>
              </a:rPr>
              <a:t>.</a:t>
            </a:r>
          </a:p>
          <a:p>
            <a:r>
              <a:rPr lang="en-US" sz="1400" dirty="0">
                <a:solidFill>
                  <a:prstClr val="black"/>
                </a:solidFill>
              </a:rPr>
              <a:t>The </a:t>
            </a:r>
            <a:r>
              <a:rPr lang="en-US" sz="1400" dirty="0" smtClean="0">
                <a:solidFill>
                  <a:prstClr val="black"/>
                </a:solidFill>
              </a:rPr>
              <a:t>Root (</a:t>
            </a:r>
            <a:r>
              <a:rPr lang="en-US" sz="1400" i="1" dirty="0" smtClean="0">
                <a:solidFill>
                  <a:prstClr val="black"/>
                </a:solidFill>
              </a:rPr>
              <a:t>Non-Leaf level “n”</a:t>
            </a:r>
            <a:r>
              <a:rPr lang="en-US" sz="1400" dirty="0" smtClean="0">
                <a:solidFill>
                  <a:prstClr val="black"/>
                </a:solidFill>
              </a:rPr>
              <a:t>) </a:t>
            </a:r>
            <a:r>
              <a:rPr lang="en-US" sz="1400" dirty="0">
                <a:solidFill>
                  <a:prstClr val="black"/>
                </a:solidFill>
              </a:rPr>
              <a:t>is always 1 page wide.</a:t>
            </a:r>
          </a:p>
        </p:txBody>
      </p:sp>
      <p:grpSp>
        <p:nvGrpSpPr>
          <p:cNvPr id="23" name="22 Grupo"/>
          <p:cNvGrpSpPr/>
          <p:nvPr/>
        </p:nvGrpSpPr>
        <p:grpSpPr>
          <a:xfrm>
            <a:off x="9525" y="6574392"/>
            <a:ext cx="9134399" cy="277000"/>
            <a:chOff x="9525" y="6574392"/>
            <a:chExt cx="9134399" cy="277000"/>
          </a:xfrm>
        </p:grpSpPr>
        <p:sp>
          <p:nvSpPr>
            <p:cNvPr id="24" name="23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5" name="24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27" name="26 Grupo"/>
          <p:cNvGrpSpPr/>
          <p:nvPr/>
        </p:nvGrpSpPr>
        <p:grpSpPr>
          <a:xfrm>
            <a:off x="0" y="9525"/>
            <a:ext cx="9153525" cy="408388"/>
            <a:chOff x="0" y="9525"/>
            <a:chExt cx="9153525" cy="408388"/>
          </a:xfrm>
        </p:grpSpPr>
        <p:sp>
          <p:nvSpPr>
            <p:cNvPr id="28" name="2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Index Internals  |  Structure of an Index</a:t>
              </a:r>
              <a:endParaRPr lang="en-US" b="1" dirty="0">
                <a:solidFill>
                  <a:schemeClr val="bg1"/>
                </a:solidFill>
              </a:endParaRPr>
            </a:p>
          </p:txBody>
        </p:sp>
        <p:pic>
          <p:nvPicPr>
            <p:cNvPr id="29" name="28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0" name="29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6539670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2136" y="542925"/>
            <a:ext cx="9146136" cy="523220"/>
          </a:xfrm>
          <a:prstGeom prst="rect">
            <a:avLst/>
          </a:prstGeom>
          <a:noFill/>
        </p:spPr>
        <p:txBody>
          <a:bodyPr wrap="square" rtlCol="0">
            <a:spAutoFit/>
          </a:bodyPr>
          <a:lstStyle/>
          <a:p>
            <a:r>
              <a:rPr lang="en-US" sz="1400" b="1" dirty="0" smtClean="0">
                <a:solidFill>
                  <a:prstClr val="black"/>
                </a:solidFill>
              </a:rPr>
              <a:t>Leaf Level</a:t>
            </a:r>
          </a:p>
          <a:p>
            <a:r>
              <a:rPr lang="en-US" sz="1400" dirty="0" smtClean="0">
                <a:solidFill>
                  <a:prstClr val="black"/>
                </a:solidFill>
              </a:rPr>
              <a:t>Contains </a:t>
            </a:r>
            <a:r>
              <a:rPr lang="en-US" sz="1400" i="1" dirty="0" smtClean="0">
                <a:solidFill>
                  <a:prstClr val="black"/>
                </a:solidFill>
              </a:rPr>
              <a:t>something</a:t>
            </a:r>
            <a:r>
              <a:rPr lang="en-US" sz="1400" dirty="0" smtClean="0">
                <a:solidFill>
                  <a:prstClr val="black"/>
                </a:solidFill>
              </a:rPr>
              <a:t> for every row of the table, in indexed order.</a:t>
            </a:r>
            <a:endParaRPr lang="en-US" sz="1400" dirty="0">
              <a:solidFill>
                <a:prstClr val="black"/>
              </a:solidFill>
            </a:endParaRPr>
          </a:p>
        </p:txBody>
      </p:sp>
      <p:sp>
        <p:nvSpPr>
          <p:cNvPr id="9" name="8 CuadroTexto"/>
          <p:cNvSpPr txBox="1"/>
          <p:nvPr/>
        </p:nvSpPr>
        <p:spPr>
          <a:xfrm>
            <a:off x="2136" y="1304925"/>
            <a:ext cx="9146136" cy="523220"/>
          </a:xfrm>
          <a:prstGeom prst="rect">
            <a:avLst/>
          </a:prstGeom>
          <a:noFill/>
        </p:spPr>
        <p:txBody>
          <a:bodyPr wrap="square" rtlCol="0">
            <a:spAutoFit/>
          </a:bodyPr>
          <a:lstStyle/>
          <a:p>
            <a:r>
              <a:rPr lang="en-US" sz="1400" b="1" dirty="0" smtClean="0">
                <a:solidFill>
                  <a:prstClr val="black"/>
                </a:solidFill>
              </a:rPr>
              <a:t>Non-Leaf Level(s) or Balanced-Tree</a:t>
            </a:r>
          </a:p>
          <a:p>
            <a:r>
              <a:rPr lang="en-US" sz="1400" dirty="0" smtClean="0">
                <a:solidFill>
                  <a:prstClr val="black"/>
                </a:solidFill>
              </a:rPr>
              <a:t>Contain the low value (plus a pointer) from every Page of the level below</a:t>
            </a:r>
            <a:endParaRPr lang="en-US" sz="1400" dirty="0">
              <a:solidFill>
                <a:prstClr val="black"/>
              </a:solidFill>
            </a:endParaRPr>
          </a:p>
        </p:txBody>
      </p:sp>
      <p:grpSp>
        <p:nvGrpSpPr>
          <p:cNvPr id="4" name="3 Grupo"/>
          <p:cNvGrpSpPr/>
          <p:nvPr/>
        </p:nvGrpSpPr>
        <p:grpSpPr>
          <a:xfrm>
            <a:off x="1524804" y="2260653"/>
            <a:ext cx="6071532" cy="3950366"/>
            <a:chOff x="3048000" y="2743200"/>
            <a:chExt cx="6033357" cy="3830521"/>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2743200"/>
              <a:ext cx="6033357" cy="3830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Elipse"/>
            <p:cNvSpPr/>
            <p:nvPr/>
          </p:nvSpPr>
          <p:spPr>
            <a:xfrm>
              <a:off x="3452145" y="5994162"/>
              <a:ext cx="76200"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11 Elipse"/>
            <p:cNvSpPr/>
            <p:nvPr/>
          </p:nvSpPr>
          <p:spPr>
            <a:xfrm>
              <a:off x="4284292" y="6002708"/>
              <a:ext cx="76200"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3" name="12 Elipse"/>
            <p:cNvSpPr/>
            <p:nvPr/>
          </p:nvSpPr>
          <p:spPr>
            <a:xfrm>
              <a:off x="5139584" y="5991669"/>
              <a:ext cx="76200"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4" name="13 Elipse"/>
            <p:cNvSpPr/>
            <p:nvPr/>
          </p:nvSpPr>
          <p:spPr>
            <a:xfrm>
              <a:off x="6426438" y="6006268"/>
              <a:ext cx="76200"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5" name="14 Elipse"/>
            <p:cNvSpPr/>
            <p:nvPr/>
          </p:nvSpPr>
          <p:spPr>
            <a:xfrm>
              <a:off x="7256092" y="5991669"/>
              <a:ext cx="76200"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 name="15 Elipse"/>
            <p:cNvSpPr/>
            <p:nvPr/>
          </p:nvSpPr>
          <p:spPr>
            <a:xfrm>
              <a:off x="8128476" y="6002708"/>
              <a:ext cx="76200"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17 Elipse"/>
            <p:cNvSpPr/>
            <p:nvPr/>
          </p:nvSpPr>
          <p:spPr>
            <a:xfrm>
              <a:off x="5732092" y="4173194"/>
              <a:ext cx="76200"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9" name="18 Elipse"/>
            <p:cNvSpPr/>
            <p:nvPr/>
          </p:nvSpPr>
          <p:spPr>
            <a:xfrm>
              <a:off x="5732092" y="4282864"/>
              <a:ext cx="76200"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0" name="19 Elipse"/>
            <p:cNvSpPr/>
            <p:nvPr/>
          </p:nvSpPr>
          <p:spPr>
            <a:xfrm>
              <a:off x="5732092" y="4393962"/>
              <a:ext cx="76200"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3" name="2 Grupo"/>
            <p:cNvGrpSpPr/>
            <p:nvPr/>
          </p:nvGrpSpPr>
          <p:grpSpPr>
            <a:xfrm>
              <a:off x="3147345" y="5006173"/>
              <a:ext cx="762000" cy="246221"/>
              <a:chOff x="228600" y="5252394"/>
              <a:chExt cx="762000" cy="246221"/>
            </a:xfrm>
          </p:grpSpPr>
          <p:sp>
            <p:nvSpPr>
              <p:cNvPr id="11" name="10 CuadroTexto"/>
              <p:cNvSpPr txBox="1"/>
              <p:nvPr/>
            </p:nvSpPr>
            <p:spPr>
              <a:xfrm>
                <a:off x="262070" y="5252394"/>
                <a:ext cx="728530" cy="246221"/>
              </a:xfrm>
              <a:prstGeom prst="rect">
                <a:avLst/>
              </a:prstGeom>
              <a:noFill/>
            </p:spPr>
            <p:txBody>
              <a:bodyPr wrap="square" rtlCol="0">
                <a:spAutoFit/>
              </a:bodyPr>
              <a:lstStyle/>
              <a:p>
                <a:r>
                  <a:rPr lang="en-US" sz="1000" b="1" dirty="0" smtClean="0">
                    <a:solidFill>
                      <a:prstClr val="black"/>
                    </a:solidFill>
                  </a:rPr>
                  <a:t>Low value</a:t>
                </a:r>
                <a:endParaRPr lang="en-US" sz="1000" b="1" dirty="0">
                  <a:solidFill>
                    <a:prstClr val="black"/>
                  </a:solidFill>
                </a:endParaRPr>
              </a:p>
            </p:txBody>
          </p:sp>
          <p:sp>
            <p:nvSpPr>
              <p:cNvPr id="21" name="20 Elipse"/>
              <p:cNvSpPr/>
              <p:nvPr/>
            </p:nvSpPr>
            <p:spPr>
              <a:xfrm>
                <a:off x="228600" y="5334000"/>
                <a:ext cx="76200"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sp>
        <p:nvSpPr>
          <p:cNvPr id="22" name="21 CuadroTexto"/>
          <p:cNvSpPr txBox="1"/>
          <p:nvPr/>
        </p:nvSpPr>
        <p:spPr>
          <a:xfrm>
            <a:off x="-7121" y="1830254"/>
            <a:ext cx="6248400" cy="307777"/>
          </a:xfrm>
          <a:prstGeom prst="rect">
            <a:avLst/>
          </a:prstGeom>
          <a:noFill/>
        </p:spPr>
        <p:txBody>
          <a:bodyPr wrap="square" rtlCol="0">
            <a:spAutoFit/>
          </a:bodyPr>
          <a:lstStyle/>
          <a:p>
            <a:r>
              <a:rPr lang="en-US" sz="1400" dirty="0" smtClean="0">
                <a:solidFill>
                  <a:prstClr val="black"/>
                </a:solidFill>
              </a:rPr>
              <a:t>A non-leaf level contains one entry for every PAGE of the level below</a:t>
            </a:r>
            <a:endParaRPr lang="en-US" sz="1400" i="1" dirty="0">
              <a:solidFill>
                <a:prstClr val="black"/>
              </a:solidFill>
            </a:endParaRPr>
          </a:p>
        </p:txBody>
      </p:sp>
      <p:grpSp>
        <p:nvGrpSpPr>
          <p:cNvPr id="31" name="30 Grupo"/>
          <p:cNvGrpSpPr/>
          <p:nvPr/>
        </p:nvGrpSpPr>
        <p:grpSpPr>
          <a:xfrm>
            <a:off x="9525" y="6574392"/>
            <a:ext cx="9134399" cy="277000"/>
            <a:chOff x="9525" y="6574392"/>
            <a:chExt cx="9134399" cy="277000"/>
          </a:xfrm>
        </p:grpSpPr>
        <p:sp>
          <p:nvSpPr>
            <p:cNvPr id="32" name="3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33" name="3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34" name="33 Grupo"/>
          <p:cNvGrpSpPr/>
          <p:nvPr/>
        </p:nvGrpSpPr>
        <p:grpSpPr>
          <a:xfrm>
            <a:off x="0" y="9525"/>
            <a:ext cx="9153525" cy="408388"/>
            <a:chOff x="0" y="9525"/>
            <a:chExt cx="9153525" cy="408388"/>
          </a:xfrm>
        </p:grpSpPr>
        <p:sp>
          <p:nvSpPr>
            <p:cNvPr id="35" name="34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Index Internals  |  Structure of an Index</a:t>
              </a:r>
              <a:endParaRPr lang="en-US" b="1" dirty="0">
                <a:solidFill>
                  <a:schemeClr val="bg1"/>
                </a:solidFill>
              </a:endParaRPr>
            </a:p>
          </p:txBody>
        </p:sp>
        <p:pic>
          <p:nvPicPr>
            <p:cNvPr id="36" name="35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7" name="36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51359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CuadroTexto"/>
          <p:cNvSpPr txBox="1"/>
          <p:nvPr/>
        </p:nvSpPr>
        <p:spPr>
          <a:xfrm>
            <a:off x="-2212" y="764704"/>
            <a:ext cx="9146136" cy="1815882"/>
          </a:xfrm>
          <a:prstGeom prst="rect">
            <a:avLst/>
          </a:prstGeom>
          <a:noFill/>
        </p:spPr>
        <p:txBody>
          <a:bodyPr wrap="square" rtlCol="0">
            <a:spAutoFit/>
          </a:bodyPr>
          <a:lstStyle/>
          <a:p>
            <a:r>
              <a:rPr lang="en-US" sz="1400" b="1" dirty="0" smtClean="0">
                <a:solidFill>
                  <a:prstClr val="black"/>
                </a:solidFill>
              </a:rPr>
              <a:t>Index creation is a 2 steps process</a:t>
            </a:r>
          </a:p>
          <a:p>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Step #1: Index Creation</a:t>
            </a:r>
          </a:p>
          <a:p>
            <a:pPr marL="742950" lvl="1" indent="-285750">
              <a:buFont typeface="Wingdings" pitchFamily="2" charset="2"/>
              <a:buChar char="Ø"/>
            </a:pPr>
            <a:r>
              <a:rPr lang="en-US" sz="1400" dirty="0" smtClean="0">
                <a:solidFill>
                  <a:prstClr val="black"/>
                </a:solidFill>
              </a:rPr>
              <a:t>Clustered Indexes: Physically order the data</a:t>
            </a:r>
          </a:p>
          <a:p>
            <a:pPr marL="742950" lvl="1" indent="-285750">
              <a:buFont typeface="Wingdings" pitchFamily="2" charset="2"/>
              <a:buChar char="Ø"/>
            </a:pPr>
            <a:r>
              <a:rPr lang="en-US" sz="1400" dirty="0" smtClean="0">
                <a:solidFill>
                  <a:prstClr val="black"/>
                </a:solidFill>
              </a:rPr>
              <a:t>Non-Clustered Indexes: Locally </a:t>
            </a:r>
            <a:r>
              <a:rPr lang="en-US" sz="1400" dirty="0">
                <a:solidFill>
                  <a:prstClr val="black"/>
                </a:solidFill>
              </a:rPr>
              <a:t>order the data</a:t>
            </a:r>
            <a:endParaRPr lang="en-US" sz="1400" dirty="0" smtClean="0">
              <a:solidFill>
                <a:prstClr val="black"/>
              </a:solidFill>
            </a:endParaRPr>
          </a:p>
          <a:p>
            <a:pPr marL="285750" indent="-285750">
              <a:buFont typeface="Wingdings" pitchFamily="2" charset="2"/>
              <a:buChar char="Ø"/>
            </a:pP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Step #2: Index Population</a:t>
            </a:r>
          </a:p>
          <a:p>
            <a:pPr marL="742950" lvl="1" indent="-285750">
              <a:buFont typeface="Wingdings" pitchFamily="2" charset="2"/>
              <a:buChar char="Ø"/>
            </a:pPr>
            <a:r>
              <a:rPr lang="en-US" sz="1400" dirty="0" smtClean="0">
                <a:solidFill>
                  <a:prstClr val="black"/>
                </a:solidFill>
              </a:rPr>
              <a:t>Add the B-Tree structure</a:t>
            </a:r>
            <a:endParaRPr lang="en-US" sz="1400" dirty="0">
              <a:solidFill>
                <a:prstClr val="black"/>
              </a:solidFill>
            </a:endParaRPr>
          </a:p>
        </p:txBody>
      </p:sp>
      <p:grpSp>
        <p:nvGrpSpPr>
          <p:cNvPr id="4" name="3 Grupo"/>
          <p:cNvGrpSpPr/>
          <p:nvPr/>
        </p:nvGrpSpPr>
        <p:grpSpPr>
          <a:xfrm>
            <a:off x="0" y="9525"/>
            <a:ext cx="9153525" cy="408388"/>
            <a:chOff x="0" y="9525"/>
            <a:chExt cx="9153525" cy="408388"/>
          </a:xfrm>
        </p:grpSpPr>
        <p:sp>
          <p:nvSpPr>
            <p:cNvPr id="5" name="4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Index Internals  |  The Index creation process</a:t>
              </a:r>
              <a:endParaRPr lang="en-US" b="1" dirty="0">
                <a:solidFill>
                  <a:schemeClr val="bg1"/>
                </a:solidFill>
              </a:endParaRPr>
            </a:p>
          </p:txBody>
        </p:sp>
        <p:pic>
          <p:nvPicPr>
            <p:cNvPr id="7" name="6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9 Grupo"/>
          <p:cNvGrpSpPr/>
          <p:nvPr/>
        </p:nvGrpSpPr>
        <p:grpSpPr>
          <a:xfrm>
            <a:off x="9525" y="6574392"/>
            <a:ext cx="9134399" cy="277000"/>
            <a:chOff x="9525" y="6574392"/>
            <a:chExt cx="9134399" cy="277000"/>
          </a:xfrm>
        </p:grpSpPr>
        <p:sp>
          <p:nvSpPr>
            <p:cNvPr id="11" name="10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2" name="11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151936102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88 CuadroTexto"/>
          <p:cNvSpPr txBox="1"/>
          <p:nvPr/>
        </p:nvSpPr>
        <p:spPr>
          <a:xfrm>
            <a:off x="-9258" y="496438"/>
            <a:ext cx="9146136" cy="307777"/>
          </a:xfrm>
          <a:prstGeom prst="rect">
            <a:avLst/>
          </a:prstGeom>
          <a:noFill/>
        </p:spPr>
        <p:txBody>
          <a:bodyPr wrap="square" rtlCol="0">
            <a:spAutoFit/>
          </a:bodyPr>
          <a:lstStyle/>
          <a:p>
            <a:r>
              <a:rPr lang="en-US" sz="1400" b="1" dirty="0" smtClean="0">
                <a:solidFill>
                  <a:prstClr val="black"/>
                </a:solidFill>
              </a:rPr>
              <a:t>Example.  The “Employees” table </a:t>
            </a:r>
            <a:r>
              <a:rPr lang="en-US" sz="1400" b="1" dirty="0" smtClean="0">
                <a:solidFill>
                  <a:prstClr val="black"/>
                </a:solidFill>
                <a:sym typeface="Wingdings" pitchFamily="2" charset="2"/>
              </a:rPr>
              <a:t></a:t>
            </a:r>
            <a:r>
              <a:rPr lang="en-US" sz="1400" dirty="0" smtClean="0">
                <a:solidFill>
                  <a:prstClr val="black"/>
                </a:solidFill>
              </a:rPr>
              <a:t> </a:t>
            </a:r>
            <a:r>
              <a:rPr lang="en-US" sz="1400" i="1" dirty="0" smtClean="0">
                <a:solidFill>
                  <a:prstClr val="black"/>
                </a:solidFill>
              </a:rPr>
              <a:t>(</a:t>
            </a:r>
            <a:r>
              <a:rPr lang="en-US" sz="1400" b="1" i="1" dirty="0" smtClean="0">
                <a:solidFill>
                  <a:prstClr val="black"/>
                </a:solidFill>
              </a:rPr>
              <a:t>Clustered Index scenario)</a:t>
            </a:r>
            <a:endParaRPr lang="en-US" sz="1400" i="1" dirty="0">
              <a:solidFill>
                <a:prstClr val="black"/>
              </a:solidFill>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987749"/>
            <a:ext cx="2743200" cy="1157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1830" y="987749"/>
            <a:ext cx="2734654" cy="702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1830" y="1788377"/>
            <a:ext cx="1981200" cy="550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3" name="92 CuadroTexto"/>
          <p:cNvSpPr txBox="1"/>
          <p:nvPr/>
        </p:nvSpPr>
        <p:spPr>
          <a:xfrm>
            <a:off x="143832" y="2746240"/>
            <a:ext cx="1522576" cy="307777"/>
          </a:xfrm>
          <a:prstGeom prst="rect">
            <a:avLst/>
          </a:prstGeom>
          <a:noFill/>
        </p:spPr>
        <p:txBody>
          <a:bodyPr wrap="square" rtlCol="0">
            <a:spAutoFit/>
          </a:bodyPr>
          <a:lstStyle/>
          <a:p>
            <a:r>
              <a:rPr lang="en-US" sz="1400" b="1" dirty="0" smtClean="0">
                <a:solidFill>
                  <a:prstClr val="black"/>
                </a:solidFill>
              </a:rPr>
              <a:t>20 rows per page</a:t>
            </a:r>
            <a:endParaRPr lang="en-US" sz="1400" b="1" dirty="0">
              <a:solidFill>
                <a:prstClr val="black"/>
              </a:solidFill>
            </a:endParaRPr>
          </a:p>
        </p:txBody>
      </p:sp>
      <p:sp>
        <p:nvSpPr>
          <p:cNvPr id="95" name="94 CuadroTexto"/>
          <p:cNvSpPr txBox="1"/>
          <p:nvPr/>
        </p:nvSpPr>
        <p:spPr>
          <a:xfrm>
            <a:off x="4114800" y="2746240"/>
            <a:ext cx="1065376" cy="307777"/>
          </a:xfrm>
          <a:prstGeom prst="rect">
            <a:avLst/>
          </a:prstGeom>
          <a:noFill/>
        </p:spPr>
        <p:txBody>
          <a:bodyPr wrap="square" rtlCol="0">
            <a:spAutoFit/>
          </a:bodyPr>
          <a:lstStyle/>
          <a:p>
            <a:r>
              <a:rPr lang="en-US" sz="1400" b="1" dirty="0" smtClean="0">
                <a:solidFill>
                  <a:prstClr val="black"/>
                </a:solidFill>
              </a:rPr>
              <a:t>4,000 pages</a:t>
            </a:r>
            <a:endParaRPr lang="en-US" sz="1400" b="1" dirty="0">
              <a:solidFill>
                <a:prstClr val="black"/>
              </a:solidFill>
            </a:endParaRPr>
          </a:p>
        </p:txBody>
      </p:sp>
      <p:sp>
        <p:nvSpPr>
          <p:cNvPr id="96" name="95 CuadroTexto"/>
          <p:cNvSpPr txBox="1"/>
          <p:nvPr/>
        </p:nvSpPr>
        <p:spPr>
          <a:xfrm>
            <a:off x="2743912" y="2746240"/>
            <a:ext cx="1294688" cy="307777"/>
          </a:xfrm>
          <a:prstGeom prst="rect">
            <a:avLst/>
          </a:prstGeom>
          <a:noFill/>
        </p:spPr>
        <p:txBody>
          <a:bodyPr wrap="square" rtlCol="0">
            <a:spAutoFit/>
          </a:bodyPr>
          <a:lstStyle/>
          <a:p>
            <a:r>
              <a:rPr lang="en-US" sz="1400" b="1" dirty="0" smtClean="0">
                <a:solidFill>
                  <a:prstClr val="black"/>
                </a:solidFill>
              </a:rPr>
              <a:t>80,000 rows</a:t>
            </a:r>
            <a:endParaRPr lang="en-US" sz="1400" b="1" dirty="0">
              <a:solidFill>
                <a:prstClr val="black"/>
              </a:solidFill>
            </a:endParaRPr>
          </a:p>
        </p:txBody>
      </p:sp>
      <p:sp>
        <p:nvSpPr>
          <p:cNvPr id="1053" name="1052 Flecha abajo"/>
          <p:cNvSpPr/>
          <p:nvPr/>
        </p:nvSpPr>
        <p:spPr>
          <a:xfrm>
            <a:off x="4647488" y="2378399"/>
            <a:ext cx="153112" cy="3216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4" name="103 Flecha abajo"/>
          <p:cNvSpPr/>
          <p:nvPr/>
        </p:nvSpPr>
        <p:spPr>
          <a:xfrm>
            <a:off x="3124200" y="2378399"/>
            <a:ext cx="153112" cy="3216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54" name="1053 Rectángulo"/>
          <p:cNvSpPr/>
          <p:nvPr/>
        </p:nvSpPr>
        <p:spPr>
          <a:xfrm>
            <a:off x="4842618" y="1496359"/>
            <a:ext cx="458268" cy="167829"/>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2048" name="2047 Conector recto de flecha"/>
          <p:cNvCxnSpPr>
            <a:stCxn id="1054" idx="1"/>
          </p:cNvCxnSpPr>
          <p:nvPr/>
        </p:nvCxnSpPr>
        <p:spPr>
          <a:xfrm flipH="1">
            <a:off x="1600200" y="1580274"/>
            <a:ext cx="3242418" cy="1165966"/>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053" name="2052 Rectángulo"/>
          <p:cNvSpPr/>
          <p:nvPr/>
        </p:nvSpPr>
        <p:spPr>
          <a:xfrm>
            <a:off x="143832" y="2746240"/>
            <a:ext cx="1456368" cy="30777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6" name="115 Rectángulo"/>
          <p:cNvSpPr/>
          <p:nvPr/>
        </p:nvSpPr>
        <p:spPr>
          <a:xfrm>
            <a:off x="2743912" y="2731427"/>
            <a:ext cx="1066088" cy="30777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8" name="117 Rectángulo"/>
          <p:cNvSpPr/>
          <p:nvPr/>
        </p:nvSpPr>
        <p:spPr>
          <a:xfrm>
            <a:off x="4121921" y="2717403"/>
            <a:ext cx="1058255" cy="30777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2076" name="2075 Grupo"/>
          <p:cNvGrpSpPr/>
          <p:nvPr/>
        </p:nvGrpSpPr>
        <p:grpSpPr>
          <a:xfrm>
            <a:off x="5687227" y="591824"/>
            <a:ext cx="3181880" cy="3580126"/>
            <a:chOff x="5687227" y="763274"/>
            <a:chExt cx="3181880" cy="3580126"/>
          </a:xfrm>
        </p:grpSpPr>
        <p:sp>
          <p:nvSpPr>
            <p:cNvPr id="39" name="38 Rectángulo"/>
            <p:cNvSpPr/>
            <p:nvPr/>
          </p:nvSpPr>
          <p:spPr>
            <a:xfrm>
              <a:off x="6811707" y="1295400"/>
              <a:ext cx="2057400" cy="30480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0" name="39 CuadroTexto"/>
            <p:cNvSpPr txBox="1"/>
            <p:nvPr/>
          </p:nvSpPr>
          <p:spPr>
            <a:xfrm>
              <a:off x="6811707" y="1311778"/>
              <a:ext cx="2048854" cy="246221"/>
            </a:xfrm>
            <a:prstGeom prst="rect">
              <a:avLst/>
            </a:prstGeom>
            <a:solidFill>
              <a:schemeClr val="tx1"/>
            </a:solidFill>
            <a:ln>
              <a:solidFill>
                <a:schemeClr val="tx1"/>
              </a:solidFill>
            </a:ln>
          </p:spPr>
          <p:txBody>
            <a:bodyPr wrap="square" rtlCol="0">
              <a:spAutoFit/>
            </a:bodyPr>
            <a:lstStyle/>
            <a:p>
              <a:r>
                <a:rPr lang="en-US" sz="1000" dirty="0" smtClean="0">
                  <a:solidFill>
                    <a:prstClr val="white"/>
                  </a:solidFill>
                </a:rPr>
                <a:t>Header  (96 bytes)</a:t>
              </a:r>
              <a:endParaRPr lang="en-US" sz="1000" dirty="0">
                <a:solidFill>
                  <a:prstClr val="white"/>
                </a:solidFill>
              </a:endParaRPr>
            </a:p>
          </p:txBody>
        </p:sp>
        <p:sp>
          <p:nvSpPr>
            <p:cNvPr id="42" name="41 CuadroTexto"/>
            <p:cNvSpPr txBox="1"/>
            <p:nvPr/>
          </p:nvSpPr>
          <p:spPr>
            <a:xfrm>
              <a:off x="5687227" y="2671470"/>
              <a:ext cx="914400" cy="400110"/>
            </a:xfrm>
            <a:prstGeom prst="rect">
              <a:avLst/>
            </a:prstGeom>
            <a:noFill/>
          </p:spPr>
          <p:txBody>
            <a:bodyPr wrap="square" rtlCol="0">
              <a:spAutoFit/>
            </a:bodyPr>
            <a:lstStyle/>
            <a:p>
              <a:pPr algn="ctr"/>
              <a:r>
                <a:rPr lang="en-US" sz="1000" dirty="0" smtClean="0">
                  <a:solidFill>
                    <a:prstClr val="black"/>
                  </a:solidFill>
                </a:rPr>
                <a:t>Rows of Data  </a:t>
              </a:r>
            </a:p>
            <a:p>
              <a:pPr algn="ctr"/>
              <a:r>
                <a:rPr lang="en-US" sz="1000" dirty="0" smtClean="0">
                  <a:solidFill>
                    <a:prstClr val="black"/>
                  </a:solidFill>
                </a:rPr>
                <a:t>(8096 bytes)</a:t>
              </a:r>
              <a:endParaRPr lang="en-US" sz="1000" dirty="0">
                <a:solidFill>
                  <a:prstClr val="black"/>
                </a:solidFill>
              </a:endParaRPr>
            </a:p>
          </p:txBody>
        </p:sp>
        <p:sp>
          <p:nvSpPr>
            <p:cNvPr id="52" name="51 CuadroTexto"/>
            <p:cNvSpPr txBox="1"/>
            <p:nvPr/>
          </p:nvSpPr>
          <p:spPr>
            <a:xfrm>
              <a:off x="6820253" y="1706829"/>
              <a:ext cx="2048854" cy="246221"/>
            </a:xfrm>
            <a:prstGeom prst="rect">
              <a:avLst/>
            </a:prstGeom>
            <a:noFill/>
          </p:spPr>
          <p:txBody>
            <a:bodyPr wrap="square" rtlCol="0">
              <a:spAutoFit/>
            </a:bodyPr>
            <a:lstStyle/>
            <a:p>
              <a:r>
                <a:rPr lang="en-US" sz="1000" dirty="0" smtClean="0">
                  <a:solidFill>
                    <a:prstClr val="black"/>
                  </a:solidFill>
                </a:rPr>
                <a:t>Data row #1</a:t>
              </a:r>
              <a:endParaRPr lang="en-US" sz="1000" dirty="0">
                <a:solidFill>
                  <a:prstClr val="black"/>
                </a:solidFill>
              </a:endParaRPr>
            </a:p>
          </p:txBody>
        </p:sp>
        <p:sp>
          <p:nvSpPr>
            <p:cNvPr id="53" name="52 CuadroTexto"/>
            <p:cNvSpPr txBox="1"/>
            <p:nvPr/>
          </p:nvSpPr>
          <p:spPr>
            <a:xfrm>
              <a:off x="6820253" y="1982339"/>
              <a:ext cx="2048854" cy="246221"/>
            </a:xfrm>
            <a:prstGeom prst="rect">
              <a:avLst/>
            </a:prstGeom>
            <a:noFill/>
          </p:spPr>
          <p:txBody>
            <a:bodyPr wrap="square" rtlCol="0">
              <a:spAutoFit/>
            </a:bodyPr>
            <a:lstStyle/>
            <a:p>
              <a:r>
                <a:rPr lang="en-US" sz="1000" dirty="0" smtClean="0">
                  <a:solidFill>
                    <a:prstClr val="black"/>
                  </a:solidFill>
                </a:rPr>
                <a:t>Data row #2</a:t>
              </a:r>
              <a:endParaRPr lang="en-US" sz="1000" dirty="0">
                <a:solidFill>
                  <a:prstClr val="black"/>
                </a:solidFill>
              </a:endParaRPr>
            </a:p>
          </p:txBody>
        </p:sp>
        <p:sp>
          <p:nvSpPr>
            <p:cNvPr id="54" name="53 CuadroTexto"/>
            <p:cNvSpPr txBox="1"/>
            <p:nvPr/>
          </p:nvSpPr>
          <p:spPr>
            <a:xfrm>
              <a:off x="6820253" y="2274339"/>
              <a:ext cx="2048854" cy="246221"/>
            </a:xfrm>
            <a:prstGeom prst="rect">
              <a:avLst/>
            </a:prstGeom>
            <a:noFill/>
          </p:spPr>
          <p:txBody>
            <a:bodyPr wrap="square" rtlCol="0">
              <a:spAutoFit/>
            </a:bodyPr>
            <a:lstStyle/>
            <a:p>
              <a:r>
                <a:rPr lang="en-US" sz="1000" dirty="0" smtClean="0">
                  <a:solidFill>
                    <a:prstClr val="black"/>
                  </a:solidFill>
                </a:rPr>
                <a:t>Data row #3</a:t>
              </a:r>
              <a:endParaRPr lang="en-US" sz="1000" dirty="0">
                <a:solidFill>
                  <a:prstClr val="black"/>
                </a:solidFill>
              </a:endParaRPr>
            </a:p>
          </p:txBody>
        </p:sp>
        <p:sp>
          <p:nvSpPr>
            <p:cNvPr id="55" name="54 CuadroTexto"/>
            <p:cNvSpPr txBox="1"/>
            <p:nvPr/>
          </p:nvSpPr>
          <p:spPr>
            <a:xfrm>
              <a:off x="6820253" y="2549849"/>
              <a:ext cx="2048854" cy="246221"/>
            </a:xfrm>
            <a:prstGeom prst="rect">
              <a:avLst/>
            </a:prstGeom>
            <a:noFill/>
          </p:spPr>
          <p:txBody>
            <a:bodyPr wrap="square" rtlCol="0">
              <a:spAutoFit/>
            </a:bodyPr>
            <a:lstStyle/>
            <a:p>
              <a:r>
                <a:rPr lang="en-US" sz="1000" dirty="0" smtClean="0">
                  <a:solidFill>
                    <a:prstClr val="black"/>
                  </a:solidFill>
                </a:rPr>
                <a:t>Data row #4</a:t>
              </a:r>
              <a:endParaRPr lang="en-US" sz="1000" dirty="0">
                <a:solidFill>
                  <a:prstClr val="black"/>
                </a:solidFill>
              </a:endParaRPr>
            </a:p>
          </p:txBody>
        </p:sp>
        <p:sp>
          <p:nvSpPr>
            <p:cNvPr id="56" name="55 CuadroTexto"/>
            <p:cNvSpPr txBox="1"/>
            <p:nvPr/>
          </p:nvSpPr>
          <p:spPr>
            <a:xfrm>
              <a:off x="6820253" y="2825359"/>
              <a:ext cx="2048854" cy="246221"/>
            </a:xfrm>
            <a:prstGeom prst="rect">
              <a:avLst/>
            </a:prstGeom>
            <a:noFill/>
          </p:spPr>
          <p:txBody>
            <a:bodyPr wrap="square" rtlCol="0">
              <a:spAutoFit/>
            </a:bodyPr>
            <a:lstStyle/>
            <a:p>
              <a:r>
                <a:rPr lang="en-US" sz="1000" dirty="0" smtClean="0">
                  <a:solidFill>
                    <a:prstClr val="black"/>
                  </a:solidFill>
                </a:rPr>
                <a:t>…</a:t>
              </a:r>
              <a:endParaRPr lang="en-US" sz="1000" dirty="0">
                <a:solidFill>
                  <a:prstClr val="black"/>
                </a:solidFill>
              </a:endParaRPr>
            </a:p>
          </p:txBody>
        </p:sp>
        <p:sp>
          <p:nvSpPr>
            <p:cNvPr id="58" name="57 CuadroTexto"/>
            <p:cNvSpPr txBox="1"/>
            <p:nvPr/>
          </p:nvSpPr>
          <p:spPr>
            <a:xfrm>
              <a:off x="6759708" y="3429000"/>
              <a:ext cx="1156525" cy="246221"/>
            </a:xfrm>
            <a:prstGeom prst="rect">
              <a:avLst/>
            </a:prstGeom>
            <a:noFill/>
          </p:spPr>
          <p:txBody>
            <a:bodyPr wrap="square" rtlCol="0">
              <a:spAutoFit/>
            </a:bodyPr>
            <a:lstStyle/>
            <a:p>
              <a:r>
                <a:rPr lang="en-US" sz="1000" dirty="0" smtClean="0">
                  <a:solidFill>
                    <a:prstClr val="black"/>
                  </a:solidFill>
                </a:rPr>
                <a:t>Free space (if any)</a:t>
              </a:r>
              <a:endParaRPr lang="en-US" sz="1000" dirty="0">
                <a:solidFill>
                  <a:prstClr val="black"/>
                </a:solidFill>
              </a:endParaRPr>
            </a:p>
          </p:txBody>
        </p:sp>
        <p:sp>
          <p:nvSpPr>
            <p:cNvPr id="59" name="58 CuadroTexto"/>
            <p:cNvSpPr txBox="1"/>
            <p:nvPr/>
          </p:nvSpPr>
          <p:spPr>
            <a:xfrm>
              <a:off x="7747472" y="4081400"/>
              <a:ext cx="228600" cy="246221"/>
            </a:xfrm>
            <a:prstGeom prst="rect">
              <a:avLst/>
            </a:prstGeom>
            <a:solidFill>
              <a:schemeClr val="tx1"/>
            </a:solidFill>
            <a:ln>
              <a:solidFill>
                <a:schemeClr val="tx1"/>
              </a:solidFill>
            </a:ln>
          </p:spPr>
          <p:txBody>
            <a:bodyPr wrap="square" rtlCol="0">
              <a:spAutoFit/>
            </a:bodyPr>
            <a:lstStyle/>
            <a:p>
              <a:r>
                <a:rPr lang="en-US" sz="1000" dirty="0" smtClean="0">
                  <a:solidFill>
                    <a:prstClr val="white"/>
                  </a:solidFill>
                </a:rPr>
                <a:t>4</a:t>
              </a:r>
              <a:endParaRPr lang="en-US" sz="1000" dirty="0">
                <a:solidFill>
                  <a:prstClr val="white"/>
                </a:solidFill>
              </a:endParaRPr>
            </a:p>
          </p:txBody>
        </p:sp>
        <p:sp>
          <p:nvSpPr>
            <p:cNvPr id="60" name="59 CuadroTexto"/>
            <p:cNvSpPr txBox="1"/>
            <p:nvPr/>
          </p:nvSpPr>
          <p:spPr>
            <a:xfrm>
              <a:off x="8631961" y="4081400"/>
              <a:ext cx="228600" cy="246221"/>
            </a:xfrm>
            <a:prstGeom prst="rect">
              <a:avLst/>
            </a:prstGeom>
            <a:solidFill>
              <a:schemeClr val="tx1"/>
            </a:solidFill>
            <a:ln>
              <a:solidFill>
                <a:schemeClr val="tx1"/>
              </a:solidFill>
            </a:ln>
          </p:spPr>
          <p:txBody>
            <a:bodyPr wrap="square" rtlCol="0">
              <a:spAutoFit/>
            </a:bodyPr>
            <a:lstStyle/>
            <a:p>
              <a:r>
                <a:rPr lang="en-US" sz="1000" dirty="0" smtClean="0">
                  <a:solidFill>
                    <a:prstClr val="white"/>
                  </a:solidFill>
                </a:rPr>
                <a:t>1</a:t>
              </a:r>
              <a:endParaRPr lang="en-US" sz="1000" dirty="0">
                <a:solidFill>
                  <a:prstClr val="white"/>
                </a:solidFill>
              </a:endParaRPr>
            </a:p>
          </p:txBody>
        </p:sp>
        <p:sp>
          <p:nvSpPr>
            <p:cNvPr id="61" name="60 CuadroTexto"/>
            <p:cNvSpPr txBox="1"/>
            <p:nvPr/>
          </p:nvSpPr>
          <p:spPr>
            <a:xfrm>
              <a:off x="8337132" y="4081400"/>
              <a:ext cx="228600" cy="246221"/>
            </a:xfrm>
            <a:prstGeom prst="rect">
              <a:avLst/>
            </a:prstGeom>
            <a:solidFill>
              <a:schemeClr val="tx1"/>
            </a:solidFill>
            <a:ln>
              <a:solidFill>
                <a:schemeClr val="tx1"/>
              </a:solidFill>
            </a:ln>
          </p:spPr>
          <p:txBody>
            <a:bodyPr wrap="square" rtlCol="0">
              <a:spAutoFit/>
            </a:bodyPr>
            <a:lstStyle/>
            <a:p>
              <a:r>
                <a:rPr lang="en-US" sz="1000" dirty="0" smtClean="0">
                  <a:solidFill>
                    <a:prstClr val="white"/>
                  </a:solidFill>
                </a:rPr>
                <a:t>2</a:t>
              </a:r>
              <a:endParaRPr lang="en-US" sz="1000" dirty="0">
                <a:solidFill>
                  <a:prstClr val="white"/>
                </a:solidFill>
              </a:endParaRPr>
            </a:p>
          </p:txBody>
        </p:sp>
        <p:sp>
          <p:nvSpPr>
            <p:cNvPr id="62" name="61 CuadroTexto"/>
            <p:cNvSpPr txBox="1"/>
            <p:nvPr/>
          </p:nvSpPr>
          <p:spPr>
            <a:xfrm>
              <a:off x="8042302" y="4081400"/>
              <a:ext cx="228600" cy="246221"/>
            </a:xfrm>
            <a:prstGeom prst="rect">
              <a:avLst/>
            </a:prstGeom>
            <a:solidFill>
              <a:schemeClr val="tx1"/>
            </a:solidFill>
            <a:ln>
              <a:solidFill>
                <a:schemeClr val="tx1"/>
              </a:solidFill>
            </a:ln>
          </p:spPr>
          <p:txBody>
            <a:bodyPr wrap="square" rtlCol="0">
              <a:spAutoFit/>
            </a:bodyPr>
            <a:lstStyle/>
            <a:p>
              <a:r>
                <a:rPr lang="en-US" sz="1000" dirty="0" smtClean="0">
                  <a:solidFill>
                    <a:prstClr val="white"/>
                  </a:solidFill>
                </a:rPr>
                <a:t>3</a:t>
              </a:r>
              <a:endParaRPr lang="en-US" sz="1000" dirty="0">
                <a:solidFill>
                  <a:prstClr val="white"/>
                </a:solidFill>
              </a:endParaRPr>
            </a:p>
          </p:txBody>
        </p:sp>
        <p:sp>
          <p:nvSpPr>
            <p:cNvPr id="63" name="62 CuadroTexto"/>
            <p:cNvSpPr txBox="1"/>
            <p:nvPr/>
          </p:nvSpPr>
          <p:spPr>
            <a:xfrm>
              <a:off x="6735505" y="4097179"/>
              <a:ext cx="1154038" cy="246221"/>
            </a:xfrm>
            <a:prstGeom prst="rect">
              <a:avLst/>
            </a:prstGeom>
            <a:noFill/>
          </p:spPr>
          <p:txBody>
            <a:bodyPr wrap="square" rtlCol="0">
              <a:spAutoFit/>
            </a:bodyPr>
            <a:lstStyle/>
            <a:p>
              <a:r>
                <a:rPr lang="en-US" sz="1000" dirty="0" smtClean="0">
                  <a:solidFill>
                    <a:prstClr val="black"/>
                  </a:solidFill>
                </a:rPr>
                <a:t>Row offsets array</a:t>
              </a:r>
              <a:endParaRPr lang="en-US" sz="1000" dirty="0">
                <a:solidFill>
                  <a:prstClr val="black"/>
                </a:solidFill>
              </a:endParaRPr>
            </a:p>
          </p:txBody>
        </p:sp>
        <p:cxnSp>
          <p:nvCxnSpPr>
            <p:cNvPr id="1033" name="1032 Conector recto"/>
            <p:cNvCxnSpPr/>
            <p:nvPr/>
          </p:nvCxnSpPr>
          <p:spPr>
            <a:xfrm flipH="1">
              <a:off x="6530408" y="4336279"/>
              <a:ext cx="22432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73 Conector recto"/>
            <p:cNvCxnSpPr/>
            <p:nvPr/>
          </p:nvCxnSpPr>
          <p:spPr>
            <a:xfrm flipH="1">
              <a:off x="6522218" y="1590940"/>
              <a:ext cx="22432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5" name="1034 Conector recto"/>
            <p:cNvCxnSpPr/>
            <p:nvPr/>
          </p:nvCxnSpPr>
          <p:spPr>
            <a:xfrm>
              <a:off x="6522218" y="1590940"/>
              <a:ext cx="0" cy="2745339"/>
            </a:xfrm>
            <a:prstGeom prst="line">
              <a:avLst/>
            </a:prstGeom>
          </p:spPr>
          <p:style>
            <a:lnRef idx="1">
              <a:schemeClr val="accent1"/>
            </a:lnRef>
            <a:fillRef idx="0">
              <a:schemeClr val="accent1"/>
            </a:fillRef>
            <a:effectRef idx="0">
              <a:schemeClr val="accent1"/>
            </a:effectRef>
            <a:fontRef idx="minor">
              <a:schemeClr val="tx1"/>
            </a:fontRef>
          </p:style>
        </p:cxnSp>
        <p:sp>
          <p:nvSpPr>
            <p:cNvPr id="108" name="107 CuadroTexto"/>
            <p:cNvSpPr txBox="1"/>
            <p:nvPr/>
          </p:nvSpPr>
          <p:spPr>
            <a:xfrm>
              <a:off x="6811707" y="763274"/>
              <a:ext cx="1731236" cy="307777"/>
            </a:xfrm>
            <a:prstGeom prst="rect">
              <a:avLst/>
            </a:prstGeom>
            <a:noFill/>
          </p:spPr>
          <p:txBody>
            <a:bodyPr wrap="square" rtlCol="0">
              <a:spAutoFit/>
            </a:bodyPr>
            <a:lstStyle/>
            <a:p>
              <a:r>
                <a:rPr lang="en-US" sz="1400" b="1" dirty="0" smtClean="0">
                  <a:solidFill>
                    <a:prstClr val="black"/>
                  </a:solidFill>
                </a:rPr>
                <a:t>Structure of a Page</a:t>
              </a:r>
              <a:endParaRPr lang="en-US" sz="1400" b="1" dirty="0">
                <a:solidFill>
                  <a:prstClr val="black"/>
                </a:solidFill>
              </a:endParaRPr>
            </a:p>
          </p:txBody>
        </p:sp>
        <p:sp>
          <p:nvSpPr>
            <p:cNvPr id="109" name="108 CuadroTexto"/>
            <p:cNvSpPr txBox="1"/>
            <p:nvPr/>
          </p:nvSpPr>
          <p:spPr>
            <a:xfrm>
              <a:off x="6834496" y="967119"/>
              <a:ext cx="1436406" cy="276999"/>
            </a:xfrm>
            <a:prstGeom prst="rect">
              <a:avLst/>
            </a:prstGeom>
            <a:noFill/>
          </p:spPr>
          <p:txBody>
            <a:bodyPr wrap="square" rtlCol="0">
              <a:spAutoFit/>
            </a:bodyPr>
            <a:lstStyle/>
            <a:p>
              <a:pPr algn="ctr"/>
              <a:r>
                <a:rPr lang="en-US" sz="1200" i="1" dirty="0" smtClean="0">
                  <a:solidFill>
                    <a:prstClr val="black"/>
                  </a:solidFill>
                </a:rPr>
                <a:t>(more on this later)</a:t>
              </a:r>
              <a:endParaRPr lang="en-US" sz="1200" i="1" dirty="0">
                <a:solidFill>
                  <a:prstClr val="black"/>
                </a:solidFill>
              </a:endParaRPr>
            </a:p>
          </p:txBody>
        </p:sp>
        <p:cxnSp>
          <p:nvCxnSpPr>
            <p:cNvPr id="2059" name="2058 Conector recto"/>
            <p:cNvCxnSpPr/>
            <p:nvPr/>
          </p:nvCxnSpPr>
          <p:spPr>
            <a:xfrm>
              <a:off x="7677325" y="1835638"/>
              <a:ext cx="1068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1" name="2060 Conector recto"/>
            <p:cNvCxnSpPr/>
            <p:nvPr/>
          </p:nvCxnSpPr>
          <p:spPr>
            <a:xfrm>
              <a:off x="7677325" y="2105449"/>
              <a:ext cx="77410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3" name="2062 Conector recto"/>
            <p:cNvCxnSpPr/>
            <p:nvPr/>
          </p:nvCxnSpPr>
          <p:spPr>
            <a:xfrm flipV="1">
              <a:off x="8746261" y="1835638"/>
              <a:ext cx="0" cy="22029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5" name="2064 Conector recto"/>
            <p:cNvCxnSpPr/>
            <p:nvPr/>
          </p:nvCxnSpPr>
          <p:spPr>
            <a:xfrm flipV="1">
              <a:off x="8451432" y="2105449"/>
              <a:ext cx="0" cy="1933151"/>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7" name="2066 Conector recto"/>
            <p:cNvCxnSpPr/>
            <p:nvPr/>
          </p:nvCxnSpPr>
          <p:spPr>
            <a:xfrm>
              <a:off x="7677325" y="2397449"/>
              <a:ext cx="4792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9" name="2068 Conector recto"/>
            <p:cNvCxnSpPr/>
            <p:nvPr/>
          </p:nvCxnSpPr>
          <p:spPr>
            <a:xfrm flipV="1">
              <a:off x="7677325" y="2671470"/>
              <a:ext cx="175901" cy="14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071" name="2070 Conector recto"/>
            <p:cNvCxnSpPr/>
            <p:nvPr/>
          </p:nvCxnSpPr>
          <p:spPr>
            <a:xfrm flipV="1">
              <a:off x="8156602" y="2397449"/>
              <a:ext cx="0" cy="1641151"/>
            </a:xfrm>
            <a:prstGeom prst="line">
              <a:avLst/>
            </a:prstGeom>
          </p:spPr>
          <p:style>
            <a:lnRef idx="1">
              <a:schemeClr val="accent1"/>
            </a:lnRef>
            <a:fillRef idx="0">
              <a:schemeClr val="accent1"/>
            </a:fillRef>
            <a:effectRef idx="0">
              <a:schemeClr val="accent1"/>
            </a:effectRef>
            <a:fontRef idx="minor">
              <a:schemeClr val="tx1"/>
            </a:fontRef>
          </p:style>
        </p:cxnSp>
        <p:cxnSp>
          <p:nvCxnSpPr>
            <p:cNvPr id="2073" name="2072 Conector recto"/>
            <p:cNvCxnSpPr/>
            <p:nvPr/>
          </p:nvCxnSpPr>
          <p:spPr>
            <a:xfrm flipH="1" flipV="1">
              <a:off x="7844680" y="2672959"/>
              <a:ext cx="17092" cy="1365641"/>
            </a:xfrm>
            <a:prstGeom prst="line">
              <a:avLst/>
            </a:prstGeom>
          </p:spPr>
          <p:style>
            <a:lnRef idx="1">
              <a:schemeClr val="accent1"/>
            </a:lnRef>
            <a:fillRef idx="0">
              <a:schemeClr val="accent1"/>
            </a:fillRef>
            <a:effectRef idx="0">
              <a:schemeClr val="accent1"/>
            </a:effectRef>
            <a:fontRef idx="minor">
              <a:schemeClr val="tx1"/>
            </a:fontRef>
          </p:style>
        </p:cxnSp>
      </p:grpSp>
      <p:sp>
        <p:nvSpPr>
          <p:cNvPr id="168" name="167 CuadroTexto"/>
          <p:cNvSpPr txBox="1"/>
          <p:nvPr/>
        </p:nvSpPr>
        <p:spPr>
          <a:xfrm>
            <a:off x="0" y="3370630"/>
            <a:ext cx="3943334" cy="307777"/>
          </a:xfrm>
          <a:prstGeom prst="rect">
            <a:avLst/>
          </a:prstGeom>
          <a:noFill/>
        </p:spPr>
        <p:txBody>
          <a:bodyPr wrap="square" rtlCol="0">
            <a:spAutoFit/>
          </a:bodyPr>
          <a:lstStyle/>
          <a:p>
            <a:r>
              <a:rPr lang="en-US" sz="1400" b="1" dirty="0" smtClean="0">
                <a:solidFill>
                  <a:prstClr val="black"/>
                </a:solidFill>
              </a:rPr>
              <a:t>4,000 pages of Employees in clustering key order</a:t>
            </a:r>
            <a:endParaRPr lang="en-US" sz="1400" i="1" dirty="0">
              <a:solidFill>
                <a:prstClr val="black"/>
              </a:solidFill>
            </a:endParaRPr>
          </a:p>
        </p:txBody>
      </p:sp>
      <p:grpSp>
        <p:nvGrpSpPr>
          <p:cNvPr id="2" name="1 Grupo"/>
          <p:cNvGrpSpPr/>
          <p:nvPr/>
        </p:nvGrpSpPr>
        <p:grpSpPr>
          <a:xfrm>
            <a:off x="40730" y="4550808"/>
            <a:ext cx="9068940" cy="2015184"/>
            <a:chOff x="40730" y="4722258"/>
            <a:chExt cx="9068940" cy="2015184"/>
          </a:xfrm>
        </p:grpSpPr>
        <p:sp>
          <p:nvSpPr>
            <p:cNvPr id="139" name="138 Rectángulo"/>
            <p:cNvSpPr/>
            <p:nvPr/>
          </p:nvSpPr>
          <p:spPr>
            <a:xfrm>
              <a:off x="49826" y="4722258"/>
              <a:ext cx="1303968" cy="17526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55" name="154 CuadroTexto"/>
            <p:cNvSpPr txBox="1"/>
            <p:nvPr/>
          </p:nvSpPr>
          <p:spPr>
            <a:xfrm>
              <a:off x="57822" y="4849020"/>
              <a:ext cx="1295972" cy="1631216"/>
            </a:xfrm>
            <a:prstGeom prst="rect">
              <a:avLst/>
            </a:prstGeom>
            <a:noFill/>
          </p:spPr>
          <p:txBody>
            <a:bodyPr wrap="square" rtlCol="0">
              <a:spAutoFit/>
            </a:bodyPr>
            <a:lstStyle/>
            <a:p>
              <a:r>
                <a:rPr lang="en-US" sz="1000" dirty="0" smtClean="0">
                  <a:solidFill>
                    <a:prstClr val="black"/>
                  </a:solidFill>
                </a:rPr>
                <a:t>1 – Claudio Romero</a:t>
              </a:r>
            </a:p>
            <a:p>
              <a:r>
                <a:rPr lang="en-US" sz="1000" dirty="0" smtClean="0">
                  <a:solidFill>
                    <a:prstClr val="black"/>
                  </a:solidFill>
                </a:rPr>
                <a:t>2 </a:t>
              </a:r>
              <a:r>
                <a:rPr lang="en-US" sz="1000" dirty="0">
                  <a:solidFill>
                    <a:prstClr val="black"/>
                  </a:solidFill>
                </a:rPr>
                <a:t>– Sir Isaac </a:t>
              </a:r>
              <a:r>
                <a:rPr lang="en-US" sz="1000" dirty="0" smtClean="0">
                  <a:solidFill>
                    <a:prstClr val="black"/>
                  </a:solidFill>
                </a:rPr>
                <a:t>Newton</a:t>
              </a:r>
            </a:p>
            <a:p>
              <a:r>
                <a:rPr lang="en-US" sz="1000" dirty="0" smtClean="0">
                  <a:solidFill>
                    <a:prstClr val="black"/>
                  </a:solidFill>
                </a:rPr>
                <a:t>3 </a:t>
              </a:r>
              <a:r>
                <a:rPr lang="en-US" sz="1000" dirty="0">
                  <a:solidFill>
                    <a:prstClr val="black"/>
                  </a:solidFill>
                </a:rPr>
                <a:t>– Albert </a:t>
              </a:r>
              <a:r>
                <a:rPr lang="en-US" sz="1000" dirty="0" smtClean="0">
                  <a:solidFill>
                    <a:prstClr val="black"/>
                  </a:solidFill>
                </a:rPr>
                <a:t>Einstein</a:t>
              </a:r>
              <a:endParaRPr lang="en-US" sz="1000" dirty="0">
                <a:solidFill>
                  <a:prstClr val="black"/>
                </a:solidFill>
              </a:endParaRPr>
            </a:p>
            <a:p>
              <a:r>
                <a:rPr lang="en-US" sz="1000" dirty="0" smtClean="0">
                  <a:solidFill>
                    <a:prstClr val="black"/>
                  </a:solidFill>
                </a:rPr>
                <a:t>…</a:t>
              </a:r>
            </a:p>
            <a:p>
              <a:endParaRPr lang="en-US" sz="1000" dirty="0">
                <a:solidFill>
                  <a:prstClr val="black"/>
                </a:solidFill>
              </a:endParaRPr>
            </a:p>
            <a:p>
              <a:endParaRPr lang="en-US" sz="1000" dirty="0" smtClean="0">
                <a:solidFill>
                  <a:prstClr val="black"/>
                </a:solidFill>
              </a:endParaRPr>
            </a:p>
            <a:p>
              <a:endParaRPr lang="en-US" sz="1000" dirty="0" smtClean="0">
                <a:solidFill>
                  <a:prstClr val="black"/>
                </a:solidFill>
              </a:endParaRPr>
            </a:p>
            <a:p>
              <a:endParaRPr lang="en-US" sz="1000" dirty="0" smtClean="0">
                <a:solidFill>
                  <a:prstClr val="black"/>
                </a:solidFill>
              </a:endParaRPr>
            </a:p>
            <a:p>
              <a:endParaRPr lang="en-US" sz="1000" dirty="0">
                <a:solidFill>
                  <a:prstClr val="black"/>
                </a:solidFill>
              </a:endParaRPr>
            </a:p>
            <a:p>
              <a:r>
                <a:rPr lang="en-US" sz="1000" dirty="0" smtClean="0">
                  <a:solidFill>
                    <a:prstClr val="black"/>
                  </a:solidFill>
                </a:rPr>
                <a:t>20 </a:t>
              </a:r>
              <a:r>
                <a:rPr lang="en-US" sz="1000" dirty="0">
                  <a:solidFill>
                    <a:prstClr val="black"/>
                  </a:solidFill>
                </a:rPr>
                <a:t>– Alan </a:t>
              </a:r>
              <a:r>
                <a:rPr lang="en-US" sz="1000" dirty="0" smtClean="0">
                  <a:solidFill>
                    <a:prstClr val="black"/>
                  </a:solidFill>
                </a:rPr>
                <a:t>Turing</a:t>
              </a:r>
              <a:endParaRPr lang="en-US" sz="1000" dirty="0">
                <a:solidFill>
                  <a:prstClr val="black"/>
                </a:solidFill>
              </a:endParaRPr>
            </a:p>
          </p:txBody>
        </p:sp>
        <p:sp>
          <p:nvSpPr>
            <p:cNvPr id="157" name="156 Rectángulo"/>
            <p:cNvSpPr/>
            <p:nvPr/>
          </p:nvSpPr>
          <p:spPr>
            <a:xfrm>
              <a:off x="1531447" y="4722258"/>
              <a:ext cx="1303968" cy="17526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58" name="157 CuadroTexto"/>
            <p:cNvSpPr txBox="1"/>
            <p:nvPr/>
          </p:nvSpPr>
          <p:spPr>
            <a:xfrm>
              <a:off x="1539443" y="4849020"/>
              <a:ext cx="1295972" cy="1631216"/>
            </a:xfrm>
            <a:prstGeom prst="rect">
              <a:avLst/>
            </a:prstGeom>
            <a:noFill/>
          </p:spPr>
          <p:txBody>
            <a:bodyPr wrap="square" rtlCol="0">
              <a:spAutoFit/>
            </a:bodyPr>
            <a:lstStyle/>
            <a:p>
              <a:r>
                <a:rPr lang="en-US" sz="1000" dirty="0" smtClean="0">
                  <a:solidFill>
                    <a:prstClr val="black"/>
                  </a:solidFill>
                </a:rPr>
                <a:t>21 </a:t>
              </a:r>
              <a:r>
                <a:rPr lang="en-US" sz="1000" dirty="0">
                  <a:solidFill>
                    <a:prstClr val="black"/>
                  </a:solidFill>
                </a:rPr>
                <a:t>– Amelia </a:t>
              </a:r>
              <a:r>
                <a:rPr lang="en-US" sz="1000" dirty="0" smtClean="0">
                  <a:solidFill>
                    <a:prstClr val="black"/>
                  </a:solidFill>
                </a:rPr>
                <a:t>Earhart</a:t>
              </a:r>
            </a:p>
            <a:p>
              <a:r>
                <a:rPr lang="en-US" sz="1000" dirty="0" smtClean="0">
                  <a:solidFill>
                    <a:prstClr val="black"/>
                  </a:solidFill>
                </a:rPr>
                <a:t>22 </a:t>
              </a:r>
              <a:r>
                <a:rPr lang="en-US" sz="1000" dirty="0">
                  <a:solidFill>
                    <a:prstClr val="black"/>
                  </a:solidFill>
                </a:rPr>
                <a:t>– Edmond Halley</a:t>
              </a:r>
              <a:endParaRPr lang="en-US" sz="1000" dirty="0" smtClean="0">
                <a:solidFill>
                  <a:prstClr val="black"/>
                </a:solidFill>
              </a:endParaRPr>
            </a:p>
            <a:p>
              <a:r>
                <a:rPr lang="en-US" sz="1000" dirty="0" smtClean="0">
                  <a:solidFill>
                    <a:prstClr val="black"/>
                  </a:solidFill>
                </a:rPr>
                <a:t>23 </a:t>
              </a:r>
              <a:r>
                <a:rPr lang="en-US" sz="1000" dirty="0">
                  <a:solidFill>
                    <a:prstClr val="black"/>
                  </a:solidFill>
                </a:rPr>
                <a:t>– </a:t>
              </a:r>
              <a:r>
                <a:rPr lang="en-US" sz="1000" dirty="0" smtClean="0">
                  <a:solidFill>
                    <a:prstClr val="black"/>
                  </a:solidFill>
                </a:rPr>
                <a:t>John Nash</a:t>
              </a:r>
              <a:endParaRPr lang="en-US" sz="1000" dirty="0">
                <a:solidFill>
                  <a:prstClr val="black"/>
                </a:solidFill>
              </a:endParaRPr>
            </a:p>
            <a:p>
              <a:r>
                <a:rPr lang="en-US" sz="1000" dirty="0" smtClean="0">
                  <a:solidFill>
                    <a:prstClr val="black"/>
                  </a:solidFill>
                </a:rPr>
                <a:t>…</a:t>
              </a:r>
            </a:p>
            <a:p>
              <a:endParaRPr lang="en-US" sz="1000" dirty="0">
                <a:solidFill>
                  <a:prstClr val="black"/>
                </a:solidFill>
              </a:endParaRPr>
            </a:p>
            <a:p>
              <a:endParaRPr lang="en-US" sz="1000" dirty="0" smtClean="0">
                <a:solidFill>
                  <a:prstClr val="black"/>
                </a:solidFill>
              </a:endParaRPr>
            </a:p>
            <a:p>
              <a:endParaRPr lang="en-US" sz="1000" dirty="0" smtClean="0">
                <a:solidFill>
                  <a:prstClr val="black"/>
                </a:solidFill>
              </a:endParaRPr>
            </a:p>
            <a:p>
              <a:endParaRPr lang="en-US" sz="1000" dirty="0" smtClean="0">
                <a:solidFill>
                  <a:prstClr val="black"/>
                </a:solidFill>
              </a:endParaRPr>
            </a:p>
            <a:p>
              <a:endParaRPr lang="en-US" sz="1000" dirty="0">
                <a:solidFill>
                  <a:prstClr val="black"/>
                </a:solidFill>
              </a:endParaRPr>
            </a:p>
            <a:p>
              <a:r>
                <a:rPr lang="en-US" sz="1000" dirty="0">
                  <a:solidFill>
                    <a:prstClr val="black"/>
                  </a:solidFill>
                </a:rPr>
                <a:t>4</a:t>
              </a:r>
              <a:r>
                <a:rPr lang="en-US" sz="1000" dirty="0" smtClean="0">
                  <a:solidFill>
                    <a:prstClr val="black"/>
                  </a:solidFill>
                </a:rPr>
                <a:t>0 </a:t>
              </a:r>
              <a:r>
                <a:rPr lang="en-US" sz="1000" dirty="0">
                  <a:solidFill>
                    <a:prstClr val="black"/>
                  </a:solidFill>
                </a:rPr>
                <a:t>– James </a:t>
              </a:r>
              <a:r>
                <a:rPr lang="en-US" sz="1000" dirty="0" smtClean="0">
                  <a:solidFill>
                    <a:prstClr val="black"/>
                  </a:solidFill>
                </a:rPr>
                <a:t>Maxwell</a:t>
              </a:r>
              <a:endParaRPr lang="en-US" sz="1000" dirty="0">
                <a:solidFill>
                  <a:prstClr val="black"/>
                </a:solidFill>
              </a:endParaRPr>
            </a:p>
          </p:txBody>
        </p:sp>
        <p:sp>
          <p:nvSpPr>
            <p:cNvPr id="159" name="158 Rectángulo"/>
            <p:cNvSpPr/>
            <p:nvPr/>
          </p:nvSpPr>
          <p:spPr>
            <a:xfrm>
              <a:off x="3023679" y="4722258"/>
              <a:ext cx="1303968" cy="17526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0" name="159 CuadroTexto"/>
            <p:cNvSpPr txBox="1"/>
            <p:nvPr/>
          </p:nvSpPr>
          <p:spPr>
            <a:xfrm>
              <a:off x="3031675" y="4849020"/>
              <a:ext cx="1295972" cy="1631216"/>
            </a:xfrm>
            <a:prstGeom prst="rect">
              <a:avLst/>
            </a:prstGeom>
            <a:noFill/>
          </p:spPr>
          <p:txBody>
            <a:bodyPr wrap="square" rtlCol="0">
              <a:spAutoFit/>
            </a:bodyPr>
            <a:lstStyle/>
            <a:p>
              <a:r>
                <a:rPr lang="en-US" sz="1000" dirty="0" smtClean="0">
                  <a:solidFill>
                    <a:prstClr val="black"/>
                  </a:solidFill>
                </a:rPr>
                <a:t>41 – Lord Kelvin</a:t>
              </a:r>
            </a:p>
            <a:p>
              <a:r>
                <a:rPr lang="en-US" sz="1000" dirty="0" smtClean="0">
                  <a:solidFill>
                    <a:prstClr val="black"/>
                  </a:solidFill>
                </a:rPr>
                <a:t>42 </a:t>
              </a:r>
              <a:r>
                <a:rPr lang="en-US" sz="1000" dirty="0">
                  <a:solidFill>
                    <a:prstClr val="black"/>
                  </a:solidFill>
                </a:rPr>
                <a:t>– John </a:t>
              </a:r>
              <a:r>
                <a:rPr lang="en-US" sz="1000" dirty="0" smtClean="0">
                  <a:solidFill>
                    <a:prstClr val="black"/>
                  </a:solidFill>
                </a:rPr>
                <a:t>Locke</a:t>
              </a:r>
            </a:p>
            <a:p>
              <a:r>
                <a:rPr lang="en-US" sz="1000" dirty="0" smtClean="0">
                  <a:solidFill>
                    <a:prstClr val="black"/>
                  </a:solidFill>
                </a:rPr>
                <a:t>43 – Voltaire</a:t>
              </a:r>
              <a:endParaRPr lang="en-US" sz="1000" dirty="0">
                <a:solidFill>
                  <a:prstClr val="black"/>
                </a:solidFill>
              </a:endParaRPr>
            </a:p>
            <a:p>
              <a:r>
                <a:rPr lang="en-US" sz="1000" dirty="0" smtClean="0">
                  <a:solidFill>
                    <a:prstClr val="black"/>
                  </a:solidFill>
                </a:rPr>
                <a:t>…</a:t>
              </a:r>
            </a:p>
            <a:p>
              <a:endParaRPr lang="en-US" sz="1000" dirty="0">
                <a:solidFill>
                  <a:prstClr val="black"/>
                </a:solidFill>
              </a:endParaRPr>
            </a:p>
            <a:p>
              <a:endParaRPr lang="en-US" sz="1000" dirty="0" smtClean="0">
                <a:solidFill>
                  <a:prstClr val="black"/>
                </a:solidFill>
              </a:endParaRPr>
            </a:p>
            <a:p>
              <a:endParaRPr lang="en-US" sz="1000" dirty="0" smtClean="0">
                <a:solidFill>
                  <a:prstClr val="black"/>
                </a:solidFill>
              </a:endParaRPr>
            </a:p>
            <a:p>
              <a:endParaRPr lang="en-US" sz="1000" dirty="0" smtClean="0">
                <a:solidFill>
                  <a:prstClr val="black"/>
                </a:solidFill>
              </a:endParaRPr>
            </a:p>
            <a:p>
              <a:endParaRPr lang="en-US" sz="1000" dirty="0">
                <a:solidFill>
                  <a:prstClr val="black"/>
                </a:solidFill>
              </a:endParaRPr>
            </a:p>
            <a:p>
              <a:r>
                <a:rPr lang="en-US" sz="1000" dirty="0">
                  <a:solidFill>
                    <a:prstClr val="black"/>
                  </a:solidFill>
                </a:rPr>
                <a:t>6</a:t>
              </a:r>
              <a:r>
                <a:rPr lang="en-US" sz="1000" dirty="0" smtClean="0">
                  <a:solidFill>
                    <a:prstClr val="black"/>
                  </a:solidFill>
                </a:rPr>
                <a:t>0 </a:t>
              </a:r>
              <a:r>
                <a:rPr lang="en-US" sz="1000" dirty="0">
                  <a:solidFill>
                    <a:prstClr val="black"/>
                  </a:solidFill>
                </a:rPr>
                <a:t>– </a:t>
              </a:r>
              <a:r>
                <a:rPr lang="en-US" sz="1000" dirty="0" err="1">
                  <a:solidFill>
                    <a:prstClr val="black"/>
                  </a:solidFill>
                </a:rPr>
                <a:t>Michio</a:t>
              </a:r>
              <a:r>
                <a:rPr lang="en-US" sz="1000" dirty="0">
                  <a:solidFill>
                    <a:prstClr val="black"/>
                  </a:solidFill>
                </a:rPr>
                <a:t> </a:t>
              </a:r>
              <a:r>
                <a:rPr lang="en-US" sz="1000" dirty="0" err="1">
                  <a:solidFill>
                    <a:prstClr val="black"/>
                  </a:solidFill>
                </a:rPr>
                <a:t>Kaku</a:t>
              </a:r>
              <a:endParaRPr lang="en-US" sz="1000" dirty="0">
                <a:solidFill>
                  <a:prstClr val="black"/>
                </a:solidFill>
              </a:endParaRPr>
            </a:p>
          </p:txBody>
        </p:sp>
        <p:sp>
          <p:nvSpPr>
            <p:cNvPr id="161" name="160 Rectángulo"/>
            <p:cNvSpPr/>
            <p:nvPr/>
          </p:nvSpPr>
          <p:spPr>
            <a:xfrm>
              <a:off x="4840833" y="4722258"/>
              <a:ext cx="1303968" cy="17526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2" name="161 CuadroTexto"/>
            <p:cNvSpPr txBox="1"/>
            <p:nvPr/>
          </p:nvSpPr>
          <p:spPr>
            <a:xfrm>
              <a:off x="4848829" y="4849020"/>
              <a:ext cx="1295972" cy="1631216"/>
            </a:xfrm>
            <a:prstGeom prst="rect">
              <a:avLst/>
            </a:prstGeom>
            <a:noFill/>
          </p:spPr>
          <p:txBody>
            <a:bodyPr wrap="square" rtlCol="0">
              <a:spAutoFit/>
            </a:bodyPr>
            <a:lstStyle/>
            <a:p>
              <a:r>
                <a:rPr lang="en-US" sz="1000" dirty="0" smtClean="0">
                  <a:solidFill>
                    <a:prstClr val="black"/>
                  </a:solidFill>
                </a:rPr>
                <a:t>79941 – Rousseau</a:t>
              </a:r>
            </a:p>
            <a:p>
              <a:r>
                <a:rPr lang="en-US" sz="1000" dirty="0" smtClean="0">
                  <a:solidFill>
                    <a:prstClr val="black"/>
                  </a:solidFill>
                </a:rPr>
                <a:t>79442 </a:t>
              </a:r>
              <a:r>
                <a:rPr lang="en-US" sz="1000" dirty="0">
                  <a:solidFill>
                    <a:prstClr val="black"/>
                  </a:solidFill>
                </a:rPr>
                <a:t>– Lao Tzu</a:t>
              </a:r>
              <a:endParaRPr lang="en-US" sz="1000" dirty="0" smtClean="0">
                <a:solidFill>
                  <a:prstClr val="black"/>
                </a:solidFill>
              </a:endParaRPr>
            </a:p>
            <a:p>
              <a:r>
                <a:rPr lang="en-US" sz="1000" dirty="0" smtClean="0">
                  <a:solidFill>
                    <a:prstClr val="black"/>
                  </a:solidFill>
                </a:rPr>
                <a:t>79443 </a:t>
              </a:r>
              <a:r>
                <a:rPr lang="en-US" sz="1000" dirty="0">
                  <a:solidFill>
                    <a:prstClr val="black"/>
                  </a:solidFill>
                </a:rPr>
                <a:t>– Machiavelli</a:t>
              </a:r>
            </a:p>
            <a:p>
              <a:r>
                <a:rPr lang="en-US" sz="1000" dirty="0" smtClean="0">
                  <a:solidFill>
                    <a:prstClr val="black"/>
                  </a:solidFill>
                </a:rPr>
                <a:t>…</a:t>
              </a:r>
            </a:p>
            <a:p>
              <a:endParaRPr lang="en-US" sz="1000" dirty="0">
                <a:solidFill>
                  <a:prstClr val="black"/>
                </a:solidFill>
              </a:endParaRPr>
            </a:p>
            <a:p>
              <a:endParaRPr lang="en-US" sz="1000" dirty="0" smtClean="0">
                <a:solidFill>
                  <a:prstClr val="black"/>
                </a:solidFill>
              </a:endParaRPr>
            </a:p>
            <a:p>
              <a:endParaRPr lang="en-US" sz="1000" dirty="0" smtClean="0">
                <a:solidFill>
                  <a:prstClr val="black"/>
                </a:solidFill>
              </a:endParaRPr>
            </a:p>
            <a:p>
              <a:endParaRPr lang="en-US" sz="1000" dirty="0" smtClean="0">
                <a:solidFill>
                  <a:prstClr val="black"/>
                </a:solidFill>
              </a:endParaRPr>
            </a:p>
            <a:p>
              <a:endParaRPr lang="en-US" sz="1000" dirty="0">
                <a:solidFill>
                  <a:prstClr val="black"/>
                </a:solidFill>
              </a:endParaRPr>
            </a:p>
            <a:p>
              <a:r>
                <a:rPr lang="en-US" sz="1000" dirty="0" smtClean="0">
                  <a:solidFill>
                    <a:prstClr val="black"/>
                  </a:solidFill>
                </a:rPr>
                <a:t>79960 </a:t>
              </a:r>
              <a:r>
                <a:rPr lang="en-US" sz="1000" dirty="0">
                  <a:solidFill>
                    <a:prstClr val="black"/>
                  </a:solidFill>
                </a:rPr>
                <a:t>– Confucius</a:t>
              </a:r>
            </a:p>
          </p:txBody>
        </p:sp>
        <p:sp>
          <p:nvSpPr>
            <p:cNvPr id="163" name="162 Rectángulo"/>
            <p:cNvSpPr/>
            <p:nvPr/>
          </p:nvSpPr>
          <p:spPr>
            <a:xfrm>
              <a:off x="6351848" y="4722258"/>
              <a:ext cx="1303968" cy="17526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4" name="163 CuadroTexto"/>
            <p:cNvSpPr txBox="1"/>
            <p:nvPr/>
          </p:nvSpPr>
          <p:spPr>
            <a:xfrm>
              <a:off x="6359844" y="4849020"/>
              <a:ext cx="1295972" cy="1631216"/>
            </a:xfrm>
            <a:prstGeom prst="rect">
              <a:avLst/>
            </a:prstGeom>
            <a:noFill/>
          </p:spPr>
          <p:txBody>
            <a:bodyPr wrap="square" rtlCol="0">
              <a:spAutoFit/>
            </a:bodyPr>
            <a:lstStyle/>
            <a:p>
              <a:r>
                <a:rPr lang="en-US" sz="1000" dirty="0" smtClean="0">
                  <a:solidFill>
                    <a:prstClr val="black"/>
                  </a:solidFill>
                </a:rPr>
                <a:t>79961 </a:t>
              </a:r>
              <a:r>
                <a:rPr lang="en-US" sz="1000" dirty="0">
                  <a:solidFill>
                    <a:prstClr val="black"/>
                  </a:solidFill>
                </a:rPr>
                <a:t>– </a:t>
              </a:r>
              <a:r>
                <a:rPr lang="en-US" sz="1000" dirty="0" smtClean="0">
                  <a:solidFill>
                    <a:prstClr val="black"/>
                  </a:solidFill>
                </a:rPr>
                <a:t>Napoleon</a:t>
              </a:r>
            </a:p>
            <a:p>
              <a:r>
                <a:rPr lang="en-US" sz="1000" dirty="0" smtClean="0">
                  <a:solidFill>
                    <a:prstClr val="black"/>
                  </a:solidFill>
                </a:rPr>
                <a:t>79962 </a:t>
              </a:r>
              <a:r>
                <a:rPr lang="en-US" sz="1000" dirty="0">
                  <a:solidFill>
                    <a:prstClr val="black"/>
                  </a:solidFill>
                </a:rPr>
                <a:t>– </a:t>
              </a:r>
              <a:r>
                <a:rPr lang="en-US" sz="1000" dirty="0" smtClean="0">
                  <a:solidFill>
                    <a:prstClr val="black"/>
                  </a:solidFill>
                </a:rPr>
                <a:t>Alexander</a:t>
              </a:r>
            </a:p>
            <a:p>
              <a:r>
                <a:rPr lang="en-US" sz="1000" dirty="0" smtClean="0">
                  <a:solidFill>
                    <a:prstClr val="black"/>
                  </a:solidFill>
                </a:rPr>
                <a:t>79963 </a:t>
              </a:r>
              <a:r>
                <a:rPr lang="en-US" sz="1000" dirty="0">
                  <a:solidFill>
                    <a:prstClr val="black"/>
                  </a:solidFill>
                </a:rPr>
                <a:t>– Mozart</a:t>
              </a:r>
            </a:p>
            <a:p>
              <a:r>
                <a:rPr lang="en-US" sz="1000" dirty="0" smtClean="0">
                  <a:solidFill>
                    <a:prstClr val="black"/>
                  </a:solidFill>
                </a:rPr>
                <a:t>…</a:t>
              </a:r>
            </a:p>
            <a:p>
              <a:endParaRPr lang="en-US" sz="1000" dirty="0">
                <a:solidFill>
                  <a:prstClr val="black"/>
                </a:solidFill>
              </a:endParaRPr>
            </a:p>
            <a:p>
              <a:endParaRPr lang="en-US" sz="1000" dirty="0" smtClean="0">
                <a:solidFill>
                  <a:prstClr val="black"/>
                </a:solidFill>
              </a:endParaRPr>
            </a:p>
            <a:p>
              <a:endParaRPr lang="en-US" sz="1000" dirty="0" smtClean="0">
                <a:solidFill>
                  <a:prstClr val="black"/>
                </a:solidFill>
              </a:endParaRPr>
            </a:p>
            <a:p>
              <a:endParaRPr lang="en-US" sz="1000" dirty="0" smtClean="0">
                <a:solidFill>
                  <a:prstClr val="black"/>
                </a:solidFill>
              </a:endParaRPr>
            </a:p>
            <a:p>
              <a:endParaRPr lang="en-US" sz="1000" dirty="0">
                <a:solidFill>
                  <a:prstClr val="black"/>
                </a:solidFill>
              </a:endParaRPr>
            </a:p>
            <a:p>
              <a:r>
                <a:rPr lang="en-US" sz="1000" dirty="0" smtClean="0">
                  <a:solidFill>
                    <a:prstClr val="black"/>
                  </a:solidFill>
                </a:rPr>
                <a:t>79980 </a:t>
              </a:r>
              <a:r>
                <a:rPr lang="en-US" sz="1000" dirty="0">
                  <a:solidFill>
                    <a:prstClr val="black"/>
                  </a:solidFill>
                </a:rPr>
                <a:t>– Beethoven</a:t>
              </a:r>
            </a:p>
          </p:txBody>
        </p:sp>
        <p:sp>
          <p:nvSpPr>
            <p:cNvPr id="165" name="164 Rectángulo"/>
            <p:cNvSpPr/>
            <p:nvPr/>
          </p:nvSpPr>
          <p:spPr>
            <a:xfrm>
              <a:off x="7805702" y="4722258"/>
              <a:ext cx="1303968" cy="17526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6" name="165 CuadroTexto"/>
            <p:cNvSpPr txBox="1"/>
            <p:nvPr/>
          </p:nvSpPr>
          <p:spPr>
            <a:xfrm>
              <a:off x="7813698" y="4849020"/>
              <a:ext cx="1295972" cy="1631216"/>
            </a:xfrm>
            <a:prstGeom prst="rect">
              <a:avLst/>
            </a:prstGeom>
            <a:noFill/>
          </p:spPr>
          <p:txBody>
            <a:bodyPr wrap="square" rtlCol="0">
              <a:spAutoFit/>
            </a:bodyPr>
            <a:lstStyle/>
            <a:p>
              <a:r>
                <a:rPr lang="en-US" sz="1000" dirty="0" smtClean="0">
                  <a:solidFill>
                    <a:prstClr val="black"/>
                  </a:solidFill>
                </a:rPr>
                <a:t>79981 </a:t>
              </a:r>
              <a:r>
                <a:rPr lang="en-US" sz="1000" dirty="0">
                  <a:solidFill>
                    <a:prstClr val="black"/>
                  </a:solidFill>
                </a:rPr>
                <a:t>– James Watt</a:t>
              </a:r>
              <a:endParaRPr lang="en-US" sz="1000" dirty="0" smtClean="0">
                <a:solidFill>
                  <a:prstClr val="black"/>
                </a:solidFill>
              </a:endParaRPr>
            </a:p>
            <a:p>
              <a:r>
                <a:rPr lang="en-US" sz="1000" dirty="0" smtClean="0">
                  <a:solidFill>
                    <a:prstClr val="black"/>
                  </a:solidFill>
                </a:rPr>
                <a:t>79982 </a:t>
              </a:r>
              <a:r>
                <a:rPr lang="en-US" sz="1000" dirty="0">
                  <a:solidFill>
                    <a:prstClr val="black"/>
                  </a:solidFill>
                </a:rPr>
                <a:t>– Euclid</a:t>
              </a:r>
              <a:endParaRPr lang="en-US" sz="1000" dirty="0" smtClean="0">
                <a:solidFill>
                  <a:prstClr val="black"/>
                </a:solidFill>
              </a:endParaRPr>
            </a:p>
            <a:p>
              <a:r>
                <a:rPr lang="en-US" sz="1000" dirty="0" smtClean="0">
                  <a:solidFill>
                    <a:prstClr val="black"/>
                  </a:solidFill>
                </a:rPr>
                <a:t>79983 </a:t>
              </a:r>
              <a:r>
                <a:rPr lang="en-US" sz="1000" dirty="0">
                  <a:solidFill>
                    <a:prstClr val="black"/>
                  </a:solidFill>
                </a:rPr>
                <a:t>– Archimedes</a:t>
              </a:r>
            </a:p>
            <a:p>
              <a:r>
                <a:rPr lang="en-US" sz="1000" dirty="0" smtClean="0">
                  <a:solidFill>
                    <a:prstClr val="black"/>
                  </a:solidFill>
                </a:rPr>
                <a:t>…</a:t>
              </a:r>
            </a:p>
            <a:p>
              <a:endParaRPr lang="en-US" sz="1000" dirty="0">
                <a:solidFill>
                  <a:prstClr val="black"/>
                </a:solidFill>
              </a:endParaRPr>
            </a:p>
            <a:p>
              <a:endParaRPr lang="en-US" sz="1000" dirty="0" smtClean="0">
                <a:solidFill>
                  <a:prstClr val="black"/>
                </a:solidFill>
              </a:endParaRPr>
            </a:p>
            <a:p>
              <a:endParaRPr lang="en-US" sz="1000" dirty="0" smtClean="0">
                <a:solidFill>
                  <a:prstClr val="black"/>
                </a:solidFill>
              </a:endParaRPr>
            </a:p>
            <a:p>
              <a:endParaRPr lang="en-US" sz="1000" dirty="0" smtClean="0">
                <a:solidFill>
                  <a:prstClr val="black"/>
                </a:solidFill>
              </a:endParaRPr>
            </a:p>
            <a:p>
              <a:endParaRPr lang="en-US" sz="1000" dirty="0">
                <a:solidFill>
                  <a:prstClr val="black"/>
                </a:solidFill>
              </a:endParaRPr>
            </a:p>
            <a:p>
              <a:r>
                <a:rPr lang="en-US" sz="1000" dirty="0" smtClean="0">
                  <a:solidFill>
                    <a:prstClr val="black"/>
                  </a:solidFill>
                </a:rPr>
                <a:t>80000 – Faraday</a:t>
              </a:r>
              <a:endParaRPr lang="en-US" sz="1000" dirty="0">
                <a:solidFill>
                  <a:prstClr val="black"/>
                </a:solidFill>
              </a:endParaRPr>
            </a:p>
          </p:txBody>
        </p:sp>
        <p:sp>
          <p:nvSpPr>
            <p:cNvPr id="167" name="166 CuadroTexto"/>
            <p:cNvSpPr txBox="1"/>
            <p:nvPr/>
          </p:nvSpPr>
          <p:spPr>
            <a:xfrm>
              <a:off x="4412355" y="5299208"/>
              <a:ext cx="310157" cy="307777"/>
            </a:xfrm>
            <a:prstGeom prst="rect">
              <a:avLst/>
            </a:prstGeom>
            <a:noFill/>
          </p:spPr>
          <p:txBody>
            <a:bodyPr wrap="square" rtlCol="0">
              <a:spAutoFit/>
            </a:bodyPr>
            <a:lstStyle/>
            <a:p>
              <a:r>
                <a:rPr lang="en-US" sz="1400" b="1" dirty="0" smtClean="0">
                  <a:solidFill>
                    <a:prstClr val="black"/>
                  </a:solidFill>
                </a:rPr>
                <a:t>…</a:t>
              </a:r>
              <a:endParaRPr lang="en-US" sz="1400" b="1" dirty="0">
                <a:solidFill>
                  <a:prstClr val="black"/>
                </a:solidFill>
              </a:endParaRPr>
            </a:p>
          </p:txBody>
        </p:sp>
        <p:sp>
          <p:nvSpPr>
            <p:cNvPr id="169" name="168 CuadroTexto"/>
            <p:cNvSpPr txBox="1"/>
            <p:nvPr/>
          </p:nvSpPr>
          <p:spPr>
            <a:xfrm>
              <a:off x="40730" y="6491221"/>
              <a:ext cx="1295972" cy="246221"/>
            </a:xfrm>
            <a:prstGeom prst="rect">
              <a:avLst/>
            </a:prstGeom>
            <a:noFill/>
          </p:spPr>
          <p:txBody>
            <a:bodyPr wrap="square" rtlCol="0">
              <a:spAutoFit/>
            </a:bodyPr>
            <a:lstStyle/>
            <a:p>
              <a:r>
                <a:rPr lang="en-US" sz="1000" dirty="0" smtClean="0">
                  <a:solidFill>
                    <a:prstClr val="black"/>
                  </a:solidFill>
                </a:rPr>
                <a:t>File 1, Page 1</a:t>
              </a:r>
              <a:endParaRPr lang="en-US" sz="1000" dirty="0">
                <a:solidFill>
                  <a:prstClr val="black"/>
                </a:solidFill>
              </a:endParaRPr>
            </a:p>
          </p:txBody>
        </p:sp>
        <p:sp>
          <p:nvSpPr>
            <p:cNvPr id="170" name="169 CuadroTexto"/>
            <p:cNvSpPr txBox="1"/>
            <p:nvPr/>
          </p:nvSpPr>
          <p:spPr>
            <a:xfrm>
              <a:off x="1539443" y="6491221"/>
              <a:ext cx="1295972" cy="246221"/>
            </a:xfrm>
            <a:prstGeom prst="rect">
              <a:avLst/>
            </a:prstGeom>
            <a:noFill/>
          </p:spPr>
          <p:txBody>
            <a:bodyPr wrap="square" rtlCol="0">
              <a:spAutoFit/>
            </a:bodyPr>
            <a:lstStyle/>
            <a:p>
              <a:r>
                <a:rPr lang="en-US" sz="1000" dirty="0" smtClean="0">
                  <a:solidFill>
                    <a:prstClr val="black"/>
                  </a:solidFill>
                </a:rPr>
                <a:t>File 1, Page 2</a:t>
              </a:r>
              <a:endParaRPr lang="en-US" sz="1000" dirty="0">
                <a:solidFill>
                  <a:prstClr val="black"/>
                </a:solidFill>
              </a:endParaRPr>
            </a:p>
          </p:txBody>
        </p:sp>
        <p:sp>
          <p:nvSpPr>
            <p:cNvPr id="171" name="170 CuadroTexto"/>
            <p:cNvSpPr txBox="1"/>
            <p:nvPr/>
          </p:nvSpPr>
          <p:spPr>
            <a:xfrm>
              <a:off x="3031675" y="6491221"/>
              <a:ext cx="1295972" cy="246221"/>
            </a:xfrm>
            <a:prstGeom prst="rect">
              <a:avLst/>
            </a:prstGeom>
            <a:noFill/>
          </p:spPr>
          <p:txBody>
            <a:bodyPr wrap="square" rtlCol="0">
              <a:spAutoFit/>
            </a:bodyPr>
            <a:lstStyle/>
            <a:p>
              <a:r>
                <a:rPr lang="en-US" sz="1000" dirty="0" smtClean="0">
                  <a:solidFill>
                    <a:prstClr val="black"/>
                  </a:solidFill>
                </a:rPr>
                <a:t>File 1, Page 3</a:t>
              </a:r>
              <a:endParaRPr lang="en-US" sz="1000" dirty="0">
                <a:solidFill>
                  <a:prstClr val="black"/>
                </a:solidFill>
              </a:endParaRPr>
            </a:p>
          </p:txBody>
        </p:sp>
        <p:sp>
          <p:nvSpPr>
            <p:cNvPr id="172" name="171 CuadroTexto"/>
            <p:cNvSpPr txBox="1"/>
            <p:nvPr/>
          </p:nvSpPr>
          <p:spPr>
            <a:xfrm>
              <a:off x="4835846" y="6491221"/>
              <a:ext cx="1295972" cy="246221"/>
            </a:xfrm>
            <a:prstGeom prst="rect">
              <a:avLst/>
            </a:prstGeom>
            <a:noFill/>
          </p:spPr>
          <p:txBody>
            <a:bodyPr wrap="square" rtlCol="0">
              <a:spAutoFit/>
            </a:bodyPr>
            <a:lstStyle/>
            <a:p>
              <a:r>
                <a:rPr lang="en-US" sz="1000" dirty="0" smtClean="0">
                  <a:solidFill>
                    <a:prstClr val="black"/>
                  </a:solidFill>
                </a:rPr>
                <a:t>File 1, Page 3998</a:t>
              </a:r>
              <a:endParaRPr lang="en-US" sz="1000" dirty="0">
                <a:solidFill>
                  <a:prstClr val="black"/>
                </a:solidFill>
              </a:endParaRPr>
            </a:p>
          </p:txBody>
        </p:sp>
        <p:sp>
          <p:nvSpPr>
            <p:cNvPr id="173" name="172 CuadroTexto"/>
            <p:cNvSpPr txBox="1"/>
            <p:nvPr/>
          </p:nvSpPr>
          <p:spPr>
            <a:xfrm>
              <a:off x="6351848" y="6491221"/>
              <a:ext cx="1295972" cy="246221"/>
            </a:xfrm>
            <a:prstGeom prst="rect">
              <a:avLst/>
            </a:prstGeom>
            <a:noFill/>
          </p:spPr>
          <p:txBody>
            <a:bodyPr wrap="square" rtlCol="0">
              <a:spAutoFit/>
            </a:bodyPr>
            <a:lstStyle/>
            <a:p>
              <a:r>
                <a:rPr lang="en-US" sz="1000" dirty="0" smtClean="0">
                  <a:solidFill>
                    <a:prstClr val="black"/>
                  </a:solidFill>
                </a:rPr>
                <a:t>File 1, Page 3999</a:t>
              </a:r>
              <a:endParaRPr lang="en-US" sz="1000" dirty="0">
                <a:solidFill>
                  <a:prstClr val="black"/>
                </a:solidFill>
              </a:endParaRPr>
            </a:p>
          </p:txBody>
        </p:sp>
        <p:sp>
          <p:nvSpPr>
            <p:cNvPr id="174" name="173 CuadroTexto"/>
            <p:cNvSpPr txBox="1"/>
            <p:nvPr/>
          </p:nvSpPr>
          <p:spPr>
            <a:xfrm>
              <a:off x="7813698" y="6491221"/>
              <a:ext cx="1295972" cy="246221"/>
            </a:xfrm>
            <a:prstGeom prst="rect">
              <a:avLst/>
            </a:prstGeom>
            <a:noFill/>
          </p:spPr>
          <p:txBody>
            <a:bodyPr wrap="square" rtlCol="0">
              <a:spAutoFit/>
            </a:bodyPr>
            <a:lstStyle/>
            <a:p>
              <a:r>
                <a:rPr lang="en-US" sz="1000" dirty="0" smtClean="0">
                  <a:solidFill>
                    <a:prstClr val="black"/>
                  </a:solidFill>
                </a:rPr>
                <a:t>File 1, Page 4000</a:t>
              </a:r>
              <a:endParaRPr lang="en-US" sz="1000" dirty="0">
                <a:solidFill>
                  <a:prstClr val="black"/>
                </a:solidFill>
              </a:endParaRPr>
            </a:p>
          </p:txBody>
        </p:sp>
      </p:grpSp>
      <p:sp>
        <p:nvSpPr>
          <p:cNvPr id="175" name="174 CuadroTexto"/>
          <p:cNvSpPr txBox="1"/>
          <p:nvPr/>
        </p:nvSpPr>
        <p:spPr>
          <a:xfrm>
            <a:off x="-9258" y="3721137"/>
            <a:ext cx="5705742" cy="461665"/>
          </a:xfrm>
          <a:prstGeom prst="rect">
            <a:avLst/>
          </a:prstGeom>
          <a:noFill/>
        </p:spPr>
        <p:txBody>
          <a:bodyPr wrap="square" rtlCol="0">
            <a:spAutoFit/>
          </a:bodyPr>
          <a:lstStyle/>
          <a:p>
            <a:pPr marL="171450" indent="-171450">
              <a:buFont typeface="Wingdings" pitchFamily="2" charset="2"/>
              <a:buChar char="Ø"/>
            </a:pPr>
            <a:r>
              <a:rPr lang="en-US" sz="1200" dirty="0" smtClean="0">
                <a:solidFill>
                  <a:prstClr val="black"/>
                </a:solidFill>
              </a:rPr>
              <a:t>The table gets physically ordered by the clustering key.</a:t>
            </a:r>
          </a:p>
          <a:p>
            <a:pPr marL="171450" indent="-171450">
              <a:buFont typeface="Wingdings" pitchFamily="2" charset="2"/>
              <a:buChar char="Ø"/>
            </a:pPr>
            <a:r>
              <a:rPr lang="en-US" sz="1200" dirty="0">
                <a:solidFill>
                  <a:prstClr val="black"/>
                </a:solidFill>
              </a:rPr>
              <a:t>Clustered indexes have one row in </a:t>
            </a:r>
            <a:r>
              <a:rPr lang="en-US" sz="1200" i="1" dirty="0" err="1">
                <a:solidFill>
                  <a:prstClr val="black"/>
                </a:solidFill>
              </a:rPr>
              <a:t>sysindexes</a:t>
            </a:r>
            <a:r>
              <a:rPr lang="en-US" sz="1200" dirty="0">
                <a:solidFill>
                  <a:prstClr val="black"/>
                </a:solidFill>
              </a:rPr>
              <a:t> with </a:t>
            </a:r>
            <a:r>
              <a:rPr lang="en-US" sz="1200" i="1" dirty="0" err="1">
                <a:solidFill>
                  <a:prstClr val="black"/>
                </a:solidFill>
              </a:rPr>
              <a:t>indid</a:t>
            </a:r>
            <a:r>
              <a:rPr lang="en-US" sz="1200" i="1" dirty="0">
                <a:solidFill>
                  <a:prstClr val="black"/>
                </a:solidFill>
              </a:rPr>
              <a:t> = 1</a:t>
            </a:r>
          </a:p>
        </p:txBody>
      </p:sp>
      <p:sp>
        <p:nvSpPr>
          <p:cNvPr id="178" name="177 CuadroTexto"/>
          <p:cNvSpPr txBox="1"/>
          <p:nvPr/>
        </p:nvSpPr>
        <p:spPr>
          <a:xfrm>
            <a:off x="0" y="4239867"/>
            <a:ext cx="6642572" cy="307777"/>
          </a:xfrm>
          <a:prstGeom prst="rect">
            <a:avLst/>
          </a:prstGeom>
          <a:noFill/>
        </p:spPr>
        <p:txBody>
          <a:bodyPr wrap="square" rtlCol="0">
            <a:spAutoFit/>
          </a:bodyPr>
          <a:lstStyle/>
          <a:p>
            <a:r>
              <a:rPr lang="en-US" sz="1400" b="1" dirty="0" smtClean="0">
                <a:solidFill>
                  <a:srgbClr val="FF0000"/>
                </a:solidFill>
              </a:rPr>
              <a:t>When a table is clustered the actual data becomes the leaf level of the clustered index.</a:t>
            </a:r>
            <a:endParaRPr lang="en-US" sz="1400" b="1" i="1" dirty="0">
              <a:solidFill>
                <a:srgbClr val="FF0000"/>
              </a:solidFill>
            </a:endParaRPr>
          </a:p>
        </p:txBody>
      </p:sp>
      <p:grpSp>
        <p:nvGrpSpPr>
          <p:cNvPr id="72" name="71 Grupo"/>
          <p:cNvGrpSpPr/>
          <p:nvPr/>
        </p:nvGrpSpPr>
        <p:grpSpPr>
          <a:xfrm>
            <a:off x="9525" y="6574392"/>
            <a:ext cx="9134399" cy="277000"/>
            <a:chOff x="9525" y="6574392"/>
            <a:chExt cx="9134399" cy="277000"/>
          </a:xfrm>
        </p:grpSpPr>
        <p:sp>
          <p:nvSpPr>
            <p:cNvPr id="73" name="72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75" name="74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76" name="75 Grupo"/>
          <p:cNvGrpSpPr/>
          <p:nvPr/>
        </p:nvGrpSpPr>
        <p:grpSpPr>
          <a:xfrm>
            <a:off x="0" y="9525"/>
            <a:ext cx="9153525" cy="408388"/>
            <a:chOff x="0" y="9525"/>
            <a:chExt cx="9153525" cy="408388"/>
          </a:xfrm>
        </p:grpSpPr>
        <p:sp>
          <p:nvSpPr>
            <p:cNvPr id="77" name="76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Index Internals  |  The Index creation process</a:t>
              </a:r>
              <a:endParaRPr lang="en-US" b="1" dirty="0">
                <a:solidFill>
                  <a:schemeClr val="bg1"/>
                </a:solidFill>
              </a:endParaRPr>
            </a:p>
          </p:txBody>
        </p:sp>
        <p:pic>
          <p:nvPicPr>
            <p:cNvPr id="78" name="77 Imagen"/>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9" name="78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3789786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631" y="4627744"/>
            <a:ext cx="8368602" cy="1842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CuadroTexto"/>
          <p:cNvSpPr txBox="1"/>
          <p:nvPr/>
        </p:nvSpPr>
        <p:spPr>
          <a:xfrm>
            <a:off x="1459196" y="582588"/>
            <a:ext cx="1447800" cy="338554"/>
          </a:xfrm>
          <a:prstGeom prst="rect">
            <a:avLst/>
          </a:prstGeom>
          <a:noFill/>
          <a:ln w="12700">
            <a:solidFill>
              <a:srgbClr val="FF0000"/>
            </a:solidFill>
          </a:ln>
        </p:spPr>
        <p:txBody>
          <a:bodyPr wrap="square" rtlCol="0">
            <a:spAutoFit/>
          </a:bodyPr>
          <a:lstStyle/>
          <a:p>
            <a:r>
              <a:rPr lang="en-US" sz="1600" dirty="0" smtClean="0">
                <a:solidFill>
                  <a:prstClr val="black"/>
                </a:solidFill>
              </a:rPr>
              <a:t>Index key value</a:t>
            </a:r>
            <a:endParaRPr lang="en-US" sz="1600" dirty="0">
              <a:solidFill>
                <a:prstClr val="black"/>
              </a:solidFill>
            </a:endParaRPr>
          </a:p>
        </p:txBody>
      </p:sp>
      <p:sp>
        <p:nvSpPr>
          <p:cNvPr id="15" name="14 CuadroTexto"/>
          <p:cNvSpPr txBox="1"/>
          <p:nvPr/>
        </p:nvSpPr>
        <p:spPr>
          <a:xfrm>
            <a:off x="3488144" y="582588"/>
            <a:ext cx="1236256" cy="338554"/>
          </a:xfrm>
          <a:prstGeom prst="rect">
            <a:avLst/>
          </a:prstGeom>
          <a:noFill/>
          <a:ln w="12700">
            <a:solidFill>
              <a:srgbClr val="FF0000"/>
            </a:solidFill>
          </a:ln>
        </p:spPr>
        <p:txBody>
          <a:bodyPr wrap="square" rtlCol="0">
            <a:spAutoFit/>
          </a:bodyPr>
          <a:lstStyle/>
          <a:p>
            <a:r>
              <a:rPr lang="en-US" sz="1600" dirty="0" smtClean="0">
                <a:solidFill>
                  <a:prstClr val="black"/>
                </a:solidFill>
              </a:rPr>
              <a:t>Page pointer</a:t>
            </a:r>
            <a:endParaRPr lang="en-US" sz="1600" dirty="0">
              <a:solidFill>
                <a:prstClr val="black"/>
              </a:solidFill>
            </a:endParaRPr>
          </a:p>
        </p:txBody>
      </p:sp>
      <p:sp>
        <p:nvSpPr>
          <p:cNvPr id="16" name="15 CuadroTexto"/>
          <p:cNvSpPr txBox="1"/>
          <p:nvPr/>
        </p:nvSpPr>
        <p:spPr>
          <a:xfrm>
            <a:off x="5972266" y="582588"/>
            <a:ext cx="1447800" cy="338554"/>
          </a:xfrm>
          <a:prstGeom prst="rect">
            <a:avLst/>
          </a:prstGeom>
          <a:noFill/>
          <a:ln w="12700">
            <a:solidFill>
              <a:srgbClr val="FF0000"/>
            </a:solidFill>
          </a:ln>
        </p:spPr>
        <p:txBody>
          <a:bodyPr wrap="square" rtlCol="0">
            <a:spAutoFit/>
          </a:bodyPr>
          <a:lstStyle/>
          <a:p>
            <a:r>
              <a:rPr lang="en-US" sz="1600" dirty="0" smtClean="0">
                <a:solidFill>
                  <a:prstClr val="black"/>
                </a:solidFill>
              </a:rPr>
              <a:t>Row overhead</a:t>
            </a:r>
            <a:endParaRPr lang="en-US" sz="1600" dirty="0">
              <a:solidFill>
                <a:prstClr val="black"/>
              </a:solidFill>
            </a:endParaRPr>
          </a:p>
        </p:txBody>
      </p:sp>
      <p:sp>
        <p:nvSpPr>
          <p:cNvPr id="17" name="16 CuadroTexto"/>
          <p:cNvSpPr txBox="1"/>
          <p:nvPr/>
        </p:nvSpPr>
        <p:spPr>
          <a:xfrm>
            <a:off x="3043665" y="582588"/>
            <a:ext cx="281365" cy="338554"/>
          </a:xfrm>
          <a:prstGeom prst="rect">
            <a:avLst/>
          </a:prstGeom>
          <a:noFill/>
        </p:spPr>
        <p:txBody>
          <a:bodyPr wrap="square" rtlCol="0">
            <a:spAutoFit/>
          </a:bodyPr>
          <a:lstStyle/>
          <a:p>
            <a:r>
              <a:rPr lang="en-US" sz="1600" dirty="0" smtClean="0">
                <a:solidFill>
                  <a:prstClr val="black"/>
                </a:solidFill>
              </a:rPr>
              <a:t>+</a:t>
            </a:r>
            <a:endParaRPr lang="en-US" sz="1600" i="1" dirty="0">
              <a:solidFill>
                <a:prstClr val="black"/>
              </a:solidFill>
            </a:endParaRPr>
          </a:p>
        </p:txBody>
      </p:sp>
      <p:sp>
        <p:nvSpPr>
          <p:cNvPr id="19" name="18 CuadroTexto"/>
          <p:cNvSpPr txBox="1"/>
          <p:nvPr/>
        </p:nvSpPr>
        <p:spPr>
          <a:xfrm>
            <a:off x="4960132" y="582588"/>
            <a:ext cx="281365" cy="338554"/>
          </a:xfrm>
          <a:prstGeom prst="rect">
            <a:avLst/>
          </a:prstGeom>
          <a:noFill/>
        </p:spPr>
        <p:txBody>
          <a:bodyPr wrap="square" rtlCol="0">
            <a:spAutoFit/>
          </a:bodyPr>
          <a:lstStyle/>
          <a:p>
            <a:r>
              <a:rPr lang="en-US" sz="1600" dirty="0" smtClean="0">
                <a:solidFill>
                  <a:prstClr val="black"/>
                </a:solidFill>
              </a:rPr>
              <a:t>+</a:t>
            </a:r>
            <a:endParaRPr lang="en-US" sz="1600" i="1" dirty="0">
              <a:solidFill>
                <a:prstClr val="black"/>
              </a:solidFill>
            </a:endParaRPr>
          </a:p>
        </p:txBody>
      </p:sp>
      <p:sp>
        <p:nvSpPr>
          <p:cNvPr id="20" name="19 CuadroTexto"/>
          <p:cNvSpPr txBox="1"/>
          <p:nvPr/>
        </p:nvSpPr>
        <p:spPr>
          <a:xfrm>
            <a:off x="9260" y="582588"/>
            <a:ext cx="1373736" cy="338554"/>
          </a:xfrm>
          <a:prstGeom prst="rect">
            <a:avLst/>
          </a:prstGeom>
          <a:noFill/>
        </p:spPr>
        <p:txBody>
          <a:bodyPr wrap="square" rtlCol="0">
            <a:spAutoFit/>
          </a:bodyPr>
          <a:lstStyle/>
          <a:p>
            <a:r>
              <a:rPr lang="en-US" sz="1600" dirty="0" smtClean="0">
                <a:solidFill>
                  <a:prstClr val="black"/>
                </a:solidFill>
              </a:rPr>
              <a:t>B-tree entry =</a:t>
            </a:r>
            <a:endParaRPr lang="en-US" sz="1600" i="1" dirty="0">
              <a:solidFill>
                <a:prstClr val="black"/>
              </a:solidFill>
            </a:endParaRPr>
          </a:p>
        </p:txBody>
      </p:sp>
      <p:grpSp>
        <p:nvGrpSpPr>
          <p:cNvPr id="8" name="7 Grupo"/>
          <p:cNvGrpSpPr/>
          <p:nvPr/>
        </p:nvGrpSpPr>
        <p:grpSpPr>
          <a:xfrm>
            <a:off x="3042137" y="2571553"/>
            <a:ext cx="2244511" cy="1037789"/>
            <a:chOff x="2725935" y="2820609"/>
            <a:chExt cx="2244511" cy="1037789"/>
          </a:xfrm>
        </p:grpSpPr>
        <p:sp>
          <p:nvSpPr>
            <p:cNvPr id="26" name="25 CuadroTexto"/>
            <p:cNvSpPr txBox="1"/>
            <p:nvPr/>
          </p:nvSpPr>
          <p:spPr>
            <a:xfrm>
              <a:off x="2731778" y="2820609"/>
              <a:ext cx="680809" cy="307777"/>
            </a:xfrm>
            <a:prstGeom prst="rect">
              <a:avLst/>
            </a:prstGeom>
            <a:noFill/>
          </p:spPr>
          <p:txBody>
            <a:bodyPr wrap="square" rtlCol="0">
              <a:spAutoFit/>
            </a:bodyPr>
            <a:lstStyle/>
            <a:p>
              <a:r>
                <a:rPr lang="en-US" sz="1400" dirty="0" smtClean="0">
                  <a:solidFill>
                    <a:prstClr val="black"/>
                  </a:solidFill>
                </a:rPr>
                <a:t>File ID</a:t>
              </a:r>
              <a:endParaRPr lang="en-US" sz="1400" i="1" dirty="0">
                <a:solidFill>
                  <a:prstClr val="black"/>
                </a:solidFill>
              </a:endParaRPr>
            </a:p>
          </p:txBody>
        </p:sp>
        <p:sp>
          <p:nvSpPr>
            <p:cNvPr id="4" name="3 Rectángulo"/>
            <p:cNvSpPr/>
            <p:nvPr/>
          </p:nvSpPr>
          <p:spPr>
            <a:xfrm>
              <a:off x="2733912" y="3159163"/>
              <a:ext cx="322246" cy="3048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9" name="28 Rectángulo"/>
            <p:cNvSpPr/>
            <p:nvPr/>
          </p:nvSpPr>
          <p:spPr>
            <a:xfrm>
              <a:off x="3090341" y="3159163"/>
              <a:ext cx="322246" cy="3048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0" name="29 CuadroTexto"/>
            <p:cNvSpPr txBox="1"/>
            <p:nvPr/>
          </p:nvSpPr>
          <p:spPr>
            <a:xfrm>
              <a:off x="3831056" y="2820609"/>
              <a:ext cx="821492" cy="307777"/>
            </a:xfrm>
            <a:prstGeom prst="rect">
              <a:avLst/>
            </a:prstGeom>
            <a:noFill/>
          </p:spPr>
          <p:txBody>
            <a:bodyPr wrap="square" rtlCol="0">
              <a:spAutoFit/>
            </a:bodyPr>
            <a:lstStyle/>
            <a:p>
              <a:r>
                <a:rPr lang="en-US" sz="1400" dirty="0" smtClean="0">
                  <a:solidFill>
                    <a:prstClr val="black"/>
                  </a:solidFill>
                </a:rPr>
                <a:t>Page ID</a:t>
              </a:r>
              <a:endParaRPr lang="en-US" sz="1400" i="1" dirty="0">
                <a:solidFill>
                  <a:prstClr val="black"/>
                </a:solidFill>
              </a:endParaRPr>
            </a:p>
          </p:txBody>
        </p:sp>
        <p:sp>
          <p:nvSpPr>
            <p:cNvPr id="31" name="30 Rectángulo"/>
            <p:cNvSpPr/>
            <p:nvPr/>
          </p:nvSpPr>
          <p:spPr>
            <a:xfrm>
              <a:off x="3568263" y="3159163"/>
              <a:ext cx="322246" cy="3048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2" name="31 Rectángulo"/>
            <p:cNvSpPr/>
            <p:nvPr/>
          </p:nvSpPr>
          <p:spPr>
            <a:xfrm>
              <a:off x="3928242" y="3159163"/>
              <a:ext cx="322246" cy="3048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3" name="32 Rectángulo"/>
            <p:cNvSpPr/>
            <p:nvPr/>
          </p:nvSpPr>
          <p:spPr>
            <a:xfrm>
              <a:off x="4288221" y="3159163"/>
              <a:ext cx="322246" cy="3048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4" name="33 Rectángulo"/>
            <p:cNvSpPr/>
            <p:nvPr/>
          </p:nvSpPr>
          <p:spPr>
            <a:xfrm>
              <a:off x="4648200" y="3159163"/>
              <a:ext cx="322246" cy="3048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5" name="34 CuadroTexto"/>
            <p:cNvSpPr txBox="1"/>
            <p:nvPr/>
          </p:nvSpPr>
          <p:spPr>
            <a:xfrm>
              <a:off x="2725935" y="3581399"/>
              <a:ext cx="686652" cy="276999"/>
            </a:xfrm>
            <a:prstGeom prst="rect">
              <a:avLst/>
            </a:prstGeom>
            <a:noFill/>
          </p:spPr>
          <p:txBody>
            <a:bodyPr wrap="square" rtlCol="0">
              <a:spAutoFit/>
            </a:bodyPr>
            <a:lstStyle/>
            <a:p>
              <a:r>
                <a:rPr lang="en-US" sz="1200" dirty="0" smtClean="0">
                  <a:solidFill>
                    <a:prstClr val="black"/>
                  </a:solidFill>
                </a:rPr>
                <a:t>2 bytes</a:t>
              </a:r>
              <a:endParaRPr lang="en-US" sz="1200" i="1" dirty="0">
                <a:solidFill>
                  <a:prstClr val="black"/>
                </a:solidFill>
              </a:endParaRPr>
            </a:p>
          </p:txBody>
        </p:sp>
        <p:sp>
          <p:nvSpPr>
            <p:cNvPr id="36" name="35 CuadroTexto"/>
            <p:cNvSpPr txBox="1"/>
            <p:nvPr/>
          </p:nvSpPr>
          <p:spPr>
            <a:xfrm>
              <a:off x="3571646" y="3578207"/>
              <a:ext cx="1398799" cy="276999"/>
            </a:xfrm>
            <a:prstGeom prst="rect">
              <a:avLst/>
            </a:prstGeom>
            <a:noFill/>
          </p:spPr>
          <p:txBody>
            <a:bodyPr wrap="square" rtlCol="0">
              <a:spAutoFit/>
            </a:bodyPr>
            <a:lstStyle/>
            <a:p>
              <a:pPr algn="ctr"/>
              <a:r>
                <a:rPr lang="en-US" sz="1200" dirty="0">
                  <a:solidFill>
                    <a:prstClr val="black"/>
                  </a:solidFill>
                </a:rPr>
                <a:t>4</a:t>
              </a:r>
              <a:r>
                <a:rPr lang="en-US" sz="1200" dirty="0" smtClean="0">
                  <a:solidFill>
                    <a:prstClr val="black"/>
                  </a:solidFill>
                </a:rPr>
                <a:t> bytes</a:t>
              </a:r>
              <a:endParaRPr lang="en-US" sz="1200" i="1" dirty="0">
                <a:solidFill>
                  <a:prstClr val="black"/>
                </a:solidFill>
              </a:endParaRPr>
            </a:p>
          </p:txBody>
        </p:sp>
      </p:grpSp>
      <p:sp>
        <p:nvSpPr>
          <p:cNvPr id="39" name="38 CuadroTexto"/>
          <p:cNvSpPr txBox="1"/>
          <p:nvPr/>
        </p:nvSpPr>
        <p:spPr>
          <a:xfrm>
            <a:off x="1786006" y="1027747"/>
            <a:ext cx="794179" cy="276999"/>
          </a:xfrm>
          <a:prstGeom prst="rect">
            <a:avLst/>
          </a:prstGeom>
          <a:noFill/>
        </p:spPr>
        <p:txBody>
          <a:bodyPr wrap="square" rtlCol="0">
            <a:spAutoFit/>
          </a:bodyPr>
          <a:lstStyle/>
          <a:p>
            <a:r>
              <a:rPr lang="en-US" sz="1200" dirty="0" smtClean="0">
                <a:solidFill>
                  <a:prstClr val="black"/>
                </a:solidFill>
              </a:rPr>
              <a:t>(4 bytes)</a:t>
            </a:r>
            <a:endParaRPr lang="en-US" sz="1200" i="1" dirty="0">
              <a:solidFill>
                <a:prstClr val="black"/>
              </a:solidFill>
            </a:endParaRPr>
          </a:p>
        </p:txBody>
      </p:sp>
      <p:sp>
        <p:nvSpPr>
          <p:cNvPr id="40" name="39 CuadroTexto"/>
          <p:cNvSpPr txBox="1"/>
          <p:nvPr/>
        </p:nvSpPr>
        <p:spPr>
          <a:xfrm>
            <a:off x="3673424" y="1026213"/>
            <a:ext cx="794179" cy="276999"/>
          </a:xfrm>
          <a:prstGeom prst="rect">
            <a:avLst/>
          </a:prstGeom>
          <a:noFill/>
        </p:spPr>
        <p:txBody>
          <a:bodyPr wrap="square" rtlCol="0">
            <a:spAutoFit/>
          </a:bodyPr>
          <a:lstStyle/>
          <a:p>
            <a:r>
              <a:rPr lang="en-US" sz="1200" dirty="0" smtClean="0">
                <a:solidFill>
                  <a:prstClr val="black"/>
                </a:solidFill>
              </a:rPr>
              <a:t>(6 bytes)</a:t>
            </a:r>
            <a:endParaRPr lang="en-US" sz="1200" i="1" dirty="0">
              <a:solidFill>
                <a:prstClr val="black"/>
              </a:solidFill>
            </a:endParaRPr>
          </a:p>
        </p:txBody>
      </p:sp>
      <p:sp>
        <p:nvSpPr>
          <p:cNvPr id="41" name="40 CuadroTexto"/>
          <p:cNvSpPr txBox="1"/>
          <p:nvPr/>
        </p:nvSpPr>
        <p:spPr>
          <a:xfrm>
            <a:off x="6307622" y="1026214"/>
            <a:ext cx="794179" cy="276999"/>
          </a:xfrm>
          <a:prstGeom prst="rect">
            <a:avLst/>
          </a:prstGeom>
          <a:noFill/>
        </p:spPr>
        <p:txBody>
          <a:bodyPr wrap="square" rtlCol="0">
            <a:spAutoFit/>
          </a:bodyPr>
          <a:lstStyle/>
          <a:p>
            <a:r>
              <a:rPr lang="en-US" sz="1200" dirty="0" smtClean="0">
                <a:solidFill>
                  <a:prstClr val="black"/>
                </a:solidFill>
              </a:rPr>
              <a:t>(3 bytes)</a:t>
            </a:r>
            <a:endParaRPr lang="en-US" sz="1200" i="1" dirty="0">
              <a:solidFill>
                <a:prstClr val="black"/>
              </a:solidFill>
            </a:endParaRPr>
          </a:p>
        </p:txBody>
      </p:sp>
      <p:sp>
        <p:nvSpPr>
          <p:cNvPr id="9" name="8 Rectángulo"/>
          <p:cNvSpPr/>
          <p:nvPr/>
        </p:nvSpPr>
        <p:spPr>
          <a:xfrm>
            <a:off x="429361" y="4771598"/>
            <a:ext cx="197331"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43" name="42 Conector recto de flecha"/>
          <p:cNvCxnSpPr>
            <a:stCxn id="9" idx="0"/>
          </p:cNvCxnSpPr>
          <p:nvPr/>
        </p:nvCxnSpPr>
        <p:spPr>
          <a:xfrm flipV="1">
            <a:off x="528027" y="3532323"/>
            <a:ext cx="0" cy="123927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44 Conector recto"/>
          <p:cNvCxnSpPr/>
          <p:nvPr/>
        </p:nvCxnSpPr>
        <p:spPr>
          <a:xfrm flipV="1">
            <a:off x="3470923" y="2189344"/>
            <a:ext cx="292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52 Conector recto"/>
          <p:cNvCxnSpPr/>
          <p:nvPr/>
        </p:nvCxnSpPr>
        <p:spPr>
          <a:xfrm flipV="1">
            <a:off x="4628272" y="2189344"/>
            <a:ext cx="292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46 Conector recto"/>
          <p:cNvCxnSpPr/>
          <p:nvPr/>
        </p:nvCxnSpPr>
        <p:spPr>
          <a:xfrm>
            <a:off x="3470923" y="2189344"/>
            <a:ext cx="1177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48 Conector recto de flecha"/>
          <p:cNvCxnSpPr/>
          <p:nvPr/>
        </p:nvCxnSpPr>
        <p:spPr>
          <a:xfrm flipV="1">
            <a:off x="4059761" y="1351144"/>
            <a:ext cx="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50" name="49 Grupo"/>
          <p:cNvGrpSpPr/>
          <p:nvPr/>
        </p:nvGrpSpPr>
        <p:grpSpPr>
          <a:xfrm>
            <a:off x="350666" y="2591035"/>
            <a:ext cx="1923159" cy="941288"/>
            <a:chOff x="6000927" y="2818755"/>
            <a:chExt cx="1923159" cy="941288"/>
          </a:xfrm>
        </p:grpSpPr>
        <p:sp>
          <p:nvSpPr>
            <p:cNvPr id="38" name="37 CuadroTexto"/>
            <p:cNvSpPr txBox="1"/>
            <p:nvPr/>
          </p:nvSpPr>
          <p:spPr>
            <a:xfrm>
              <a:off x="6092369" y="3483044"/>
              <a:ext cx="1081969" cy="276999"/>
            </a:xfrm>
            <a:prstGeom prst="rect">
              <a:avLst/>
            </a:prstGeom>
            <a:noFill/>
          </p:spPr>
          <p:txBody>
            <a:bodyPr wrap="square" rtlCol="0">
              <a:spAutoFit/>
            </a:bodyPr>
            <a:lstStyle/>
            <a:p>
              <a:r>
                <a:rPr lang="en-US" sz="1200" dirty="0" smtClean="0">
                  <a:solidFill>
                    <a:prstClr val="black"/>
                  </a:solidFill>
                </a:rPr>
                <a:t>4 bytes</a:t>
              </a:r>
              <a:endParaRPr lang="en-US" sz="1200" i="1" dirty="0">
                <a:solidFill>
                  <a:prstClr val="black"/>
                </a:solidFill>
              </a:endParaRPr>
            </a:p>
          </p:txBody>
        </p:sp>
        <p:sp>
          <p:nvSpPr>
            <p:cNvPr id="58" name="57 Rectángulo"/>
            <p:cNvSpPr/>
            <p:nvPr/>
          </p:nvSpPr>
          <p:spPr>
            <a:xfrm>
              <a:off x="6096000" y="3126230"/>
              <a:ext cx="322246" cy="3048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9" name="58 Rectángulo"/>
            <p:cNvSpPr/>
            <p:nvPr/>
          </p:nvSpPr>
          <p:spPr>
            <a:xfrm>
              <a:off x="6477000" y="3126230"/>
              <a:ext cx="322246" cy="3048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59 Rectángulo"/>
            <p:cNvSpPr/>
            <p:nvPr/>
          </p:nvSpPr>
          <p:spPr>
            <a:xfrm>
              <a:off x="6858000" y="3126230"/>
              <a:ext cx="322246" cy="3048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1" name="60 Rectángulo"/>
            <p:cNvSpPr/>
            <p:nvPr/>
          </p:nvSpPr>
          <p:spPr>
            <a:xfrm>
              <a:off x="7239000" y="3126230"/>
              <a:ext cx="322246" cy="3048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2" name="61 CuadroTexto"/>
            <p:cNvSpPr txBox="1"/>
            <p:nvPr/>
          </p:nvSpPr>
          <p:spPr>
            <a:xfrm>
              <a:off x="6000927" y="2818755"/>
              <a:ext cx="1923159" cy="307777"/>
            </a:xfrm>
            <a:prstGeom prst="rect">
              <a:avLst/>
            </a:prstGeom>
            <a:noFill/>
          </p:spPr>
          <p:txBody>
            <a:bodyPr wrap="square" rtlCol="0">
              <a:spAutoFit/>
            </a:bodyPr>
            <a:lstStyle/>
            <a:p>
              <a:r>
                <a:rPr lang="en-US" sz="1400" dirty="0" smtClean="0">
                  <a:solidFill>
                    <a:prstClr val="black"/>
                  </a:solidFill>
                </a:rPr>
                <a:t>Index key (Employee ID)</a:t>
              </a:r>
              <a:endParaRPr lang="en-US" sz="1400" i="1" dirty="0">
                <a:solidFill>
                  <a:prstClr val="black"/>
                </a:solidFill>
              </a:endParaRPr>
            </a:p>
          </p:txBody>
        </p:sp>
      </p:grpSp>
      <p:sp>
        <p:nvSpPr>
          <p:cNvPr id="65" name="64 Rectángulo"/>
          <p:cNvSpPr/>
          <p:nvPr/>
        </p:nvSpPr>
        <p:spPr>
          <a:xfrm>
            <a:off x="5956247" y="2879330"/>
            <a:ext cx="322246" cy="3048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6" name="65 CuadroTexto"/>
          <p:cNvSpPr txBox="1"/>
          <p:nvPr/>
        </p:nvSpPr>
        <p:spPr>
          <a:xfrm>
            <a:off x="8101857" y="582588"/>
            <a:ext cx="1042143" cy="338554"/>
          </a:xfrm>
          <a:prstGeom prst="rect">
            <a:avLst/>
          </a:prstGeom>
          <a:noFill/>
        </p:spPr>
        <p:txBody>
          <a:bodyPr wrap="square" rtlCol="0">
            <a:spAutoFit/>
          </a:bodyPr>
          <a:lstStyle/>
          <a:p>
            <a:r>
              <a:rPr lang="en-US" sz="1600" dirty="0" smtClean="0">
                <a:solidFill>
                  <a:prstClr val="black"/>
                </a:solidFill>
              </a:rPr>
              <a:t>= 13 bytes</a:t>
            </a:r>
            <a:endParaRPr lang="en-US" sz="1600" i="1" dirty="0">
              <a:solidFill>
                <a:prstClr val="black"/>
              </a:solidFill>
            </a:endParaRPr>
          </a:p>
        </p:txBody>
      </p:sp>
      <p:sp>
        <p:nvSpPr>
          <p:cNvPr id="67" name="66 Rectángulo"/>
          <p:cNvSpPr/>
          <p:nvPr/>
        </p:nvSpPr>
        <p:spPr>
          <a:xfrm>
            <a:off x="6970703" y="2874627"/>
            <a:ext cx="322246" cy="3048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9" name="68 Rectángulo"/>
          <p:cNvSpPr/>
          <p:nvPr/>
        </p:nvSpPr>
        <p:spPr>
          <a:xfrm>
            <a:off x="7360426" y="2872147"/>
            <a:ext cx="322246" cy="3048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1" name="70 CuadroTexto"/>
          <p:cNvSpPr txBox="1"/>
          <p:nvPr/>
        </p:nvSpPr>
        <p:spPr>
          <a:xfrm>
            <a:off x="6879636" y="2494708"/>
            <a:ext cx="961579" cy="307777"/>
          </a:xfrm>
          <a:prstGeom prst="rect">
            <a:avLst/>
          </a:prstGeom>
          <a:noFill/>
        </p:spPr>
        <p:txBody>
          <a:bodyPr wrap="square" rtlCol="0">
            <a:spAutoFit/>
          </a:bodyPr>
          <a:lstStyle/>
          <a:p>
            <a:r>
              <a:rPr lang="en-US" sz="1400" dirty="0" smtClean="0">
                <a:solidFill>
                  <a:prstClr val="black"/>
                </a:solidFill>
              </a:rPr>
              <a:t>Slot array</a:t>
            </a:r>
            <a:endParaRPr lang="en-US" sz="1400" i="1" dirty="0">
              <a:solidFill>
                <a:prstClr val="black"/>
              </a:solidFill>
            </a:endParaRPr>
          </a:p>
        </p:txBody>
      </p:sp>
      <p:sp>
        <p:nvSpPr>
          <p:cNvPr id="72" name="71 CuadroTexto"/>
          <p:cNvSpPr txBox="1"/>
          <p:nvPr/>
        </p:nvSpPr>
        <p:spPr>
          <a:xfrm>
            <a:off x="5663642" y="2494708"/>
            <a:ext cx="960777" cy="307777"/>
          </a:xfrm>
          <a:prstGeom prst="rect">
            <a:avLst/>
          </a:prstGeom>
          <a:noFill/>
        </p:spPr>
        <p:txBody>
          <a:bodyPr wrap="square" rtlCol="0">
            <a:spAutoFit/>
          </a:bodyPr>
          <a:lstStyle/>
          <a:p>
            <a:r>
              <a:rPr lang="en-US" sz="1400" dirty="0" smtClean="0">
                <a:solidFill>
                  <a:prstClr val="black"/>
                </a:solidFill>
              </a:rPr>
              <a:t>Overhead</a:t>
            </a:r>
            <a:endParaRPr lang="en-US" sz="1400" i="1" dirty="0">
              <a:solidFill>
                <a:prstClr val="black"/>
              </a:solidFill>
            </a:endParaRPr>
          </a:p>
        </p:txBody>
      </p:sp>
      <p:cxnSp>
        <p:nvCxnSpPr>
          <p:cNvPr id="73" name="72 Conector recto"/>
          <p:cNvCxnSpPr/>
          <p:nvPr/>
        </p:nvCxnSpPr>
        <p:spPr>
          <a:xfrm flipV="1">
            <a:off x="6109532" y="2189908"/>
            <a:ext cx="292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73 Conector recto"/>
          <p:cNvCxnSpPr/>
          <p:nvPr/>
        </p:nvCxnSpPr>
        <p:spPr>
          <a:xfrm flipV="1">
            <a:off x="7292949" y="2189344"/>
            <a:ext cx="292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53 Conector recto"/>
          <p:cNvCxnSpPr/>
          <p:nvPr/>
        </p:nvCxnSpPr>
        <p:spPr>
          <a:xfrm flipV="1">
            <a:off x="6109532" y="2189344"/>
            <a:ext cx="1186338" cy="564"/>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55 Conector recto de flecha"/>
          <p:cNvCxnSpPr/>
          <p:nvPr/>
        </p:nvCxnSpPr>
        <p:spPr>
          <a:xfrm flipV="1">
            <a:off x="6713257" y="1351144"/>
            <a:ext cx="1"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62 Conector recto de flecha"/>
          <p:cNvCxnSpPr/>
          <p:nvPr/>
        </p:nvCxnSpPr>
        <p:spPr>
          <a:xfrm flipV="1">
            <a:off x="1918752" y="1322694"/>
            <a:ext cx="0" cy="12683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1" name="80 CuadroTexto"/>
          <p:cNvSpPr txBox="1"/>
          <p:nvPr/>
        </p:nvSpPr>
        <p:spPr>
          <a:xfrm>
            <a:off x="5891660" y="3332342"/>
            <a:ext cx="635902" cy="276999"/>
          </a:xfrm>
          <a:prstGeom prst="rect">
            <a:avLst/>
          </a:prstGeom>
          <a:noFill/>
        </p:spPr>
        <p:txBody>
          <a:bodyPr wrap="square" rtlCol="0">
            <a:spAutoFit/>
          </a:bodyPr>
          <a:lstStyle/>
          <a:p>
            <a:r>
              <a:rPr lang="en-US" sz="1200" dirty="0" smtClean="0">
                <a:solidFill>
                  <a:prstClr val="black"/>
                </a:solidFill>
              </a:rPr>
              <a:t>1 byte</a:t>
            </a:r>
            <a:endParaRPr lang="en-US" sz="1200" i="1" dirty="0">
              <a:solidFill>
                <a:prstClr val="black"/>
              </a:solidFill>
            </a:endParaRPr>
          </a:p>
        </p:txBody>
      </p:sp>
      <p:sp>
        <p:nvSpPr>
          <p:cNvPr id="82" name="81 CuadroTexto"/>
          <p:cNvSpPr txBox="1"/>
          <p:nvPr/>
        </p:nvSpPr>
        <p:spPr>
          <a:xfrm>
            <a:off x="6970702" y="3332342"/>
            <a:ext cx="801697" cy="276999"/>
          </a:xfrm>
          <a:prstGeom prst="rect">
            <a:avLst/>
          </a:prstGeom>
          <a:noFill/>
        </p:spPr>
        <p:txBody>
          <a:bodyPr wrap="square" rtlCol="0">
            <a:spAutoFit/>
          </a:bodyPr>
          <a:lstStyle/>
          <a:p>
            <a:r>
              <a:rPr lang="en-US" sz="1200" dirty="0">
                <a:solidFill>
                  <a:prstClr val="black"/>
                </a:solidFill>
              </a:rPr>
              <a:t>2</a:t>
            </a:r>
            <a:r>
              <a:rPr lang="en-US" sz="1200" dirty="0" smtClean="0">
                <a:solidFill>
                  <a:prstClr val="black"/>
                </a:solidFill>
              </a:rPr>
              <a:t> bytes</a:t>
            </a:r>
            <a:endParaRPr lang="en-US" sz="1200" i="1" dirty="0">
              <a:solidFill>
                <a:prstClr val="black"/>
              </a:solidFill>
            </a:endParaRPr>
          </a:p>
        </p:txBody>
      </p:sp>
      <p:sp>
        <p:nvSpPr>
          <p:cNvPr id="83" name="82 CuadroTexto"/>
          <p:cNvSpPr txBox="1"/>
          <p:nvPr/>
        </p:nvSpPr>
        <p:spPr>
          <a:xfrm>
            <a:off x="5758848" y="3607149"/>
            <a:ext cx="970077" cy="276999"/>
          </a:xfrm>
          <a:prstGeom prst="rect">
            <a:avLst/>
          </a:prstGeom>
          <a:noFill/>
        </p:spPr>
        <p:txBody>
          <a:bodyPr wrap="square" rtlCol="0">
            <a:spAutoFit/>
          </a:bodyPr>
          <a:lstStyle/>
          <a:p>
            <a:r>
              <a:rPr lang="en-US" sz="1200" b="1" i="1" dirty="0" smtClean="0">
                <a:solidFill>
                  <a:srgbClr val="FF0000"/>
                </a:solidFill>
              </a:rPr>
              <a:t>(minimum)</a:t>
            </a:r>
            <a:endParaRPr lang="en-US" sz="1200" b="1" i="1" dirty="0">
              <a:solidFill>
                <a:srgbClr val="FF0000"/>
              </a:solidFill>
            </a:endParaRPr>
          </a:p>
        </p:txBody>
      </p:sp>
      <p:grpSp>
        <p:nvGrpSpPr>
          <p:cNvPr id="51" name="50 Grupo"/>
          <p:cNvGrpSpPr/>
          <p:nvPr/>
        </p:nvGrpSpPr>
        <p:grpSpPr>
          <a:xfrm>
            <a:off x="0" y="9525"/>
            <a:ext cx="9153525" cy="408388"/>
            <a:chOff x="0" y="9525"/>
            <a:chExt cx="9153525" cy="408388"/>
          </a:xfrm>
        </p:grpSpPr>
        <p:sp>
          <p:nvSpPr>
            <p:cNvPr id="52" name="51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Index Internals |   Structure of a B-Tree entry</a:t>
              </a:r>
              <a:endParaRPr lang="en-US" b="1" dirty="0">
                <a:solidFill>
                  <a:schemeClr val="bg1"/>
                </a:solidFill>
              </a:endParaRPr>
            </a:p>
          </p:txBody>
        </p:sp>
        <p:pic>
          <p:nvPicPr>
            <p:cNvPr id="55" name="54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7" name="56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4" name="63 Grupo"/>
          <p:cNvGrpSpPr/>
          <p:nvPr/>
        </p:nvGrpSpPr>
        <p:grpSpPr>
          <a:xfrm>
            <a:off x="9525" y="6574392"/>
            <a:ext cx="9134399" cy="277000"/>
            <a:chOff x="9525" y="6574392"/>
            <a:chExt cx="9134399" cy="277000"/>
          </a:xfrm>
        </p:grpSpPr>
        <p:sp>
          <p:nvSpPr>
            <p:cNvPr id="68" name="67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70" name="69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17089791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67 CuadroTexto"/>
          <p:cNvSpPr txBox="1"/>
          <p:nvPr/>
        </p:nvSpPr>
        <p:spPr>
          <a:xfrm>
            <a:off x="-4567" y="606122"/>
            <a:ext cx="9144000" cy="523220"/>
          </a:xfrm>
          <a:prstGeom prst="rect">
            <a:avLst/>
          </a:prstGeom>
          <a:noFill/>
        </p:spPr>
        <p:txBody>
          <a:bodyPr wrap="square" rtlCol="0">
            <a:spAutoFit/>
          </a:bodyPr>
          <a:lstStyle/>
          <a:p>
            <a:r>
              <a:rPr lang="en-US" sz="1400" dirty="0" smtClean="0">
                <a:solidFill>
                  <a:prstClr val="black"/>
                </a:solidFill>
              </a:rPr>
              <a:t>Now that we have the Leaf Level, all we need to do is to create the intermediate levels (non-leaf nodes) </a:t>
            </a:r>
          </a:p>
          <a:p>
            <a:r>
              <a:rPr lang="en-US" sz="1400" dirty="0" smtClean="0">
                <a:solidFill>
                  <a:prstClr val="black"/>
                </a:solidFill>
              </a:rPr>
              <a:t>until we end up with a root of 1 page</a:t>
            </a:r>
            <a:endParaRPr lang="en-US" sz="1400" i="1" dirty="0">
              <a:solidFill>
                <a:prstClr val="black"/>
              </a:solidFill>
            </a:endParaRPr>
          </a:p>
        </p:txBody>
      </p:sp>
      <p:sp>
        <p:nvSpPr>
          <p:cNvPr id="80" name="79 CuadroTexto"/>
          <p:cNvSpPr txBox="1"/>
          <p:nvPr/>
        </p:nvSpPr>
        <p:spPr>
          <a:xfrm>
            <a:off x="-704" y="2489319"/>
            <a:ext cx="9134711" cy="338554"/>
          </a:xfrm>
          <a:prstGeom prst="rect">
            <a:avLst/>
          </a:prstGeom>
          <a:noFill/>
        </p:spPr>
        <p:txBody>
          <a:bodyPr wrap="square" rtlCol="0">
            <a:spAutoFit/>
          </a:bodyPr>
          <a:lstStyle/>
          <a:p>
            <a:pPr algn="ctr"/>
            <a:r>
              <a:rPr lang="en-US" sz="1600" b="1" dirty="0" smtClean="0">
                <a:solidFill>
                  <a:prstClr val="black"/>
                </a:solidFill>
              </a:rPr>
              <a:t>A non-leaf level contains one entry for every PAGE of the level below</a:t>
            </a:r>
            <a:endParaRPr lang="en-US" sz="1600" b="1" i="1" dirty="0">
              <a:solidFill>
                <a:prstClr val="black"/>
              </a:solidFill>
            </a:endParaRPr>
          </a:p>
        </p:txBody>
      </p:sp>
      <p:sp>
        <p:nvSpPr>
          <p:cNvPr id="102" name="101 CuadroTexto"/>
          <p:cNvSpPr txBox="1"/>
          <p:nvPr/>
        </p:nvSpPr>
        <p:spPr>
          <a:xfrm>
            <a:off x="-703" y="1242696"/>
            <a:ext cx="9134711" cy="1169551"/>
          </a:xfrm>
          <a:prstGeom prst="rect">
            <a:avLst/>
          </a:prstGeom>
          <a:noFill/>
        </p:spPr>
        <p:txBody>
          <a:bodyPr wrap="square" rtlCol="0">
            <a:spAutoFit/>
          </a:bodyPr>
          <a:lstStyle/>
          <a:p>
            <a:r>
              <a:rPr lang="en-US" sz="1400" u="sng" dirty="0" smtClean="0">
                <a:solidFill>
                  <a:prstClr val="black"/>
                </a:solidFill>
              </a:rPr>
              <a:t>Steps:</a:t>
            </a:r>
          </a:p>
          <a:p>
            <a:pPr marL="285750" indent="-285750">
              <a:buFont typeface="Wingdings" pitchFamily="2" charset="2"/>
              <a:buChar char="ü"/>
            </a:pPr>
            <a:r>
              <a:rPr lang="en-US" sz="1400" dirty="0" smtClean="0">
                <a:solidFill>
                  <a:prstClr val="black"/>
                </a:solidFill>
              </a:rPr>
              <a:t>1) Calculate the </a:t>
            </a:r>
            <a:r>
              <a:rPr lang="en-US" sz="1400" b="1" dirty="0" smtClean="0">
                <a:solidFill>
                  <a:prstClr val="black"/>
                </a:solidFill>
              </a:rPr>
              <a:t>low</a:t>
            </a:r>
            <a:r>
              <a:rPr lang="en-US" sz="1400" dirty="0" smtClean="0">
                <a:solidFill>
                  <a:prstClr val="black"/>
                </a:solidFill>
              </a:rPr>
              <a:t> value of each node</a:t>
            </a:r>
          </a:p>
          <a:p>
            <a:pPr marL="285750" indent="-285750">
              <a:buFont typeface="Wingdings" pitchFamily="2" charset="2"/>
              <a:buChar char="ü"/>
            </a:pPr>
            <a:r>
              <a:rPr lang="en-US" sz="1400" dirty="0" smtClean="0">
                <a:solidFill>
                  <a:prstClr val="black"/>
                </a:solidFill>
              </a:rPr>
              <a:t>2) Compose the B-Tree entry</a:t>
            </a:r>
          </a:p>
          <a:p>
            <a:pPr marL="285750" indent="-285750">
              <a:buFont typeface="Wingdings" pitchFamily="2" charset="2"/>
              <a:buChar char="ü"/>
            </a:pPr>
            <a:r>
              <a:rPr lang="en-US" sz="1400" dirty="0" smtClean="0">
                <a:solidFill>
                  <a:prstClr val="black"/>
                </a:solidFill>
              </a:rPr>
              <a:t>3) </a:t>
            </a:r>
            <a:r>
              <a:rPr lang="en-US" sz="1400" dirty="0">
                <a:solidFill>
                  <a:prstClr val="black"/>
                </a:solidFill>
              </a:rPr>
              <a:t>In the non-leaf level, create a new b-tree entry for every PAGE of the level below</a:t>
            </a:r>
            <a:r>
              <a:rPr lang="en-US" sz="1400" dirty="0" smtClean="0">
                <a:solidFill>
                  <a:prstClr val="black"/>
                </a:solidFill>
              </a:rPr>
              <a:t>.</a:t>
            </a:r>
          </a:p>
          <a:p>
            <a:pPr marL="285750" indent="-285750">
              <a:buFont typeface="Wingdings" pitchFamily="2" charset="2"/>
              <a:buChar char="ü"/>
            </a:pPr>
            <a:r>
              <a:rPr lang="en-US" sz="1400" dirty="0" smtClean="0">
                <a:solidFill>
                  <a:prstClr val="black"/>
                </a:solidFill>
              </a:rPr>
              <a:t>4) Repeat the steps 1-2-3 until you end up with a ROOT of 1 page.</a:t>
            </a:r>
            <a:endParaRPr lang="en-US" sz="1400" dirty="0">
              <a:solidFill>
                <a:prstClr val="black"/>
              </a:solidFill>
            </a:endParaRPr>
          </a:p>
        </p:txBody>
      </p:sp>
      <p:grpSp>
        <p:nvGrpSpPr>
          <p:cNvPr id="2" name="1 Grupo"/>
          <p:cNvGrpSpPr/>
          <p:nvPr/>
        </p:nvGrpSpPr>
        <p:grpSpPr>
          <a:xfrm>
            <a:off x="81661" y="2772896"/>
            <a:ext cx="8969979" cy="3406110"/>
            <a:chOff x="97821" y="3389891"/>
            <a:chExt cx="8969979" cy="340611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6533" y="5302588"/>
              <a:ext cx="6781800" cy="1493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7" name="76 Rectángulo"/>
            <p:cNvSpPr/>
            <p:nvPr/>
          </p:nvSpPr>
          <p:spPr>
            <a:xfrm>
              <a:off x="2209800" y="3769193"/>
              <a:ext cx="1167811" cy="110760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8" name="77 CuadroTexto"/>
            <p:cNvSpPr txBox="1"/>
            <p:nvPr/>
          </p:nvSpPr>
          <p:spPr>
            <a:xfrm>
              <a:off x="2217796" y="3788238"/>
              <a:ext cx="1159815" cy="246221"/>
            </a:xfrm>
            <a:prstGeom prst="rect">
              <a:avLst/>
            </a:prstGeom>
            <a:noFill/>
          </p:spPr>
          <p:txBody>
            <a:bodyPr wrap="square" rtlCol="0">
              <a:spAutoFit/>
            </a:bodyPr>
            <a:lstStyle/>
            <a:p>
              <a:r>
                <a:rPr lang="en-US" sz="1000" dirty="0" smtClean="0">
                  <a:solidFill>
                    <a:prstClr val="black"/>
                  </a:solidFill>
                </a:rPr>
                <a:t>Index Row</a:t>
              </a:r>
              <a:endParaRPr lang="en-US" sz="1000" dirty="0">
                <a:solidFill>
                  <a:prstClr val="black"/>
                </a:solidFill>
              </a:endParaRPr>
            </a:p>
          </p:txBody>
        </p:sp>
        <p:sp>
          <p:nvSpPr>
            <p:cNvPr id="97" name="96 Rectángulo"/>
            <p:cNvSpPr/>
            <p:nvPr/>
          </p:nvSpPr>
          <p:spPr>
            <a:xfrm>
              <a:off x="5842589" y="3750677"/>
              <a:ext cx="1167811" cy="110760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8 Rectángulo"/>
            <p:cNvSpPr/>
            <p:nvPr/>
          </p:nvSpPr>
          <p:spPr>
            <a:xfrm>
              <a:off x="1202491" y="5398352"/>
              <a:ext cx="177334" cy="18892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5" name="104 Rectángulo"/>
            <p:cNvSpPr/>
            <p:nvPr/>
          </p:nvSpPr>
          <p:spPr>
            <a:xfrm>
              <a:off x="2336562" y="5398352"/>
              <a:ext cx="177334" cy="18892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6" name="105 Rectángulo"/>
            <p:cNvSpPr/>
            <p:nvPr/>
          </p:nvSpPr>
          <p:spPr>
            <a:xfrm>
              <a:off x="3430776" y="5406898"/>
              <a:ext cx="177334" cy="18892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7" name="106 Rectángulo"/>
            <p:cNvSpPr/>
            <p:nvPr/>
          </p:nvSpPr>
          <p:spPr>
            <a:xfrm>
              <a:off x="4786432" y="5398352"/>
              <a:ext cx="318967" cy="18892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0" name="109 Rectángulo"/>
            <p:cNvSpPr/>
            <p:nvPr/>
          </p:nvSpPr>
          <p:spPr>
            <a:xfrm>
              <a:off x="5917962" y="5398352"/>
              <a:ext cx="318967" cy="18892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1" name="110 Rectángulo"/>
            <p:cNvSpPr/>
            <p:nvPr/>
          </p:nvSpPr>
          <p:spPr>
            <a:xfrm>
              <a:off x="6997287" y="5398352"/>
              <a:ext cx="318967" cy="18892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11" name="10 Conector recto"/>
            <p:cNvCxnSpPr/>
            <p:nvPr/>
          </p:nvCxnSpPr>
          <p:spPr>
            <a:xfrm flipH="1" flipV="1">
              <a:off x="149097" y="3886200"/>
              <a:ext cx="5831" cy="1621576"/>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12 Conector recto"/>
            <p:cNvCxnSpPr/>
            <p:nvPr/>
          </p:nvCxnSpPr>
          <p:spPr>
            <a:xfrm>
              <a:off x="154928" y="5507774"/>
              <a:ext cx="1050091" cy="1"/>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p:nvPr/>
          </p:nvCxnSpPr>
          <p:spPr>
            <a:xfrm>
              <a:off x="149097" y="3886200"/>
              <a:ext cx="2054872"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3" name="112 CuadroTexto"/>
            <p:cNvSpPr txBox="1"/>
            <p:nvPr/>
          </p:nvSpPr>
          <p:spPr>
            <a:xfrm>
              <a:off x="154928" y="3389891"/>
              <a:ext cx="842767" cy="246221"/>
            </a:xfrm>
            <a:prstGeom prst="rect">
              <a:avLst/>
            </a:prstGeom>
            <a:noFill/>
            <a:ln>
              <a:solidFill>
                <a:srgbClr val="FF0000"/>
              </a:solidFill>
            </a:ln>
          </p:spPr>
          <p:txBody>
            <a:bodyPr wrap="square" rtlCol="0">
              <a:spAutoFit/>
            </a:bodyPr>
            <a:lstStyle/>
            <a:p>
              <a:r>
                <a:rPr lang="en-US" sz="1000" dirty="0" smtClean="0">
                  <a:solidFill>
                    <a:prstClr val="black"/>
                  </a:solidFill>
                </a:rPr>
                <a:t>B-Tree entry</a:t>
              </a:r>
              <a:endParaRPr lang="en-US" sz="1000" dirty="0">
                <a:solidFill>
                  <a:prstClr val="black"/>
                </a:solidFill>
              </a:endParaRPr>
            </a:p>
          </p:txBody>
        </p:sp>
        <p:cxnSp>
          <p:nvCxnSpPr>
            <p:cNvPr id="114" name="113 Conector recto"/>
            <p:cNvCxnSpPr/>
            <p:nvPr/>
          </p:nvCxnSpPr>
          <p:spPr>
            <a:xfrm>
              <a:off x="5562600" y="5487126"/>
              <a:ext cx="350247" cy="1"/>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7" name="116 Conector recto"/>
            <p:cNvCxnSpPr/>
            <p:nvPr/>
          </p:nvCxnSpPr>
          <p:spPr>
            <a:xfrm flipV="1">
              <a:off x="5562600" y="4133897"/>
              <a:ext cx="0" cy="1346952"/>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9" name="118 Conector recto de flecha"/>
            <p:cNvCxnSpPr/>
            <p:nvPr/>
          </p:nvCxnSpPr>
          <p:spPr>
            <a:xfrm>
              <a:off x="5558867" y="4133896"/>
              <a:ext cx="282517"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119 Conector recto"/>
            <p:cNvCxnSpPr/>
            <p:nvPr/>
          </p:nvCxnSpPr>
          <p:spPr>
            <a:xfrm flipV="1">
              <a:off x="1981200" y="5398352"/>
              <a:ext cx="355362" cy="854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2" name="121 Conector recto"/>
            <p:cNvCxnSpPr/>
            <p:nvPr/>
          </p:nvCxnSpPr>
          <p:spPr>
            <a:xfrm flipH="1" flipV="1">
              <a:off x="1972334" y="4277553"/>
              <a:ext cx="1" cy="113653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4" name="123 Conector recto de flecha"/>
            <p:cNvCxnSpPr/>
            <p:nvPr/>
          </p:nvCxnSpPr>
          <p:spPr>
            <a:xfrm>
              <a:off x="1972654" y="4277553"/>
              <a:ext cx="251255"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125 Conector recto"/>
            <p:cNvCxnSpPr/>
            <p:nvPr/>
          </p:nvCxnSpPr>
          <p:spPr>
            <a:xfrm flipH="1" flipV="1">
              <a:off x="3519443" y="4696988"/>
              <a:ext cx="1" cy="70136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24 Conector recto de flecha"/>
            <p:cNvCxnSpPr/>
            <p:nvPr/>
          </p:nvCxnSpPr>
          <p:spPr>
            <a:xfrm flipH="1">
              <a:off x="3377611" y="4696988"/>
              <a:ext cx="141833"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0" name="129 CuadroTexto"/>
            <p:cNvSpPr txBox="1"/>
            <p:nvPr/>
          </p:nvSpPr>
          <p:spPr>
            <a:xfrm>
              <a:off x="2217795" y="4166300"/>
              <a:ext cx="1159815" cy="246221"/>
            </a:xfrm>
            <a:prstGeom prst="rect">
              <a:avLst/>
            </a:prstGeom>
            <a:noFill/>
          </p:spPr>
          <p:txBody>
            <a:bodyPr wrap="square" rtlCol="0">
              <a:spAutoFit/>
            </a:bodyPr>
            <a:lstStyle/>
            <a:p>
              <a:r>
                <a:rPr lang="en-US" sz="1000" dirty="0" smtClean="0">
                  <a:solidFill>
                    <a:prstClr val="black"/>
                  </a:solidFill>
                </a:rPr>
                <a:t>Index Row</a:t>
              </a:r>
              <a:endParaRPr lang="en-US" sz="1000" dirty="0">
                <a:solidFill>
                  <a:prstClr val="black"/>
                </a:solidFill>
              </a:endParaRPr>
            </a:p>
          </p:txBody>
        </p:sp>
        <p:sp>
          <p:nvSpPr>
            <p:cNvPr id="131" name="130 CuadroTexto"/>
            <p:cNvSpPr txBox="1"/>
            <p:nvPr/>
          </p:nvSpPr>
          <p:spPr>
            <a:xfrm>
              <a:off x="2209800" y="4543662"/>
              <a:ext cx="1159815" cy="246221"/>
            </a:xfrm>
            <a:prstGeom prst="rect">
              <a:avLst/>
            </a:prstGeom>
            <a:noFill/>
          </p:spPr>
          <p:txBody>
            <a:bodyPr wrap="square" rtlCol="0">
              <a:spAutoFit/>
            </a:bodyPr>
            <a:lstStyle/>
            <a:p>
              <a:r>
                <a:rPr lang="en-US" sz="1000" dirty="0" smtClean="0">
                  <a:solidFill>
                    <a:prstClr val="black"/>
                  </a:solidFill>
                </a:rPr>
                <a:t>Index Row</a:t>
              </a:r>
              <a:endParaRPr lang="en-US" sz="1000" dirty="0">
                <a:solidFill>
                  <a:prstClr val="black"/>
                </a:solidFill>
              </a:endParaRPr>
            </a:p>
          </p:txBody>
        </p:sp>
        <p:sp>
          <p:nvSpPr>
            <p:cNvPr id="132" name="131 CuadroTexto"/>
            <p:cNvSpPr txBox="1"/>
            <p:nvPr/>
          </p:nvSpPr>
          <p:spPr>
            <a:xfrm>
              <a:off x="5858125" y="3760067"/>
              <a:ext cx="1159815" cy="246221"/>
            </a:xfrm>
            <a:prstGeom prst="rect">
              <a:avLst/>
            </a:prstGeom>
            <a:noFill/>
          </p:spPr>
          <p:txBody>
            <a:bodyPr wrap="square" rtlCol="0">
              <a:spAutoFit/>
            </a:bodyPr>
            <a:lstStyle/>
            <a:p>
              <a:r>
                <a:rPr lang="en-US" sz="1000" dirty="0" smtClean="0">
                  <a:solidFill>
                    <a:prstClr val="black"/>
                  </a:solidFill>
                </a:rPr>
                <a:t>Index Row</a:t>
              </a:r>
              <a:endParaRPr lang="en-US" sz="1000" dirty="0">
                <a:solidFill>
                  <a:prstClr val="black"/>
                </a:solidFill>
              </a:endParaRPr>
            </a:p>
          </p:txBody>
        </p:sp>
        <p:sp>
          <p:nvSpPr>
            <p:cNvPr id="133" name="132 CuadroTexto"/>
            <p:cNvSpPr txBox="1"/>
            <p:nvPr/>
          </p:nvSpPr>
          <p:spPr>
            <a:xfrm>
              <a:off x="5841384" y="4010786"/>
              <a:ext cx="1159815" cy="246221"/>
            </a:xfrm>
            <a:prstGeom prst="rect">
              <a:avLst/>
            </a:prstGeom>
            <a:noFill/>
          </p:spPr>
          <p:txBody>
            <a:bodyPr wrap="square" rtlCol="0">
              <a:spAutoFit/>
            </a:bodyPr>
            <a:lstStyle/>
            <a:p>
              <a:r>
                <a:rPr lang="en-US" sz="1000" dirty="0" smtClean="0">
                  <a:solidFill>
                    <a:prstClr val="black"/>
                  </a:solidFill>
                </a:rPr>
                <a:t>Index Row</a:t>
              </a:r>
              <a:endParaRPr lang="en-US" sz="1000" dirty="0">
                <a:solidFill>
                  <a:prstClr val="black"/>
                </a:solidFill>
              </a:endParaRPr>
            </a:p>
          </p:txBody>
        </p:sp>
        <p:sp>
          <p:nvSpPr>
            <p:cNvPr id="134" name="133 CuadroTexto"/>
            <p:cNvSpPr txBox="1"/>
            <p:nvPr/>
          </p:nvSpPr>
          <p:spPr>
            <a:xfrm>
              <a:off x="5846586" y="4289410"/>
              <a:ext cx="1159815" cy="246221"/>
            </a:xfrm>
            <a:prstGeom prst="rect">
              <a:avLst/>
            </a:prstGeom>
            <a:noFill/>
          </p:spPr>
          <p:txBody>
            <a:bodyPr wrap="square" rtlCol="0">
              <a:spAutoFit/>
            </a:bodyPr>
            <a:lstStyle/>
            <a:p>
              <a:r>
                <a:rPr lang="en-US" sz="1000" dirty="0" smtClean="0">
                  <a:solidFill>
                    <a:prstClr val="black"/>
                  </a:solidFill>
                </a:rPr>
                <a:t>Index Row</a:t>
              </a:r>
              <a:endParaRPr lang="en-US" sz="1000" dirty="0">
                <a:solidFill>
                  <a:prstClr val="black"/>
                </a:solidFill>
              </a:endParaRPr>
            </a:p>
          </p:txBody>
        </p:sp>
        <p:sp>
          <p:nvSpPr>
            <p:cNvPr id="135" name="134 CuadroTexto"/>
            <p:cNvSpPr txBox="1"/>
            <p:nvPr/>
          </p:nvSpPr>
          <p:spPr>
            <a:xfrm>
              <a:off x="5858124" y="4543662"/>
              <a:ext cx="1159815" cy="246221"/>
            </a:xfrm>
            <a:prstGeom prst="rect">
              <a:avLst/>
            </a:prstGeom>
            <a:noFill/>
          </p:spPr>
          <p:txBody>
            <a:bodyPr wrap="square" rtlCol="0">
              <a:spAutoFit/>
            </a:bodyPr>
            <a:lstStyle/>
            <a:p>
              <a:r>
                <a:rPr lang="en-US" sz="1000" dirty="0" smtClean="0">
                  <a:solidFill>
                    <a:prstClr val="black"/>
                  </a:solidFill>
                </a:rPr>
                <a:t>Index Row</a:t>
              </a:r>
              <a:endParaRPr lang="en-US" sz="1000" dirty="0">
                <a:solidFill>
                  <a:prstClr val="black"/>
                </a:solidFill>
              </a:endParaRPr>
            </a:p>
          </p:txBody>
        </p:sp>
        <p:cxnSp>
          <p:nvCxnSpPr>
            <p:cNvPr id="137" name="136 Conector recto"/>
            <p:cNvCxnSpPr/>
            <p:nvPr/>
          </p:nvCxnSpPr>
          <p:spPr>
            <a:xfrm flipH="1" flipV="1">
              <a:off x="4942746" y="3886200"/>
              <a:ext cx="2" cy="1507342"/>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0" name="139 Conector recto de flecha"/>
            <p:cNvCxnSpPr/>
            <p:nvPr/>
          </p:nvCxnSpPr>
          <p:spPr>
            <a:xfrm>
              <a:off x="4942746" y="3897349"/>
              <a:ext cx="898638"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142 Conector recto"/>
            <p:cNvCxnSpPr/>
            <p:nvPr/>
          </p:nvCxnSpPr>
          <p:spPr>
            <a:xfrm flipH="1" flipV="1">
              <a:off x="7239000" y="4692178"/>
              <a:ext cx="1" cy="70136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4" name="143 Conector recto de flecha"/>
            <p:cNvCxnSpPr/>
            <p:nvPr/>
          </p:nvCxnSpPr>
          <p:spPr>
            <a:xfrm flipH="1">
              <a:off x="6987366" y="4692178"/>
              <a:ext cx="251635" cy="481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6" name="145 CuadroTexto"/>
            <p:cNvSpPr txBox="1"/>
            <p:nvPr/>
          </p:nvSpPr>
          <p:spPr>
            <a:xfrm>
              <a:off x="97821" y="3636112"/>
              <a:ext cx="2187465" cy="246221"/>
            </a:xfrm>
            <a:prstGeom prst="rect">
              <a:avLst/>
            </a:prstGeom>
            <a:noFill/>
            <a:ln>
              <a:noFill/>
            </a:ln>
          </p:spPr>
          <p:txBody>
            <a:bodyPr wrap="square" rtlCol="0">
              <a:spAutoFit/>
            </a:bodyPr>
            <a:lstStyle/>
            <a:p>
              <a:r>
                <a:rPr lang="en-US" sz="1000" dirty="0" smtClean="0">
                  <a:solidFill>
                    <a:prstClr val="black"/>
                  </a:solidFill>
                </a:rPr>
                <a:t>Index key + page pointer + overhead</a:t>
              </a:r>
              <a:endParaRPr lang="en-US" sz="1000" dirty="0">
                <a:solidFill>
                  <a:prstClr val="black"/>
                </a:solidFill>
              </a:endParaRPr>
            </a:p>
          </p:txBody>
        </p:sp>
        <p:sp>
          <p:nvSpPr>
            <p:cNvPr id="147" name="146 CuadroTexto"/>
            <p:cNvSpPr txBox="1"/>
            <p:nvPr/>
          </p:nvSpPr>
          <p:spPr>
            <a:xfrm>
              <a:off x="8077200" y="5638800"/>
              <a:ext cx="990600" cy="523220"/>
            </a:xfrm>
            <a:prstGeom prst="rect">
              <a:avLst/>
            </a:prstGeom>
            <a:noFill/>
          </p:spPr>
          <p:txBody>
            <a:bodyPr wrap="square" rtlCol="0">
              <a:spAutoFit/>
            </a:bodyPr>
            <a:lstStyle/>
            <a:p>
              <a:r>
                <a:rPr lang="en-US" sz="1400" b="1" dirty="0" smtClean="0">
                  <a:solidFill>
                    <a:prstClr val="black"/>
                  </a:solidFill>
                </a:rPr>
                <a:t>Leaf </a:t>
              </a:r>
            </a:p>
            <a:p>
              <a:r>
                <a:rPr lang="en-US" sz="1400" b="1" dirty="0" smtClean="0">
                  <a:solidFill>
                    <a:prstClr val="black"/>
                  </a:solidFill>
                </a:rPr>
                <a:t>(Level 0)</a:t>
              </a:r>
              <a:endParaRPr lang="en-US" sz="1400" b="1" i="1" dirty="0">
                <a:solidFill>
                  <a:prstClr val="black"/>
                </a:solidFill>
              </a:endParaRPr>
            </a:p>
          </p:txBody>
        </p:sp>
        <p:sp>
          <p:nvSpPr>
            <p:cNvPr id="148" name="147 CuadroTexto"/>
            <p:cNvSpPr txBox="1"/>
            <p:nvPr/>
          </p:nvSpPr>
          <p:spPr>
            <a:xfrm>
              <a:off x="8077200" y="4045972"/>
              <a:ext cx="990600" cy="523220"/>
            </a:xfrm>
            <a:prstGeom prst="rect">
              <a:avLst/>
            </a:prstGeom>
            <a:noFill/>
          </p:spPr>
          <p:txBody>
            <a:bodyPr wrap="square" rtlCol="0">
              <a:spAutoFit/>
            </a:bodyPr>
            <a:lstStyle/>
            <a:p>
              <a:r>
                <a:rPr lang="en-US" sz="1400" b="1" dirty="0" smtClean="0">
                  <a:solidFill>
                    <a:prstClr val="black"/>
                  </a:solidFill>
                </a:rPr>
                <a:t>Non-Leaf </a:t>
              </a:r>
            </a:p>
            <a:p>
              <a:r>
                <a:rPr lang="en-US" sz="1400" b="1" dirty="0" smtClean="0">
                  <a:solidFill>
                    <a:prstClr val="black"/>
                  </a:solidFill>
                </a:rPr>
                <a:t>(Level 1)</a:t>
              </a:r>
              <a:endParaRPr lang="en-US" sz="1400" b="1" i="1" dirty="0">
                <a:solidFill>
                  <a:prstClr val="black"/>
                </a:solidFill>
              </a:endParaRPr>
            </a:p>
          </p:txBody>
        </p:sp>
      </p:grpSp>
      <p:grpSp>
        <p:nvGrpSpPr>
          <p:cNvPr id="46" name="45 Grupo"/>
          <p:cNvGrpSpPr/>
          <p:nvPr/>
        </p:nvGrpSpPr>
        <p:grpSpPr>
          <a:xfrm>
            <a:off x="9525" y="6574392"/>
            <a:ext cx="9134399" cy="277000"/>
            <a:chOff x="9525" y="6574392"/>
            <a:chExt cx="9134399" cy="277000"/>
          </a:xfrm>
        </p:grpSpPr>
        <p:sp>
          <p:nvSpPr>
            <p:cNvPr id="47" name="46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48" name="47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49" name="48 Grupo"/>
          <p:cNvGrpSpPr/>
          <p:nvPr/>
        </p:nvGrpSpPr>
        <p:grpSpPr>
          <a:xfrm>
            <a:off x="0" y="9525"/>
            <a:ext cx="9153525" cy="408388"/>
            <a:chOff x="0" y="9525"/>
            <a:chExt cx="9153525" cy="408388"/>
          </a:xfrm>
        </p:grpSpPr>
        <p:sp>
          <p:nvSpPr>
            <p:cNvPr id="50" name="49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Index Internals  |  The Index creation process</a:t>
              </a:r>
              <a:endParaRPr lang="en-US" b="1" dirty="0">
                <a:solidFill>
                  <a:schemeClr val="bg1"/>
                </a:solidFill>
              </a:endParaRPr>
            </a:p>
          </p:txBody>
        </p:sp>
        <p:pic>
          <p:nvPicPr>
            <p:cNvPr id="51" name="50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2" name="51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1414532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1 Grupo"/>
          <p:cNvGrpSpPr/>
          <p:nvPr/>
        </p:nvGrpSpPr>
        <p:grpSpPr>
          <a:xfrm>
            <a:off x="97821" y="3093968"/>
            <a:ext cx="8969979" cy="3406110"/>
            <a:chOff x="97821" y="3389891"/>
            <a:chExt cx="8969979" cy="340611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6533" y="5302588"/>
              <a:ext cx="6781800" cy="1493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7" name="76 Rectángulo"/>
            <p:cNvSpPr/>
            <p:nvPr/>
          </p:nvSpPr>
          <p:spPr>
            <a:xfrm>
              <a:off x="2209800" y="3769193"/>
              <a:ext cx="1167811" cy="110760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8" name="77 CuadroTexto"/>
            <p:cNvSpPr txBox="1"/>
            <p:nvPr/>
          </p:nvSpPr>
          <p:spPr>
            <a:xfrm>
              <a:off x="2217796" y="3788238"/>
              <a:ext cx="1159815" cy="246221"/>
            </a:xfrm>
            <a:prstGeom prst="rect">
              <a:avLst/>
            </a:prstGeom>
            <a:noFill/>
          </p:spPr>
          <p:txBody>
            <a:bodyPr wrap="square" rtlCol="0">
              <a:spAutoFit/>
            </a:bodyPr>
            <a:lstStyle/>
            <a:p>
              <a:r>
                <a:rPr lang="en-US" sz="1000" dirty="0" smtClean="0">
                  <a:solidFill>
                    <a:prstClr val="black"/>
                  </a:solidFill>
                </a:rPr>
                <a:t>Index Row</a:t>
              </a:r>
              <a:endParaRPr lang="en-US" sz="1000" dirty="0">
                <a:solidFill>
                  <a:prstClr val="black"/>
                </a:solidFill>
              </a:endParaRPr>
            </a:p>
          </p:txBody>
        </p:sp>
        <p:sp>
          <p:nvSpPr>
            <p:cNvPr id="97" name="96 Rectángulo"/>
            <p:cNvSpPr/>
            <p:nvPr/>
          </p:nvSpPr>
          <p:spPr>
            <a:xfrm>
              <a:off x="5842589" y="3750677"/>
              <a:ext cx="1167811" cy="110760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8 Rectángulo"/>
            <p:cNvSpPr/>
            <p:nvPr/>
          </p:nvSpPr>
          <p:spPr>
            <a:xfrm>
              <a:off x="1202491" y="5398352"/>
              <a:ext cx="177334" cy="18892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5" name="104 Rectángulo"/>
            <p:cNvSpPr/>
            <p:nvPr/>
          </p:nvSpPr>
          <p:spPr>
            <a:xfrm>
              <a:off x="2336562" y="5398352"/>
              <a:ext cx="177334" cy="18892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6" name="105 Rectángulo"/>
            <p:cNvSpPr/>
            <p:nvPr/>
          </p:nvSpPr>
          <p:spPr>
            <a:xfrm>
              <a:off x="3430776" y="5406898"/>
              <a:ext cx="177334" cy="18892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7" name="106 Rectángulo"/>
            <p:cNvSpPr/>
            <p:nvPr/>
          </p:nvSpPr>
          <p:spPr>
            <a:xfrm>
              <a:off x="4786432" y="5398352"/>
              <a:ext cx="318967" cy="18892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0" name="109 Rectángulo"/>
            <p:cNvSpPr/>
            <p:nvPr/>
          </p:nvSpPr>
          <p:spPr>
            <a:xfrm>
              <a:off x="5917962" y="5398352"/>
              <a:ext cx="318967" cy="18892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1" name="110 Rectángulo"/>
            <p:cNvSpPr/>
            <p:nvPr/>
          </p:nvSpPr>
          <p:spPr>
            <a:xfrm>
              <a:off x="6997287" y="5398352"/>
              <a:ext cx="318967" cy="18892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11" name="10 Conector recto"/>
            <p:cNvCxnSpPr/>
            <p:nvPr/>
          </p:nvCxnSpPr>
          <p:spPr>
            <a:xfrm flipH="1" flipV="1">
              <a:off x="149097" y="3886200"/>
              <a:ext cx="5831" cy="1621576"/>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12 Conector recto"/>
            <p:cNvCxnSpPr/>
            <p:nvPr/>
          </p:nvCxnSpPr>
          <p:spPr>
            <a:xfrm>
              <a:off x="154928" y="5507774"/>
              <a:ext cx="1050091" cy="1"/>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p:nvPr/>
          </p:nvCxnSpPr>
          <p:spPr>
            <a:xfrm>
              <a:off x="149097" y="3886200"/>
              <a:ext cx="2054872"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3" name="112 CuadroTexto"/>
            <p:cNvSpPr txBox="1"/>
            <p:nvPr/>
          </p:nvSpPr>
          <p:spPr>
            <a:xfrm>
              <a:off x="154928" y="3389891"/>
              <a:ext cx="842767" cy="246221"/>
            </a:xfrm>
            <a:prstGeom prst="rect">
              <a:avLst/>
            </a:prstGeom>
            <a:noFill/>
            <a:ln>
              <a:solidFill>
                <a:srgbClr val="FF0000"/>
              </a:solidFill>
            </a:ln>
          </p:spPr>
          <p:txBody>
            <a:bodyPr wrap="square" rtlCol="0">
              <a:spAutoFit/>
            </a:bodyPr>
            <a:lstStyle/>
            <a:p>
              <a:r>
                <a:rPr lang="en-US" sz="1000" dirty="0" smtClean="0">
                  <a:solidFill>
                    <a:prstClr val="black"/>
                  </a:solidFill>
                </a:rPr>
                <a:t>B-Tree entry</a:t>
              </a:r>
              <a:endParaRPr lang="en-US" sz="1000" dirty="0">
                <a:solidFill>
                  <a:prstClr val="black"/>
                </a:solidFill>
              </a:endParaRPr>
            </a:p>
          </p:txBody>
        </p:sp>
        <p:cxnSp>
          <p:nvCxnSpPr>
            <p:cNvPr id="114" name="113 Conector recto"/>
            <p:cNvCxnSpPr/>
            <p:nvPr/>
          </p:nvCxnSpPr>
          <p:spPr>
            <a:xfrm>
              <a:off x="5562600" y="5487126"/>
              <a:ext cx="350247" cy="1"/>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7" name="116 Conector recto"/>
            <p:cNvCxnSpPr/>
            <p:nvPr/>
          </p:nvCxnSpPr>
          <p:spPr>
            <a:xfrm flipV="1">
              <a:off x="5562600" y="4133897"/>
              <a:ext cx="0" cy="1346952"/>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9" name="118 Conector recto de flecha"/>
            <p:cNvCxnSpPr/>
            <p:nvPr/>
          </p:nvCxnSpPr>
          <p:spPr>
            <a:xfrm>
              <a:off x="5558867" y="4133896"/>
              <a:ext cx="282517"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119 Conector recto"/>
            <p:cNvCxnSpPr/>
            <p:nvPr/>
          </p:nvCxnSpPr>
          <p:spPr>
            <a:xfrm flipV="1">
              <a:off x="1981200" y="5398352"/>
              <a:ext cx="355362" cy="854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2" name="121 Conector recto"/>
            <p:cNvCxnSpPr/>
            <p:nvPr/>
          </p:nvCxnSpPr>
          <p:spPr>
            <a:xfrm flipH="1" flipV="1">
              <a:off x="1972334" y="4277553"/>
              <a:ext cx="1" cy="113653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4" name="123 Conector recto de flecha"/>
            <p:cNvCxnSpPr/>
            <p:nvPr/>
          </p:nvCxnSpPr>
          <p:spPr>
            <a:xfrm>
              <a:off x="1972654" y="4277553"/>
              <a:ext cx="251255"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125 Conector recto"/>
            <p:cNvCxnSpPr/>
            <p:nvPr/>
          </p:nvCxnSpPr>
          <p:spPr>
            <a:xfrm flipH="1" flipV="1">
              <a:off x="3519443" y="4696988"/>
              <a:ext cx="1" cy="70136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24 Conector recto de flecha"/>
            <p:cNvCxnSpPr/>
            <p:nvPr/>
          </p:nvCxnSpPr>
          <p:spPr>
            <a:xfrm flipH="1">
              <a:off x="3377611" y="4696988"/>
              <a:ext cx="141833"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0" name="129 CuadroTexto"/>
            <p:cNvSpPr txBox="1"/>
            <p:nvPr/>
          </p:nvSpPr>
          <p:spPr>
            <a:xfrm>
              <a:off x="2217795" y="4166300"/>
              <a:ext cx="1159815" cy="246221"/>
            </a:xfrm>
            <a:prstGeom prst="rect">
              <a:avLst/>
            </a:prstGeom>
            <a:noFill/>
          </p:spPr>
          <p:txBody>
            <a:bodyPr wrap="square" rtlCol="0">
              <a:spAutoFit/>
            </a:bodyPr>
            <a:lstStyle/>
            <a:p>
              <a:r>
                <a:rPr lang="en-US" sz="1000" dirty="0" smtClean="0">
                  <a:solidFill>
                    <a:prstClr val="black"/>
                  </a:solidFill>
                </a:rPr>
                <a:t>Index Row</a:t>
              </a:r>
              <a:endParaRPr lang="en-US" sz="1000" dirty="0">
                <a:solidFill>
                  <a:prstClr val="black"/>
                </a:solidFill>
              </a:endParaRPr>
            </a:p>
          </p:txBody>
        </p:sp>
        <p:sp>
          <p:nvSpPr>
            <p:cNvPr id="131" name="130 CuadroTexto"/>
            <p:cNvSpPr txBox="1"/>
            <p:nvPr/>
          </p:nvSpPr>
          <p:spPr>
            <a:xfrm>
              <a:off x="2209800" y="4543662"/>
              <a:ext cx="1159815" cy="246221"/>
            </a:xfrm>
            <a:prstGeom prst="rect">
              <a:avLst/>
            </a:prstGeom>
            <a:noFill/>
          </p:spPr>
          <p:txBody>
            <a:bodyPr wrap="square" rtlCol="0">
              <a:spAutoFit/>
            </a:bodyPr>
            <a:lstStyle/>
            <a:p>
              <a:r>
                <a:rPr lang="en-US" sz="1000" dirty="0" smtClean="0">
                  <a:solidFill>
                    <a:prstClr val="black"/>
                  </a:solidFill>
                </a:rPr>
                <a:t>Index Row</a:t>
              </a:r>
              <a:endParaRPr lang="en-US" sz="1000" dirty="0">
                <a:solidFill>
                  <a:prstClr val="black"/>
                </a:solidFill>
              </a:endParaRPr>
            </a:p>
          </p:txBody>
        </p:sp>
        <p:sp>
          <p:nvSpPr>
            <p:cNvPr id="132" name="131 CuadroTexto"/>
            <p:cNvSpPr txBox="1"/>
            <p:nvPr/>
          </p:nvSpPr>
          <p:spPr>
            <a:xfrm>
              <a:off x="5858125" y="3760067"/>
              <a:ext cx="1159815" cy="246221"/>
            </a:xfrm>
            <a:prstGeom prst="rect">
              <a:avLst/>
            </a:prstGeom>
            <a:noFill/>
          </p:spPr>
          <p:txBody>
            <a:bodyPr wrap="square" rtlCol="0">
              <a:spAutoFit/>
            </a:bodyPr>
            <a:lstStyle/>
            <a:p>
              <a:r>
                <a:rPr lang="en-US" sz="1000" dirty="0" smtClean="0">
                  <a:solidFill>
                    <a:prstClr val="black"/>
                  </a:solidFill>
                </a:rPr>
                <a:t>Index Row</a:t>
              </a:r>
              <a:endParaRPr lang="en-US" sz="1000" dirty="0">
                <a:solidFill>
                  <a:prstClr val="black"/>
                </a:solidFill>
              </a:endParaRPr>
            </a:p>
          </p:txBody>
        </p:sp>
        <p:sp>
          <p:nvSpPr>
            <p:cNvPr id="133" name="132 CuadroTexto"/>
            <p:cNvSpPr txBox="1"/>
            <p:nvPr/>
          </p:nvSpPr>
          <p:spPr>
            <a:xfrm>
              <a:off x="5841384" y="4010786"/>
              <a:ext cx="1159815" cy="246221"/>
            </a:xfrm>
            <a:prstGeom prst="rect">
              <a:avLst/>
            </a:prstGeom>
            <a:noFill/>
          </p:spPr>
          <p:txBody>
            <a:bodyPr wrap="square" rtlCol="0">
              <a:spAutoFit/>
            </a:bodyPr>
            <a:lstStyle/>
            <a:p>
              <a:r>
                <a:rPr lang="en-US" sz="1000" dirty="0" smtClean="0">
                  <a:solidFill>
                    <a:prstClr val="black"/>
                  </a:solidFill>
                </a:rPr>
                <a:t>Index Row</a:t>
              </a:r>
              <a:endParaRPr lang="en-US" sz="1000" dirty="0">
                <a:solidFill>
                  <a:prstClr val="black"/>
                </a:solidFill>
              </a:endParaRPr>
            </a:p>
          </p:txBody>
        </p:sp>
        <p:sp>
          <p:nvSpPr>
            <p:cNvPr id="134" name="133 CuadroTexto"/>
            <p:cNvSpPr txBox="1"/>
            <p:nvPr/>
          </p:nvSpPr>
          <p:spPr>
            <a:xfrm>
              <a:off x="5846586" y="4289410"/>
              <a:ext cx="1159815" cy="246221"/>
            </a:xfrm>
            <a:prstGeom prst="rect">
              <a:avLst/>
            </a:prstGeom>
            <a:noFill/>
          </p:spPr>
          <p:txBody>
            <a:bodyPr wrap="square" rtlCol="0">
              <a:spAutoFit/>
            </a:bodyPr>
            <a:lstStyle/>
            <a:p>
              <a:r>
                <a:rPr lang="en-US" sz="1000" dirty="0" smtClean="0">
                  <a:solidFill>
                    <a:prstClr val="black"/>
                  </a:solidFill>
                </a:rPr>
                <a:t>Index Row</a:t>
              </a:r>
              <a:endParaRPr lang="en-US" sz="1000" dirty="0">
                <a:solidFill>
                  <a:prstClr val="black"/>
                </a:solidFill>
              </a:endParaRPr>
            </a:p>
          </p:txBody>
        </p:sp>
        <p:sp>
          <p:nvSpPr>
            <p:cNvPr id="135" name="134 CuadroTexto"/>
            <p:cNvSpPr txBox="1"/>
            <p:nvPr/>
          </p:nvSpPr>
          <p:spPr>
            <a:xfrm>
              <a:off x="5858124" y="4543662"/>
              <a:ext cx="1159815" cy="246221"/>
            </a:xfrm>
            <a:prstGeom prst="rect">
              <a:avLst/>
            </a:prstGeom>
            <a:noFill/>
          </p:spPr>
          <p:txBody>
            <a:bodyPr wrap="square" rtlCol="0">
              <a:spAutoFit/>
            </a:bodyPr>
            <a:lstStyle/>
            <a:p>
              <a:r>
                <a:rPr lang="en-US" sz="1000" dirty="0" smtClean="0">
                  <a:solidFill>
                    <a:prstClr val="black"/>
                  </a:solidFill>
                </a:rPr>
                <a:t>Index Row</a:t>
              </a:r>
              <a:endParaRPr lang="en-US" sz="1000" dirty="0">
                <a:solidFill>
                  <a:prstClr val="black"/>
                </a:solidFill>
              </a:endParaRPr>
            </a:p>
          </p:txBody>
        </p:sp>
        <p:cxnSp>
          <p:nvCxnSpPr>
            <p:cNvPr id="137" name="136 Conector recto"/>
            <p:cNvCxnSpPr/>
            <p:nvPr/>
          </p:nvCxnSpPr>
          <p:spPr>
            <a:xfrm flipH="1" flipV="1">
              <a:off x="4942746" y="3886200"/>
              <a:ext cx="2" cy="1507342"/>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0" name="139 Conector recto de flecha"/>
            <p:cNvCxnSpPr/>
            <p:nvPr/>
          </p:nvCxnSpPr>
          <p:spPr>
            <a:xfrm>
              <a:off x="4942746" y="3897349"/>
              <a:ext cx="898638"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142 Conector recto"/>
            <p:cNvCxnSpPr/>
            <p:nvPr/>
          </p:nvCxnSpPr>
          <p:spPr>
            <a:xfrm flipH="1" flipV="1">
              <a:off x="7239000" y="4692178"/>
              <a:ext cx="1" cy="70136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4" name="143 Conector recto de flecha"/>
            <p:cNvCxnSpPr/>
            <p:nvPr/>
          </p:nvCxnSpPr>
          <p:spPr>
            <a:xfrm flipH="1">
              <a:off x="6987366" y="4692178"/>
              <a:ext cx="251635" cy="481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6" name="145 CuadroTexto"/>
            <p:cNvSpPr txBox="1"/>
            <p:nvPr/>
          </p:nvSpPr>
          <p:spPr>
            <a:xfrm>
              <a:off x="97821" y="3636112"/>
              <a:ext cx="2187465" cy="246221"/>
            </a:xfrm>
            <a:prstGeom prst="rect">
              <a:avLst/>
            </a:prstGeom>
            <a:noFill/>
            <a:ln>
              <a:noFill/>
            </a:ln>
          </p:spPr>
          <p:txBody>
            <a:bodyPr wrap="square" rtlCol="0">
              <a:spAutoFit/>
            </a:bodyPr>
            <a:lstStyle/>
            <a:p>
              <a:r>
                <a:rPr lang="en-US" sz="1000" dirty="0" smtClean="0">
                  <a:solidFill>
                    <a:prstClr val="black"/>
                  </a:solidFill>
                </a:rPr>
                <a:t>Index key + page pointer + overhead</a:t>
              </a:r>
              <a:endParaRPr lang="en-US" sz="1000" dirty="0">
                <a:solidFill>
                  <a:prstClr val="black"/>
                </a:solidFill>
              </a:endParaRPr>
            </a:p>
          </p:txBody>
        </p:sp>
        <p:sp>
          <p:nvSpPr>
            <p:cNvPr id="147" name="146 CuadroTexto"/>
            <p:cNvSpPr txBox="1"/>
            <p:nvPr/>
          </p:nvSpPr>
          <p:spPr>
            <a:xfrm>
              <a:off x="8077200" y="5638800"/>
              <a:ext cx="990600" cy="523220"/>
            </a:xfrm>
            <a:prstGeom prst="rect">
              <a:avLst/>
            </a:prstGeom>
            <a:noFill/>
          </p:spPr>
          <p:txBody>
            <a:bodyPr wrap="square" rtlCol="0">
              <a:spAutoFit/>
            </a:bodyPr>
            <a:lstStyle/>
            <a:p>
              <a:r>
                <a:rPr lang="en-US" sz="1400" b="1" dirty="0" smtClean="0">
                  <a:solidFill>
                    <a:prstClr val="black"/>
                  </a:solidFill>
                </a:rPr>
                <a:t>Leaf </a:t>
              </a:r>
            </a:p>
            <a:p>
              <a:r>
                <a:rPr lang="en-US" sz="1400" b="1" dirty="0" smtClean="0">
                  <a:solidFill>
                    <a:prstClr val="black"/>
                  </a:solidFill>
                </a:rPr>
                <a:t>(Level 0)</a:t>
              </a:r>
              <a:endParaRPr lang="en-US" sz="1400" b="1" i="1" dirty="0">
                <a:solidFill>
                  <a:prstClr val="black"/>
                </a:solidFill>
              </a:endParaRPr>
            </a:p>
          </p:txBody>
        </p:sp>
        <p:sp>
          <p:nvSpPr>
            <p:cNvPr id="148" name="147 CuadroTexto"/>
            <p:cNvSpPr txBox="1"/>
            <p:nvPr/>
          </p:nvSpPr>
          <p:spPr>
            <a:xfrm>
              <a:off x="8077200" y="4045972"/>
              <a:ext cx="990600" cy="523220"/>
            </a:xfrm>
            <a:prstGeom prst="rect">
              <a:avLst/>
            </a:prstGeom>
            <a:noFill/>
          </p:spPr>
          <p:txBody>
            <a:bodyPr wrap="square" rtlCol="0">
              <a:spAutoFit/>
            </a:bodyPr>
            <a:lstStyle/>
            <a:p>
              <a:r>
                <a:rPr lang="en-US" sz="1400" b="1" dirty="0" smtClean="0">
                  <a:solidFill>
                    <a:prstClr val="black"/>
                  </a:solidFill>
                </a:rPr>
                <a:t>Non-Leaf </a:t>
              </a:r>
            </a:p>
            <a:p>
              <a:r>
                <a:rPr lang="en-US" sz="1400" b="1" dirty="0" smtClean="0">
                  <a:solidFill>
                    <a:prstClr val="black"/>
                  </a:solidFill>
                </a:rPr>
                <a:t>(Level 1)</a:t>
              </a:r>
              <a:endParaRPr lang="en-US" sz="1400" b="1" i="1" dirty="0">
                <a:solidFill>
                  <a:prstClr val="black"/>
                </a:solidFill>
              </a:endParaRPr>
            </a:p>
          </p:txBody>
        </p:sp>
      </p:grpSp>
      <p:grpSp>
        <p:nvGrpSpPr>
          <p:cNvPr id="5" name="4 Grupo"/>
          <p:cNvGrpSpPr/>
          <p:nvPr/>
        </p:nvGrpSpPr>
        <p:grpSpPr>
          <a:xfrm>
            <a:off x="3802555" y="1889085"/>
            <a:ext cx="1167813" cy="1107607"/>
            <a:chOff x="3618619" y="2057400"/>
            <a:chExt cx="1167813" cy="1107607"/>
          </a:xfrm>
        </p:grpSpPr>
        <p:sp>
          <p:nvSpPr>
            <p:cNvPr id="42" name="41 Rectángulo"/>
            <p:cNvSpPr/>
            <p:nvPr/>
          </p:nvSpPr>
          <p:spPr>
            <a:xfrm>
              <a:off x="3618621" y="2057400"/>
              <a:ext cx="1167811" cy="110760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3" name="42 CuadroTexto"/>
            <p:cNvSpPr txBox="1"/>
            <p:nvPr/>
          </p:nvSpPr>
          <p:spPr>
            <a:xfrm>
              <a:off x="3618621" y="2061898"/>
              <a:ext cx="1159815" cy="246221"/>
            </a:xfrm>
            <a:prstGeom prst="rect">
              <a:avLst/>
            </a:prstGeom>
            <a:noFill/>
          </p:spPr>
          <p:txBody>
            <a:bodyPr wrap="square" rtlCol="0">
              <a:spAutoFit/>
            </a:bodyPr>
            <a:lstStyle/>
            <a:p>
              <a:r>
                <a:rPr lang="en-US" sz="1000" dirty="0" smtClean="0">
                  <a:solidFill>
                    <a:prstClr val="black"/>
                  </a:solidFill>
                </a:rPr>
                <a:t>Index Row</a:t>
              </a:r>
              <a:endParaRPr lang="en-US" sz="1000" dirty="0">
                <a:solidFill>
                  <a:prstClr val="black"/>
                </a:solidFill>
              </a:endParaRPr>
            </a:p>
          </p:txBody>
        </p:sp>
        <p:sp>
          <p:nvSpPr>
            <p:cNvPr id="44" name="43 CuadroTexto"/>
            <p:cNvSpPr txBox="1"/>
            <p:nvPr/>
          </p:nvSpPr>
          <p:spPr>
            <a:xfrm>
              <a:off x="3618620" y="2337408"/>
              <a:ext cx="1159815" cy="246221"/>
            </a:xfrm>
            <a:prstGeom prst="rect">
              <a:avLst/>
            </a:prstGeom>
            <a:noFill/>
          </p:spPr>
          <p:txBody>
            <a:bodyPr wrap="square" rtlCol="0">
              <a:spAutoFit/>
            </a:bodyPr>
            <a:lstStyle/>
            <a:p>
              <a:r>
                <a:rPr lang="en-US" sz="1000" dirty="0" smtClean="0">
                  <a:solidFill>
                    <a:prstClr val="black"/>
                  </a:solidFill>
                </a:rPr>
                <a:t>Index Row</a:t>
              </a:r>
              <a:endParaRPr lang="en-US" sz="1000" dirty="0">
                <a:solidFill>
                  <a:prstClr val="black"/>
                </a:solidFill>
              </a:endParaRPr>
            </a:p>
          </p:txBody>
        </p:sp>
        <p:sp>
          <p:nvSpPr>
            <p:cNvPr id="45" name="44 CuadroTexto"/>
            <p:cNvSpPr txBox="1"/>
            <p:nvPr/>
          </p:nvSpPr>
          <p:spPr>
            <a:xfrm>
              <a:off x="3618619" y="2614293"/>
              <a:ext cx="1159815" cy="246221"/>
            </a:xfrm>
            <a:prstGeom prst="rect">
              <a:avLst/>
            </a:prstGeom>
            <a:noFill/>
          </p:spPr>
          <p:txBody>
            <a:bodyPr wrap="square" rtlCol="0">
              <a:spAutoFit/>
            </a:bodyPr>
            <a:lstStyle/>
            <a:p>
              <a:r>
                <a:rPr lang="en-US" sz="1000" dirty="0" smtClean="0">
                  <a:solidFill>
                    <a:prstClr val="black"/>
                  </a:solidFill>
                </a:rPr>
                <a:t>Index Row</a:t>
              </a:r>
              <a:endParaRPr lang="en-US" sz="1000" dirty="0">
                <a:solidFill>
                  <a:prstClr val="black"/>
                </a:solidFill>
              </a:endParaRPr>
            </a:p>
          </p:txBody>
        </p:sp>
        <p:sp>
          <p:nvSpPr>
            <p:cNvPr id="46" name="45 CuadroTexto"/>
            <p:cNvSpPr txBox="1"/>
            <p:nvPr/>
          </p:nvSpPr>
          <p:spPr>
            <a:xfrm>
              <a:off x="3626617" y="2904443"/>
              <a:ext cx="1159815" cy="246221"/>
            </a:xfrm>
            <a:prstGeom prst="rect">
              <a:avLst/>
            </a:prstGeom>
            <a:noFill/>
          </p:spPr>
          <p:txBody>
            <a:bodyPr wrap="square" rtlCol="0">
              <a:spAutoFit/>
            </a:bodyPr>
            <a:lstStyle/>
            <a:p>
              <a:r>
                <a:rPr lang="en-US" sz="1000" dirty="0" smtClean="0">
                  <a:solidFill>
                    <a:prstClr val="black"/>
                  </a:solidFill>
                </a:rPr>
                <a:t>Index Row</a:t>
              </a:r>
              <a:endParaRPr lang="en-US" sz="1000" dirty="0">
                <a:solidFill>
                  <a:prstClr val="black"/>
                </a:solidFill>
              </a:endParaRPr>
            </a:p>
          </p:txBody>
        </p:sp>
      </p:grpSp>
      <p:sp>
        <p:nvSpPr>
          <p:cNvPr id="47" name="46 CuadroTexto"/>
          <p:cNvSpPr txBox="1"/>
          <p:nvPr/>
        </p:nvSpPr>
        <p:spPr>
          <a:xfrm>
            <a:off x="7958333" y="2056266"/>
            <a:ext cx="990600" cy="523220"/>
          </a:xfrm>
          <a:prstGeom prst="rect">
            <a:avLst/>
          </a:prstGeom>
          <a:noFill/>
        </p:spPr>
        <p:txBody>
          <a:bodyPr wrap="square" rtlCol="0">
            <a:spAutoFit/>
          </a:bodyPr>
          <a:lstStyle/>
          <a:p>
            <a:r>
              <a:rPr lang="en-US" sz="1400" b="1" dirty="0" smtClean="0">
                <a:solidFill>
                  <a:prstClr val="black"/>
                </a:solidFill>
              </a:rPr>
              <a:t>Non-Leaf </a:t>
            </a:r>
          </a:p>
          <a:p>
            <a:r>
              <a:rPr lang="en-US" sz="1400" b="1" dirty="0" smtClean="0">
                <a:solidFill>
                  <a:prstClr val="black"/>
                </a:solidFill>
              </a:rPr>
              <a:t>(Level 2)</a:t>
            </a:r>
            <a:endParaRPr lang="en-US" sz="1400" b="1" i="1" dirty="0">
              <a:solidFill>
                <a:prstClr val="black"/>
              </a:solidFill>
            </a:endParaRPr>
          </a:p>
        </p:txBody>
      </p:sp>
      <p:cxnSp>
        <p:nvCxnSpPr>
          <p:cNvPr id="48" name="47 Conector recto"/>
          <p:cNvCxnSpPr/>
          <p:nvPr/>
        </p:nvCxnSpPr>
        <p:spPr>
          <a:xfrm flipV="1">
            <a:off x="3510898" y="2016693"/>
            <a:ext cx="0" cy="157358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52 Conector recto"/>
          <p:cNvCxnSpPr/>
          <p:nvPr/>
        </p:nvCxnSpPr>
        <p:spPr>
          <a:xfrm flipV="1">
            <a:off x="7302762" y="2294608"/>
            <a:ext cx="0" cy="132081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flipH="1">
            <a:off x="3377611" y="3590277"/>
            <a:ext cx="141833"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56 Conector recto"/>
          <p:cNvCxnSpPr/>
          <p:nvPr/>
        </p:nvCxnSpPr>
        <p:spPr>
          <a:xfrm flipH="1">
            <a:off x="7017939" y="3615425"/>
            <a:ext cx="298315"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60 Conector recto de flecha"/>
          <p:cNvCxnSpPr/>
          <p:nvPr/>
        </p:nvCxnSpPr>
        <p:spPr>
          <a:xfrm>
            <a:off x="3510898" y="2016693"/>
            <a:ext cx="314241"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62 Conector recto de flecha"/>
          <p:cNvCxnSpPr/>
          <p:nvPr/>
        </p:nvCxnSpPr>
        <p:spPr>
          <a:xfrm flipH="1">
            <a:off x="4979582" y="2292203"/>
            <a:ext cx="2336672" cy="481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9" name="68 Rectángulo"/>
          <p:cNvSpPr/>
          <p:nvPr/>
        </p:nvSpPr>
        <p:spPr>
          <a:xfrm>
            <a:off x="3803105" y="1626169"/>
            <a:ext cx="1167811" cy="269756"/>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prstClr val="white"/>
                </a:solidFill>
              </a:rPr>
              <a:t>Root</a:t>
            </a:r>
            <a:endParaRPr lang="en-US" sz="1200" dirty="0">
              <a:solidFill>
                <a:prstClr val="white"/>
              </a:solidFill>
            </a:endParaRPr>
          </a:p>
        </p:txBody>
      </p:sp>
      <p:sp>
        <p:nvSpPr>
          <p:cNvPr id="70" name="69 Rectángulo"/>
          <p:cNvSpPr/>
          <p:nvPr/>
        </p:nvSpPr>
        <p:spPr>
          <a:xfrm>
            <a:off x="3192281" y="3483401"/>
            <a:ext cx="177334" cy="18892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1" name="70 Rectángulo"/>
          <p:cNvSpPr/>
          <p:nvPr/>
        </p:nvSpPr>
        <p:spPr>
          <a:xfrm>
            <a:off x="6818578" y="3463300"/>
            <a:ext cx="177334" cy="18892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2" name="71 CuadroTexto"/>
          <p:cNvSpPr txBox="1"/>
          <p:nvPr/>
        </p:nvSpPr>
        <p:spPr>
          <a:xfrm>
            <a:off x="9289" y="381422"/>
            <a:ext cx="9134711" cy="1169551"/>
          </a:xfrm>
          <a:prstGeom prst="rect">
            <a:avLst/>
          </a:prstGeom>
          <a:noFill/>
        </p:spPr>
        <p:txBody>
          <a:bodyPr wrap="square" rtlCol="0">
            <a:spAutoFit/>
          </a:bodyPr>
          <a:lstStyle/>
          <a:p>
            <a:r>
              <a:rPr lang="en-US" sz="1400" u="sng" dirty="0" smtClean="0">
                <a:solidFill>
                  <a:prstClr val="black"/>
                </a:solidFill>
              </a:rPr>
              <a:t>Steps:</a:t>
            </a:r>
          </a:p>
          <a:p>
            <a:pPr marL="285750" indent="-285750">
              <a:buFont typeface="Wingdings" pitchFamily="2" charset="2"/>
              <a:buChar char="ü"/>
            </a:pPr>
            <a:r>
              <a:rPr lang="en-US" sz="1400" dirty="0" smtClean="0">
                <a:solidFill>
                  <a:prstClr val="black"/>
                </a:solidFill>
              </a:rPr>
              <a:t>1) Calculate the </a:t>
            </a:r>
            <a:r>
              <a:rPr lang="en-US" sz="1400" b="1" dirty="0" smtClean="0">
                <a:solidFill>
                  <a:prstClr val="black"/>
                </a:solidFill>
              </a:rPr>
              <a:t>low</a:t>
            </a:r>
            <a:r>
              <a:rPr lang="en-US" sz="1400" dirty="0" smtClean="0">
                <a:solidFill>
                  <a:prstClr val="black"/>
                </a:solidFill>
              </a:rPr>
              <a:t> value of each node</a:t>
            </a:r>
          </a:p>
          <a:p>
            <a:pPr marL="285750" indent="-285750">
              <a:buFont typeface="Wingdings" pitchFamily="2" charset="2"/>
              <a:buChar char="ü"/>
            </a:pPr>
            <a:r>
              <a:rPr lang="en-US" sz="1400" dirty="0" smtClean="0">
                <a:solidFill>
                  <a:prstClr val="black"/>
                </a:solidFill>
              </a:rPr>
              <a:t>2) Compose the B-Tree entry</a:t>
            </a:r>
          </a:p>
          <a:p>
            <a:pPr marL="285750" indent="-285750">
              <a:buFont typeface="Wingdings" pitchFamily="2" charset="2"/>
              <a:buChar char="ü"/>
            </a:pPr>
            <a:r>
              <a:rPr lang="en-US" sz="1400" dirty="0" smtClean="0">
                <a:solidFill>
                  <a:prstClr val="black"/>
                </a:solidFill>
              </a:rPr>
              <a:t>3) </a:t>
            </a:r>
            <a:r>
              <a:rPr lang="en-US" sz="1400" dirty="0">
                <a:solidFill>
                  <a:prstClr val="black"/>
                </a:solidFill>
              </a:rPr>
              <a:t>In the non-leaf level, create a new b-tree entry for every PAGE of the level below</a:t>
            </a:r>
            <a:r>
              <a:rPr lang="en-US" sz="1400" dirty="0" smtClean="0">
                <a:solidFill>
                  <a:prstClr val="black"/>
                </a:solidFill>
              </a:rPr>
              <a:t>.</a:t>
            </a:r>
          </a:p>
          <a:p>
            <a:pPr marL="285750" indent="-285750">
              <a:buFont typeface="Wingdings" pitchFamily="2" charset="2"/>
              <a:buChar char="ü"/>
            </a:pPr>
            <a:r>
              <a:rPr lang="en-US" sz="1400" dirty="0" smtClean="0">
                <a:solidFill>
                  <a:prstClr val="black"/>
                </a:solidFill>
              </a:rPr>
              <a:t>4) Repeat the steps 1-2-3 until you end up with a ROOT of 1 page.</a:t>
            </a:r>
            <a:endParaRPr lang="en-US" sz="1400" dirty="0">
              <a:solidFill>
                <a:prstClr val="black"/>
              </a:solidFill>
            </a:endParaRPr>
          </a:p>
        </p:txBody>
      </p:sp>
      <p:grpSp>
        <p:nvGrpSpPr>
          <p:cNvPr id="67" name="66 Grupo"/>
          <p:cNvGrpSpPr/>
          <p:nvPr/>
        </p:nvGrpSpPr>
        <p:grpSpPr>
          <a:xfrm>
            <a:off x="9525" y="6574392"/>
            <a:ext cx="9134399" cy="277000"/>
            <a:chOff x="9525" y="6574392"/>
            <a:chExt cx="9134399" cy="277000"/>
          </a:xfrm>
        </p:grpSpPr>
        <p:sp>
          <p:nvSpPr>
            <p:cNvPr id="68" name="67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73" name="7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74" name="73 Grupo"/>
          <p:cNvGrpSpPr/>
          <p:nvPr/>
        </p:nvGrpSpPr>
        <p:grpSpPr>
          <a:xfrm>
            <a:off x="0" y="9525"/>
            <a:ext cx="9153525" cy="408388"/>
            <a:chOff x="0" y="9525"/>
            <a:chExt cx="9153525" cy="408388"/>
          </a:xfrm>
        </p:grpSpPr>
        <p:sp>
          <p:nvSpPr>
            <p:cNvPr id="75" name="74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Index Internals  |  The Index creation process</a:t>
              </a:r>
              <a:endParaRPr lang="en-US" b="1" dirty="0">
                <a:solidFill>
                  <a:schemeClr val="bg1"/>
                </a:solidFill>
              </a:endParaRPr>
            </a:p>
          </p:txBody>
        </p:sp>
        <p:pic>
          <p:nvPicPr>
            <p:cNvPr id="76" name="75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9" name="78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995417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71 CuadroTexto"/>
          <p:cNvSpPr txBox="1"/>
          <p:nvPr/>
        </p:nvSpPr>
        <p:spPr>
          <a:xfrm>
            <a:off x="3216064" y="884085"/>
            <a:ext cx="1127336" cy="276999"/>
          </a:xfrm>
          <a:prstGeom prst="rect">
            <a:avLst/>
          </a:prstGeom>
          <a:noFill/>
        </p:spPr>
        <p:txBody>
          <a:bodyPr wrap="square" rtlCol="0">
            <a:spAutoFit/>
          </a:bodyPr>
          <a:lstStyle/>
          <a:p>
            <a:r>
              <a:rPr lang="en-US" sz="1200" dirty="0" smtClean="0">
                <a:solidFill>
                  <a:prstClr val="black"/>
                </a:solidFill>
              </a:rPr>
              <a:t>Clustering Key</a:t>
            </a:r>
            <a:endParaRPr lang="en-US" sz="1200" dirty="0">
              <a:solidFill>
                <a:prstClr val="black"/>
              </a:solidFill>
            </a:endParaRPr>
          </a:p>
        </p:txBody>
      </p:sp>
      <p:pic>
        <p:nvPicPr>
          <p:cNvPr id="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762000"/>
            <a:ext cx="2743200" cy="1157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Rectángulo"/>
          <p:cNvSpPr/>
          <p:nvPr/>
        </p:nvSpPr>
        <p:spPr>
          <a:xfrm>
            <a:off x="84746" y="954612"/>
            <a:ext cx="2726108" cy="13594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7" name="6 Conector recto de flecha"/>
          <p:cNvCxnSpPr/>
          <p:nvPr/>
        </p:nvCxnSpPr>
        <p:spPr>
          <a:xfrm flipH="1" flipV="1">
            <a:off x="2819400" y="1022584"/>
            <a:ext cx="457200" cy="1"/>
          </a:xfrm>
          <a:prstGeom prst="straightConnector1">
            <a:avLst/>
          </a:prstGeom>
          <a:ln w="25400">
            <a:solidFill>
              <a:srgbClr val="FF0000"/>
            </a:solidFill>
            <a:tailEnd type="stealth"/>
          </a:ln>
        </p:spPr>
        <p:style>
          <a:lnRef idx="1">
            <a:schemeClr val="accent1"/>
          </a:lnRef>
          <a:fillRef idx="0">
            <a:schemeClr val="accent1"/>
          </a:fillRef>
          <a:effectRef idx="0">
            <a:schemeClr val="accent1"/>
          </a:effectRef>
          <a:fontRef idx="minor">
            <a:schemeClr val="tx1"/>
          </a:fontRef>
        </p:style>
      </p:cxnSp>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7162" y="651496"/>
            <a:ext cx="3000375"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002" y="2214563"/>
            <a:ext cx="4114800"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41734" y="2214563"/>
            <a:ext cx="4333875"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746" y="3733800"/>
            <a:ext cx="3552825"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9" name="18 Grupo"/>
          <p:cNvGrpSpPr/>
          <p:nvPr/>
        </p:nvGrpSpPr>
        <p:grpSpPr>
          <a:xfrm>
            <a:off x="9525" y="6574392"/>
            <a:ext cx="9134399" cy="277000"/>
            <a:chOff x="9525" y="6574392"/>
            <a:chExt cx="9134399" cy="277000"/>
          </a:xfrm>
        </p:grpSpPr>
        <p:sp>
          <p:nvSpPr>
            <p:cNvPr id="20" name="19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1" name="20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22" name="21 Grupo"/>
          <p:cNvGrpSpPr/>
          <p:nvPr/>
        </p:nvGrpSpPr>
        <p:grpSpPr>
          <a:xfrm>
            <a:off x="0" y="9525"/>
            <a:ext cx="9153525" cy="408388"/>
            <a:chOff x="0" y="9525"/>
            <a:chExt cx="9153525" cy="408388"/>
          </a:xfrm>
        </p:grpSpPr>
        <p:sp>
          <p:nvSpPr>
            <p:cNvPr id="23" name="22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Index Internals  |  The Index creation process</a:t>
              </a:r>
              <a:endParaRPr lang="en-US" b="1" dirty="0">
                <a:solidFill>
                  <a:schemeClr val="bg1"/>
                </a:solidFill>
              </a:endParaRPr>
            </a:p>
          </p:txBody>
        </p:sp>
        <p:pic>
          <p:nvPicPr>
            <p:cNvPr id="24" name="23 Imagen"/>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5" name="24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3527118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103027"/>
            <a:ext cx="4271962" cy="3087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7 Rectángulo"/>
          <p:cNvSpPr/>
          <p:nvPr/>
        </p:nvSpPr>
        <p:spPr>
          <a:xfrm>
            <a:off x="4495800" y="1026827"/>
            <a:ext cx="4424362" cy="1904286"/>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8" name="67 Rectángulo"/>
          <p:cNvSpPr/>
          <p:nvPr/>
        </p:nvSpPr>
        <p:spPr>
          <a:xfrm>
            <a:off x="4495800" y="3083513"/>
            <a:ext cx="4424362" cy="1107487"/>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8 Flecha izquierda"/>
          <p:cNvSpPr/>
          <p:nvPr/>
        </p:nvSpPr>
        <p:spPr>
          <a:xfrm>
            <a:off x="3505200" y="1712627"/>
            <a:ext cx="990600" cy="304800"/>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0" name="69 Flecha izquierda"/>
          <p:cNvSpPr/>
          <p:nvPr/>
        </p:nvSpPr>
        <p:spPr>
          <a:xfrm>
            <a:off x="3487752" y="3484856"/>
            <a:ext cx="990600" cy="304800"/>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9 CuadroTexto"/>
          <p:cNvSpPr txBox="1"/>
          <p:nvPr/>
        </p:nvSpPr>
        <p:spPr>
          <a:xfrm>
            <a:off x="-2136" y="1675594"/>
            <a:ext cx="3354936" cy="307777"/>
          </a:xfrm>
          <a:prstGeom prst="rect">
            <a:avLst/>
          </a:prstGeom>
          <a:noFill/>
        </p:spPr>
        <p:txBody>
          <a:bodyPr wrap="square" rtlCol="0">
            <a:spAutoFit/>
          </a:bodyPr>
          <a:lstStyle/>
          <a:p>
            <a:pPr algn="r"/>
            <a:r>
              <a:rPr lang="en-US" sz="1400" dirty="0" smtClean="0">
                <a:solidFill>
                  <a:prstClr val="black"/>
                </a:solidFill>
              </a:rPr>
              <a:t>Usually available in </a:t>
            </a:r>
            <a:r>
              <a:rPr lang="en-US" sz="1400" b="1" dirty="0" smtClean="0">
                <a:solidFill>
                  <a:prstClr val="black"/>
                </a:solidFill>
              </a:rPr>
              <a:t>memory</a:t>
            </a:r>
            <a:endParaRPr lang="en-US" sz="1400" b="1" dirty="0">
              <a:solidFill>
                <a:prstClr val="black"/>
              </a:solidFill>
            </a:endParaRPr>
          </a:p>
        </p:txBody>
      </p:sp>
      <p:sp>
        <p:nvSpPr>
          <p:cNvPr id="73" name="72 CuadroTexto"/>
          <p:cNvSpPr txBox="1"/>
          <p:nvPr/>
        </p:nvSpPr>
        <p:spPr>
          <a:xfrm>
            <a:off x="76200" y="3312827"/>
            <a:ext cx="3276600" cy="738664"/>
          </a:xfrm>
          <a:prstGeom prst="rect">
            <a:avLst/>
          </a:prstGeom>
          <a:noFill/>
        </p:spPr>
        <p:txBody>
          <a:bodyPr wrap="square" rtlCol="0">
            <a:spAutoFit/>
          </a:bodyPr>
          <a:lstStyle/>
          <a:p>
            <a:pPr algn="r"/>
            <a:r>
              <a:rPr lang="en-US" sz="1400" dirty="0" smtClean="0">
                <a:solidFill>
                  <a:prstClr val="black"/>
                </a:solidFill>
              </a:rPr>
              <a:t>Usually available on </a:t>
            </a:r>
            <a:r>
              <a:rPr lang="en-US" sz="1400" b="1" dirty="0" smtClean="0">
                <a:solidFill>
                  <a:prstClr val="black"/>
                </a:solidFill>
              </a:rPr>
              <a:t>disk </a:t>
            </a:r>
          </a:p>
          <a:p>
            <a:pPr algn="r"/>
            <a:r>
              <a:rPr lang="en-US" sz="1400" dirty="0" smtClean="0">
                <a:solidFill>
                  <a:prstClr val="black"/>
                </a:solidFill>
              </a:rPr>
              <a:t>(we </a:t>
            </a:r>
            <a:r>
              <a:rPr lang="en-US" sz="1400" b="1" u="sng" dirty="0" smtClean="0">
                <a:solidFill>
                  <a:prstClr val="black"/>
                </a:solidFill>
              </a:rPr>
              <a:t>might</a:t>
            </a:r>
            <a:r>
              <a:rPr lang="en-US" sz="1400" dirty="0" smtClean="0">
                <a:solidFill>
                  <a:prstClr val="black"/>
                </a:solidFill>
              </a:rPr>
              <a:t> have it in memory, </a:t>
            </a:r>
          </a:p>
          <a:p>
            <a:pPr algn="r"/>
            <a:r>
              <a:rPr lang="en-US" sz="1400" dirty="0" smtClean="0">
                <a:solidFill>
                  <a:prstClr val="black"/>
                </a:solidFill>
              </a:rPr>
              <a:t>if the engine decides so)</a:t>
            </a:r>
            <a:endParaRPr lang="en-US" sz="1400" dirty="0">
              <a:solidFill>
                <a:prstClr val="black"/>
              </a:solidFill>
            </a:endParaRPr>
          </a:p>
        </p:txBody>
      </p:sp>
      <p:sp>
        <p:nvSpPr>
          <p:cNvPr id="74" name="73 CuadroTexto"/>
          <p:cNvSpPr txBox="1"/>
          <p:nvPr/>
        </p:nvSpPr>
        <p:spPr>
          <a:xfrm>
            <a:off x="3539384" y="1478358"/>
            <a:ext cx="1065732" cy="246221"/>
          </a:xfrm>
          <a:prstGeom prst="rect">
            <a:avLst/>
          </a:prstGeom>
          <a:noFill/>
        </p:spPr>
        <p:txBody>
          <a:bodyPr wrap="square" rtlCol="0">
            <a:spAutoFit/>
          </a:bodyPr>
          <a:lstStyle/>
          <a:p>
            <a:r>
              <a:rPr lang="en-US" sz="1000" dirty="0" smtClean="0">
                <a:solidFill>
                  <a:prstClr val="black"/>
                </a:solidFill>
              </a:rPr>
              <a:t>Non-Leaf nodes</a:t>
            </a:r>
            <a:endParaRPr lang="en-US" sz="1000" b="1" dirty="0">
              <a:solidFill>
                <a:prstClr val="black"/>
              </a:solidFill>
            </a:endParaRPr>
          </a:p>
        </p:txBody>
      </p:sp>
      <p:sp>
        <p:nvSpPr>
          <p:cNvPr id="75" name="74 CuadroTexto"/>
          <p:cNvSpPr txBox="1"/>
          <p:nvPr/>
        </p:nvSpPr>
        <p:spPr>
          <a:xfrm>
            <a:off x="3669358" y="3334998"/>
            <a:ext cx="753098" cy="246221"/>
          </a:xfrm>
          <a:prstGeom prst="rect">
            <a:avLst/>
          </a:prstGeom>
          <a:noFill/>
        </p:spPr>
        <p:txBody>
          <a:bodyPr wrap="square" rtlCol="0">
            <a:spAutoFit/>
          </a:bodyPr>
          <a:lstStyle/>
          <a:p>
            <a:r>
              <a:rPr lang="en-US" sz="1000" dirty="0" smtClean="0">
                <a:solidFill>
                  <a:prstClr val="black"/>
                </a:solidFill>
              </a:rPr>
              <a:t>Leaf nodes</a:t>
            </a:r>
            <a:endParaRPr lang="en-US" sz="1000" b="1" dirty="0">
              <a:solidFill>
                <a:prstClr val="black"/>
              </a:solidFill>
            </a:endParaRPr>
          </a:p>
        </p:txBody>
      </p:sp>
      <p:grpSp>
        <p:nvGrpSpPr>
          <p:cNvPr id="20" name="19 Grupo"/>
          <p:cNvGrpSpPr/>
          <p:nvPr/>
        </p:nvGrpSpPr>
        <p:grpSpPr>
          <a:xfrm>
            <a:off x="9525" y="6574392"/>
            <a:ext cx="9134399" cy="277000"/>
            <a:chOff x="9525" y="6574392"/>
            <a:chExt cx="9134399" cy="277000"/>
          </a:xfrm>
        </p:grpSpPr>
        <p:sp>
          <p:nvSpPr>
            <p:cNvPr id="21" name="20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2" name="21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23" name="22 Grupo"/>
          <p:cNvGrpSpPr/>
          <p:nvPr/>
        </p:nvGrpSpPr>
        <p:grpSpPr>
          <a:xfrm>
            <a:off x="0" y="9525"/>
            <a:ext cx="9153525" cy="408388"/>
            <a:chOff x="0" y="9525"/>
            <a:chExt cx="9153525" cy="408388"/>
          </a:xfrm>
        </p:grpSpPr>
        <p:sp>
          <p:nvSpPr>
            <p:cNvPr id="24" name="23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Index Internals  |  The Index creation process</a:t>
              </a:r>
              <a:endParaRPr lang="en-US" b="1" dirty="0">
                <a:solidFill>
                  <a:schemeClr val="bg1"/>
                </a:solidFill>
              </a:endParaRPr>
            </a:p>
          </p:txBody>
        </p:sp>
        <p:pic>
          <p:nvPicPr>
            <p:cNvPr id="25" name="24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6" name="25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955075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CuadroTexto"/>
          <p:cNvSpPr txBox="1"/>
          <p:nvPr/>
        </p:nvSpPr>
        <p:spPr>
          <a:xfrm>
            <a:off x="-2136" y="467380"/>
            <a:ext cx="9146136" cy="369332"/>
          </a:xfrm>
          <a:prstGeom prst="rect">
            <a:avLst/>
          </a:prstGeom>
          <a:noFill/>
        </p:spPr>
        <p:txBody>
          <a:bodyPr wrap="square" rtlCol="0">
            <a:spAutoFit/>
          </a:bodyPr>
          <a:lstStyle/>
          <a:p>
            <a:r>
              <a:rPr lang="en-US" b="1" dirty="0" smtClean="0">
                <a:solidFill>
                  <a:prstClr val="black"/>
                </a:solidFill>
              </a:rPr>
              <a:t>Just to recap…</a:t>
            </a:r>
            <a:endParaRPr lang="en-US" b="1" dirty="0">
              <a:solidFill>
                <a:prstClr val="black"/>
              </a:solidFill>
            </a:endParaRPr>
          </a:p>
        </p:txBody>
      </p:sp>
      <p:sp>
        <p:nvSpPr>
          <p:cNvPr id="13" name="12 CuadroTexto"/>
          <p:cNvSpPr txBox="1"/>
          <p:nvPr/>
        </p:nvSpPr>
        <p:spPr>
          <a:xfrm>
            <a:off x="-8546" y="1184012"/>
            <a:ext cx="9146136" cy="307777"/>
          </a:xfrm>
          <a:prstGeom prst="rect">
            <a:avLst/>
          </a:prstGeom>
          <a:noFill/>
        </p:spPr>
        <p:txBody>
          <a:bodyPr wrap="square" rtlCol="0">
            <a:spAutoFit/>
          </a:bodyPr>
          <a:lstStyle/>
          <a:p>
            <a:r>
              <a:rPr lang="en-US" sz="1400" b="1" dirty="0" smtClean="0">
                <a:solidFill>
                  <a:prstClr val="black"/>
                </a:solidFill>
              </a:rPr>
              <a:t>Composition</a:t>
            </a:r>
          </a:p>
        </p:txBody>
      </p:sp>
      <p:pic>
        <p:nvPicPr>
          <p:cNvPr id="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86090" y="626067"/>
            <a:ext cx="2448272" cy="176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11 CuadroTexto"/>
          <p:cNvSpPr txBox="1"/>
          <p:nvPr/>
        </p:nvSpPr>
        <p:spPr>
          <a:xfrm>
            <a:off x="-26350" y="1522282"/>
            <a:ext cx="9146136" cy="2031325"/>
          </a:xfrm>
          <a:prstGeom prst="rect">
            <a:avLst/>
          </a:prstGeom>
          <a:noFill/>
        </p:spPr>
        <p:txBody>
          <a:bodyPr wrap="square" rtlCol="0">
            <a:spAutoFit/>
          </a:bodyPr>
          <a:lstStyle/>
          <a:p>
            <a:r>
              <a:rPr lang="en-US" sz="1400" dirty="0" smtClean="0">
                <a:solidFill>
                  <a:prstClr val="black"/>
                </a:solidFill>
              </a:rPr>
              <a:t>Every index has </a:t>
            </a:r>
            <a:r>
              <a:rPr lang="en-US" sz="1400" u="sng" dirty="0" smtClean="0">
                <a:solidFill>
                  <a:prstClr val="black"/>
                </a:solidFill>
              </a:rPr>
              <a:t>2 levels</a:t>
            </a:r>
            <a:r>
              <a:rPr lang="en-US" sz="1400" dirty="0" smtClean="0">
                <a:solidFill>
                  <a:prstClr val="black"/>
                </a:solidFill>
              </a:rPr>
              <a:t> (minimum):  </a:t>
            </a:r>
          </a:p>
          <a:p>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1) One </a:t>
            </a:r>
            <a:r>
              <a:rPr lang="en-US" sz="1400" b="1" dirty="0" smtClean="0">
                <a:solidFill>
                  <a:prstClr val="black"/>
                </a:solidFill>
              </a:rPr>
              <a:t>leaf-level</a:t>
            </a:r>
            <a:r>
              <a:rPr lang="en-US" sz="1400" dirty="0" smtClean="0">
                <a:solidFill>
                  <a:prstClr val="black"/>
                </a:solidFill>
              </a:rPr>
              <a:t>, which contains the real data values.</a:t>
            </a:r>
          </a:p>
          <a:p>
            <a:pPr marL="742950" lvl="1" indent="-285750">
              <a:buFont typeface="Wingdings" pitchFamily="2" charset="2"/>
              <a:buChar char="Ø"/>
            </a:pPr>
            <a:r>
              <a:rPr lang="en-US" sz="1400" dirty="0">
                <a:solidFill>
                  <a:prstClr val="black"/>
                </a:solidFill>
              </a:rPr>
              <a:t>They contain the actual data </a:t>
            </a:r>
            <a:r>
              <a:rPr lang="en-US" sz="1400" dirty="0" smtClean="0">
                <a:solidFill>
                  <a:prstClr val="black"/>
                </a:solidFill>
              </a:rPr>
              <a:t>values.</a:t>
            </a:r>
            <a:endParaRPr lang="en-US" sz="1400" dirty="0">
              <a:solidFill>
                <a:prstClr val="black"/>
              </a:solidFill>
            </a:endParaRPr>
          </a:p>
          <a:p>
            <a:pPr marL="742950" lvl="1" indent="-285750">
              <a:buFont typeface="Wingdings" pitchFamily="2" charset="2"/>
              <a:buChar char="Ø"/>
            </a:pPr>
            <a:r>
              <a:rPr lang="en-US" sz="1400" dirty="0" smtClean="0">
                <a:solidFill>
                  <a:prstClr val="black"/>
                </a:solidFill>
              </a:rPr>
              <a:t>The </a:t>
            </a:r>
            <a:r>
              <a:rPr lang="en-US" sz="1400" dirty="0">
                <a:solidFill>
                  <a:prstClr val="black"/>
                </a:solidFill>
              </a:rPr>
              <a:t>leaf level nodes are doubly linked with each </a:t>
            </a:r>
            <a:r>
              <a:rPr lang="en-US" sz="1400" dirty="0" smtClean="0">
                <a:solidFill>
                  <a:prstClr val="black"/>
                </a:solidFill>
              </a:rPr>
              <a:t>other, in order to optimize </a:t>
            </a:r>
            <a:r>
              <a:rPr lang="en-US" sz="1400" b="1" dirty="0" smtClean="0">
                <a:solidFill>
                  <a:prstClr val="black"/>
                </a:solidFill>
              </a:rPr>
              <a:t>Table Scans</a:t>
            </a:r>
            <a:r>
              <a:rPr lang="en-US" sz="1400" dirty="0" smtClean="0">
                <a:solidFill>
                  <a:prstClr val="black"/>
                </a:solidFill>
              </a:rPr>
              <a:t>.</a:t>
            </a:r>
          </a:p>
          <a:p>
            <a:pPr marL="742950" lvl="1" indent="-285750">
              <a:buFont typeface="Wingdings" pitchFamily="2" charset="2"/>
              <a:buChar char="Ø"/>
            </a:pP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2) One or more </a:t>
            </a:r>
            <a:r>
              <a:rPr lang="en-US" sz="1400" b="1" dirty="0" smtClean="0">
                <a:solidFill>
                  <a:prstClr val="black"/>
                </a:solidFill>
              </a:rPr>
              <a:t>Non-Leaf levels</a:t>
            </a:r>
            <a:r>
              <a:rPr lang="en-US" sz="1400" dirty="0" smtClean="0">
                <a:solidFill>
                  <a:prstClr val="black"/>
                </a:solidFill>
              </a:rPr>
              <a:t> (which are used by the engine only) for transversal of the index structure.</a:t>
            </a:r>
          </a:p>
          <a:p>
            <a:pPr marL="742950" lvl="1" indent="-285750">
              <a:buFont typeface="Wingdings" pitchFamily="2" charset="2"/>
              <a:buChar char="Ø"/>
            </a:pPr>
            <a:r>
              <a:rPr lang="en-US" sz="1400" dirty="0" smtClean="0">
                <a:solidFill>
                  <a:prstClr val="black"/>
                </a:solidFill>
              </a:rPr>
              <a:t>Each index row contain a B-Tree entry that points to the </a:t>
            </a:r>
            <a:r>
              <a:rPr lang="en-US" sz="1400" b="1" dirty="0" smtClean="0">
                <a:solidFill>
                  <a:prstClr val="black"/>
                </a:solidFill>
              </a:rPr>
              <a:t>LOW</a:t>
            </a:r>
            <a:r>
              <a:rPr lang="en-US" sz="1400" dirty="0" smtClean="0">
                <a:solidFill>
                  <a:prstClr val="black"/>
                </a:solidFill>
              </a:rPr>
              <a:t> value of the </a:t>
            </a:r>
            <a:r>
              <a:rPr lang="en-US" sz="1400" b="1" dirty="0" smtClean="0">
                <a:solidFill>
                  <a:prstClr val="black"/>
                </a:solidFill>
              </a:rPr>
              <a:t>PAGE</a:t>
            </a:r>
            <a:r>
              <a:rPr lang="en-US" sz="1400" dirty="0" smtClean="0">
                <a:solidFill>
                  <a:prstClr val="black"/>
                </a:solidFill>
              </a:rPr>
              <a:t> below </a:t>
            </a:r>
          </a:p>
          <a:p>
            <a:pPr marL="742950" lvl="1" indent="-285750">
              <a:buFont typeface="Wingdings" pitchFamily="2" charset="2"/>
              <a:buChar char="Ø"/>
            </a:pPr>
            <a:r>
              <a:rPr lang="en-US" sz="1400" dirty="0" smtClean="0">
                <a:solidFill>
                  <a:prstClr val="black"/>
                </a:solidFill>
              </a:rPr>
              <a:t>Lookup speed and other benefits aside, this strategy is the very </a:t>
            </a:r>
            <a:r>
              <a:rPr lang="en-US" sz="1400" b="1" u="sng" dirty="0" smtClean="0">
                <a:solidFill>
                  <a:srgbClr val="0000FF"/>
                </a:solidFill>
                <a:effectLst>
                  <a:outerShdw blurRad="38100" dist="38100" dir="2700000" algn="tl">
                    <a:srgbClr val="000000">
                      <a:alpha val="43137"/>
                    </a:srgbClr>
                  </a:outerShdw>
                </a:effectLst>
              </a:rPr>
              <a:t>heart</a:t>
            </a:r>
            <a:r>
              <a:rPr lang="en-US" sz="1400" dirty="0" smtClean="0">
                <a:solidFill>
                  <a:srgbClr val="0000FF"/>
                </a:solidFill>
              </a:rPr>
              <a:t> </a:t>
            </a:r>
            <a:r>
              <a:rPr lang="en-US" sz="1400" dirty="0" smtClean="0">
                <a:solidFill>
                  <a:prstClr val="black"/>
                </a:solidFill>
              </a:rPr>
              <a:t>of SQL Server’s </a:t>
            </a:r>
            <a:r>
              <a:rPr lang="en-US" sz="1400" b="1" dirty="0" smtClean="0">
                <a:solidFill>
                  <a:prstClr val="black"/>
                </a:solidFill>
              </a:rPr>
              <a:t>scalability</a:t>
            </a:r>
            <a:r>
              <a:rPr lang="en-US" sz="1400" dirty="0" smtClean="0">
                <a:solidFill>
                  <a:prstClr val="black"/>
                </a:solidFill>
              </a:rPr>
              <a:t>.</a:t>
            </a:r>
          </a:p>
        </p:txBody>
      </p:sp>
      <p:pic>
        <p:nvPicPr>
          <p:cNvPr id="15"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16990" y="3717032"/>
            <a:ext cx="2217372" cy="156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15 CuadroTexto"/>
          <p:cNvSpPr txBox="1"/>
          <p:nvPr/>
        </p:nvSpPr>
        <p:spPr>
          <a:xfrm>
            <a:off x="-26350" y="5354052"/>
            <a:ext cx="9146136" cy="523220"/>
          </a:xfrm>
          <a:prstGeom prst="rect">
            <a:avLst/>
          </a:prstGeom>
          <a:noFill/>
        </p:spPr>
        <p:txBody>
          <a:bodyPr wrap="square" rtlCol="0">
            <a:spAutoFit/>
          </a:bodyPr>
          <a:lstStyle/>
          <a:p>
            <a:pPr marL="285750" indent="-285750">
              <a:buFont typeface="Wingdings" pitchFamily="2" charset="2"/>
              <a:buChar char="Ø"/>
            </a:pPr>
            <a:r>
              <a:rPr lang="en-US" sz="1400" dirty="0" smtClean="0">
                <a:solidFill>
                  <a:prstClr val="black"/>
                </a:solidFill>
              </a:rPr>
              <a:t>Non-Leaf nodes are usually available in memory, since they indicate “how to find” a specific record within a VLDB</a:t>
            </a:r>
          </a:p>
          <a:p>
            <a:pPr marL="285750" indent="-285750">
              <a:buFont typeface="Wingdings" pitchFamily="2" charset="2"/>
              <a:buChar char="Ø"/>
            </a:pPr>
            <a:r>
              <a:rPr lang="en-US" sz="1400" dirty="0" smtClean="0">
                <a:solidFill>
                  <a:prstClr val="black"/>
                </a:solidFill>
              </a:rPr>
              <a:t>Leaf Nodes are usually on disk, even though the engine might put them in memory, at his own convenience.</a:t>
            </a:r>
          </a:p>
        </p:txBody>
      </p:sp>
      <p:sp>
        <p:nvSpPr>
          <p:cNvPr id="17" name="16 CuadroTexto"/>
          <p:cNvSpPr txBox="1"/>
          <p:nvPr/>
        </p:nvSpPr>
        <p:spPr>
          <a:xfrm>
            <a:off x="0" y="5029959"/>
            <a:ext cx="9146136" cy="307777"/>
          </a:xfrm>
          <a:prstGeom prst="rect">
            <a:avLst/>
          </a:prstGeom>
          <a:noFill/>
        </p:spPr>
        <p:txBody>
          <a:bodyPr wrap="square" rtlCol="0">
            <a:spAutoFit/>
          </a:bodyPr>
          <a:lstStyle/>
          <a:p>
            <a:r>
              <a:rPr lang="en-US" sz="1400" b="1" dirty="0" smtClean="0">
                <a:solidFill>
                  <a:prstClr val="black"/>
                </a:solidFill>
              </a:rPr>
              <a:t>Transversal and Retrieval</a:t>
            </a:r>
          </a:p>
        </p:txBody>
      </p:sp>
      <p:grpSp>
        <p:nvGrpSpPr>
          <p:cNvPr id="9" name="8 Grupo"/>
          <p:cNvGrpSpPr/>
          <p:nvPr/>
        </p:nvGrpSpPr>
        <p:grpSpPr>
          <a:xfrm>
            <a:off x="0" y="9525"/>
            <a:ext cx="9153525" cy="408388"/>
            <a:chOff x="0" y="9525"/>
            <a:chExt cx="9153525" cy="408388"/>
          </a:xfrm>
        </p:grpSpPr>
        <p:sp>
          <p:nvSpPr>
            <p:cNvPr id="10" name="9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Index Internals</a:t>
              </a:r>
              <a:endParaRPr lang="en-US" b="1" dirty="0">
                <a:solidFill>
                  <a:schemeClr val="bg1"/>
                </a:solidFill>
              </a:endParaRPr>
            </a:p>
          </p:txBody>
        </p:sp>
        <p:pic>
          <p:nvPicPr>
            <p:cNvPr id="11" name="10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1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18 Grupo"/>
          <p:cNvGrpSpPr/>
          <p:nvPr/>
        </p:nvGrpSpPr>
        <p:grpSpPr>
          <a:xfrm>
            <a:off x="9525" y="6574392"/>
            <a:ext cx="9134399" cy="277000"/>
            <a:chOff x="9525" y="6574392"/>
            <a:chExt cx="9134399" cy="277000"/>
          </a:xfrm>
        </p:grpSpPr>
        <p:sp>
          <p:nvSpPr>
            <p:cNvPr id="20" name="19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1" name="20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81070839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0" y="539388"/>
            <a:ext cx="9144000" cy="369332"/>
          </a:xfrm>
          <a:prstGeom prst="rect">
            <a:avLst/>
          </a:prstGeom>
          <a:noFill/>
        </p:spPr>
        <p:txBody>
          <a:bodyPr wrap="square" rtlCol="0">
            <a:spAutoFit/>
          </a:bodyPr>
          <a:lstStyle/>
          <a:p>
            <a:r>
              <a:rPr lang="en-US" b="1" dirty="0" smtClean="0">
                <a:solidFill>
                  <a:prstClr val="black"/>
                </a:solidFill>
              </a:rPr>
              <a:t>What is a Heap?</a:t>
            </a:r>
            <a:endParaRPr lang="en-US" b="1" dirty="0">
              <a:solidFill>
                <a:prstClr val="black"/>
              </a:solidFill>
            </a:endParaRPr>
          </a:p>
        </p:txBody>
      </p:sp>
      <p:sp>
        <p:nvSpPr>
          <p:cNvPr id="7" name="6 CuadroTexto"/>
          <p:cNvSpPr txBox="1"/>
          <p:nvPr/>
        </p:nvSpPr>
        <p:spPr>
          <a:xfrm>
            <a:off x="89731" y="2459940"/>
            <a:ext cx="9144000" cy="2031325"/>
          </a:xfrm>
          <a:prstGeom prst="rect">
            <a:avLst/>
          </a:prstGeom>
          <a:noFill/>
        </p:spPr>
        <p:txBody>
          <a:bodyPr wrap="square" rtlCol="0">
            <a:spAutoFit/>
          </a:bodyPr>
          <a:lstStyle/>
          <a:p>
            <a:r>
              <a:rPr lang="en-US" sz="1400" b="1" dirty="0" smtClean="0">
                <a:solidFill>
                  <a:prstClr val="black"/>
                </a:solidFill>
              </a:rPr>
              <a:t>Heaps</a:t>
            </a:r>
            <a:endParaRPr lang="en-US" sz="1400" b="1" dirty="0">
              <a:solidFill>
                <a:prstClr val="black"/>
              </a:solidFill>
            </a:endParaRPr>
          </a:p>
          <a:p>
            <a:pPr marL="285750" indent="-285750">
              <a:buFont typeface="Wingdings" pitchFamily="2" charset="2"/>
              <a:buChar char="Ø"/>
            </a:pPr>
            <a:r>
              <a:rPr lang="en-US" sz="1400" dirty="0" smtClean="0">
                <a:solidFill>
                  <a:prstClr val="black"/>
                </a:solidFill>
              </a:rPr>
              <a:t>A Heap is an unstructured collection of Data Pages. Data </a:t>
            </a:r>
            <a:r>
              <a:rPr lang="en-US" sz="1400" dirty="0">
                <a:solidFill>
                  <a:prstClr val="black"/>
                </a:solidFill>
              </a:rPr>
              <a:t>is </a:t>
            </a:r>
            <a:r>
              <a:rPr lang="en-US" sz="1400" dirty="0" smtClean="0">
                <a:solidFill>
                  <a:prstClr val="black"/>
                </a:solidFill>
              </a:rPr>
              <a:t>not stored </a:t>
            </a:r>
            <a:r>
              <a:rPr lang="en-US" sz="1400" dirty="0">
                <a:solidFill>
                  <a:prstClr val="black"/>
                </a:solidFill>
              </a:rPr>
              <a:t>in any particular </a:t>
            </a:r>
            <a:r>
              <a:rPr lang="en-US" sz="1400" dirty="0" smtClean="0">
                <a:solidFill>
                  <a:prstClr val="black"/>
                </a:solidFill>
              </a:rPr>
              <a:t>order.</a:t>
            </a:r>
          </a:p>
          <a:p>
            <a:pPr marL="285750" indent="-285750">
              <a:buFont typeface="Wingdings" pitchFamily="2" charset="2"/>
              <a:buChar char="Ø"/>
            </a:pP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Any </a:t>
            </a:r>
            <a:r>
              <a:rPr lang="en-US" sz="1400" dirty="0">
                <a:solidFill>
                  <a:prstClr val="black"/>
                </a:solidFill>
              </a:rPr>
              <a:t>time you create a table with no Clustered Index you are creating a heap</a:t>
            </a:r>
            <a:r>
              <a:rPr lang="en-US" sz="1400" dirty="0" smtClean="0">
                <a:solidFill>
                  <a:prstClr val="black"/>
                </a:solidFill>
              </a:rPr>
              <a:t>.</a:t>
            </a:r>
          </a:p>
          <a:p>
            <a:pPr marL="285750" indent="-285750">
              <a:buFont typeface="Wingdings" pitchFamily="2" charset="2"/>
              <a:buChar char="Ø"/>
            </a:pPr>
            <a:endParaRPr lang="en-US" sz="1400" dirty="0">
              <a:solidFill>
                <a:prstClr val="black"/>
              </a:solidFill>
            </a:endParaRPr>
          </a:p>
          <a:p>
            <a:pPr marL="285750" indent="-285750">
              <a:buFont typeface="Wingdings" pitchFamily="2" charset="2"/>
              <a:buChar char="Ø"/>
            </a:pPr>
            <a:r>
              <a:rPr lang="en-US" sz="1400" dirty="0">
                <a:solidFill>
                  <a:prstClr val="black"/>
                </a:solidFill>
              </a:rPr>
              <a:t>These tables have a </a:t>
            </a:r>
            <a:r>
              <a:rPr lang="en-US" sz="1400" dirty="0" err="1">
                <a:solidFill>
                  <a:prstClr val="black"/>
                </a:solidFill>
              </a:rPr>
              <a:t>index_id</a:t>
            </a:r>
            <a:r>
              <a:rPr lang="en-US" sz="1400" dirty="0">
                <a:solidFill>
                  <a:prstClr val="black"/>
                </a:solidFill>
              </a:rPr>
              <a:t> value of 0 in the </a:t>
            </a:r>
            <a:r>
              <a:rPr lang="en-US" sz="1400" dirty="0" err="1">
                <a:solidFill>
                  <a:prstClr val="black"/>
                </a:solidFill>
              </a:rPr>
              <a:t>sys.indexes</a:t>
            </a:r>
            <a:r>
              <a:rPr lang="en-US" sz="1400" dirty="0">
                <a:solidFill>
                  <a:prstClr val="black"/>
                </a:solidFill>
              </a:rPr>
              <a:t> catalog view</a:t>
            </a:r>
          </a:p>
          <a:p>
            <a:pPr marL="285750" indent="-285750">
              <a:buFont typeface="Wingdings" pitchFamily="2" charset="2"/>
              <a:buChar char="Ø"/>
            </a:pPr>
            <a:endParaRPr lang="en-US" sz="1400" dirty="0">
              <a:solidFill>
                <a:prstClr val="black"/>
              </a:solidFill>
            </a:endParaRPr>
          </a:p>
          <a:p>
            <a:pPr marL="285750" indent="-285750">
              <a:buFont typeface="Wingdings" pitchFamily="2" charset="2"/>
              <a:buChar char="Ø"/>
            </a:pPr>
            <a:r>
              <a:rPr lang="en-US" sz="1400" dirty="0" smtClean="0">
                <a:solidFill>
                  <a:prstClr val="black"/>
                </a:solidFill>
              </a:rPr>
              <a:t>As soon as you define a Clustered Indexed on that table, you no longer have a heap. </a:t>
            </a:r>
          </a:p>
          <a:p>
            <a:r>
              <a:rPr lang="en-US" sz="1400" dirty="0">
                <a:solidFill>
                  <a:prstClr val="black"/>
                </a:solidFill>
              </a:rPr>
              <a:t> </a:t>
            </a:r>
            <a:r>
              <a:rPr lang="en-US" sz="1400" dirty="0" smtClean="0">
                <a:solidFill>
                  <a:prstClr val="black"/>
                </a:solidFill>
              </a:rPr>
              <a:t>    You have a Data Record stored in the Leaf Level of the Clustered Index instead.</a:t>
            </a:r>
          </a:p>
        </p:txBody>
      </p:sp>
      <p:sp>
        <p:nvSpPr>
          <p:cNvPr id="8" name="7 CuadroTexto"/>
          <p:cNvSpPr txBox="1"/>
          <p:nvPr/>
        </p:nvSpPr>
        <p:spPr>
          <a:xfrm>
            <a:off x="0" y="1164540"/>
            <a:ext cx="9144000" cy="738664"/>
          </a:xfrm>
          <a:prstGeom prst="rect">
            <a:avLst/>
          </a:prstGeom>
          <a:noFill/>
        </p:spPr>
        <p:txBody>
          <a:bodyPr wrap="square" rtlCol="0">
            <a:spAutoFit/>
          </a:bodyPr>
          <a:lstStyle/>
          <a:p>
            <a:r>
              <a:rPr lang="en-US" sz="1400" b="1" dirty="0">
                <a:solidFill>
                  <a:prstClr val="black"/>
                </a:solidFill>
              </a:rPr>
              <a:t>A heap is a table with no </a:t>
            </a:r>
            <a:r>
              <a:rPr lang="en-US" sz="1400" b="1" dirty="0" smtClean="0">
                <a:solidFill>
                  <a:prstClr val="black"/>
                </a:solidFill>
              </a:rPr>
              <a:t>Clustered Index </a:t>
            </a:r>
            <a:r>
              <a:rPr lang="en-US" sz="1400" b="1" dirty="0">
                <a:solidFill>
                  <a:prstClr val="black"/>
                </a:solidFill>
              </a:rPr>
              <a:t>defined on it</a:t>
            </a:r>
            <a:r>
              <a:rPr lang="en-US" sz="1400" b="1" dirty="0" smtClean="0">
                <a:solidFill>
                  <a:prstClr val="black"/>
                </a:solidFill>
              </a:rPr>
              <a:t>.</a:t>
            </a:r>
          </a:p>
          <a:p>
            <a:pPr marL="742950" lvl="1" indent="-285750">
              <a:buFont typeface="Wingdings" pitchFamily="2" charset="2"/>
              <a:buChar char="Ø"/>
            </a:pPr>
            <a:r>
              <a:rPr lang="en-US" sz="1400" dirty="0">
                <a:solidFill>
                  <a:prstClr val="black"/>
                </a:solidFill>
              </a:rPr>
              <a:t>A table that does not have a clustered index is referred to as a </a:t>
            </a:r>
            <a:r>
              <a:rPr lang="en-US" sz="1400" b="1" dirty="0">
                <a:solidFill>
                  <a:srgbClr val="FF0000"/>
                </a:solidFill>
              </a:rPr>
              <a:t>HEAP</a:t>
            </a:r>
            <a:r>
              <a:rPr lang="en-US" sz="1400" dirty="0">
                <a:solidFill>
                  <a:prstClr val="black"/>
                </a:solidFill>
              </a:rPr>
              <a:t> table. </a:t>
            </a:r>
          </a:p>
          <a:p>
            <a:pPr marL="742950" lvl="1" indent="-285750">
              <a:buFont typeface="Wingdings" pitchFamily="2" charset="2"/>
              <a:buChar char="Ø"/>
            </a:pPr>
            <a:r>
              <a:rPr lang="en-US" sz="1400" dirty="0">
                <a:solidFill>
                  <a:prstClr val="black"/>
                </a:solidFill>
              </a:rPr>
              <a:t>A table that has a clustered index is referred to as a </a:t>
            </a:r>
            <a:r>
              <a:rPr lang="en-US" sz="1400" b="1" dirty="0">
                <a:solidFill>
                  <a:srgbClr val="FF0000"/>
                </a:solidFill>
              </a:rPr>
              <a:t>CLUSTERED</a:t>
            </a:r>
            <a:r>
              <a:rPr lang="en-US" sz="1400" dirty="0">
                <a:solidFill>
                  <a:prstClr val="black"/>
                </a:solidFill>
              </a:rPr>
              <a:t> </a:t>
            </a:r>
            <a:r>
              <a:rPr lang="en-US" sz="1400" dirty="0" smtClean="0">
                <a:solidFill>
                  <a:prstClr val="black"/>
                </a:solidFill>
              </a:rPr>
              <a:t>table</a:t>
            </a:r>
            <a:endParaRPr lang="en-US" sz="1400" dirty="0">
              <a:solidFill>
                <a:prstClr val="black"/>
              </a:solidFill>
            </a:endParaRPr>
          </a:p>
        </p:txBody>
      </p:sp>
      <p:grpSp>
        <p:nvGrpSpPr>
          <p:cNvPr id="6" name="5 Grupo"/>
          <p:cNvGrpSpPr/>
          <p:nvPr/>
        </p:nvGrpSpPr>
        <p:grpSpPr>
          <a:xfrm>
            <a:off x="0" y="9525"/>
            <a:ext cx="9153525" cy="408388"/>
            <a:chOff x="0" y="9525"/>
            <a:chExt cx="9153525" cy="408388"/>
          </a:xfrm>
        </p:grpSpPr>
        <p:sp>
          <p:nvSpPr>
            <p:cNvPr id="10" name="9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Storage Internals</a:t>
              </a:r>
              <a:endParaRPr lang="en-US" b="1" dirty="0">
                <a:solidFill>
                  <a:schemeClr val="bg1"/>
                </a:solidFill>
              </a:endParaRPr>
            </a:p>
          </p:txBody>
        </p:sp>
        <p:pic>
          <p:nvPicPr>
            <p:cNvPr id="11" name="10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11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12 Grupo"/>
          <p:cNvGrpSpPr/>
          <p:nvPr/>
        </p:nvGrpSpPr>
        <p:grpSpPr>
          <a:xfrm>
            <a:off x="9525" y="6574392"/>
            <a:ext cx="9134399" cy="277000"/>
            <a:chOff x="9525" y="6574392"/>
            <a:chExt cx="9134399" cy="277000"/>
          </a:xfrm>
        </p:grpSpPr>
        <p:sp>
          <p:nvSpPr>
            <p:cNvPr id="14" name="13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5" name="14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
        <p:nvSpPr>
          <p:cNvPr id="16" name="15 CuadroTexto"/>
          <p:cNvSpPr txBox="1"/>
          <p:nvPr/>
        </p:nvSpPr>
        <p:spPr>
          <a:xfrm>
            <a:off x="7543800" y="6019800"/>
            <a:ext cx="1600200" cy="369332"/>
          </a:xfrm>
          <a:prstGeom prst="rect">
            <a:avLst/>
          </a:prstGeom>
          <a:solidFill>
            <a:schemeClr val="accent3">
              <a:lumMod val="75000"/>
            </a:schemeClr>
          </a:solidFill>
        </p:spPr>
        <p:txBody>
          <a:bodyPr wrap="square" rtlCol="0">
            <a:spAutoFit/>
          </a:bodyPr>
          <a:lstStyle/>
          <a:p>
            <a:pPr algn="r"/>
            <a:r>
              <a:rPr lang="en-US" dirty="0" smtClean="0">
                <a:solidFill>
                  <a:prstClr val="white"/>
                </a:solidFill>
              </a:rPr>
              <a:t>Hands On </a:t>
            </a:r>
            <a:r>
              <a:rPr lang="en-US" dirty="0" smtClean="0">
                <a:solidFill>
                  <a:prstClr val="white"/>
                </a:solidFill>
                <a:sym typeface="Wingdings" pitchFamily="2" charset="2"/>
              </a:rPr>
              <a:t></a:t>
            </a:r>
            <a:endParaRPr lang="en-US" dirty="0">
              <a:solidFill>
                <a:prstClr val="white"/>
              </a:solidFill>
            </a:endParaRPr>
          </a:p>
        </p:txBody>
      </p:sp>
    </p:spTree>
    <p:extLst>
      <p:ext uri="{BB962C8B-B14F-4D97-AF65-F5344CB8AC3E}">
        <p14:creationId xmlns:p14="http://schemas.microsoft.com/office/powerpoint/2010/main" val="367242612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618456"/>
            <a:ext cx="2258289" cy="990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1618456"/>
            <a:ext cx="38100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9 CuadroTexto"/>
          <p:cNvSpPr txBox="1"/>
          <p:nvPr/>
        </p:nvSpPr>
        <p:spPr>
          <a:xfrm>
            <a:off x="0" y="551656"/>
            <a:ext cx="9144000" cy="369332"/>
          </a:xfrm>
          <a:prstGeom prst="rect">
            <a:avLst/>
          </a:prstGeom>
          <a:noFill/>
        </p:spPr>
        <p:txBody>
          <a:bodyPr wrap="square" rtlCol="0">
            <a:spAutoFit/>
          </a:bodyPr>
          <a:lstStyle/>
          <a:p>
            <a:r>
              <a:rPr lang="en-US" b="1" dirty="0" smtClean="0">
                <a:solidFill>
                  <a:prstClr val="black"/>
                </a:solidFill>
              </a:rPr>
              <a:t>Listing HEAPS</a:t>
            </a:r>
            <a:endParaRPr lang="en-US" b="1" dirty="0">
              <a:solidFill>
                <a:prstClr val="black"/>
              </a:solidFill>
            </a:endParaRPr>
          </a:p>
        </p:txBody>
      </p:sp>
      <p:sp>
        <p:nvSpPr>
          <p:cNvPr id="11" name="10 CuadroTexto"/>
          <p:cNvSpPr txBox="1"/>
          <p:nvPr/>
        </p:nvSpPr>
        <p:spPr>
          <a:xfrm>
            <a:off x="0" y="1161256"/>
            <a:ext cx="9144000" cy="307777"/>
          </a:xfrm>
          <a:prstGeom prst="rect">
            <a:avLst/>
          </a:prstGeom>
          <a:noFill/>
        </p:spPr>
        <p:txBody>
          <a:bodyPr wrap="square" rtlCol="0">
            <a:spAutoFit/>
          </a:bodyPr>
          <a:lstStyle/>
          <a:p>
            <a:r>
              <a:rPr lang="en-US" sz="1400" b="1" dirty="0" smtClean="0">
                <a:solidFill>
                  <a:prstClr val="black"/>
                </a:solidFill>
              </a:rPr>
              <a:t>1) To start with, let’s create a Table with no Clustered Index defined on it</a:t>
            </a:r>
            <a:endParaRPr lang="en-US" sz="1400" b="1" dirty="0">
              <a:solidFill>
                <a:prstClr val="black"/>
              </a:solidFill>
            </a:endParaRPr>
          </a:p>
        </p:txBody>
      </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4190206"/>
            <a:ext cx="7048500"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11 CuadroTexto"/>
          <p:cNvSpPr txBox="1"/>
          <p:nvPr/>
        </p:nvSpPr>
        <p:spPr>
          <a:xfrm>
            <a:off x="0" y="3821896"/>
            <a:ext cx="9144000" cy="307777"/>
          </a:xfrm>
          <a:prstGeom prst="rect">
            <a:avLst/>
          </a:prstGeom>
          <a:noFill/>
        </p:spPr>
        <p:txBody>
          <a:bodyPr wrap="square" rtlCol="0">
            <a:spAutoFit/>
          </a:bodyPr>
          <a:lstStyle/>
          <a:p>
            <a:r>
              <a:rPr lang="en-US" sz="1400" b="1" dirty="0" smtClean="0">
                <a:solidFill>
                  <a:prstClr val="black"/>
                </a:solidFill>
              </a:rPr>
              <a:t>2) Heaps have </a:t>
            </a:r>
            <a:r>
              <a:rPr lang="en-US" sz="1400" b="1" dirty="0">
                <a:solidFill>
                  <a:prstClr val="black"/>
                </a:solidFill>
              </a:rPr>
              <a:t>a </a:t>
            </a:r>
            <a:r>
              <a:rPr lang="en-US" sz="1400" b="1" dirty="0" err="1">
                <a:solidFill>
                  <a:prstClr val="black"/>
                </a:solidFill>
              </a:rPr>
              <a:t>index_id</a:t>
            </a:r>
            <a:r>
              <a:rPr lang="en-US" sz="1400" b="1" dirty="0">
                <a:solidFill>
                  <a:prstClr val="black"/>
                </a:solidFill>
              </a:rPr>
              <a:t> value of </a:t>
            </a:r>
            <a:r>
              <a:rPr lang="en-US" sz="1400" b="1" dirty="0" smtClean="0">
                <a:solidFill>
                  <a:prstClr val="black"/>
                </a:solidFill>
              </a:rPr>
              <a:t>“0” </a:t>
            </a:r>
            <a:r>
              <a:rPr lang="en-US" sz="1400" b="1" dirty="0">
                <a:solidFill>
                  <a:prstClr val="black"/>
                </a:solidFill>
              </a:rPr>
              <a:t>in the </a:t>
            </a:r>
            <a:r>
              <a:rPr lang="en-US" sz="1400" b="1" dirty="0" err="1">
                <a:solidFill>
                  <a:prstClr val="black"/>
                </a:solidFill>
              </a:rPr>
              <a:t>sys.indexes</a:t>
            </a:r>
            <a:r>
              <a:rPr lang="en-US" sz="1400" b="1" dirty="0">
                <a:solidFill>
                  <a:prstClr val="black"/>
                </a:solidFill>
              </a:rPr>
              <a:t> catalog view</a:t>
            </a:r>
          </a:p>
        </p:txBody>
      </p:sp>
      <p:pic>
        <p:nvPicPr>
          <p:cNvPr id="1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4876006"/>
            <a:ext cx="3971925"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 name="8 Grupo"/>
          <p:cNvGrpSpPr/>
          <p:nvPr/>
        </p:nvGrpSpPr>
        <p:grpSpPr>
          <a:xfrm>
            <a:off x="9525" y="6574392"/>
            <a:ext cx="9134399" cy="277000"/>
            <a:chOff x="9525" y="6574392"/>
            <a:chExt cx="9134399" cy="277000"/>
          </a:xfrm>
        </p:grpSpPr>
        <p:sp>
          <p:nvSpPr>
            <p:cNvPr id="13" name="12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4" name="13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5" name="14 Grupo"/>
          <p:cNvGrpSpPr/>
          <p:nvPr/>
        </p:nvGrpSpPr>
        <p:grpSpPr>
          <a:xfrm>
            <a:off x="0" y="9525"/>
            <a:ext cx="9153525" cy="408388"/>
            <a:chOff x="0" y="9525"/>
            <a:chExt cx="9153525" cy="408388"/>
          </a:xfrm>
        </p:grpSpPr>
        <p:sp>
          <p:nvSpPr>
            <p:cNvPr id="16" name="15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Storage Internals</a:t>
              </a:r>
              <a:endParaRPr lang="en-US" b="1" dirty="0">
                <a:solidFill>
                  <a:schemeClr val="bg1"/>
                </a:solidFill>
              </a:endParaRPr>
            </a:p>
          </p:txBody>
        </p:sp>
        <p:pic>
          <p:nvPicPr>
            <p:cNvPr id="17" name="16 Imagen"/>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1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9744999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CuadroTexto"/>
          <p:cNvSpPr txBox="1"/>
          <p:nvPr/>
        </p:nvSpPr>
        <p:spPr>
          <a:xfrm>
            <a:off x="0" y="555848"/>
            <a:ext cx="9144000" cy="369332"/>
          </a:xfrm>
          <a:prstGeom prst="rect">
            <a:avLst/>
          </a:prstGeom>
          <a:noFill/>
        </p:spPr>
        <p:txBody>
          <a:bodyPr wrap="square" rtlCol="0">
            <a:spAutoFit/>
          </a:bodyPr>
          <a:lstStyle/>
          <a:p>
            <a:r>
              <a:rPr lang="en-US" b="1" dirty="0" smtClean="0">
                <a:solidFill>
                  <a:prstClr val="black"/>
                </a:solidFill>
              </a:rPr>
              <a:t>Listing Clustered Tables</a:t>
            </a:r>
            <a:endParaRPr lang="en-US" b="1" dirty="0">
              <a:solidFill>
                <a:prstClr val="black"/>
              </a:solidFill>
            </a:endParaRPr>
          </a:p>
        </p:txBody>
      </p:sp>
      <p:sp>
        <p:nvSpPr>
          <p:cNvPr id="11" name="10 CuadroTexto"/>
          <p:cNvSpPr txBox="1"/>
          <p:nvPr/>
        </p:nvSpPr>
        <p:spPr>
          <a:xfrm>
            <a:off x="0" y="1165448"/>
            <a:ext cx="9144000" cy="307777"/>
          </a:xfrm>
          <a:prstGeom prst="rect">
            <a:avLst/>
          </a:prstGeom>
          <a:noFill/>
        </p:spPr>
        <p:txBody>
          <a:bodyPr wrap="square" rtlCol="0">
            <a:spAutoFit/>
          </a:bodyPr>
          <a:lstStyle/>
          <a:p>
            <a:r>
              <a:rPr lang="en-US" sz="1400" b="1" dirty="0">
                <a:solidFill>
                  <a:prstClr val="black"/>
                </a:solidFill>
              </a:rPr>
              <a:t>Clustered Tables have a </a:t>
            </a:r>
            <a:r>
              <a:rPr lang="en-US" sz="1400" b="1" dirty="0" err="1">
                <a:solidFill>
                  <a:prstClr val="black"/>
                </a:solidFill>
              </a:rPr>
              <a:t>index_id</a:t>
            </a:r>
            <a:r>
              <a:rPr lang="en-US" sz="1400" b="1" dirty="0">
                <a:solidFill>
                  <a:prstClr val="black"/>
                </a:solidFill>
              </a:rPr>
              <a:t> value of </a:t>
            </a:r>
            <a:r>
              <a:rPr lang="en-US" sz="1400" b="1" dirty="0" smtClean="0">
                <a:solidFill>
                  <a:prstClr val="black"/>
                </a:solidFill>
              </a:rPr>
              <a:t>“1” </a:t>
            </a:r>
            <a:r>
              <a:rPr lang="en-US" sz="1400" b="1" dirty="0">
                <a:solidFill>
                  <a:prstClr val="black"/>
                </a:solidFill>
              </a:rPr>
              <a:t>in the </a:t>
            </a:r>
            <a:r>
              <a:rPr lang="en-US" sz="1400" b="1" dirty="0" err="1">
                <a:solidFill>
                  <a:prstClr val="black"/>
                </a:solidFill>
              </a:rPr>
              <a:t>sys.indexes</a:t>
            </a:r>
            <a:r>
              <a:rPr lang="en-US" sz="1400" b="1" dirty="0">
                <a:solidFill>
                  <a:prstClr val="black"/>
                </a:solidFill>
              </a:rPr>
              <a:t> catalog view</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1606" y="1546449"/>
            <a:ext cx="5386564" cy="1295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1606" y="3933300"/>
            <a:ext cx="5386564" cy="1727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3933301"/>
            <a:ext cx="3581400" cy="1035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12 CuadroTexto"/>
          <p:cNvSpPr txBox="1"/>
          <p:nvPr/>
        </p:nvSpPr>
        <p:spPr>
          <a:xfrm>
            <a:off x="0" y="3625523"/>
            <a:ext cx="9144000" cy="307777"/>
          </a:xfrm>
          <a:prstGeom prst="rect">
            <a:avLst/>
          </a:prstGeom>
          <a:noFill/>
        </p:spPr>
        <p:txBody>
          <a:bodyPr wrap="square" rtlCol="0">
            <a:spAutoFit/>
          </a:bodyPr>
          <a:lstStyle/>
          <a:p>
            <a:r>
              <a:rPr lang="en-US" sz="1400" b="1" dirty="0" smtClean="0">
                <a:solidFill>
                  <a:prstClr val="black"/>
                </a:solidFill>
              </a:rPr>
              <a:t>Listing both: HEAPS and Clustered Tables</a:t>
            </a:r>
            <a:endParaRPr lang="en-US" sz="1400" b="1" dirty="0">
              <a:solidFill>
                <a:prstClr val="black"/>
              </a:solidFill>
            </a:endParaRPr>
          </a:p>
        </p:txBody>
      </p:sp>
      <p:pic>
        <p:nvPicPr>
          <p:cNvPr id="205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125" y="1546449"/>
            <a:ext cx="3632675" cy="85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 name="8 Grupo"/>
          <p:cNvGrpSpPr/>
          <p:nvPr/>
        </p:nvGrpSpPr>
        <p:grpSpPr>
          <a:xfrm>
            <a:off x="0" y="9525"/>
            <a:ext cx="9153525" cy="408388"/>
            <a:chOff x="0" y="9525"/>
            <a:chExt cx="9153525" cy="408388"/>
          </a:xfrm>
        </p:grpSpPr>
        <p:sp>
          <p:nvSpPr>
            <p:cNvPr id="12" name="11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Storage Internals</a:t>
              </a:r>
              <a:endParaRPr lang="en-US" b="1" dirty="0">
                <a:solidFill>
                  <a:schemeClr val="bg1"/>
                </a:solidFill>
              </a:endParaRPr>
            </a:p>
          </p:txBody>
        </p:sp>
        <p:pic>
          <p:nvPicPr>
            <p:cNvPr id="14" name="13 Imagen"/>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 name="14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15 Grupo"/>
          <p:cNvGrpSpPr/>
          <p:nvPr/>
        </p:nvGrpSpPr>
        <p:grpSpPr>
          <a:xfrm>
            <a:off x="9525" y="6574392"/>
            <a:ext cx="9134399" cy="277000"/>
            <a:chOff x="9525" y="6574392"/>
            <a:chExt cx="9134399" cy="277000"/>
          </a:xfrm>
        </p:grpSpPr>
        <p:sp>
          <p:nvSpPr>
            <p:cNvPr id="17" name="16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8" name="17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78384413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CuadroTexto"/>
          <p:cNvSpPr txBox="1"/>
          <p:nvPr/>
        </p:nvSpPr>
        <p:spPr>
          <a:xfrm>
            <a:off x="-76" y="533434"/>
            <a:ext cx="9144000" cy="369332"/>
          </a:xfrm>
          <a:prstGeom prst="rect">
            <a:avLst/>
          </a:prstGeom>
          <a:noFill/>
        </p:spPr>
        <p:txBody>
          <a:bodyPr wrap="square" rtlCol="0">
            <a:spAutoFit/>
          </a:bodyPr>
          <a:lstStyle/>
          <a:p>
            <a:r>
              <a:rPr lang="en-US" b="1" dirty="0" smtClean="0">
                <a:solidFill>
                  <a:prstClr val="black"/>
                </a:solidFill>
              </a:rPr>
              <a:t>HEAPS vs. Clustered Tables</a:t>
            </a:r>
            <a:endParaRPr lang="en-US" b="1" dirty="0">
              <a:solidFill>
                <a:prstClr val="black"/>
              </a:solidFill>
            </a:endParaRPr>
          </a:p>
        </p:txBody>
      </p:sp>
      <p:sp>
        <p:nvSpPr>
          <p:cNvPr id="11" name="10 CuadroTexto"/>
          <p:cNvSpPr txBox="1"/>
          <p:nvPr/>
        </p:nvSpPr>
        <p:spPr>
          <a:xfrm>
            <a:off x="0" y="1219930"/>
            <a:ext cx="39624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Structure of a HEAP</a:t>
            </a:r>
            <a:endParaRPr lang="en-US" sz="1400" b="1" dirty="0">
              <a:solidFill>
                <a:prstClr val="black"/>
              </a:solidFill>
            </a:endParaRPr>
          </a:p>
        </p:txBody>
      </p:sp>
      <p:sp>
        <p:nvSpPr>
          <p:cNvPr id="13" name="12 CuadroTexto"/>
          <p:cNvSpPr txBox="1"/>
          <p:nvPr/>
        </p:nvSpPr>
        <p:spPr>
          <a:xfrm>
            <a:off x="4724400" y="1219931"/>
            <a:ext cx="42672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Structure of a Clustered Index</a:t>
            </a:r>
            <a:endParaRPr lang="en-US" sz="1400" b="1" dirty="0">
              <a:solidFill>
                <a:prstClr val="black"/>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822" y="1904242"/>
            <a:ext cx="3110977" cy="228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751843"/>
            <a:ext cx="4191000" cy="4557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11 CuadroTexto"/>
          <p:cNvSpPr txBox="1"/>
          <p:nvPr/>
        </p:nvSpPr>
        <p:spPr>
          <a:xfrm>
            <a:off x="4057519" y="1189153"/>
            <a:ext cx="457200" cy="369332"/>
          </a:xfrm>
          <a:prstGeom prst="rect">
            <a:avLst/>
          </a:prstGeom>
          <a:noFill/>
        </p:spPr>
        <p:txBody>
          <a:bodyPr wrap="square" rtlCol="0">
            <a:spAutoFit/>
          </a:bodyPr>
          <a:lstStyle/>
          <a:p>
            <a:r>
              <a:rPr lang="en-US" dirty="0" smtClean="0">
                <a:solidFill>
                  <a:prstClr val="black"/>
                </a:solidFill>
              </a:rPr>
              <a:t>vs.</a:t>
            </a:r>
            <a:endParaRPr lang="en-US" dirty="0">
              <a:solidFill>
                <a:prstClr val="black"/>
              </a:solidFill>
            </a:endParaRPr>
          </a:p>
        </p:txBody>
      </p:sp>
      <p:grpSp>
        <p:nvGrpSpPr>
          <p:cNvPr id="8" name="7 Grupo"/>
          <p:cNvGrpSpPr/>
          <p:nvPr/>
        </p:nvGrpSpPr>
        <p:grpSpPr>
          <a:xfrm>
            <a:off x="0" y="9525"/>
            <a:ext cx="9153525" cy="408388"/>
            <a:chOff x="0" y="9525"/>
            <a:chExt cx="9153525" cy="408388"/>
          </a:xfrm>
        </p:grpSpPr>
        <p:sp>
          <p:nvSpPr>
            <p:cNvPr id="9" name="8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Storage Internals</a:t>
              </a:r>
              <a:endParaRPr lang="en-US" b="1" dirty="0">
                <a:solidFill>
                  <a:schemeClr val="bg1"/>
                </a:solidFill>
              </a:endParaRPr>
            </a:p>
          </p:txBody>
        </p:sp>
        <p:pic>
          <p:nvPicPr>
            <p:cNvPr id="14" name="13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 name="14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15 Grupo"/>
          <p:cNvGrpSpPr/>
          <p:nvPr/>
        </p:nvGrpSpPr>
        <p:grpSpPr>
          <a:xfrm>
            <a:off x="9525" y="6574392"/>
            <a:ext cx="9134399" cy="277000"/>
            <a:chOff x="9525" y="6574392"/>
            <a:chExt cx="9134399" cy="277000"/>
          </a:xfrm>
        </p:grpSpPr>
        <p:sp>
          <p:nvSpPr>
            <p:cNvPr id="17" name="16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8" name="17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01488110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CuadroTexto"/>
          <p:cNvSpPr txBox="1"/>
          <p:nvPr/>
        </p:nvSpPr>
        <p:spPr>
          <a:xfrm>
            <a:off x="128899" y="685800"/>
            <a:ext cx="8839200" cy="4524315"/>
          </a:xfrm>
          <a:prstGeom prst="rect">
            <a:avLst/>
          </a:prstGeom>
          <a:noFill/>
        </p:spPr>
        <p:txBody>
          <a:bodyPr wrap="square" rtlCol="0">
            <a:spAutoFit/>
          </a:bodyPr>
          <a:lstStyle/>
          <a:p>
            <a:r>
              <a:rPr lang="en-US" sz="1600" b="1" dirty="0" smtClean="0">
                <a:solidFill>
                  <a:prstClr val="black"/>
                </a:solidFill>
              </a:rPr>
              <a:t>Data Records</a:t>
            </a:r>
          </a:p>
          <a:p>
            <a:pPr marL="742950" lvl="1" indent="-285750">
              <a:buFont typeface="Wingdings" pitchFamily="2" charset="2"/>
              <a:buChar char="Ø"/>
            </a:pPr>
            <a:r>
              <a:rPr lang="en-US" sz="1600" dirty="0" smtClean="0">
                <a:solidFill>
                  <a:prstClr val="black"/>
                </a:solidFill>
              </a:rPr>
              <a:t>Primary Records</a:t>
            </a:r>
          </a:p>
          <a:p>
            <a:pPr marL="742950" lvl="1" indent="-285750">
              <a:buFont typeface="Wingdings" pitchFamily="2" charset="2"/>
              <a:buChar char="Ø"/>
            </a:pPr>
            <a:r>
              <a:rPr lang="en-US" sz="1600" dirty="0" smtClean="0">
                <a:solidFill>
                  <a:prstClr val="black"/>
                </a:solidFill>
              </a:rPr>
              <a:t>Forwarding record stubs </a:t>
            </a:r>
          </a:p>
          <a:p>
            <a:pPr marL="742950" lvl="1" indent="-285750">
              <a:buFont typeface="Wingdings" pitchFamily="2" charset="2"/>
              <a:buChar char="Ø"/>
            </a:pPr>
            <a:r>
              <a:rPr lang="en-US" sz="1600" dirty="0" smtClean="0">
                <a:solidFill>
                  <a:prstClr val="black"/>
                </a:solidFill>
              </a:rPr>
              <a:t>Forwarded</a:t>
            </a:r>
            <a:r>
              <a:rPr lang="en-US" sz="1600" dirty="0">
                <a:solidFill>
                  <a:prstClr val="black"/>
                </a:solidFill>
              </a:rPr>
              <a:t> </a:t>
            </a:r>
            <a:r>
              <a:rPr lang="en-US" sz="1600" dirty="0" smtClean="0">
                <a:solidFill>
                  <a:prstClr val="black"/>
                </a:solidFill>
              </a:rPr>
              <a:t>record stubs</a:t>
            </a:r>
          </a:p>
          <a:p>
            <a:endParaRPr lang="en-US" sz="1600" dirty="0" smtClean="0">
              <a:solidFill>
                <a:prstClr val="black"/>
              </a:solidFill>
            </a:endParaRPr>
          </a:p>
          <a:p>
            <a:r>
              <a:rPr lang="en-US" sz="1600" b="1" dirty="0" smtClean="0">
                <a:solidFill>
                  <a:prstClr val="black"/>
                </a:solidFill>
              </a:rPr>
              <a:t>Index records</a:t>
            </a:r>
          </a:p>
          <a:p>
            <a:pPr marL="742950" lvl="1" indent="-285750">
              <a:buFont typeface="Wingdings" pitchFamily="2" charset="2"/>
              <a:buChar char="Ø"/>
            </a:pPr>
            <a:r>
              <a:rPr lang="en-US" sz="1600" dirty="0" smtClean="0">
                <a:solidFill>
                  <a:prstClr val="black"/>
                </a:solidFill>
              </a:rPr>
              <a:t>Leaf level index records</a:t>
            </a:r>
          </a:p>
          <a:p>
            <a:pPr marL="742950" lvl="1" indent="-285750">
              <a:buFont typeface="Wingdings" pitchFamily="2" charset="2"/>
              <a:buChar char="Ø"/>
            </a:pPr>
            <a:r>
              <a:rPr lang="en-US" sz="1600" dirty="0" smtClean="0">
                <a:solidFill>
                  <a:prstClr val="black"/>
                </a:solidFill>
              </a:rPr>
              <a:t>Non-Leaf level index records</a:t>
            </a:r>
          </a:p>
          <a:p>
            <a:endParaRPr lang="en-US" sz="1600" dirty="0" smtClean="0">
              <a:solidFill>
                <a:prstClr val="black"/>
              </a:solidFill>
            </a:endParaRPr>
          </a:p>
          <a:p>
            <a:r>
              <a:rPr lang="en-US" sz="1600" b="1" dirty="0" smtClean="0">
                <a:solidFill>
                  <a:prstClr val="black"/>
                </a:solidFill>
              </a:rPr>
              <a:t>Text records</a:t>
            </a:r>
          </a:p>
          <a:p>
            <a:pPr marL="742950" lvl="1" indent="-285750">
              <a:buFont typeface="Wingdings" pitchFamily="2" charset="2"/>
              <a:buChar char="Ø"/>
            </a:pPr>
            <a:r>
              <a:rPr lang="en-US" sz="1600" dirty="0" smtClean="0">
                <a:solidFill>
                  <a:prstClr val="black"/>
                </a:solidFill>
              </a:rPr>
              <a:t>LOB data</a:t>
            </a:r>
          </a:p>
          <a:p>
            <a:pPr marL="742950" lvl="1" indent="-285750">
              <a:buFont typeface="Wingdings" pitchFamily="2" charset="2"/>
              <a:buChar char="Ø"/>
            </a:pPr>
            <a:r>
              <a:rPr lang="en-US" sz="1600" dirty="0" smtClean="0">
                <a:solidFill>
                  <a:prstClr val="black"/>
                </a:solidFill>
              </a:rPr>
              <a:t>Row overflow data </a:t>
            </a:r>
          </a:p>
          <a:p>
            <a:endParaRPr lang="en-US" sz="1600" dirty="0" smtClean="0">
              <a:solidFill>
                <a:prstClr val="black"/>
              </a:solidFill>
            </a:endParaRPr>
          </a:p>
          <a:p>
            <a:r>
              <a:rPr lang="en-US" sz="1600" b="1" dirty="0" smtClean="0">
                <a:solidFill>
                  <a:prstClr val="black"/>
                </a:solidFill>
              </a:rPr>
              <a:t>Versioned Records  </a:t>
            </a:r>
            <a:r>
              <a:rPr lang="en-US" sz="1600" dirty="0" smtClean="0">
                <a:solidFill>
                  <a:prstClr val="black"/>
                </a:solidFill>
              </a:rPr>
              <a:t>- Out of scope  (</a:t>
            </a:r>
            <a:r>
              <a:rPr lang="en-US" sz="1600" i="1" dirty="0" smtClean="0">
                <a:solidFill>
                  <a:prstClr val="black"/>
                </a:solidFill>
              </a:rPr>
              <a:t>the versioning system is not covered in this workshop</a:t>
            </a:r>
            <a:r>
              <a:rPr lang="en-US" sz="1600" dirty="0" smtClean="0">
                <a:solidFill>
                  <a:prstClr val="black"/>
                </a:solidFill>
              </a:rPr>
              <a:t>)</a:t>
            </a:r>
          </a:p>
          <a:p>
            <a:pPr marL="742950" lvl="1" indent="-285750">
              <a:buFont typeface="Wingdings" pitchFamily="2" charset="2"/>
              <a:buChar char="Ø"/>
            </a:pPr>
            <a:r>
              <a:rPr lang="en-US" sz="1600" dirty="0" smtClean="0">
                <a:solidFill>
                  <a:prstClr val="black"/>
                </a:solidFill>
              </a:rPr>
              <a:t>Used by the versioning system of SQL Server 2005+</a:t>
            </a:r>
          </a:p>
          <a:p>
            <a:pPr marL="742950" lvl="1" indent="-285750">
              <a:buFont typeface="Wingdings" pitchFamily="2" charset="2"/>
              <a:buChar char="Ø"/>
            </a:pPr>
            <a:r>
              <a:rPr lang="en-US" sz="1600" dirty="0" smtClean="0">
                <a:solidFill>
                  <a:prstClr val="black"/>
                </a:solidFill>
              </a:rPr>
              <a:t>They have a 14-bytes tag appended</a:t>
            </a:r>
          </a:p>
          <a:p>
            <a:endParaRPr lang="en-US" sz="1600" dirty="0">
              <a:solidFill>
                <a:prstClr val="black"/>
              </a:solidFill>
            </a:endParaRPr>
          </a:p>
          <a:p>
            <a:r>
              <a:rPr lang="en-US" sz="1600" b="1" dirty="0" smtClean="0">
                <a:solidFill>
                  <a:prstClr val="black"/>
                </a:solidFill>
              </a:rPr>
              <a:t>Ghost Records</a:t>
            </a:r>
          </a:p>
        </p:txBody>
      </p:sp>
      <p:grpSp>
        <p:nvGrpSpPr>
          <p:cNvPr id="4" name="3 Grupo"/>
          <p:cNvGrpSpPr/>
          <p:nvPr/>
        </p:nvGrpSpPr>
        <p:grpSpPr>
          <a:xfrm>
            <a:off x="0" y="9525"/>
            <a:ext cx="9153525" cy="408388"/>
            <a:chOff x="0" y="9525"/>
            <a:chExt cx="9153525" cy="408388"/>
          </a:xfrm>
        </p:grpSpPr>
        <p:sp>
          <p:nvSpPr>
            <p:cNvPr id="7" name="6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Storage Internals  |  Record Types</a:t>
              </a:r>
              <a:endParaRPr lang="en-US" b="1" dirty="0">
                <a:solidFill>
                  <a:schemeClr val="bg1"/>
                </a:solidFill>
              </a:endParaRPr>
            </a:p>
          </p:txBody>
        </p:sp>
        <p:pic>
          <p:nvPicPr>
            <p:cNvPr id="8" name="7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8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9 Grupo"/>
          <p:cNvGrpSpPr/>
          <p:nvPr/>
        </p:nvGrpSpPr>
        <p:grpSpPr>
          <a:xfrm>
            <a:off x="9525" y="6574392"/>
            <a:ext cx="9134399" cy="277000"/>
            <a:chOff x="9525" y="6574392"/>
            <a:chExt cx="9134399" cy="277000"/>
          </a:xfrm>
        </p:grpSpPr>
        <p:sp>
          <p:nvSpPr>
            <p:cNvPr id="11" name="10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2" name="11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24130316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0" y="609600"/>
            <a:ext cx="9144000" cy="2585323"/>
          </a:xfrm>
          <a:prstGeom prst="rect">
            <a:avLst/>
          </a:prstGeom>
          <a:noFill/>
        </p:spPr>
        <p:txBody>
          <a:bodyPr wrap="square" rtlCol="0">
            <a:spAutoFit/>
          </a:bodyPr>
          <a:lstStyle/>
          <a:p>
            <a:r>
              <a:rPr lang="en-US" b="1" dirty="0" smtClean="0">
                <a:solidFill>
                  <a:prstClr val="black"/>
                </a:solidFill>
              </a:rPr>
              <a:t>Data Records</a:t>
            </a:r>
          </a:p>
          <a:p>
            <a:endParaRPr lang="en-US" b="1" dirty="0" smtClean="0">
              <a:solidFill>
                <a:prstClr val="black"/>
              </a:solidFill>
            </a:endParaRPr>
          </a:p>
          <a:p>
            <a:pPr marL="285750" indent="-285750">
              <a:buFont typeface="Wingdings" pitchFamily="2" charset="2"/>
              <a:buChar char="Ø"/>
            </a:pPr>
            <a:r>
              <a:rPr lang="en-US" dirty="0" smtClean="0">
                <a:solidFill>
                  <a:prstClr val="black"/>
                </a:solidFill>
              </a:rPr>
              <a:t>Data </a:t>
            </a:r>
            <a:r>
              <a:rPr lang="en-US" dirty="0">
                <a:solidFill>
                  <a:prstClr val="black"/>
                </a:solidFill>
              </a:rPr>
              <a:t>records are stored on data pages</a:t>
            </a:r>
          </a:p>
          <a:p>
            <a:pPr marL="285750" indent="-285750">
              <a:buFont typeface="Wingdings" pitchFamily="2" charset="2"/>
              <a:buChar char="Ø"/>
            </a:pPr>
            <a:r>
              <a:rPr lang="en-US" dirty="0">
                <a:solidFill>
                  <a:prstClr val="black"/>
                </a:solidFill>
              </a:rPr>
              <a:t>Data records </a:t>
            </a:r>
            <a:r>
              <a:rPr lang="en-US" dirty="0" smtClean="0">
                <a:solidFill>
                  <a:prstClr val="black"/>
                </a:solidFill>
              </a:rPr>
              <a:t>store the value of every single column of the table row</a:t>
            </a:r>
          </a:p>
          <a:p>
            <a:pPr marL="285750" indent="-285750">
              <a:buFont typeface="Wingdings" pitchFamily="2" charset="2"/>
              <a:buChar char="Ø"/>
            </a:pPr>
            <a:r>
              <a:rPr lang="en-US" dirty="0" smtClean="0">
                <a:solidFill>
                  <a:prstClr val="black"/>
                </a:solidFill>
              </a:rPr>
              <a:t>Data </a:t>
            </a:r>
            <a:r>
              <a:rPr lang="en-US" dirty="0">
                <a:solidFill>
                  <a:prstClr val="black"/>
                </a:solidFill>
              </a:rPr>
              <a:t>records store rows from a </a:t>
            </a:r>
            <a:r>
              <a:rPr lang="en-US" b="1" dirty="0">
                <a:solidFill>
                  <a:srgbClr val="FF0000"/>
                </a:solidFill>
              </a:rPr>
              <a:t>heap</a:t>
            </a:r>
            <a:r>
              <a:rPr lang="en-US" dirty="0">
                <a:solidFill>
                  <a:prstClr val="black"/>
                </a:solidFill>
              </a:rPr>
              <a:t> </a:t>
            </a:r>
            <a:r>
              <a:rPr lang="en-US" dirty="0" smtClean="0">
                <a:solidFill>
                  <a:prstClr val="black"/>
                </a:solidFill>
              </a:rPr>
              <a:t>OR the </a:t>
            </a:r>
            <a:r>
              <a:rPr lang="en-US" b="1" dirty="0">
                <a:solidFill>
                  <a:srgbClr val="FF0000"/>
                </a:solidFill>
              </a:rPr>
              <a:t>leaf level of a clustered </a:t>
            </a:r>
            <a:r>
              <a:rPr lang="en-US" b="1" dirty="0" smtClean="0">
                <a:solidFill>
                  <a:srgbClr val="FF0000"/>
                </a:solidFill>
              </a:rPr>
              <a:t>index</a:t>
            </a:r>
          </a:p>
          <a:p>
            <a:r>
              <a:rPr lang="en-US" dirty="0">
                <a:solidFill>
                  <a:srgbClr val="FF0000"/>
                </a:solidFill>
              </a:rPr>
              <a:t> </a:t>
            </a:r>
            <a:r>
              <a:rPr lang="en-US" dirty="0" smtClean="0">
                <a:solidFill>
                  <a:srgbClr val="FF0000"/>
                </a:solidFill>
              </a:rPr>
              <a:t>    </a:t>
            </a:r>
          </a:p>
          <a:p>
            <a:r>
              <a:rPr lang="en-US" dirty="0">
                <a:solidFill>
                  <a:srgbClr val="FF0000"/>
                </a:solidFill>
              </a:rPr>
              <a:t> </a:t>
            </a:r>
            <a:r>
              <a:rPr lang="en-US" dirty="0" smtClean="0">
                <a:solidFill>
                  <a:srgbClr val="FF0000"/>
                </a:solidFill>
              </a:rPr>
              <a:t>    </a:t>
            </a:r>
            <a:r>
              <a:rPr lang="en-US" u="sng" dirty="0" smtClean="0">
                <a:solidFill>
                  <a:prstClr val="black"/>
                </a:solidFill>
              </a:rPr>
              <a:t>Again</a:t>
            </a:r>
            <a:r>
              <a:rPr lang="en-US" dirty="0" smtClean="0">
                <a:solidFill>
                  <a:prstClr val="black"/>
                </a:solidFill>
              </a:rPr>
              <a:t>:</a:t>
            </a:r>
          </a:p>
          <a:p>
            <a:pPr marL="742950" lvl="1" indent="-285750">
              <a:buFont typeface="Wingdings" pitchFamily="2" charset="2"/>
              <a:buChar char="Ø"/>
            </a:pPr>
            <a:r>
              <a:rPr lang="en-US" dirty="0" smtClean="0">
                <a:solidFill>
                  <a:prstClr val="black"/>
                </a:solidFill>
              </a:rPr>
              <a:t>Occur </a:t>
            </a:r>
            <a:r>
              <a:rPr lang="en-US" dirty="0">
                <a:solidFill>
                  <a:prstClr val="black"/>
                </a:solidFill>
              </a:rPr>
              <a:t>in heaps (tables without clustered indexes) </a:t>
            </a:r>
          </a:p>
          <a:p>
            <a:pPr marL="742950" lvl="1" indent="-285750">
              <a:buFont typeface="Wingdings" pitchFamily="2" charset="2"/>
              <a:buChar char="Ø"/>
            </a:pPr>
            <a:r>
              <a:rPr lang="en-US" dirty="0">
                <a:solidFill>
                  <a:prstClr val="black"/>
                </a:solidFill>
              </a:rPr>
              <a:t>Occur at the Leaf Level of a clustered </a:t>
            </a:r>
            <a:r>
              <a:rPr lang="en-US" dirty="0" smtClean="0">
                <a:solidFill>
                  <a:prstClr val="black"/>
                </a:solidFill>
              </a:rPr>
              <a:t>index</a:t>
            </a:r>
            <a:endParaRPr lang="en-US" dirty="0">
              <a:solidFill>
                <a:prstClr val="black"/>
              </a:solidFill>
            </a:endParaRPr>
          </a:p>
        </p:txBody>
      </p:sp>
      <p:grpSp>
        <p:nvGrpSpPr>
          <p:cNvPr id="4" name="3 Grupo"/>
          <p:cNvGrpSpPr/>
          <p:nvPr/>
        </p:nvGrpSpPr>
        <p:grpSpPr>
          <a:xfrm>
            <a:off x="0" y="9525"/>
            <a:ext cx="9153525" cy="408388"/>
            <a:chOff x="0" y="9525"/>
            <a:chExt cx="9153525" cy="408388"/>
          </a:xfrm>
        </p:grpSpPr>
        <p:sp>
          <p:nvSpPr>
            <p:cNvPr id="5" name="4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Record Types |  Data Records</a:t>
              </a:r>
              <a:endParaRPr lang="en-US" b="1" dirty="0">
                <a:solidFill>
                  <a:schemeClr val="bg1"/>
                </a:solidFill>
              </a:endParaRPr>
            </a:p>
          </p:txBody>
        </p:sp>
        <p:pic>
          <p:nvPicPr>
            <p:cNvPr id="6" name="5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9 Grupo"/>
          <p:cNvGrpSpPr/>
          <p:nvPr/>
        </p:nvGrpSpPr>
        <p:grpSpPr>
          <a:xfrm>
            <a:off x="9525" y="6574392"/>
            <a:ext cx="9134399" cy="277000"/>
            <a:chOff x="9525" y="6574392"/>
            <a:chExt cx="9134399" cy="277000"/>
          </a:xfrm>
        </p:grpSpPr>
        <p:sp>
          <p:nvSpPr>
            <p:cNvPr id="11" name="10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2" name="11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
        <p:nvSpPr>
          <p:cNvPr id="13" name="12 CuadroTexto"/>
          <p:cNvSpPr txBox="1"/>
          <p:nvPr/>
        </p:nvSpPr>
        <p:spPr>
          <a:xfrm>
            <a:off x="7543800" y="6019800"/>
            <a:ext cx="1600200" cy="369332"/>
          </a:xfrm>
          <a:prstGeom prst="rect">
            <a:avLst/>
          </a:prstGeom>
          <a:solidFill>
            <a:schemeClr val="accent3">
              <a:lumMod val="75000"/>
            </a:schemeClr>
          </a:solidFill>
        </p:spPr>
        <p:txBody>
          <a:bodyPr wrap="square" rtlCol="0">
            <a:spAutoFit/>
          </a:bodyPr>
          <a:lstStyle/>
          <a:p>
            <a:pPr algn="r"/>
            <a:r>
              <a:rPr lang="en-US" dirty="0" smtClean="0">
                <a:solidFill>
                  <a:prstClr val="white"/>
                </a:solidFill>
              </a:rPr>
              <a:t>Hands On </a:t>
            </a:r>
            <a:r>
              <a:rPr lang="en-US" dirty="0" smtClean="0">
                <a:solidFill>
                  <a:prstClr val="white"/>
                </a:solidFill>
                <a:sym typeface="Wingdings" pitchFamily="2" charset="2"/>
              </a:rPr>
              <a:t></a:t>
            </a:r>
            <a:endParaRPr lang="en-US" dirty="0">
              <a:solidFill>
                <a:prstClr val="white"/>
              </a:solidFill>
            </a:endParaRPr>
          </a:p>
        </p:txBody>
      </p:sp>
    </p:spTree>
    <p:extLst>
      <p:ext uri="{BB962C8B-B14F-4D97-AF65-F5344CB8AC3E}">
        <p14:creationId xmlns:p14="http://schemas.microsoft.com/office/powerpoint/2010/main" val="350495757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CuadroTexto"/>
          <p:cNvSpPr txBox="1"/>
          <p:nvPr/>
        </p:nvSpPr>
        <p:spPr>
          <a:xfrm>
            <a:off x="0" y="611088"/>
            <a:ext cx="9144000" cy="307777"/>
          </a:xfrm>
          <a:prstGeom prst="rect">
            <a:avLst/>
          </a:prstGeom>
          <a:noFill/>
        </p:spPr>
        <p:txBody>
          <a:bodyPr wrap="square" rtlCol="0">
            <a:spAutoFit/>
          </a:bodyPr>
          <a:lstStyle/>
          <a:p>
            <a:r>
              <a:rPr lang="en-US" sz="1400" dirty="0" smtClean="0">
                <a:solidFill>
                  <a:prstClr val="black"/>
                </a:solidFill>
              </a:rPr>
              <a:t>How can I see a “Data Record”?</a:t>
            </a:r>
            <a:endParaRPr lang="en-US" sz="1400" dirty="0">
              <a:solidFill>
                <a:prstClr val="black"/>
              </a:solidFill>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20" y="1524000"/>
            <a:ext cx="6324600" cy="77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05" y="986848"/>
            <a:ext cx="3705225"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20" y="2802754"/>
            <a:ext cx="3467100"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59684" y="2517001"/>
            <a:ext cx="3107872" cy="3908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a:off x="3799230" y="3352800"/>
            <a:ext cx="848970" cy="3048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10" name="9 Grupo"/>
          <p:cNvGrpSpPr/>
          <p:nvPr/>
        </p:nvGrpSpPr>
        <p:grpSpPr>
          <a:xfrm>
            <a:off x="0" y="9525"/>
            <a:ext cx="9153525" cy="408388"/>
            <a:chOff x="0" y="9525"/>
            <a:chExt cx="9153525" cy="408388"/>
          </a:xfrm>
        </p:grpSpPr>
        <p:sp>
          <p:nvSpPr>
            <p:cNvPr id="11" name="10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Record Types |  Data Records</a:t>
              </a:r>
              <a:endParaRPr lang="en-US" b="1" dirty="0">
                <a:solidFill>
                  <a:schemeClr val="bg1"/>
                </a:solidFill>
              </a:endParaRPr>
            </a:p>
          </p:txBody>
        </p:sp>
        <p:pic>
          <p:nvPicPr>
            <p:cNvPr id="12" name="11 Imagen"/>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12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 name="13 Grupo"/>
          <p:cNvGrpSpPr/>
          <p:nvPr/>
        </p:nvGrpSpPr>
        <p:grpSpPr>
          <a:xfrm>
            <a:off x="9525" y="6574392"/>
            <a:ext cx="9134399" cy="277000"/>
            <a:chOff x="9525" y="6574392"/>
            <a:chExt cx="9134399" cy="277000"/>
          </a:xfrm>
        </p:grpSpPr>
        <p:sp>
          <p:nvSpPr>
            <p:cNvPr id="15" name="14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6" name="15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113357200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7502" y="3879053"/>
            <a:ext cx="3505200" cy="518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74705"/>
            <a:ext cx="4665981" cy="5867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7 CuadroTexto"/>
          <p:cNvSpPr txBox="1"/>
          <p:nvPr/>
        </p:nvSpPr>
        <p:spPr>
          <a:xfrm>
            <a:off x="5833217" y="540521"/>
            <a:ext cx="2667000" cy="276999"/>
          </a:xfrm>
          <a:prstGeom prst="rect">
            <a:avLst/>
          </a:prstGeom>
          <a:noFill/>
        </p:spPr>
        <p:txBody>
          <a:bodyPr wrap="square" rtlCol="0">
            <a:spAutoFit/>
          </a:bodyPr>
          <a:lstStyle/>
          <a:p>
            <a:r>
              <a:rPr lang="en-US" sz="1200" b="1" dirty="0">
                <a:solidFill>
                  <a:prstClr val="black"/>
                </a:solidFill>
              </a:rPr>
              <a:t>(0x60 = </a:t>
            </a:r>
            <a:r>
              <a:rPr lang="en-US" sz="1200" b="1" dirty="0" smtClean="0">
                <a:solidFill>
                  <a:prstClr val="black"/>
                </a:solidFill>
              </a:rPr>
              <a:t>96)    96 bytes of Header Offset</a:t>
            </a:r>
            <a:endParaRPr lang="en-US" sz="1200" b="1" dirty="0">
              <a:solidFill>
                <a:prstClr val="black"/>
              </a:solidFill>
            </a:endParaRPr>
          </a:p>
        </p:txBody>
      </p:sp>
      <p:sp>
        <p:nvSpPr>
          <p:cNvPr id="10" name="9 CuadroTexto"/>
          <p:cNvSpPr txBox="1"/>
          <p:nvPr/>
        </p:nvSpPr>
        <p:spPr>
          <a:xfrm>
            <a:off x="6400800" y="3280418"/>
            <a:ext cx="1219200" cy="276999"/>
          </a:xfrm>
          <a:prstGeom prst="rect">
            <a:avLst/>
          </a:prstGeom>
          <a:noFill/>
        </p:spPr>
        <p:txBody>
          <a:bodyPr wrap="square" rtlCol="0">
            <a:spAutoFit/>
          </a:bodyPr>
          <a:lstStyle/>
          <a:p>
            <a:r>
              <a:rPr lang="en-US" sz="1200" b="1" dirty="0" smtClean="0">
                <a:solidFill>
                  <a:prstClr val="black"/>
                </a:solidFill>
              </a:rPr>
              <a:t>Data Records</a:t>
            </a:r>
            <a:endParaRPr lang="en-US" sz="1200" b="1" dirty="0">
              <a:solidFill>
                <a:prstClr val="black"/>
              </a:solidFill>
            </a:endParaRPr>
          </a:p>
        </p:txBody>
      </p:sp>
      <p:sp>
        <p:nvSpPr>
          <p:cNvPr id="2" name="1 Rectángulo"/>
          <p:cNvSpPr/>
          <p:nvPr/>
        </p:nvSpPr>
        <p:spPr>
          <a:xfrm>
            <a:off x="0" y="855162"/>
            <a:ext cx="1981200" cy="1883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 name="10 Rectángulo"/>
          <p:cNvSpPr/>
          <p:nvPr/>
        </p:nvSpPr>
        <p:spPr>
          <a:xfrm>
            <a:off x="0" y="3229399"/>
            <a:ext cx="1981200" cy="1883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11 Rectángulo"/>
          <p:cNvSpPr/>
          <p:nvPr/>
        </p:nvSpPr>
        <p:spPr>
          <a:xfrm>
            <a:off x="0" y="5613162"/>
            <a:ext cx="1981200" cy="1883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3" name="12 Rectángulo"/>
          <p:cNvSpPr/>
          <p:nvPr/>
        </p:nvSpPr>
        <p:spPr>
          <a:xfrm>
            <a:off x="0" y="574706"/>
            <a:ext cx="1295400" cy="214166"/>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4" name="3 Conector recto de flecha"/>
          <p:cNvCxnSpPr/>
          <p:nvPr/>
        </p:nvCxnSpPr>
        <p:spPr>
          <a:xfrm>
            <a:off x="1295400" y="671366"/>
            <a:ext cx="4495800" cy="0"/>
          </a:xfrm>
          <a:prstGeom prst="straightConnector1">
            <a:avLst/>
          </a:prstGeom>
          <a:ln w="2540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9" name="18 Conector recto"/>
          <p:cNvCxnSpPr/>
          <p:nvPr/>
        </p:nvCxnSpPr>
        <p:spPr>
          <a:xfrm>
            <a:off x="0" y="3124200"/>
            <a:ext cx="914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23 Conector recto"/>
          <p:cNvCxnSpPr/>
          <p:nvPr/>
        </p:nvCxnSpPr>
        <p:spPr>
          <a:xfrm>
            <a:off x="0" y="5546222"/>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24 CuadroTexto"/>
          <p:cNvSpPr txBox="1"/>
          <p:nvPr/>
        </p:nvSpPr>
        <p:spPr>
          <a:xfrm>
            <a:off x="6400800" y="3543859"/>
            <a:ext cx="2133600" cy="276999"/>
          </a:xfrm>
          <a:prstGeom prst="rect">
            <a:avLst/>
          </a:prstGeom>
          <a:noFill/>
        </p:spPr>
        <p:txBody>
          <a:bodyPr wrap="square" rtlCol="0">
            <a:spAutoFit/>
          </a:bodyPr>
          <a:lstStyle/>
          <a:p>
            <a:r>
              <a:rPr lang="en-US" sz="1200" i="1" dirty="0" smtClean="0">
                <a:solidFill>
                  <a:prstClr val="black"/>
                </a:solidFill>
              </a:rPr>
              <a:t>(The 3 records we just created)</a:t>
            </a:r>
            <a:endParaRPr lang="en-US" sz="1200" i="1" dirty="0">
              <a:solidFill>
                <a:prstClr val="black"/>
              </a:solidFill>
            </a:endParaRPr>
          </a:p>
        </p:txBody>
      </p:sp>
      <p:cxnSp>
        <p:nvCxnSpPr>
          <p:cNvPr id="21" name="20 Conector recto de flecha"/>
          <p:cNvCxnSpPr/>
          <p:nvPr/>
        </p:nvCxnSpPr>
        <p:spPr>
          <a:xfrm>
            <a:off x="1981200" y="1043495"/>
            <a:ext cx="3276600" cy="0"/>
          </a:xfrm>
          <a:prstGeom prst="straightConnector1">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8" name="27 Conector recto de flecha"/>
          <p:cNvCxnSpPr/>
          <p:nvPr/>
        </p:nvCxnSpPr>
        <p:spPr>
          <a:xfrm flipV="1">
            <a:off x="1981200" y="3417732"/>
            <a:ext cx="4419600" cy="1186"/>
          </a:xfrm>
          <a:prstGeom prst="straightConnector1">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9" name="28 Conector recto de flecha"/>
          <p:cNvCxnSpPr/>
          <p:nvPr/>
        </p:nvCxnSpPr>
        <p:spPr>
          <a:xfrm>
            <a:off x="1981200" y="5801495"/>
            <a:ext cx="3276600" cy="0"/>
          </a:xfrm>
          <a:prstGeom prst="straightConnector1">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pic>
        <p:nvPicPr>
          <p:cNvPr id="20" name="19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37541" y="855162"/>
            <a:ext cx="3223748" cy="1964238"/>
          </a:xfrm>
          <a:prstGeom prst="rect">
            <a:avLst/>
          </a:prstGeom>
        </p:spPr>
      </p:pic>
      <p:cxnSp>
        <p:nvCxnSpPr>
          <p:cNvPr id="5136" name="5135 Conector recto"/>
          <p:cNvCxnSpPr/>
          <p:nvPr/>
        </p:nvCxnSpPr>
        <p:spPr>
          <a:xfrm flipH="1" flipV="1">
            <a:off x="5257800" y="1043495"/>
            <a:ext cx="1143000" cy="237483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38" name="5137 Conector recto"/>
          <p:cNvCxnSpPr/>
          <p:nvPr/>
        </p:nvCxnSpPr>
        <p:spPr>
          <a:xfrm flipH="1">
            <a:off x="5257800" y="3398326"/>
            <a:ext cx="1143000" cy="240316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22" name="21 Grupo"/>
          <p:cNvGrpSpPr/>
          <p:nvPr/>
        </p:nvGrpSpPr>
        <p:grpSpPr>
          <a:xfrm>
            <a:off x="9525" y="6574392"/>
            <a:ext cx="9134399" cy="277000"/>
            <a:chOff x="9525" y="6574392"/>
            <a:chExt cx="9134399" cy="277000"/>
          </a:xfrm>
        </p:grpSpPr>
        <p:sp>
          <p:nvSpPr>
            <p:cNvPr id="23" name="22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6" name="25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27" name="26 Grupo"/>
          <p:cNvGrpSpPr/>
          <p:nvPr/>
        </p:nvGrpSpPr>
        <p:grpSpPr>
          <a:xfrm>
            <a:off x="0" y="9525"/>
            <a:ext cx="9153525" cy="408388"/>
            <a:chOff x="0" y="9525"/>
            <a:chExt cx="9153525" cy="408388"/>
          </a:xfrm>
        </p:grpSpPr>
        <p:sp>
          <p:nvSpPr>
            <p:cNvPr id="30" name="29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Inside a SQL Server Page</a:t>
              </a:r>
              <a:endParaRPr lang="en-US" b="1" dirty="0">
                <a:solidFill>
                  <a:schemeClr val="bg1"/>
                </a:solidFill>
              </a:endParaRPr>
            </a:p>
          </p:txBody>
        </p:sp>
        <p:pic>
          <p:nvPicPr>
            <p:cNvPr id="31" name="30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2" name="31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8395816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1" y="838643"/>
            <a:ext cx="44958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3028" y="805255"/>
            <a:ext cx="3896171" cy="3919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10 CuadroTexto"/>
          <p:cNvSpPr txBox="1"/>
          <p:nvPr/>
        </p:nvSpPr>
        <p:spPr>
          <a:xfrm>
            <a:off x="-9972" y="495300"/>
            <a:ext cx="9144001" cy="307777"/>
          </a:xfrm>
          <a:prstGeom prst="rect">
            <a:avLst/>
          </a:prstGeom>
          <a:noFill/>
        </p:spPr>
        <p:txBody>
          <a:bodyPr wrap="square" rtlCol="0">
            <a:spAutoFit/>
          </a:bodyPr>
          <a:lstStyle/>
          <a:p>
            <a:r>
              <a:rPr lang="en-US" sz="1400" b="1" dirty="0" smtClean="0">
                <a:solidFill>
                  <a:prstClr val="black"/>
                </a:solidFill>
              </a:rPr>
              <a:t>How can we see the Slot Array of a Table?</a:t>
            </a:r>
            <a:endParaRPr lang="en-US" sz="1400" b="1" dirty="0">
              <a:solidFill>
                <a:prstClr val="black"/>
              </a:solidFill>
            </a:endParaRPr>
          </a:p>
        </p:txBody>
      </p:sp>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356790"/>
            <a:ext cx="1846907"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Rectángulo"/>
          <p:cNvSpPr/>
          <p:nvPr/>
        </p:nvSpPr>
        <p:spPr>
          <a:xfrm>
            <a:off x="4943029" y="3950971"/>
            <a:ext cx="1219200" cy="773692"/>
          </a:xfrm>
          <a:prstGeom prst="rect">
            <a:avLst/>
          </a:prstGeom>
          <a:noFill/>
          <a:ln w="127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4 Rectángulo"/>
          <p:cNvSpPr/>
          <p:nvPr/>
        </p:nvSpPr>
        <p:spPr>
          <a:xfrm>
            <a:off x="1044663" y="2957844"/>
            <a:ext cx="171750" cy="55714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25" name="24 Grupo"/>
          <p:cNvGrpSpPr/>
          <p:nvPr/>
        </p:nvGrpSpPr>
        <p:grpSpPr>
          <a:xfrm>
            <a:off x="3581400" y="4986992"/>
            <a:ext cx="3733088" cy="923382"/>
            <a:chOff x="4829085" y="4994470"/>
            <a:chExt cx="3733088" cy="923382"/>
          </a:xfrm>
        </p:grpSpPr>
        <p:sp>
          <p:nvSpPr>
            <p:cNvPr id="17" name="16 CuadroTexto"/>
            <p:cNvSpPr txBox="1"/>
            <p:nvPr/>
          </p:nvSpPr>
          <p:spPr>
            <a:xfrm>
              <a:off x="4829085" y="5271521"/>
              <a:ext cx="3733088" cy="646331"/>
            </a:xfrm>
            <a:prstGeom prst="rect">
              <a:avLst/>
            </a:prstGeom>
            <a:noFill/>
            <a:ln w="3175">
              <a:solidFill>
                <a:schemeClr val="tx1"/>
              </a:solidFill>
            </a:ln>
          </p:spPr>
          <p:txBody>
            <a:bodyPr wrap="square" rtlCol="0">
              <a:spAutoFit/>
            </a:bodyPr>
            <a:lstStyle/>
            <a:p>
              <a:pPr marL="171450" indent="-171450">
                <a:buFont typeface="Wingdings" pitchFamily="2" charset="2"/>
                <a:buChar char="§"/>
              </a:pPr>
              <a:r>
                <a:rPr lang="en-US" sz="1200" dirty="0" smtClean="0">
                  <a:solidFill>
                    <a:prstClr val="black"/>
                  </a:solidFill>
                </a:rPr>
                <a:t>How </a:t>
              </a:r>
              <a:r>
                <a:rPr lang="en-US" sz="1200" dirty="0">
                  <a:solidFill>
                    <a:prstClr val="black"/>
                  </a:solidFill>
                </a:rPr>
                <a:t>far the </a:t>
              </a:r>
              <a:r>
                <a:rPr lang="en-US" sz="1200" b="1" dirty="0">
                  <a:solidFill>
                    <a:prstClr val="black"/>
                  </a:solidFill>
                </a:rPr>
                <a:t>first byte</a:t>
              </a:r>
              <a:r>
                <a:rPr lang="en-US" sz="1200" dirty="0">
                  <a:solidFill>
                    <a:prstClr val="black"/>
                  </a:solidFill>
                </a:rPr>
                <a:t> of the row is from the </a:t>
              </a:r>
              <a:r>
                <a:rPr lang="en-US" sz="1200" dirty="0" smtClean="0">
                  <a:solidFill>
                    <a:prstClr val="black"/>
                  </a:solidFill>
                </a:rPr>
                <a:t>page.</a:t>
              </a:r>
            </a:p>
            <a:p>
              <a:pPr marL="171450" indent="-171450">
                <a:buFont typeface="Wingdings" pitchFamily="2" charset="2"/>
                <a:buChar char="§"/>
              </a:pPr>
              <a:r>
                <a:rPr lang="en-US" sz="1200" dirty="0" smtClean="0">
                  <a:solidFill>
                    <a:prstClr val="black"/>
                  </a:solidFill>
                </a:rPr>
                <a:t>In other terms, this is the </a:t>
              </a:r>
              <a:r>
                <a:rPr lang="en-US" sz="1200" b="1" dirty="0" smtClean="0">
                  <a:solidFill>
                    <a:prstClr val="black"/>
                  </a:solidFill>
                </a:rPr>
                <a:t>Distance</a:t>
              </a:r>
              <a:r>
                <a:rPr lang="en-US" sz="1200" dirty="0" smtClean="0">
                  <a:solidFill>
                    <a:prstClr val="black"/>
                  </a:solidFill>
                </a:rPr>
                <a:t> between the Page Header and a specific row.</a:t>
              </a:r>
              <a:endParaRPr lang="en-US" sz="1200" dirty="0">
                <a:solidFill>
                  <a:prstClr val="black"/>
                </a:solidFill>
              </a:endParaRPr>
            </a:p>
          </p:txBody>
        </p:sp>
        <p:sp>
          <p:nvSpPr>
            <p:cNvPr id="18" name="17 CuadroTexto"/>
            <p:cNvSpPr txBox="1"/>
            <p:nvPr/>
          </p:nvSpPr>
          <p:spPr>
            <a:xfrm>
              <a:off x="4829085" y="4994470"/>
              <a:ext cx="3733088"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r>
                <a:rPr lang="en-US" sz="1200" b="1" dirty="0" smtClean="0">
                  <a:solidFill>
                    <a:prstClr val="black"/>
                  </a:solidFill>
                </a:rPr>
                <a:t>Starting Offset of the Slot  (aka: “</a:t>
              </a:r>
              <a:r>
                <a:rPr lang="en-US" sz="1200" b="1" i="1" dirty="0" smtClean="0">
                  <a:solidFill>
                    <a:prstClr val="black"/>
                  </a:solidFill>
                </a:rPr>
                <a:t>where am I</a:t>
              </a:r>
              <a:r>
                <a:rPr lang="en-US" sz="1200" b="1" dirty="0" smtClean="0">
                  <a:solidFill>
                    <a:prstClr val="black"/>
                  </a:solidFill>
                </a:rPr>
                <a:t>?”)</a:t>
              </a:r>
              <a:endParaRPr lang="en-US" sz="1200" b="1" dirty="0">
                <a:solidFill>
                  <a:prstClr val="black"/>
                </a:solidFill>
              </a:endParaRPr>
            </a:p>
          </p:txBody>
        </p:sp>
      </p:grpSp>
      <p:sp>
        <p:nvSpPr>
          <p:cNvPr id="8" name="7 Flecha derecha"/>
          <p:cNvSpPr/>
          <p:nvPr/>
        </p:nvSpPr>
        <p:spPr>
          <a:xfrm>
            <a:off x="3048000" y="1393322"/>
            <a:ext cx="1785714" cy="50227"/>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2" name="21 Rectángulo"/>
          <p:cNvSpPr/>
          <p:nvPr/>
        </p:nvSpPr>
        <p:spPr>
          <a:xfrm>
            <a:off x="1896961" y="2942889"/>
            <a:ext cx="308868" cy="55714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24" name="23 Grupo"/>
          <p:cNvGrpSpPr/>
          <p:nvPr/>
        </p:nvGrpSpPr>
        <p:grpSpPr>
          <a:xfrm>
            <a:off x="160946" y="4810392"/>
            <a:ext cx="3029484" cy="1661994"/>
            <a:chOff x="160946" y="4533544"/>
            <a:chExt cx="3029484" cy="1661994"/>
          </a:xfrm>
        </p:grpSpPr>
        <p:sp>
          <p:nvSpPr>
            <p:cNvPr id="16" name="15 CuadroTexto"/>
            <p:cNvSpPr txBox="1"/>
            <p:nvPr/>
          </p:nvSpPr>
          <p:spPr>
            <a:xfrm>
              <a:off x="164862" y="4810543"/>
              <a:ext cx="3025568" cy="1384995"/>
            </a:xfrm>
            <a:prstGeom prst="rect">
              <a:avLst/>
            </a:prstGeom>
            <a:noFill/>
            <a:ln w="3175">
              <a:solidFill>
                <a:schemeClr val="tx1"/>
              </a:solidFill>
            </a:ln>
          </p:spPr>
          <p:txBody>
            <a:bodyPr wrap="square" rtlCol="0">
              <a:spAutoFit/>
            </a:bodyPr>
            <a:lstStyle/>
            <a:p>
              <a:pPr marL="171450" indent="-171450">
                <a:buFont typeface="Wingdings" pitchFamily="2" charset="2"/>
                <a:buChar char="§"/>
              </a:pPr>
              <a:r>
                <a:rPr lang="en-US" sz="1200" dirty="0" smtClean="0">
                  <a:solidFill>
                    <a:prstClr val="black"/>
                  </a:solidFill>
                </a:rPr>
                <a:t>Slot position = Row</a:t>
              </a:r>
            </a:p>
            <a:p>
              <a:pPr marL="171450" indent="-171450">
                <a:buFont typeface="Wingdings" pitchFamily="2" charset="2"/>
                <a:buChar char="§"/>
              </a:pPr>
              <a:endParaRPr lang="en-US" sz="1200" dirty="0" smtClean="0">
                <a:solidFill>
                  <a:prstClr val="black"/>
                </a:solidFill>
              </a:endParaRPr>
            </a:p>
            <a:p>
              <a:r>
                <a:rPr lang="en-US" sz="1200" u="sng" dirty="0" smtClean="0">
                  <a:solidFill>
                    <a:prstClr val="black"/>
                  </a:solidFill>
                </a:rPr>
                <a:t>Our table contains 3 rows</a:t>
              </a:r>
              <a:r>
                <a:rPr lang="en-US" sz="1200" dirty="0" smtClean="0">
                  <a:solidFill>
                    <a:prstClr val="black"/>
                  </a:solidFill>
                </a:rPr>
                <a:t>:</a:t>
              </a:r>
            </a:p>
            <a:p>
              <a:pPr marL="171450" indent="-171450">
                <a:buFont typeface="Wingdings" pitchFamily="2" charset="2"/>
                <a:buChar char="§"/>
              </a:pPr>
              <a:r>
                <a:rPr lang="en-US" sz="1200" dirty="0" smtClean="0">
                  <a:solidFill>
                    <a:prstClr val="black"/>
                  </a:solidFill>
                </a:rPr>
                <a:t>Slot 0 = Pointer to the 1</a:t>
              </a:r>
              <a:r>
                <a:rPr lang="en-US" sz="1200" baseline="30000" dirty="0" smtClean="0">
                  <a:solidFill>
                    <a:prstClr val="black"/>
                  </a:solidFill>
                </a:rPr>
                <a:t>st</a:t>
              </a:r>
              <a:r>
                <a:rPr lang="en-US" sz="1200" dirty="0" smtClean="0">
                  <a:solidFill>
                    <a:prstClr val="black"/>
                  </a:solidFill>
                </a:rPr>
                <a:t> row </a:t>
              </a:r>
              <a:r>
                <a:rPr lang="en-US" sz="1200" dirty="0">
                  <a:solidFill>
                    <a:prstClr val="black"/>
                  </a:solidFill>
                </a:rPr>
                <a:t>of the </a:t>
              </a:r>
              <a:r>
                <a:rPr lang="en-US" sz="1200" dirty="0" smtClean="0">
                  <a:solidFill>
                    <a:prstClr val="black"/>
                  </a:solidFill>
                </a:rPr>
                <a:t>table</a:t>
              </a:r>
              <a:endParaRPr lang="en-US" sz="1200" dirty="0">
                <a:solidFill>
                  <a:prstClr val="black"/>
                </a:solidFill>
              </a:endParaRPr>
            </a:p>
            <a:p>
              <a:pPr marL="171450" indent="-171450">
                <a:buFont typeface="Wingdings" pitchFamily="2" charset="2"/>
                <a:buChar char="§"/>
              </a:pPr>
              <a:r>
                <a:rPr lang="en-US" sz="1200" dirty="0" smtClean="0">
                  <a:solidFill>
                    <a:prstClr val="black"/>
                  </a:solidFill>
                </a:rPr>
                <a:t>Slot 1 = </a:t>
              </a:r>
              <a:r>
                <a:rPr lang="en-US" sz="1200" dirty="0">
                  <a:solidFill>
                    <a:prstClr val="black"/>
                  </a:solidFill>
                </a:rPr>
                <a:t>Pointer to the </a:t>
              </a:r>
              <a:r>
                <a:rPr lang="en-US" sz="1200" dirty="0" smtClean="0">
                  <a:solidFill>
                    <a:prstClr val="black"/>
                  </a:solidFill>
                </a:rPr>
                <a:t>2</a:t>
              </a:r>
              <a:r>
                <a:rPr lang="en-US" sz="1200" baseline="30000" dirty="0" smtClean="0">
                  <a:solidFill>
                    <a:prstClr val="black"/>
                  </a:solidFill>
                </a:rPr>
                <a:t>nd</a:t>
              </a:r>
              <a:r>
                <a:rPr lang="en-US" sz="1200" dirty="0" smtClean="0">
                  <a:solidFill>
                    <a:prstClr val="black"/>
                  </a:solidFill>
                </a:rPr>
                <a:t> row </a:t>
              </a:r>
              <a:r>
                <a:rPr lang="en-US" sz="1200" dirty="0">
                  <a:solidFill>
                    <a:prstClr val="black"/>
                  </a:solidFill>
                </a:rPr>
                <a:t>of the </a:t>
              </a:r>
              <a:r>
                <a:rPr lang="en-US" sz="1200" dirty="0" smtClean="0">
                  <a:solidFill>
                    <a:prstClr val="black"/>
                  </a:solidFill>
                </a:rPr>
                <a:t>table</a:t>
              </a:r>
              <a:endParaRPr lang="en-US" sz="1200" dirty="0">
                <a:solidFill>
                  <a:prstClr val="black"/>
                </a:solidFill>
              </a:endParaRPr>
            </a:p>
            <a:p>
              <a:pPr marL="171450" indent="-171450">
                <a:buFont typeface="Wingdings" pitchFamily="2" charset="2"/>
                <a:buChar char="§"/>
              </a:pPr>
              <a:r>
                <a:rPr lang="en-US" sz="1200" dirty="0" smtClean="0">
                  <a:solidFill>
                    <a:prstClr val="black"/>
                  </a:solidFill>
                </a:rPr>
                <a:t>Slot 2 </a:t>
              </a:r>
              <a:r>
                <a:rPr lang="en-US" sz="1200" dirty="0">
                  <a:solidFill>
                    <a:prstClr val="black"/>
                  </a:solidFill>
                </a:rPr>
                <a:t>= Pointer to the </a:t>
              </a:r>
              <a:r>
                <a:rPr lang="en-US" sz="1200" dirty="0" smtClean="0">
                  <a:solidFill>
                    <a:prstClr val="black"/>
                  </a:solidFill>
                </a:rPr>
                <a:t>3</a:t>
              </a:r>
              <a:r>
                <a:rPr lang="en-US" sz="1200" baseline="30000" dirty="0" smtClean="0">
                  <a:solidFill>
                    <a:prstClr val="black"/>
                  </a:solidFill>
                </a:rPr>
                <a:t>rd</a:t>
              </a:r>
              <a:r>
                <a:rPr lang="en-US" sz="1200" dirty="0" smtClean="0">
                  <a:solidFill>
                    <a:prstClr val="black"/>
                  </a:solidFill>
                </a:rPr>
                <a:t> row </a:t>
              </a:r>
              <a:r>
                <a:rPr lang="en-US" sz="1200" dirty="0">
                  <a:solidFill>
                    <a:prstClr val="black"/>
                  </a:solidFill>
                </a:rPr>
                <a:t>of the </a:t>
              </a:r>
              <a:r>
                <a:rPr lang="en-US" sz="1200" dirty="0" smtClean="0">
                  <a:solidFill>
                    <a:prstClr val="black"/>
                  </a:solidFill>
                </a:rPr>
                <a:t>table</a:t>
              </a:r>
            </a:p>
            <a:p>
              <a:pPr marL="171450" indent="-171450">
                <a:buFont typeface="Wingdings" pitchFamily="2" charset="2"/>
                <a:buChar char="§"/>
              </a:pPr>
              <a:r>
                <a:rPr lang="en-US" sz="1200" dirty="0" smtClean="0">
                  <a:solidFill>
                    <a:prstClr val="black"/>
                  </a:solidFill>
                </a:rPr>
                <a:t>…and so on</a:t>
              </a:r>
              <a:endParaRPr lang="en-US" sz="1200" dirty="0">
                <a:solidFill>
                  <a:prstClr val="black"/>
                </a:solidFill>
              </a:endParaRPr>
            </a:p>
          </p:txBody>
        </p:sp>
        <p:sp>
          <p:nvSpPr>
            <p:cNvPr id="23" name="22 CuadroTexto"/>
            <p:cNvSpPr txBox="1"/>
            <p:nvPr/>
          </p:nvSpPr>
          <p:spPr>
            <a:xfrm>
              <a:off x="160946" y="4533544"/>
              <a:ext cx="3029484"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r>
                <a:rPr lang="en-US" sz="1200" b="1" dirty="0" smtClean="0">
                  <a:solidFill>
                    <a:prstClr val="black"/>
                  </a:solidFill>
                </a:rPr>
                <a:t>Position in the Slot Array (aka: “</a:t>
              </a:r>
              <a:r>
                <a:rPr lang="en-US" sz="1200" b="1" i="1" dirty="0" smtClean="0">
                  <a:solidFill>
                    <a:prstClr val="black"/>
                  </a:solidFill>
                </a:rPr>
                <a:t>who am I</a:t>
              </a:r>
              <a:r>
                <a:rPr lang="en-US" sz="1200" b="1" dirty="0" smtClean="0">
                  <a:solidFill>
                    <a:prstClr val="black"/>
                  </a:solidFill>
                </a:rPr>
                <a:t>?”)</a:t>
              </a:r>
              <a:endParaRPr lang="en-US" sz="1200" b="1" dirty="0">
                <a:solidFill>
                  <a:prstClr val="black"/>
                </a:solidFill>
              </a:endParaRPr>
            </a:p>
          </p:txBody>
        </p:sp>
      </p:grpSp>
      <p:cxnSp>
        <p:nvCxnSpPr>
          <p:cNvPr id="27" name="26 Conector recto de flecha"/>
          <p:cNvCxnSpPr/>
          <p:nvPr/>
        </p:nvCxnSpPr>
        <p:spPr>
          <a:xfrm flipH="1">
            <a:off x="2743200" y="3384490"/>
            <a:ext cx="1981201" cy="0"/>
          </a:xfrm>
          <a:prstGeom prst="straightConnector1">
            <a:avLst/>
          </a:prstGeom>
          <a:ln w="127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30" name="29 Conector recto"/>
          <p:cNvCxnSpPr/>
          <p:nvPr/>
        </p:nvCxnSpPr>
        <p:spPr>
          <a:xfrm>
            <a:off x="4724400" y="3382354"/>
            <a:ext cx="0" cy="1219200"/>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168" name="7167 Conector recto"/>
          <p:cNvCxnSpPr/>
          <p:nvPr/>
        </p:nvCxnSpPr>
        <p:spPr>
          <a:xfrm>
            <a:off x="4724400" y="4602267"/>
            <a:ext cx="218628" cy="0"/>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174" name="7173 Conector recto de flecha"/>
          <p:cNvCxnSpPr/>
          <p:nvPr/>
        </p:nvCxnSpPr>
        <p:spPr>
          <a:xfrm>
            <a:off x="1130538" y="3514988"/>
            <a:ext cx="0" cy="1295404"/>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7176" name="7175 Conector recto de flecha"/>
          <p:cNvCxnSpPr/>
          <p:nvPr/>
        </p:nvCxnSpPr>
        <p:spPr>
          <a:xfrm>
            <a:off x="2205829" y="3514988"/>
            <a:ext cx="1375571" cy="1399912"/>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grpSp>
        <p:nvGrpSpPr>
          <p:cNvPr id="26" name="25 Grupo"/>
          <p:cNvGrpSpPr/>
          <p:nvPr/>
        </p:nvGrpSpPr>
        <p:grpSpPr>
          <a:xfrm>
            <a:off x="0" y="9525"/>
            <a:ext cx="9153525" cy="408388"/>
            <a:chOff x="0" y="9525"/>
            <a:chExt cx="9153525" cy="408388"/>
          </a:xfrm>
        </p:grpSpPr>
        <p:sp>
          <p:nvSpPr>
            <p:cNvPr id="28" name="2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Inside the Slot Array  </a:t>
              </a:r>
              <a:r>
                <a:rPr lang="en-US" b="1" i="1" dirty="0" smtClean="0">
                  <a:solidFill>
                    <a:schemeClr val="bg1"/>
                  </a:solidFill>
                </a:rPr>
                <a:t>(also known as Row Offset Table)</a:t>
              </a:r>
              <a:endParaRPr lang="en-US" b="1" i="1" dirty="0">
                <a:solidFill>
                  <a:schemeClr val="bg1"/>
                </a:solidFill>
              </a:endParaRPr>
            </a:p>
          </p:txBody>
        </p:sp>
        <p:pic>
          <p:nvPicPr>
            <p:cNvPr id="29" name="28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1" name="30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2" name="31 Grupo"/>
          <p:cNvGrpSpPr/>
          <p:nvPr/>
        </p:nvGrpSpPr>
        <p:grpSpPr>
          <a:xfrm>
            <a:off x="9525" y="6574392"/>
            <a:ext cx="9134399" cy="277000"/>
            <a:chOff x="9525" y="6574392"/>
            <a:chExt cx="9134399" cy="277000"/>
          </a:xfrm>
        </p:grpSpPr>
        <p:sp>
          <p:nvSpPr>
            <p:cNvPr id="33" name="32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34" name="33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53140572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52400" y="685800"/>
            <a:ext cx="8991600" cy="1384995"/>
          </a:xfrm>
          <a:prstGeom prst="rect">
            <a:avLst/>
          </a:prstGeom>
          <a:noFill/>
        </p:spPr>
        <p:txBody>
          <a:bodyPr wrap="square" rtlCol="0">
            <a:spAutoFit/>
          </a:bodyPr>
          <a:lstStyle/>
          <a:p>
            <a:pPr marL="285750" indent="-285750">
              <a:buFont typeface="Wingdings" pitchFamily="2" charset="2"/>
              <a:buChar char="ü"/>
            </a:pPr>
            <a:r>
              <a:rPr lang="en-US" sz="1400" dirty="0">
                <a:solidFill>
                  <a:prstClr val="black"/>
                </a:solidFill>
              </a:rPr>
              <a:t>The “</a:t>
            </a:r>
            <a:r>
              <a:rPr lang="en-US" sz="1400" b="1" i="1" dirty="0">
                <a:solidFill>
                  <a:prstClr val="black"/>
                </a:solidFill>
              </a:rPr>
              <a:t>Starting bytes of a slot</a:t>
            </a:r>
            <a:r>
              <a:rPr lang="en-US" sz="1400" dirty="0">
                <a:solidFill>
                  <a:prstClr val="black"/>
                </a:solidFill>
              </a:rPr>
              <a:t>” tells how far the first byte of the row is from the page. </a:t>
            </a:r>
            <a:endParaRPr lang="en-US" sz="1400" dirty="0" smtClean="0">
              <a:solidFill>
                <a:prstClr val="black"/>
              </a:solidFill>
            </a:endParaRPr>
          </a:p>
          <a:p>
            <a:pPr marL="285750" indent="-285750">
              <a:buFont typeface="Wingdings" pitchFamily="2" charset="2"/>
              <a:buChar char="ü"/>
            </a:pPr>
            <a:endParaRPr lang="en-US" sz="1400" dirty="0" smtClean="0">
              <a:solidFill>
                <a:prstClr val="black"/>
              </a:solidFill>
            </a:endParaRPr>
          </a:p>
          <a:p>
            <a:pPr marL="285750" indent="-285750">
              <a:buFont typeface="Wingdings" pitchFamily="2" charset="2"/>
              <a:buChar char="ü"/>
            </a:pPr>
            <a:r>
              <a:rPr lang="en-US" sz="1400" dirty="0" smtClean="0">
                <a:solidFill>
                  <a:prstClr val="black"/>
                </a:solidFill>
              </a:rPr>
              <a:t>Row #1 (Slot #0) </a:t>
            </a:r>
            <a:r>
              <a:rPr lang="en-US" sz="1400" dirty="0">
                <a:solidFill>
                  <a:prstClr val="black"/>
                </a:solidFill>
              </a:rPr>
              <a:t>is 96 bytes </a:t>
            </a:r>
            <a:r>
              <a:rPr lang="en-US" sz="1400" dirty="0" smtClean="0">
                <a:solidFill>
                  <a:prstClr val="black"/>
                </a:solidFill>
              </a:rPr>
              <a:t>(0x60) far </a:t>
            </a:r>
            <a:r>
              <a:rPr lang="en-US" sz="1400" dirty="0">
                <a:solidFill>
                  <a:prstClr val="black"/>
                </a:solidFill>
              </a:rPr>
              <a:t>from the start of the </a:t>
            </a:r>
            <a:r>
              <a:rPr lang="en-US" sz="1400" dirty="0" smtClean="0">
                <a:solidFill>
                  <a:prstClr val="black"/>
                </a:solidFill>
              </a:rPr>
              <a:t>page, </a:t>
            </a:r>
            <a:r>
              <a:rPr lang="en-US" sz="1400" dirty="0">
                <a:solidFill>
                  <a:prstClr val="black"/>
                </a:solidFill>
              </a:rPr>
              <a:t>where 96 bytes is the page header size. </a:t>
            </a:r>
            <a:endParaRPr lang="en-US" sz="1400" dirty="0" smtClean="0">
              <a:solidFill>
                <a:prstClr val="black"/>
              </a:solidFill>
            </a:endParaRPr>
          </a:p>
          <a:p>
            <a:pPr marL="285750" indent="-285750">
              <a:buFont typeface="Wingdings" pitchFamily="2" charset="2"/>
              <a:buChar char="ü"/>
            </a:pPr>
            <a:endParaRPr lang="en-US" sz="1400" dirty="0" smtClean="0">
              <a:solidFill>
                <a:prstClr val="black"/>
              </a:solidFill>
            </a:endParaRPr>
          </a:p>
          <a:p>
            <a:pPr marL="285750" indent="-285750">
              <a:buFont typeface="Wingdings" pitchFamily="2" charset="2"/>
              <a:buChar char="ü"/>
            </a:pPr>
            <a:r>
              <a:rPr lang="en-US" sz="1400" dirty="0" smtClean="0">
                <a:solidFill>
                  <a:prstClr val="black"/>
                </a:solidFill>
              </a:rPr>
              <a:t>The </a:t>
            </a:r>
            <a:r>
              <a:rPr lang="en-US" sz="1400" dirty="0">
                <a:solidFill>
                  <a:prstClr val="black"/>
                </a:solidFill>
              </a:rPr>
              <a:t>“Starting bytes of slot” for subsequent rows are calculated </a:t>
            </a:r>
            <a:r>
              <a:rPr lang="en-US" sz="1400" dirty="0" smtClean="0">
                <a:solidFill>
                  <a:prstClr val="black"/>
                </a:solidFill>
              </a:rPr>
              <a:t>as:</a:t>
            </a:r>
          </a:p>
          <a:p>
            <a:r>
              <a:rPr lang="en-US" sz="1400" b="1" dirty="0" smtClean="0">
                <a:solidFill>
                  <a:prstClr val="black"/>
                </a:solidFill>
              </a:rPr>
              <a:t>       </a:t>
            </a:r>
            <a:r>
              <a:rPr lang="en-US" sz="1400" b="1" dirty="0" smtClean="0">
                <a:solidFill>
                  <a:srgbClr val="0000FF"/>
                </a:solidFill>
              </a:rPr>
              <a:t>[</a:t>
            </a:r>
            <a:r>
              <a:rPr lang="en-US" sz="1400" b="1" dirty="0">
                <a:solidFill>
                  <a:srgbClr val="0000FF"/>
                </a:solidFill>
              </a:rPr>
              <a:t>Current Row Size] + [Previous Row Size</a:t>
            </a:r>
            <a:r>
              <a:rPr lang="en-US" sz="1400" b="1" dirty="0" smtClean="0">
                <a:solidFill>
                  <a:srgbClr val="0000FF"/>
                </a:solidFill>
              </a:rPr>
              <a:t>]</a:t>
            </a:r>
            <a:r>
              <a:rPr lang="en-US" sz="1400" dirty="0" smtClean="0">
                <a:solidFill>
                  <a:srgbClr val="0000FF"/>
                </a:solidFill>
              </a:rPr>
              <a:t> </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471" y="2113305"/>
            <a:ext cx="1962339"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7 Rectángulo"/>
          <p:cNvSpPr/>
          <p:nvPr/>
        </p:nvSpPr>
        <p:spPr>
          <a:xfrm>
            <a:off x="5843397" y="2717207"/>
            <a:ext cx="331301" cy="68188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007" y="2464752"/>
            <a:ext cx="354330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4" name="13 Conector recto de flecha"/>
          <p:cNvCxnSpPr/>
          <p:nvPr/>
        </p:nvCxnSpPr>
        <p:spPr>
          <a:xfrm>
            <a:off x="3722761" y="2820827"/>
            <a:ext cx="1145164"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17 Conector recto de flecha"/>
          <p:cNvCxnSpPr/>
          <p:nvPr/>
        </p:nvCxnSpPr>
        <p:spPr>
          <a:xfrm>
            <a:off x="3722761" y="3006699"/>
            <a:ext cx="1145164"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18 Conector recto de flecha"/>
          <p:cNvCxnSpPr/>
          <p:nvPr/>
        </p:nvCxnSpPr>
        <p:spPr>
          <a:xfrm>
            <a:off x="3717422" y="3209660"/>
            <a:ext cx="1145164"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0" name="19 Rectángulo"/>
          <p:cNvSpPr/>
          <p:nvPr/>
        </p:nvSpPr>
        <p:spPr>
          <a:xfrm>
            <a:off x="3372240" y="2700831"/>
            <a:ext cx="331301" cy="64022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4114933"/>
            <a:ext cx="3067050"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Rectángulo"/>
          <p:cNvSpPr/>
          <p:nvPr/>
        </p:nvSpPr>
        <p:spPr>
          <a:xfrm>
            <a:off x="4473393" y="4887630"/>
            <a:ext cx="268218" cy="21659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9" name="8 Conector recto de flecha"/>
          <p:cNvCxnSpPr>
            <a:endCxn id="6" idx="0"/>
          </p:cNvCxnSpPr>
          <p:nvPr/>
        </p:nvCxnSpPr>
        <p:spPr>
          <a:xfrm>
            <a:off x="1752600" y="3341052"/>
            <a:ext cx="2854902" cy="154657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15" name="14 Grupo"/>
          <p:cNvGrpSpPr/>
          <p:nvPr/>
        </p:nvGrpSpPr>
        <p:grpSpPr>
          <a:xfrm>
            <a:off x="0" y="9525"/>
            <a:ext cx="9153525" cy="408388"/>
            <a:chOff x="0" y="9525"/>
            <a:chExt cx="9153525" cy="408388"/>
          </a:xfrm>
        </p:grpSpPr>
        <p:sp>
          <p:nvSpPr>
            <p:cNvPr id="16" name="15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Inside the Slot Array  </a:t>
              </a:r>
              <a:r>
                <a:rPr lang="en-US" b="1" i="1" dirty="0" smtClean="0">
                  <a:solidFill>
                    <a:schemeClr val="bg1"/>
                  </a:solidFill>
                </a:rPr>
                <a:t>(also known as Row Offset Table)</a:t>
              </a:r>
              <a:endParaRPr lang="en-US" b="1" i="1" dirty="0">
                <a:solidFill>
                  <a:schemeClr val="bg1"/>
                </a:solidFill>
              </a:endParaRPr>
            </a:p>
          </p:txBody>
        </p:sp>
        <p:pic>
          <p:nvPicPr>
            <p:cNvPr id="17" name="16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2" name="21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 name="22 Grupo"/>
          <p:cNvGrpSpPr/>
          <p:nvPr/>
        </p:nvGrpSpPr>
        <p:grpSpPr>
          <a:xfrm>
            <a:off x="9525" y="6574392"/>
            <a:ext cx="9134399" cy="277000"/>
            <a:chOff x="9525" y="6574392"/>
            <a:chExt cx="9134399" cy="277000"/>
          </a:xfrm>
        </p:grpSpPr>
        <p:sp>
          <p:nvSpPr>
            <p:cNvPr id="24" name="23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5" name="24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88358770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0" y="609600"/>
            <a:ext cx="9144000" cy="1569660"/>
          </a:xfrm>
          <a:prstGeom prst="rect">
            <a:avLst/>
          </a:prstGeom>
          <a:noFill/>
        </p:spPr>
        <p:txBody>
          <a:bodyPr wrap="square" rtlCol="0">
            <a:spAutoFit/>
          </a:bodyPr>
          <a:lstStyle/>
          <a:p>
            <a:r>
              <a:rPr lang="en-US" sz="1600" dirty="0" smtClean="0">
                <a:solidFill>
                  <a:prstClr val="black"/>
                </a:solidFill>
              </a:rPr>
              <a:t>Whenever a regular data record is updated to be larger, and there is no space on the page, </a:t>
            </a:r>
          </a:p>
          <a:p>
            <a:r>
              <a:rPr lang="en-US" sz="1600" dirty="0" smtClean="0">
                <a:solidFill>
                  <a:prstClr val="black"/>
                </a:solidFill>
              </a:rPr>
              <a:t>we are forcing SQL Server to move the record to a new data page.</a:t>
            </a:r>
          </a:p>
          <a:p>
            <a:endParaRPr lang="en-US" sz="1600" dirty="0" smtClean="0">
              <a:solidFill>
                <a:prstClr val="black"/>
              </a:solidFill>
            </a:endParaRPr>
          </a:p>
          <a:p>
            <a:r>
              <a:rPr lang="en-US" sz="1600" dirty="0" smtClean="0">
                <a:solidFill>
                  <a:prstClr val="black"/>
                </a:solidFill>
              </a:rPr>
              <a:t>The old location has a pointer to the new location:</a:t>
            </a:r>
            <a:endParaRPr lang="en-US" sz="1600" dirty="0">
              <a:solidFill>
                <a:prstClr val="black"/>
              </a:solidFill>
            </a:endParaRPr>
          </a:p>
          <a:p>
            <a:pPr marL="285750" indent="-285750">
              <a:buFont typeface="Wingdings" pitchFamily="2" charset="2"/>
              <a:buChar char="Ø"/>
            </a:pPr>
            <a:r>
              <a:rPr lang="en-US" sz="1600" dirty="0" smtClean="0">
                <a:solidFill>
                  <a:prstClr val="black"/>
                </a:solidFill>
              </a:rPr>
              <a:t>The record in the new location is called a “forwarded” record</a:t>
            </a:r>
          </a:p>
          <a:p>
            <a:pPr marL="285750" indent="-285750">
              <a:buFont typeface="Wingdings" pitchFamily="2" charset="2"/>
              <a:buChar char="Ø"/>
            </a:pPr>
            <a:r>
              <a:rPr lang="en-US" sz="1600" dirty="0" smtClean="0">
                <a:solidFill>
                  <a:prstClr val="black"/>
                </a:solidFill>
              </a:rPr>
              <a:t>The record in the old location is called a “forwarding” record</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124201"/>
            <a:ext cx="2594964"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088" y="4953000"/>
            <a:ext cx="85153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p:cNvSpPr txBox="1"/>
          <p:nvPr/>
        </p:nvSpPr>
        <p:spPr>
          <a:xfrm>
            <a:off x="-10237" y="2667000"/>
            <a:ext cx="9144000" cy="338554"/>
          </a:xfrm>
          <a:prstGeom prst="rect">
            <a:avLst/>
          </a:prstGeom>
          <a:noFill/>
        </p:spPr>
        <p:txBody>
          <a:bodyPr wrap="square" rtlCol="0">
            <a:spAutoFit/>
          </a:bodyPr>
          <a:lstStyle/>
          <a:p>
            <a:r>
              <a:rPr lang="en-US" sz="1600" b="1" dirty="0" smtClean="0">
                <a:solidFill>
                  <a:prstClr val="black"/>
                </a:solidFill>
              </a:rPr>
              <a:t>Let’s create a table with variable-length columns</a:t>
            </a:r>
          </a:p>
        </p:txBody>
      </p:sp>
      <p:grpSp>
        <p:nvGrpSpPr>
          <p:cNvPr id="7" name="6 Grupo"/>
          <p:cNvGrpSpPr/>
          <p:nvPr/>
        </p:nvGrpSpPr>
        <p:grpSpPr>
          <a:xfrm>
            <a:off x="0" y="9525"/>
            <a:ext cx="9153525" cy="408388"/>
            <a:chOff x="0" y="9525"/>
            <a:chExt cx="9153525" cy="408388"/>
          </a:xfrm>
        </p:grpSpPr>
        <p:sp>
          <p:nvSpPr>
            <p:cNvPr id="8" name="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Record Types |  Forwarding and Forwarded Records</a:t>
              </a:r>
              <a:endParaRPr lang="en-US" b="1" i="1" dirty="0">
                <a:solidFill>
                  <a:schemeClr val="bg1"/>
                </a:solidFill>
              </a:endParaRPr>
            </a:p>
          </p:txBody>
        </p:sp>
        <p:pic>
          <p:nvPicPr>
            <p:cNvPr id="9" name="8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9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10 Grupo"/>
          <p:cNvGrpSpPr/>
          <p:nvPr/>
        </p:nvGrpSpPr>
        <p:grpSpPr>
          <a:xfrm>
            <a:off x="9525" y="6574392"/>
            <a:ext cx="9134399" cy="277000"/>
            <a:chOff x="9525" y="6574392"/>
            <a:chExt cx="9134399" cy="277000"/>
          </a:xfrm>
        </p:grpSpPr>
        <p:sp>
          <p:nvSpPr>
            <p:cNvPr id="12" name="1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3" name="1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
        <p:nvSpPr>
          <p:cNvPr id="14" name="13 CuadroTexto"/>
          <p:cNvSpPr txBox="1"/>
          <p:nvPr/>
        </p:nvSpPr>
        <p:spPr>
          <a:xfrm>
            <a:off x="7543800" y="6019800"/>
            <a:ext cx="1600200" cy="369332"/>
          </a:xfrm>
          <a:prstGeom prst="rect">
            <a:avLst/>
          </a:prstGeom>
          <a:solidFill>
            <a:schemeClr val="accent3">
              <a:lumMod val="75000"/>
            </a:schemeClr>
          </a:solidFill>
        </p:spPr>
        <p:txBody>
          <a:bodyPr wrap="square" rtlCol="0">
            <a:spAutoFit/>
          </a:bodyPr>
          <a:lstStyle/>
          <a:p>
            <a:pPr algn="r"/>
            <a:r>
              <a:rPr lang="en-US" dirty="0" smtClean="0">
                <a:solidFill>
                  <a:prstClr val="white"/>
                </a:solidFill>
              </a:rPr>
              <a:t>Hands On </a:t>
            </a:r>
            <a:r>
              <a:rPr lang="en-US" dirty="0" smtClean="0">
                <a:solidFill>
                  <a:prstClr val="white"/>
                </a:solidFill>
                <a:sym typeface="Wingdings" pitchFamily="2" charset="2"/>
              </a:rPr>
              <a:t></a:t>
            </a:r>
            <a:endParaRPr lang="en-US" dirty="0">
              <a:solidFill>
                <a:prstClr val="white"/>
              </a:solidFill>
            </a:endParaRPr>
          </a:p>
        </p:txBody>
      </p:sp>
    </p:spTree>
    <p:extLst>
      <p:ext uri="{BB962C8B-B14F-4D97-AF65-F5344CB8AC3E}">
        <p14:creationId xmlns:p14="http://schemas.microsoft.com/office/powerpoint/2010/main" val="48728343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398" y="1095998"/>
            <a:ext cx="6867525" cy="138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399" y="609600"/>
            <a:ext cx="3829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398" y="2743200"/>
            <a:ext cx="3219450" cy="104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399" y="4267200"/>
            <a:ext cx="4953001" cy="1859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9 CuadroTexto"/>
          <p:cNvSpPr txBox="1"/>
          <p:nvPr/>
        </p:nvSpPr>
        <p:spPr>
          <a:xfrm>
            <a:off x="5682240" y="4449989"/>
            <a:ext cx="3070787" cy="523220"/>
          </a:xfrm>
          <a:prstGeom prst="rect">
            <a:avLst/>
          </a:prstGeom>
          <a:noFill/>
        </p:spPr>
        <p:txBody>
          <a:bodyPr wrap="square" rtlCol="0">
            <a:spAutoFit/>
          </a:bodyPr>
          <a:lstStyle/>
          <a:p>
            <a:r>
              <a:rPr lang="en-US" sz="1400" dirty="0" smtClean="0">
                <a:solidFill>
                  <a:prstClr val="black"/>
                </a:solidFill>
              </a:rPr>
              <a:t>The first row of our Table </a:t>
            </a:r>
          </a:p>
          <a:p>
            <a:r>
              <a:rPr lang="en-US" sz="1400" dirty="0" smtClean="0">
                <a:solidFill>
                  <a:prstClr val="black"/>
                </a:solidFill>
              </a:rPr>
              <a:t>is a regular data record, for now.</a:t>
            </a:r>
            <a:endParaRPr lang="en-US" sz="1400" i="1" dirty="0">
              <a:solidFill>
                <a:prstClr val="black"/>
              </a:solidFill>
            </a:endParaRPr>
          </a:p>
        </p:txBody>
      </p:sp>
      <p:sp>
        <p:nvSpPr>
          <p:cNvPr id="2" name="1 Rectángulo"/>
          <p:cNvSpPr/>
          <p:nvPr/>
        </p:nvSpPr>
        <p:spPr>
          <a:xfrm>
            <a:off x="152399" y="4495800"/>
            <a:ext cx="1676401"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8" name="7 Conector recto de flecha"/>
          <p:cNvCxnSpPr/>
          <p:nvPr/>
        </p:nvCxnSpPr>
        <p:spPr>
          <a:xfrm flipH="1">
            <a:off x="1828800" y="4711599"/>
            <a:ext cx="3810000" cy="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11" name="10 Grupo"/>
          <p:cNvGrpSpPr/>
          <p:nvPr/>
        </p:nvGrpSpPr>
        <p:grpSpPr>
          <a:xfrm>
            <a:off x="9525" y="6574392"/>
            <a:ext cx="9134399" cy="277000"/>
            <a:chOff x="9525" y="6574392"/>
            <a:chExt cx="9134399" cy="277000"/>
          </a:xfrm>
        </p:grpSpPr>
        <p:sp>
          <p:nvSpPr>
            <p:cNvPr id="12" name="1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3" name="1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4" name="13 Grupo"/>
          <p:cNvGrpSpPr/>
          <p:nvPr/>
        </p:nvGrpSpPr>
        <p:grpSpPr>
          <a:xfrm>
            <a:off x="0" y="9525"/>
            <a:ext cx="9153525" cy="408388"/>
            <a:chOff x="0" y="9525"/>
            <a:chExt cx="9153525" cy="408388"/>
          </a:xfrm>
        </p:grpSpPr>
        <p:sp>
          <p:nvSpPr>
            <p:cNvPr id="15" name="14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Record Types |  Forwarding and Forwarded Records</a:t>
              </a:r>
              <a:endParaRPr lang="en-US" b="1" i="1" dirty="0">
                <a:solidFill>
                  <a:schemeClr val="bg1"/>
                </a:solidFill>
              </a:endParaRPr>
            </a:p>
          </p:txBody>
        </p:sp>
        <p:pic>
          <p:nvPicPr>
            <p:cNvPr id="16" name="15 Imagen"/>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7" name="16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1145934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143000"/>
            <a:ext cx="634365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11 CuadroTexto"/>
          <p:cNvSpPr txBox="1"/>
          <p:nvPr/>
        </p:nvSpPr>
        <p:spPr>
          <a:xfrm>
            <a:off x="0" y="1724025"/>
            <a:ext cx="9144000" cy="307777"/>
          </a:xfrm>
          <a:prstGeom prst="rect">
            <a:avLst/>
          </a:prstGeom>
          <a:noFill/>
        </p:spPr>
        <p:txBody>
          <a:bodyPr wrap="square" rtlCol="0">
            <a:spAutoFit/>
          </a:bodyPr>
          <a:lstStyle/>
          <a:p>
            <a:r>
              <a:rPr lang="en-US" sz="1400" b="1" dirty="0" smtClean="0">
                <a:solidFill>
                  <a:prstClr val="black"/>
                </a:solidFill>
              </a:rPr>
              <a:t>Let’s take a look at the dump again…</a:t>
            </a:r>
            <a:endParaRPr lang="en-US" sz="1400" b="1" i="1" dirty="0">
              <a:solidFill>
                <a:prstClr val="black"/>
              </a:solidFill>
            </a:endParaRPr>
          </a:p>
        </p:txBody>
      </p:sp>
      <p:pic>
        <p:nvPicPr>
          <p:cNvPr id="1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2031802"/>
            <a:ext cx="3219450" cy="104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3752850"/>
            <a:ext cx="5800725" cy="277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14 CuadroTexto"/>
          <p:cNvSpPr txBox="1"/>
          <p:nvPr/>
        </p:nvSpPr>
        <p:spPr>
          <a:xfrm>
            <a:off x="4648200" y="3886190"/>
            <a:ext cx="4267200" cy="523220"/>
          </a:xfrm>
          <a:prstGeom prst="rect">
            <a:avLst/>
          </a:prstGeom>
          <a:noFill/>
        </p:spPr>
        <p:txBody>
          <a:bodyPr wrap="square" rtlCol="0">
            <a:spAutoFit/>
          </a:bodyPr>
          <a:lstStyle/>
          <a:p>
            <a:r>
              <a:rPr lang="en-US" sz="1400" dirty="0" smtClean="0">
                <a:solidFill>
                  <a:prstClr val="black"/>
                </a:solidFill>
              </a:rPr>
              <a:t>Notice that our original data record was moved.</a:t>
            </a:r>
          </a:p>
          <a:p>
            <a:r>
              <a:rPr lang="en-US" sz="1400" dirty="0" smtClean="0">
                <a:solidFill>
                  <a:prstClr val="black"/>
                </a:solidFill>
              </a:rPr>
              <a:t>This is now a </a:t>
            </a:r>
            <a:r>
              <a:rPr lang="en-US" sz="1400" b="1" dirty="0" smtClean="0">
                <a:solidFill>
                  <a:prstClr val="black"/>
                </a:solidFill>
              </a:rPr>
              <a:t>Forwarding Record</a:t>
            </a:r>
            <a:r>
              <a:rPr lang="en-US" sz="1400" dirty="0" smtClean="0">
                <a:solidFill>
                  <a:prstClr val="black"/>
                </a:solidFill>
              </a:rPr>
              <a:t>.</a:t>
            </a:r>
            <a:endParaRPr lang="en-US" sz="1400" dirty="0">
              <a:solidFill>
                <a:prstClr val="black"/>
              </a:solidFill>
            </a:endParaRPr>
          </a:p>
        </p:txBody>
      </p:sp>
      <p:sp>
        <p:nvSpPr>
          <p:cNvPr id="16" name="15 CuadroTexto"/>
          <p:cNvSpPr txBox="1"/>
          <p:nvPr/>
        </p:nvSpPr>
        <p:spPr>
          <a:xfrm>
            <a:off x="2849" y="465891"/>
            <a:ext cx="9144000" cy="738664"/>
          </a:xfrm>
          <a:prstGeom prst="rect">
            <a:avLst/>
          </a:prstGeom>
          <a:noFill/>
        </p:spPr>
        <p:txBody>
          <a:bodyPr wrap="square" rtlCol="0">
            <a:spAutoFit/>
          </a:bodyPr>
          <a:lstStyle/>
          <a:p>
            <a:r>
              <a:rPr lang="en-US" sz="1400" b="1" dirty="0" smtClean="0">
                <a:solidFill>
                  <a:prstClr val="black"/>
                </a:solidFill>
              </a:rPr>
              <a:t>Forcing the creation of a Forwarding Stub</a:t>
            </a:r>
          </a:p>
          <a:p>
            <a:r>
              <a:rPr lang="en-US" sz="1400" dirty="0">
                <a:solidFill>
                  <a:prstClr val="black"/>
                </a:solidFill>
              </a:rPr>
              <a:t>Now we are going to update the first row to make it 8000+ bytes – forcing it to move to a new page.</a:t>
            </a:r>
          </a:p>
          <a:p>
            <a:r>
              <a:rPr lang="en-US" sz="1400" dirty="0">
                <a:solidFill>
                  <a:prstClr val="black"/>
                </a:solidFill>
              </a:rPr>
              <a:t>Since the record won’t fit in the page, SQL Server will mark the original record as a Forwarding Stub</a:t>
            </a:r>
            <a:r>
              <a:rPr lang="en-US" sz="1400" dirty="0" smtClean="0">
                <a:solidFill>
                  <a:prstClr val="black"/>
                </a:solidFill>
              </a:rPr>
              <a:t>.</a:t>
            </a:r>
            <a:endParaRPr lang="en-US" sz="1400" dirty="0">
              <a:solidFill>
                <a:prstClr val="black"/>
              </a:solidFill>
            </a:endParaRPr>
          </a:p>
        </p:txBody>
      </p:sp>
      <p:sp>
        <p:nvSpPr>
          <p:cNvPr id="3" name="2 Flecha abajo"/>
          <p:cNvSpPr/>
          <p:nvPr/>
        </p:nvSpPr>
        <p:spPr>
          <a:xfrm>
            <a:off x="2247900" y="2804765"/>
            <a:ext cx="228600" cy="519460"/>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9" name="18 CuadroTexto"/>
          <p:cNvSpPr txBox="1"/>
          <p:nvPr/>
        </p:nvSpPr>
        <p:spPr>
          <a:xfrm>
            <a:off x="5638800" y="5634139"/>
            <a:ext cx="3352800" cy="523220"/>
          </a:xfrm>
          <a:prstGeom prst="rect">
            <a:avLst/>
          </a:prstGeom>
          <a:noFill/>
        </p:spPr>
        <p:txBody>
          <a:bodyPr wrap="square" rtlCol="0">
            <a:spAutoFit/>
          </a:bodyPr>
          <a:lstStyle/>
          <a:p>
            <a:r>
              <a:rPr lang="en-US" sz="1400" dirty="0" smtClean="0">
                <a:solidFill>
                  <a:prstClr val="black"/>
                </a:solidFill>
              </a:rPr>
              <a:t>We didn’t update record #2, so it remains as a regular data record</a:t>
            </a:r>
            <a:endParaRPr lang="en-US" sz="1400" i="1" dirty="0">
              <a:solidFill>
                <a:prstClr val="black"/>
              </a:solidFill>
            </a:endParaRPr>
          </a:p>
        </p:txBody>
      </p:sp>
      <p:sp>
        <p:nvSpPr>
          <p:cNvPr id="5" name="4 Rectángulo"/>
          <p:cNvSpPr/>
          <p:nvPr/>
        </p:nvSpPr>
        <p:spPr>
          <a:xfrm>
            <a:off x="76200" y="5138737"/>
            <a:ext cx="1981200" cy="290513"/>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8 Rectángulo"/>
          <p:cNvSpPr/>
          <p:nvPr/>
        </p:nvSpPr>
        <p:spPr>
          <a:xfrm>
            <a:off x="76200" y="4034988"/>
            <a:ext cx="2057400" cy="2256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17" name="16 Conector recto de flecha"/>
          <p:cNvCxnSpPr/>
          <p:nvPr/>
        </p:nvCxnSpPr>
        <p:spPr>
          <a:xfrm>
            <a:off x="2133600" y="4163178"/>
            <a:ext cx="2514600"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 name="17 Rectángulo"/>
          <p:cNvSpPr/>
          <p:nvPr/>
        </p:nvSpPr>
        <p:spPr>
          <a:xfrm>
            <a:off x="76200" y="4624520"/>
            <a:ext cx="28194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9" name="28 CuadroTexto"/>
          <p:cNvSpPr txBox="1"/>
          <p:nvPr/>
        </p:nvSpPr>
        <p:spPr>
          <a:xfrm>
            <a:off x="4604047" y="4584931"/>
            <a:ext cx="4267200" cy="307777"/>
          </a:xfrm>
          <a:prstGeom prst="rect">
            <a:avLst/>
          </a:prstGeom>
          <a:noFill/>
        </p:spPr>
        <p:txBody>
          <a:bodyPr wrap="square" rtlCol="0">
            <a:spAutoFit/>
          </a:bodyPr>
          <a:lstStyle/>
          <a:p>
            <a:r>
              <a:rPr lang="en-US" sz="1400" dirty="0" smtClean="0">
                <a:solidFill>
                  <a:prstClr val="black"/>
                </a:solidFill>
              </a:rPr>
              <a:t>Our original record is now stored in File 1, Page 2395</a:t>
            </a:r>
            <a:endParaRPr lang="en-US" sz="1400" dirty="0">
              <a:solidFill>
                <a:prstClr val="black"/>
              </a:solidFill>
            </a:endParaRPr>
          </a:p>
        </p:txBody>
      </p:sp>
      <p:cxnSp>
        <p:nvCxnSpPr>
          <p:cNvPr id="30" name="29 Conector recto de flecha"/>
          <p:cNvCxnSpPr/>
          <p:nvPr/>
        </p:nvCxnSpPr>
        <p:spPr>
          <a:xfrm>
            <a:off x="2895600" y="4738820"/>
            <a:ext cx="1676400"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24 Conector recto de flecha"/>
          <p:cNvCxnSpPr/>
          <p:nvPr/>
        </p:nvCxnSpPr>
        <p:spPr>
          <a:xfrm flipH="1" flipV="1">
            <a:off x="2133600" y="5429250"/>
            <a:ext cx="3505200" cy="466499"/>
          </a:xfrm>
          <a:prstGeom prst="straightConnector1">
            <a:avLst/>
          </a:prstGeom>
          <a:ln w="158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34" name="33 CuadroTexto"/>
          <p:cNvSpPr txBox="1"/>
          <p:nvPr/>
        </p:nvSpPr>
        <p:spPr>
          <a:xfrm>
            <a:off x="-11394" y="3434797"/>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Whoops!</a:t>
            </a:r>
            <a:endParaRPr lang="en-US" sz="1400" b="1" i="1" dirty="0">
              <a:solidFill>
                <a:prstClr val="black"/>
              </a:solidFill>
            </a:endParaRPr>
          </a:p>
        </p:txBody>
      </p:sp>
      <p:grpSp>
        <p:nvGrpSpPr>
          <p:cNvPr id="20" name="19 Grupo"/>
          <p:cNvGrpSpPr/>
          <p:nvPr/>
        </p:nvGrpSpPr>
        <p:grpSpPr>
          <a:xfrm>
            <a:off x="0" y="9525"/>
            <a:ext cx="9153525" cy="408388"/>
            <a:chOff x="0" y="9525"/>
            <a:chExt cx="9153525" cy="408388"/>
          </a:xfrm>
        </p:grpSpPr>
        <p:sp>
          <p:nvSpPr>
            <p:cNvPr id="22" name="21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Record Types |  Forwarding and Forwarded Records</a:t>
              </a:r>
              <a:endParaRPr lang="en-US" b="1" i="1" dirty="0">
                <a:solidFill>
                  <a:schemeClr val="bg1"/>
                </a:solidFill>
              </a:endParaRPr>
            </a:p>
          </p:txBody>
        </p:sp>
        <p:pic>
          <p:nvPicPr>
            <p:cNvPr id="23" name="22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4" name="23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25 Grupo"/>
          <p:cNvGrpSpPr/>
          <p:nvPr/>
        </p:nvGrpSpPr>
        <p:grpSpPr>
          <a:xfrm>
            <a:off x="9525" y="6574392"/>
            <a:ext cx="9134399" cy="277000"/>
            <a:chOff x="9525" y="6574392"/>
            <a:chExt cx="9134399" cy="277000"/>
          </a:xfrm>
        </p:grpSpPr>
        <p:sp>
          <p:nvSpPr>
            <p:cNvPr id="27" name="26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8" name="27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63603814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5" y="910089"/>
            <a:ext cx="4133850"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8 Rectángulo"/>
          <p:cNvSpPr/>
          <p:nvPr/>
        </p:nvSpPr>
        <p:spPr>
          <a:xfrm>
            <a:off x="75399" y="1181419"/>
            <a:ext cx="2057400" cy="2256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17 Rectángulo"/>
          <p:cNvSpPr/>
          <p:nvPr/>
        </p:nvSpPr>
        <p:spPr>
          <a:xfrm>
            <a:off x="75399" y="1767654"/>
            <a:ext cx="28194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9" name="28 CuadroTexto"/>
          <p:cNvSpPr txBox="1"/>
          <p:nvPr/>
        </p:nvSpPr>
        <p:spPr>
          <a:xfrm>
            <a:off x="3429000" y="2000229"/>
            <a:ext cx="4267200" cy="307777"/>
          </a:xfrm>
          <a:prstGeom prst="rect">
            <a:avLst/>
          </a:prstGeom>
          <a:noFill/>
        </p:spPr>
        <p:txBody>
          <a:bodyPr wrap="square" rtlCol="0">
            <a:spAutoFit/>
          </a:bodyPr>
          <a:lstStyle/>
          <a:p>
            <a:r>
              <a:rPr lang="en-US" sz="1400" i="1" dirty="0" smtClean="0">
                <a:solidFill>
                  <a:prstClr val="black"/>
                </a:solidFill>
              </a:rPr>
              <a:t>Our original record is now stored in File 1, Page 2395</a:t>
            </a:r>
            <a:endParaRPr lang="en-US" sz="1400" i="1" dirty="0">
              <a:solidFill>
                <a:prstClr val="black"/>
              </a:solidFill>
            </a:endParaRPr>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52" y="3823755"/>
            <a:ext cx="5838825" cy="191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 name="33 CuadroTexto"/>
          <p:cNvSpPr txBox="1"/>
          <p:nvPr/>
        </p:nvSpPr>
        <p:spPr>
          <a:xfrm>
            <a:off x="-5697" y="579522"/>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Forwarding Record</a:t>
            </a:r>
            <a:endParaRPr lang="en-US" sz="1400" b="1" i="1" dirty="0">
              <a:solidFill>
                <a:prstClr val="black"/>
              </a:solidFill>
            </a:endParaRPr>
          </a:p>
        </p:txBody>
      </p:sp>
      <p:sp>
        <p:nvSpPr>
          <p:cNvPr id="22" name="21 Rectángulo"/>
          <p:cNvSpPr/>
          <p:nvPr/>
        </p:nvSpPr>
        <p:spPr>
          <a:xfrm>
            <a:off x="75399" y="4095085"/>
            <a:ext cx="2057400" cy="2256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22 CuadroTexto"/>
          <p:cNvSpPr txBox="1"/>
          <p:nvPr/>
        </p:nvSpPr>
        <p:spPr>
          <a:xfrm>
            <a:off x="4690306" y="4519407"/>
            <a:ext cx="4267200" cy="523220"/>
          </a:xfrm>
          <a:prstGeom prst="rect">
            <a:avLst/>
          </a:prstGeom>
          <a:noFill/>
        </p:spPr>
        <p:txBody>
          <a:bodyPr wrap="square" rtlCol="0">
            <a:spAutoFit/>
          </a:bodyPr>
          <a:lstStyle/>
          <a:p>
            <a:r>
              <a:rPr lang="en-US" sz="1400" dirty="0" smtClean="0">
                <a:solidFill>
                  <a:prstClr val="black"/>
                </a:solidFill>
              </a:rPr>
              <a:t>This is the record we updated.</a:t>
            </a:r>
          </a:p>
          <a:p>
            <a:r>
              <a:rPr lang="en-US" sz="1400" dirty="0" smtClean="0">
                <a:solidFill>
                  <a:prstClr val="black"/>
                </a:solidFill>
              </a:rPr>
              <a:t>The data record became a </a:t>
            </a:r>
            <a:r>
              <a:rPr lang="en-US" sz="1400" b="1" dirty="0" smtClean="0">
                <a:solidFill>
                  <a:prstClr val="black"/>
                </a:solidFill>
              </a:rPr>
              <a:t>Forwarded Record</a:t>
            </a:r>
            <a:r>
              <a:rPr lang="en-US" sz="1400" dirty="0" smtClean="0">
                <a:solidFill>
                  <a:prstClr val="black"/>
                </a:solidFill>
              </a:rPr>
              <a:t>.</a:t>
            </a:r>
            <a:endParaRPr lang="en-US" sz="1400" dirty="0">
              <a:solidFill>
                <a:prstClr val="black"/>
              </a:solidFill>
            </a:endParaRPr>
          </a:p>
        </p:txBody>
      </p:sp>
      <p:pic>
        <p:nvPicPr>
          <p:cNvPr id="410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09" y="2219262"/>
            <a:ext cx="2971800"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26 CuadroTexto"/>
          <p:cNvSpPr txBox="1"/>
          <p:nvPr/>
        </p:nvSpPr>
        <p:spPr>
          <a:xfrm>
            <a:off x="-7388" y="3478907"/>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Forwarded Record</a:t>
            </a:r>
            <a:endParaRPr lang="en-US" sz="1400" b="1" i="1" dirty="0">
              <a:solidFill>
                <a:prstClr val="black"/>
              </a:solidFill>
            </a:endParaRPr>
          </a:p>
        </p:txBody>
      </p:sp>
      <p:sp>
        <p:nvSpPr>
          <p:cNvPr id="4" name="3 Rectángulo"/>
          <p:cNvSpPr/>
          <p:nvPr/>
        </p:nvSpPr>
        <p:spPr>
          <a:xfrm>
            <a:off x="2209800" y="2728849"/>
            <a:ext cx="457200" cy="1667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7" name="6 Conector recto de flecha"/>
          <p:cNvCxnSpPr/>
          <p:nvPr/>
        </p:nvCxnSpPr>
        <p:spPr>
          <a:xfrm>
            <a:off x="2251816" y="1996254"/>
            <a:ext cx="0" cy="73259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13 Conector recto de flecha"/>
          <p:cNvCxnSpPr>
            <a:stCxn id="23" idx="1"/>
            <a:endCxn id="22" idx="3"/>
          </p:cNvCxnSpPr>
          <p:nvPr/>
        </p:nvCxnSpPr>
        <p:spPr>
          <a:xfrm flipH="1" flipV="1">
            <a:off x="2132799" y="4207897"/>
            <a:ext cx="2557507" cy="57312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6" name="35 CuadroTexto"/>
          <p:cNvSpPr txBox="1"/>
          <p:nvPr/>
        </p:nvSpPr>
        <p:spPr>
          <a:xfrm>
            <a:off x="-7388" y="5890680"/>
            <a:ext cx="9151388" cy="523220"/>
          </a:xfrm>
          <a:prstGeom prst="rect">
            <a:avLst/>
          </a:prstGeom>
          <a:noFill/>
        </p:spPr>
        <p:txBody>
          <a:bodyPr wrap="square" rtlCol="0">
            <a:spAutoFit/>
          </a:bodyPr>
          <a:lstStyle/>
          <a:p>
            <a:pPr marL="285750" indent="-285750">
              <a:buFont typeface="Wingdings" pitchFamily="2" charset="2"/>
              <a:buChar char="ü"/>
            </a:pPr>
            <a:r>
              <a:rPr lang="en-US" sz="1400" dirty="0" smtClean="0">
                <a:solidFill>
                  <a:prstClr val="black"/>
                </a:solidFill>
              </a:rPr>
              <a:t>The page was never moved, actually (doing so would lead to a performance issue). </a:t>
            </a:r>
          </a:p>
          <a:p>
            <a:pPr marL="285750" indent="-285750">
              <a:buFont typeface="Wingdings" pitchFamily="2" charset="2"/>
              <a:buChar char="ü"/>
            </a:pPr>
            <a:r>
              <a:rPr lang="en-US" sz="1400" dirty="0" smtClean="0">
                <a:solidFill>
                  <a:prstClr val="black"/>
                </a:solidFill>
              </a:rPr>
              <a:t>Instead, SQL Server just updated something known as “</a:t>
            </a:r>
            <a:r>
              <a:rPr lang="en-US" sz="1400" dirty="0" err="1" smtClean="0">
                <a:solidFill>
                  <a:prstClr val="black"/>
                </a:solidFill>
              </a:rPr>
              <a:t>TagA</a:t>
            </a:r>
            <a:r>
              <a:rPr lang="en-US" sz="1400" dirty="0" smtClean="0">
                <a:solidFill>
                  <a:prstClr val="black"/>
                </a:solidFill>
              </a:rPr>
              <a:t>” </a:t>
            </a:r>
            <a:r>
              <a:rPr lang="en-US" sz="1400" dirty="0" smtClean="0">
                <a:solidFill>
                  <a:prstClr val="black"/>
                </a:solidFill>
                <a:sym typeface="Wingdings" pitchFamily="2" charset="2"/>
              </a:rPr>
              <a:t></a:t>
            </a:r>
            <a:r>
              <a:rPr lang="en-US" sz="1400" dirty="0" smtClean="0">
                <a:solidFill>
                  <a:prstClr val="black"/>
                </a:solidFill>
              </a:rPr>
              <a:t>  </a:t>
            </a:r>
            <a:r>
              <a:rPr lang="en-US" sz="1400" b="1" dirty="0" smtClean="0">
                <a:solidFill>
                  <a:srgbClr val="0000FF"/>
                </a:solidFill>
              </a:rPr>
              <a:t>Byte 0 of the row</a:t>
            </a:r>
            <a:r>
              <a:rPr lang="en-US" sz="1400" b="1" dirty="0" smtClean="0">
                <a:solidFill>
                  <a:prstClr val="black"/>
                </a:solidFill>
              </a:rPr>
              <a:t> </a:t>
            </a:r>
            <a:r>
              <a:rPr lang="en-US" sz="1400" dirty="0" smtClean="0">
                <a:solidFill>
                  <a:prstClr val="black"/>
                </a:solidFill>
              </a:rPr>
              <a:t>– </a:t>
            </a:r>
            <a:r>
              <a:rPr lang="en-US" sz="1400" dirty="0">
                <a:solidFill>
                  <a:prstClr val="black"/>
                </a:solidFill>
              </a:rPr>
              <a:t>more </a:t>
            </a:r>
            <a:r>
              <a:rPr lang="en-US" sz="1400" dirty="0" smtClean="0">
                <a:solidFill>
                  <a:prstClr val="black"/>
                </a:solidFill>
              </a:rPr>
              <a:t>specifically: </a:t>
            </a:r>
            <a:r>
              <a:rPr lang="en-US" sz="1400" b="1" dirty="0">
                <a:solidFill>
                  <a:srgbClr val="0000FF"/>
                </a:solidFill>
              </a:rPr>
              <a:t>bits </a:t>
            </a:r>
            <a:r>
              <a:rPr lang="en-US" sz="1400" b="1" dirty="0" smtClean="0">
                <a:solidFill>
                  <a:srgbClr val="0000FF"/>
                </a:solidFill>
              </a:rPr>
              <a:t>1, 2 and 3</a:t>
            </a:r>
            <a:endParaRPr lang="en-US" sz="1400" b="1" dirty="0">
              <a:solidFill>
                <a:srgbClr val="0000FF"/>
              </a:solidFill>
            </a:endParaRPr>
          </a:p>
        </p:txBody>
      </p:sp>
      <p:sp>
        <p:nvSpPr>
          <p:cNvPr id="24" name="23 Rectángulo"/>
          <p:cNvSpPr/>
          <p:nvPr/>
        </p:nvSpPr>
        <p:spPr>
          <a:xfrm>
            <a:off x="75399" y="3820868"/>
            <a:ext cx="1296201" cy="198996"/>
          </a:xfrm>
          <a:prstGeom prst="rect">
            <a:avLst/>
          </a:prstGeom>
          <a:noFill/>
          <a:ln w="127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19" name="18 Grupo"/>
          <p:cNvGrpSpPr/>
          <p:nvPr/>
        </p:nvGrpSpPr>
        <p:grpSpPr>
          <a:xfrm>
            <a:off x="9525" y="6574392"/>
            <a:ext cx="9134399" cy="277000"/>
            <a:chOff x="9525" y="6574392"/>
            <a:chExt cx="9134399" cy="277000"/>
          </a:xfrm>
        </p:grpSpPr>
        <p:sp>
          <p:nvSpPr>
            <p:cNvPr id="20" name="19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5" name="24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26" name="25 Grupo"/>
          <p:cNvGrpSpPr/>
          <p:nvPr/>
        </p:nvGrpSpPr>
        <p:grpSpPr>
          <a:xfrm>
            <a:off x="0" y="9525"/>
            <a:ext cx="9153525" cy="408388"/>
            <a:chOff x="0" y="9525"/>
            <a:chExt cx="9153525" cy="408388"/>
          </a:xfrm>
        </p:grpSpPr>
        <p:sp>
          <p:nvSpPr>
            <p:cNvPr id="28" name="2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Record Types |  Forwarding and Forwarded Records</a:t>
              </a:r>
              <a:endParaRPr lang="en-US" b="1" i="1" dirty="0">
                <a:solidFill>
                  <a:schemeClr val="bg1"/>
                </a:solidFill>
              </a:endParaRPr>
            </a:p>
          </p:txBody>
        </p:sp>
        <p:pic>
          <p:nvPicPr>
            <p:cNvPr id="30" name="29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1" name="30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7754051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5697" y="609600"/>
            <a:ext cx="9144000" cy="4185761"/>
          </a:xfrm>
          <a:prstGeom prst="rect">
            <a:avLst/>
          </a:prstGeom>
          <a:noFill/>
        </p:spPr>
        <p:txBody>
          <a:bodyPr wrap="square" rtlCol="0">
            <a:spAutoFit/>
          </a:bodyPr>
          <a:lstStyle/>
          <a:p>
            <a:r>
              <a:rPr lang="en-US" sz="1400" b="1" dirty="0" smtClean="0">
                <a:solidFill>
                  <a:prstClr val="black"/>
                </a:solidFill>
              </a:rPr>
              <a:t>What is an Index record?</a:t>
            </a:r>
          </a:p>
          <a:p>
            <a:pPr marL="285750" indent="-285750">
              <a:buFont typeface="Wingdings" pitchFamily="2" charset="2"/>
              <a:buChar char="Ø"/>
            </a:pPr>
            <a:r>
              <a:rPr lang="en-US" sz="1400" dirty="0" smtClean="0">
                <a:solidFill>
                  <a:prstClr val="black"/>
                </a:solidFill>
              </a:rPr>
              <a:t>Anytime you have a Non-Clustered Index you have index records</a:t>
            </a:r>
          </a:p>
          <a:p>
            <a:pPr marL="285750" indent="-285750">
              <a:buFont typeface="Wingdings" pitchFamily="2" charset="2"/>
              <a:buChar char="Ø"/>
            </a:pPr>
            <a:r>
              <a:rPr lang="en-US" sz="1400" dirty="0">
                <a:solidFill>
                  <a:prstClr val="black"/>
                </a:solidFill>
              </a:rPr>
              <a:t>Index records are stored on index </a:t>
            </a:r>
            <a:r>
              <a:rPr lang="en-US" sz="1400" dirty="0" smtClean="0">
                <a:solidFill>
                  <a:prstClr val="black"/>
                </a:solidFill>
              </a:rPr>
              <a:t>pages</a:t>
            </a:r>
          </a:p>
          <a:p>
            <a:pPr marL="285750" indent="-285750">
              <a:buFont typeface="Wingdings" pitchFamily="2" charset="2"/>
              <a:buChar char="Ø"/>
            </a:pPr>
            <a:r>
              <a:rPr lang="en-US" sz="1400" dirty="0" smtClean="0">
                <a:solidFill>
                  <a:prstClr val="black"/>
                </a:solidFill>
              </a:rPr>
              <a:t>Index records are marked as “Page Type = 2”</a:t>
            </a:r>
          </a:p>
          <a:p>
            <a:pPr marL="285750" indent="-285750">
              <a:buFont typeface="Wingdings" pitchFamily="2" charset="2"/>
              <a:buChar char="Ø"/>
            </a:pPr>
            <a:endParaRPr lang="en-US" sz="1400" dirty="0" smtClean="0">
              <a:solidFill>
                <a:prstClr val="black"/>
              </a:solidFill>
            </a:endParaRPr>
          </a:p>
          <a:p>
            <a:pPr marL="285750" indent="-285750">
              <a:buFont typeface="Wingdings" pitchFamily="2" charset="2"/>
              <a:buChar char="Ø"/>
            </a:pPr>
            <a:endParaRPr lang="en-US" sz="1400" dirty="0" smtClean="0">
              <a:solidFill>
                <a:prstClr val="black"/>
              </a:solidFill>
            </a:endParaRPr>
          </a:p>
          <a:p>
            <a:r>
              <a:rPr lang="en-US" sz="1400" u="sng" dirty="0" smtClean="0">
                <a:solidFill>
                  <a:prstClr val="black"/>
                </a:solidFill>
              </a:rPr>
              <a:t>Two Types of Index Records:</a:t>
            </a:r>
          </a:p>
          <a:p>
            <a:endParaRPr lang="en-US" sz="1400" u="sng" dirty="0" smtClean="0">
              <a:solidFill>
                <a:prstClr val="black"/>
              </a:solidFill>
            </a:endParaRPr>
          </a:p>
          <a:p>
            <a:pPr marL="285750" indent="-285750">
              <a:buFont typeface="Wingdings" pitchFamily="2" charset="2"/>
              <a:buChar char="Ø"/>
            </a:pPr>
            <a:r>
              <a:rPr lang="en-US" sz="1400" b="1" dirty="0" smtClean="0">
                <a:solidFill>
                  <a:prstClr val="black"/>
                </a:solidFill>
              </a:rPr>
              <a:t>Leaf Level index records</a:t>
            </a:r>
          </a:p>
          <a:p>
            <a:pPr marL="742950" lvl="1" indent="-285750">
              <a:buFont typeface="Wingdings" pitchFamily="2" charset="2"/>
              <a:buChar char="Ø"/>
            </a:pPr>
            <a:r>
              <a:rPr lang="en-US" sz="1400" dirty="0" smtClean="0">
                <a:solidFill>
                  <a:prstClr val="black"/>
                </a:solidFill>
              </a:rPr>
              <a:t>Occur in Non-Clustered indexes only – at the leaf level</a:t>
            </a:r>
          </a:p>
          <a:p>
            <a:pPr marL="742950" lvl="1" indent="-285750">
              <a:buFont typeface="Wingdings" pitchFamily="2" charset="2"/>
              <a:buChar char="Ø"/>
            </a:pPr>
            <a:r>
              <a:rPr lang="en-US" sz="1400" dirty="0" smtClean="0">
                <a:solidFill>
                  <a:prstClr val="black"/>
                </a:solidFill>
              </a:rPr>
              <a:t>Store all non-clustered index key columns plus:</a:t>
            </a:r>
          </a:p>
          <a:p>
            <a:pPr marL="1200150" lvl="2" indent="-285750">
              <a:buFont typeface="Wingdings" pitchFamily="2" charset="2"/>
              <a:buChar char="Ø"/>
            </a:pPr>
            <a:r>
              <a:rPr lang="en-US" sz="1400" dirty="0" smtClean="0">
                <a:solidFill>
                  <a:prstClr val="black"/>
                </a:solidFill>
              </a:rPr>
              <a:t>A link to the matching row in the table</a:t>
            </a:r>
          </a:p>
          <a:p>
            <a:pPr marL="1200150" lvl="2" indent="-285750">
              <a:buFont typeface="Wingdings" pitchFamily="2" charset="2"/>
              <a:buChar char="Ø"/>
            </a:pPr>
            <a:r>
              <a:rPr lang="en-US" sz="1400" dirty="0" smtClean="0">
                <a:solidFill>
                  <a:prstClr val="black"/>
                </a:solidFill>
              </a:rPr>
              <a:t>Any INCLUDED columns</a:t>
            </a:r>
          </a:p>
          <a:p>
            <a:pPr marL="742950" lvl="1" indent="-285750">
              <a:buFont typeface="Wingdings" pitchFamily="2" charset="2"/>
              <a:buChar char="Ø"/>
            </a:pPr>
            <a:r>
              <a:rPr lang="en-US" sz="1400" dirty="0" smtClean="0">
                <a:solidFill>
                  <a:prstClr val="black"/>
                </a:solidFill>
              </a:rPr>
              <a:t>Why they exist? </a:t>
            </a:r>
            <a:r>
              <a:rPr lang="en-US" sz="1400" dirty="0" smtClean="0">
                <a:solidFill>
                  <a:prstClr val="black"/>
                </a:solidFill>
                <a:sym typeface="Wingdings" pitchFamily="2" charset="2"/>
              </a:rPr>
              <a:t> These records contain the real data of your Non-Clustered index</a:t>
            </a:r>
            <a:endParaRPr lang="en-US" sz="1400" dirty="0" smtClean="0">
              <a:solidFill>
                <a:prstClr val="black"/>
              </a:solidFill>
            </a:endParaRPr>
          </a:p>
          <a:p>
            <a:pPr marL="1200150" lvl="2" indent="-285750">
              <a:buFont typeface="Wingdings" pitchFamily="2" charset="2"/>
              <a:buChar char="Ø"/>
            </a:pPr>
            <a:endParaRPr lang="en-US" sz="1400" dirty="0" smtClean="0">
              <a:solidFill>
                <a:prstClr val="black"/>
              </a:solidFill>
            </a:endParaRPr>
          </a:p>
          <a:p>
            <a:pPr marL="1200150" lvl="2" indent="-285750">
              <a:buFont typeface="Wingdings" pitchFamily="2" charset="2"/>
              <a:buChar char="Ø"/>
            </a:pPr>
            <a:endParaRPr lang="en-US" sz="1400" dirty="0" smtClean="0">
              <a:solidFill>
                <a:prstClr val="black"/>
              </a:solidFill>
            </a:endParaRPr>
          </a:p>
          <a:p>
            <a:pPr marL="285750" indent="-285750">
              <a:buFont typeface="Wingdings" pitchFamily="2" charset="2"/>
              <a:buChar char="Ø"/>
            </a:pPr>
            <a:r>
              <a:rPr lang="en-US" sz="1400" b="1" dirty="0" smtClean="0">
                <a:solidFill>
                  <a:prstClr val="black"/>
                </a:solidFill>
              </a:rPr>
              <a:t>Non-Leaf Level index records</a:t>
            </a:r>
          </a:p>
          <a:p>
            <a:pPr marL="742950" lvl="1" indent="-285750">
              <a:buFont typeface="Wingdings" pitchFamily="2" charset="2"/>
              <a:buChar char="Ø"/>
            </a:pPr>
            <a:r>
              <a:rPr lang="en-US" sz="1400" dirty="0" smtClean="0">
                <a:solidFill>
                  <a:prstClr val="black"/>
                </a:solidFill>
              </a:rPr>
              <a:t>Occur in all index types – at the intermediate levels of the B-tree</a:t>
            </a:r>
          </a:p>
          <a:p>
            <a:pPr marL="742950" lvl="1" indent="-285750">
              <a:buFont typeface="Wingdings" pitchFamily="2" charset="2"/>
              <a:buChar char="Ø"/>
            </a:pPr>
            <a:r>
              <a:rPr lang="en-US" sz="1400" dirty="0" smtClean="0">
                <a:solidFill>
                  <a:prstClr val="black"/>
                </a:solidFill>
              </a:rPr>
              <a:t>Why they exist? </a:t>
            </a:r>
            <a:r>
              <a:rPr lang="en-US" sz="1400" dirty="0" smtClean="0">
                <a:solidFill>
                  <a:prstClr val="black"/>
                </a:solidFill>
                <a:sym typeface="Wingdings" pitchFamily="2" charset="2"/>
              </a:rPr>
              <a:t> </a:t>
            </a:r>
            <a:r>
              <a:rPr lang="en-US" sz="1400" dirty="0" smtClean="0">
                <a:solidFill>
                  <a:prstClr val="black"/>
                </a:solidFill>
              </a:rPr>
              <a:t>These records help the engine to transverse the index structure</a:t>
            </a:r>
            <a:endParaRPr lang="en-US" sz="1400" dirty="0">
              <a:solidFill>
                <a:prstClr val="black"/>
              </a:solidFill>
            </a:endParaRPr>
          </a:p>
        </p:txBody>
      </p:sp>
      <p:grpSp>
        <p:nvGrpSpPr>
          <p:cNvPr id="5" name="4 Grupo"/>
          <p:cNvGrpSpPr/>
          <p:nvPr/>
        </p:nvGrpSpPr>
        <p:grpSpPr>
          <a:xfrm>
            <a:off x="0" y="9525"/>
            <a:ext cx="9153525" cy="408388"/>
            <a:chOff x="0" y="9525"/>
            <a:chExt cx="9153525" cy="408388"/>
          </a:xfrm>
        </p:grpSpPr>
        <p:sp>
          <p:nvSpPr>
            <p:cNvPr id="6" name="5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Record Types |  Index Records</a:t>
              </a:r>
              <a:endParaRPr lang="en-US" b="1" i="1" dirty="0">
                <a:solidFill>
                  <a:schemeClr val="bg1"/>
                </a:solidFill>
              </a:endParaRPr>
            </a:p>
          </p:txBody>
        </p:sp>
        <p:pic>
          <p:nvPicPr>
            <p:cNvPr id="7" name="6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 name="8 Grupo"/>
          <p:cNvGrpSpPr/>
          <p:nvPr/>
        </p:nvGrpSpPr>
        <p:grpSpPr>
          <a:xfrm>
            <a:off x="9525" y="6574392"/>
            <a:ext cx="9134399" cy="277000"/>
            <a:chOff x="9525" y="6574392"/>
            <a:chExt cx="9134399" cy="277000"/>
          </a:xfrm>
        </p:grpSpPr>
        <p:sp>
          <p:nvSpPr>
            <p:cNvPr id="10" name="9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1" name="10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
        <p:nvSpPr>
          <p:cNvPr id="12" name="11 CuadroTexto"/>
          <p:cNvSpPr txBox="1"/>
          <p:nvPr/>
        </p:nvSpPr>
        <p:spPr>
          <a:xfrm>
            <a:off x="7543800" y="6019800"/>
            <a:ext cx="1600200" cy="369332"/>
          </a:xfrm>
          <a:prstGeom prst="rect">
            <a:avLst/>
          </a:prstGeom>
          <a:solidFill>
            <a:schemeClr val="accent3">
              <a:lumMod val="75000"/>
            </a:schemeClr>
          </a:solidFill>
        </p:spPr>
        <p:txBody>
          <a:bodyPr wrap="square" rtlCol="0">
            <a:spAutoFit/>
          </a:bodyPr>
          <a:lstStyle/>
          <a:p>
            <a:pPr algn="r"/>
            <a:r>
              <a:rPr lang="en-US" dirty="0" smtClean="0">
                <a:solidFill>
                  <a:prstClr val="white"/>
                </a:solidFill>
              </a:rPr>
              <a:t>Hands On </a:t>
            </a:r>
            <a:r>
              <a:rPr lang="en-US" dirty="0" smtClean="0">
                <a:solidFill>
                  <a:prstClr val="white"/>
                </a:solidFill>
                <a:sym typeface="Wingdings" pitchFamily="2" charset="2"/>
              </a:rPr>
              <a:t></a:t>
            </a:r>
            <a:endParaRPr lang="en-US" dirty="0">
              <a:solidFill>
                <a:prstClr val="white"/>
              </a:solidFill>
            </a:endParaRPr>
          </a:p>
        </p:txBody>
      </p:sp>
    </p:spTree>
    <p:extLst>
      <p:ext uri="{BB962C8B-B14F-4D97-AF65-F5344CB8AC3E}">
        <p14:creationId xmlns:p14="http://schemas.microsoft.com/office/powerpoint/2010/main" val="238179487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CuadroTexto"/>
          <p:cNvSpPr txBox="1"/>
          <p:nvPr/>
        </p:nvSpPr>
        <p:spPr>
          <a:xfrm>
            <a:off x="0" y="495300"/>
            <a:ext cx="9144000" cy="307777"/>
          </a:xfrm>
          <a:prstGeom prst="rect">
            <a:avLst/>
          </a:prstGeom>
          <a:noFill/>
        </p:spPr>
        <p:txBody>
          <a:bodyPr wrap="square" rtlCol="0">
            <a:spAutoFit/>
          </a:bodyPr>
          <a:lstStyle/>
          <a:p>
            <a:r>
              <a:rPr lang="en-US" sz="1400" b="1" dirty="0" smtClean="0">
                <a:solidFill>
                  <a:prstClr val="black"/>
                </a:solidFill>
              </a:rPr>
              <a:t>Create a table to store the output of the DBCC IND statement</a:t>
            </a:r>
            <a:endParaRPr lang="en-US" sz="1400" b="1" dirty="0">
              <a:solidFill>
                <a:prstClr val="black"/>
              </a:solidFill>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38" y="876300"/>
            <a:ext cx="2869918"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4248272"/>
            <a:ext cx="51530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010272"/>
            <a:ext cx="9144000" cy="1466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9 CuadroTexto"/>
          <p:cNvSpPr txBox="1"/>
          <p:nvPr/>
        </p:nvSpPr>
        <p:spPr>
          <a:xfrm>
            <a:off x="0" y="3941983"/>
            <a:ext cx="9144000" cy="307777"/>
          </a:xfrm>
          <a:prstGeom prst="rect">
            <a:avLst/>
          </a:prstGeom>
          <a:noFill/>
        </p:spPr>
        <p:txBody>
          <a:bodyPr wrap="square" rtlCol="0">
            <a:spAutoFit/>
          </a:bodyPr>
          <a:lstStyle/>
          <a:p>
            <a:r>
              <a:rPr lang="en-US" sz="1400" b="1" dirty="0" smtClean="0">
                <a:solidFill>
                  <a:prstClr val="black"/>
                </a:solidFill>
              </a:rPr>
              <a:t>Get the list of LEAF level index records</a:t>
            </a:r>
            <a:endParaRPr lang="en-US" sz="1400" b="1" dirty="0">
              <a:solidFill>
                <a:prstClr val="black"/>
              </a:solidFill>
            </a:endParaRPr>
          </a:p>
        </p:txBody>
      </p:sp>
      <p:grpSp>
        <p:nvGrpSpPr>
          <p:cNvPr id="11" name="10 Grupo"/>
          <p:cNvGrpSpPr/>
          <p:nvPr/>
        </p:nvGrpSpPr>
        <p:grpSpPr>
          <a:xfrm>
            <a:off x="0" y="9525"/>
            <a:ext cx="9153525" cy="408388"/>
            <a:chOff x="0" y="9525"/>
            <a:chExt cx="9153525" cy="408388"/>
          </a:xfrm>
        </p:grpSpPr>
        <p:sp>
          <p:nvSpPr>
            <p:cNvPr id="12" name="11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Record Types |  Index Records</a:t>
              </a:r>
              <a:endParaRPr lang="en-US" b="1" i="1" dirty="0">
                <a:solidFill>
                  <a:schemeClr val="bg1"/>
                </a:solidFill>
              </a:endParaRPr>
            </a:p>
          </p:txBody>
        </p:sp>
        <p:pic>
          <p:nvPicPr>
            <p:cNvPr id="13" name="12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13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14 Grupo"/>
          <p:cNvGrpSpPr/>
          <p:nvPr/>
        </p:nvGrpSpPr>
        <p:grpSpPr>
          <a:xfrm>
            <a:off x="9525" y="6574392"/>
            <a:ext cx="9134399" cy="277000"/>
            <a:chOff x="9525" y="6574392"/>
            <a:chExt cx="9134399" cy="277000"/>
          </a:xfrm>
        </p:grpSpPr>
        <p:sp>
          <p:nvSpPr>
            <p:cNvPr id="16" name="15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7" name="16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155145258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0" y="458688"/>
            <a:ext cx="9144000" cy="369332"/>
          </a:xfrm>
          <a:prstGeom prst="rect">
            <a:avLst/>
          </a:prstGeom>
          <a:noFill/>
        </p:spPr>
        <p:txBody>
          <a:bodyPr wrap="square" rtlCol="0">
            <a:spAutoFit/>
          </a:bodyPr>
          <a:lstStyle/>
          <a:p>
            <a:r>
              <a:rPr lang="en-US" b="1" dirty="0" smtClean="0">
                <a:solidFill>
                  <a:prstClr val="black"/>
                </a:solidFill>
              </a:rPr>
              <a:t>Dump of a Leaf Level index record</a:t>
            </a:r>
            <a:endParaRPr lang="en-US" b="1" dirty="0">
              <a:solidFill>
                <a:prstClr val="black"/>
              </a:solidFill>
            </a:endParaRPr>
          </a:p>
        </p:txBody>
      </p:sp>
      <p:pic>
        <p:nvPicPr>
          <p:cNvPr id="61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99" y="992088"/>
            <a:ext cx="2905125" cy="122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49" y="2363689"/>
            <a:ext cx="3978484" cy="3581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1828800" y="2341611"/>
            <a:ext cx="609600" cy="367967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 name="10 CuadroTexto"/>
          <p:cNvSpPr txBox="1"/>
          <p:nvPr/>
        </p:nvSpPr>
        <p:spPr>
          <a:xfrm>
            <a:off x="5562600" y="1373088"/>
            <a:ext cx="2676614" cy="307777"/>
          </a:xfrm>
          <a:prstGeom prst="rect">
            <a:avLst/>
          </a:prstGeom>
          <a:noFill/>
        </p:spPr>
        <p:txBody>
          <a:bodyPr wrap="square" rtlCol="0">
            <a:spAutoFit/>
          </a:bodyPr>
          <a:lstStyle/>
          <a:p>
            <a:r>
              <a:rPr lang="en-US" sz="1400" b="1" dirty="0" smtClean="0">
                <a:solidFill>
                  <a:prstClr val="black"/>
                </a:solidFill>
              </a:rPr>
              <a:t>Non-Clustered index key</a:t>
            </a:r>
            <a:endParaRPr lang="en-US" sz="1400" b="1" dirty="0">
              <a:solidFill>
                <a:prstClr val="black"/>
              </a:solidFill>
            </a:endParaRPr>
          </a:p>
        </p:txBody>
      </p:sp>
      <p:pic>
        <p:nvPicPr>
          <p:cNvPr id="615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5507" y="1754088"/>
            <a:ext cx="2590800" cy="1609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2"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57529" y="4680036"/>
            <a:ext cx="4953000" cy="1265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4" name="13 Conector recto de flecha"/>
          <p:cNvCxnSpPr/>
          <p:nvPr/>
        </p:nvCxnSpPr>
        <p:spPr>
          <a:xfrm>
            <a:off x="2743200" y="2668488"/>
            <a:ext cx="1676400" cy="2286000"/>
          </a:xfrm>
          <a:prstGeom prst="straightConnector1">
            <a:avLst/>
          </a:prstGeom>
          <a:ln w="9525">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p:nvPr/>
        </p:nvCxnSpPr>
        <p:spPr>
          <a:xfrm>
            <a:off x="2362200" y="2668488"/>
            <a:ext cx="4648200" cy="2362200"/>
          </a:xfrm>
          <a:prstGeom prst="straightConnector1">
            <a:avLst/>
          </a:prstGeom>
          <a:ln w="9525">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0" name="19 Conector recto de flecha"/>
          <p:cNvCxnSpPr>
            <a:stCxn id="11" idx="1"/>
          </p:cNvCxnSpPr>
          <p:nvPr/>
        </p:nvCxnSpPr>
        <p:spPr>
          <a:xfrm flipH="1">
            <a:off x="2438400" y="1526977"/>
            <a:ext cx="3124200" cy="836712"/>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12" name="11 Grupo"/>
          <p:cNvGrpSpPr/>
          <p:nvPr/>
        </p:nvGrpSpPr>
        <p:grpSpPr>
          <a:xfrm>
            <a:off x="9525" y="6574392"/>
            <a:ext cx="9134399" cy="277000"/>
            <a:chOff x="9525" y="6574392"/>
            <a:chExt cx="9134399" cy="277000"/>
          </a:xfrm>
        </p:grpSpPr>
        <p:sp>
          <p:nvSpPr>
            <p:cNvPr id="13" name="12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5" name="14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7" name="16 Grupo"/>
          <p:cNvGrpSpPr/>
          <p:nvPr/>
        </p:nvGrpSpPr>
        <p:grpSpPr>
          <a:xfrm>
            <a:off x="0" y="9525"/>
            <a:ext cx="9153525" cy="408388"/>
            <a:chOff x="0" y="9525"/>
            <a:chExt cx="9153525" cy="408388"/>
          </a:xfrm>
        </p:grpSpPr>
        <p:sp>
          <p:nvSpPr>
            <p:cNvPr id="18" name="1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Record Types |  Index Records</a:t>
              </a:r>
              <a:endParaRPr lang="en-US" b="1" i="1" dirty="0">
                <a:solidFill>
                  <a:schemeClr val="bg1"/>
                </a:solidFill>
              </a:endParaRPr>
            </a:p>
          </p:txBody>
        </p:sp>
        <p:pic>
          <p:nvPicPr>
            <p:cNvPr id="19" name="18 Imagen"/>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1" name="20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1499369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75" y="488311"/>
            <a:ext cx="9144000" cy="369332"/>
          </a:xfrm>
          <a:prstGeom prst="rect">
            <a:avLst/>
          </a:prstGeom>
          <a:noFill/>
        </p:spPr>
        <p:txBody>
          <a:bodyPr wrap="square" rtlCol="0">
            <a:spAutoFit/>
          </a:bodyPr>
          <a:lstStyle/>
          <a:p>
            <a:r>
              <a:rPr lang="en-US" b="1" dirty="0" smtClean="0">
                <a:solidFill>
                  <a:prstClr val="black"/>
                </a:solidFill>
              </a:rPr>
              <a:t>Non-Leaf Level Index Records</a:t>
            </a:r>
            <a:endParaRPr lang="en-US" b="1" dirty="0">
              <a:solidFill>
                <a:prstClr val="black"/>
              </a:solidFill>
            </a:endParaRPr>
          </a:p>
        </p:txBody>
      </p:sp>
      <p:sp>
        <p:nvSpPr>
          <p:cNvPr id="8" name="7 CuadroTexto"/>
          <p:cNvSpPr txBox="1"/>
          <p:nvPr/>
        </p:nvSpPr>
        <p:spPr>
          <a:xfrm>
            <a:off x="0" y="914400"/>
            <a:ext cx="9144000" cy="276999"/>
          </a:xfrm>
          <a:prstGeom prst="rect">
            <a:avLst/>
          </a:prstGeom>
          <a:noFill/>
        </p:spPr>
        <p:txBody>
          <a:bodyPr wrap="square" rtlCol="0">
            <a:spAutoFit/>
          </a:bodyPr>
          <a:lstStyle/>
          <a:p>
            <a:r>
              <a:rPr lang="en-US" sz="1200" b="1" dirty="0" smtClean="0">
                <a:solidFill>
                  <a:prstClr val="black"/>
                </a:solidFill>
              </a:rPr>
              <a:t>Get the list of Non-Leaf level index records</a:t>
            </a:r>
            <a:endParaRPr lang="en-US" sz="1200" b="1" dirty="0">
              <a:solidFill>
                <a:prstClr val="black"/>
              </a:solidFill>
            </a:endParaRPr>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95" y="1151763"/>
            <a:ext cx="5286375"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14500"/>
            <a:ext cx="9144000" cy="1473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3402028"/>
            <a:ext cx="5694260" cy="3451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895" y="3402028"/>
            <a:ext cx="2738882" cy="109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200400" y="3822462"/>
            <a:ext cx="5694260" cy="152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9" name="8 Conector recto de flecha"/>
          <p:cNvCxnSpPr/>
          <p:nvPr/>
        </p:nvCxnSpPr>
        <p:spPr>
          <a:xfrm>
            <a:off x="1066800" y="2324100"/>
            <a:ext cx="1143000" cy="1574562"/>
          </a:xfrm>
          <a:prstGeom prst="straightConnector1">
            <a:avLst/>
          </a:prstGeom>
          <a:ln w="127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1" name="10 Conector recto de flecha"/>
          <p:cNvCxnSpPr/>
          <p:nvPr/>
        </p:nvCxnSpPr>
        <p:spPr>
          <a:xfrm flipV="1">
            <a:off x="2755261" y="3950695"/>
            <a:ext cx="426623" cy="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12" name="11 Grupo"/>
          <p:cNvGrpSpPr/>
          <p:nvPr/>
        </p:nvGrpSpPr>
        <p:grpSpPr>
          <a:xfrm>
            <a:off x="0" y="9525"/>
            <a:ext cx="9153525" cy="408388"/>
            <a:chOff x="0" y="9525"/>
            <a:chExt cx="9153525" cy="408388"/>
          </a:xfrm>
        </p:grpSpPr>
        <p:sp>
          <p:nvSpPr>
            <p:cNvPr id="13" name="12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Record Types |  Index Records</a:t>
              </a:r>
              <a:endParaRPr lang="en-US" b="1" i="1" dirty="0">
                <a:solidFill>
                  <a:schemeClr val="bg1"/>
                </a:solidFill>
              </a:endParaRPr>
            </a:p>
          </p:txBody>
        </p:sp>
        <p:pic>
          <p:nvPicPr>
            <p:cNvPr id="14" name="13 Imagen"/>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 name="14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15 Grupo"/>
          <p:cNvGrpSpPr/>
          <p:nvPr/>
        </p:nvGrpSpPr>
        <p:grpSpPr>
          <a:xfrm>
            <a:off x="9525" y="6574392"/>
            <a:ext cx="9134399" cy="277000"/>
            <a:chOff x="9525" y="6574392"/>
            <a:chExt cx="9134399" cy="277000"/>
          </a:xfrm>
        </p:grpSpPr>
        <p:sp>
          <p:nvSpPr>
            <p:cNvPr id="17" name="16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8" name="17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263436779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0" y="694207"/>
            <a:ext cx="9144000" cy="307777"/>
          </a:xfrm>
          <a:prstGeom prst="rect">
            <a:avLst/>
          </a:prstGeom>
          <a:noFill/>
        </p:spPr>
        <p:txBody>
          <a:bodyPr wrap="square" rtlCol="0">
            <a:spAutoFit/>
          </a:bodyPr>
          <a:lstStyle/>
          <a:p>
            <a:r>
              <a:rPr lang="en-US" sz="1400" b="1" dirty="0" smtClean="0">
                <a:solidFill>
                  <a:prstClr val="black"/>
                </a:solidFill>
              </a:rPr>
              <a:t>According to the B-Tree the employee #321 is located in File 1, Page 2242</a:t>
            </a:r>
            <a:endParaRPr lang="en-US" sz="1400" b="1" dirty="0">
              <a:solidFill>
                <a:prstClr val="black"/>
              </a:solidFill>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1296369"/>
            <a:ext cx="2895600"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62" y="1087709"/>
            <a:ext cx="359092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1389532"/>
            <a:ext cx="4019550" cy="57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3102074"/>
            <a:ext cx="4714875" cy="234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8 CuadroTexto"/>
          <p:cNvSpPr txBox="1"/>
          <p:nvPr/>
        </p:nvSpPr>
        <p:spPr>
          <a:xfrm>
            <a:off x="1424" y="2777205"/>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Gotcha!</a:t>
            </a:r>
            <a:endParaRPr lang="en-US" sz="1400" b="1" dirty="0">
              <a:solidFill>
                <a:prstClr val="black"/>
              </a:solidFill>
            </a:endParaRPr>
          </a:p>
        </p:txBody>
      </p:sp>
      <p:grpSp>
        <p:nvGrpSpPr>
          <p:cNvPr id="10" name="9 Grupo"/>
          <p:cNvGrpSpPr/>
          <p:nvPr/>
        </p:nvGrpSpPr>
        <p:grpSpPr>
          <a:xfrm>
            <a:off x="0" y="9525"/>
            <a:ext cx="9153525" cy="408388"/>
            <a:chOff x="0" y="9525"/>
            <a:chExt cx="9153525" cy="408388"/>
          </a:xfrm>
        </p:grpSpPr>
        <p:sp>
          <p:nvSpPr>
            <p:cNvPr id="11" name="10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Record Types |  Index Records</a:t>
              </a:r>
              <a:endParaRPr lang="en-US" b="1" i="1" dirty="0">
                <a:solidFill>
                  <a:schemeClr val="bg1"/>
                </a:solidFill>
              </a:endParaRPr>
            </a:p>
          </p:txBody>
        </p:sp>
        <p:pic>
          <p:nvPicPr>
            <p:cNvPr id="12" name="11 Imagen"/>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12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 name="13 Grupo"/>
          <p:cNvGrpSpPr/>
          <p:nvPr/>
        </p:nvGrpSpPr>
        <p:grpSpPr>
          <a:xfrm>
            <a:off x="9525" y="6574392"/>
            <a:ext cx="9134399" cy="277000"/>
            <a:chOff x="9525" y="6574392"/>
            <a:chExt cx="9134399" cy="277000"/>
          </a:xfrm>
        </p:grpSpPr>
        <p:sp>
          <p:nvSpPr>
            <p:cNvPr id="15" name="14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6" name="15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286444164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0" y="762000"/>
            <a:ext cx="9144000" cy="1169551"/>
          </a:xfrm>
          <a:prstGeom prst="rect">
            <a:avLst/>
          </a:prstGeom>
          <a:noFill/>
        </p:spPr>
        <p:txBody>
          <a:bodyPr wrap="square" rtlCol="0">
            <a:spAutoFit/>
          </a:bodyPr>
          <a:lstStyle/>
          <a:p>
            <a:pPr marL="285750" indent="-285750">
              <a:buFont typeface="Wingdings" pitchFamily="2" charset="2"/>
              <a:buChar char="Ø"/>
            </a:pPr>
            <a:r>
              <a:rPr lang="en-US" sz="1400" dirty="0" smtClean="0">
                <a:solidFill>
                  <a:prstClr val="black"/>
                </a:solidFill>
              </a:rPr>
              <a:t>Text Records are used to store LOB (</a:t>
            </a:r>
            <a:r>
              <a:rPr lang="en-US" sz="1400" b="1" dirty="0" smtClean="0">
                <a:solidFill>
                  <a:srgbClr val="0000FF"/>
                </a:solidFill>
                <a:effectLst>
                  <a:outerShdw blurRad="38100" dist="38100" dir="2700000" algn="tl">
                    <a:srgbClr val="000000">
                      <a:alpha val="43137"/>
                    </a:srgbClr>
                  </a:outerShdw>
                </a:effectLst>
              </a:rPr>
              <a:t>L</a:t>
            </a:r>
            <a:r>
              <a:rPr lang="en-US" sz="1400" dirty="0" smtClean="0">
                <a:solidFill>
                  <a:prstClr val="black"/>
                </a:solidFill>
              </a:rPr>
              <a:t>arge </a:t>
            </a:r>
            <a:r>
              <a:rPr lang="en-US" sz="1400" b="1" dirty="0" err="1" smtClean="0">
                <a:solidFill>
                  <a:srgbClr val="0000FF"/>
                </a:solidFill>
                <a:effectLst>
                  <a:outerShdw blurRad="38100" dist="38100" dir="2700000" algn="tl">
                    <a:srgbClr val="000000">
                      <a:alpha val="43137"/>
                    </a:srgbClr>
                  </a:outerShdw>
                </a:effectLst>
              </a:rPr>
              <a:t>OB</a:t>
            </a:r>
            <a:r>
              <a:rPr lang="en-US" sz="1400" dirty="0" err="1" smtClean="0">
                <a:solidFill>
                  <a:prstClr val="black"/>
                </a:solidFill>
              </a:rPr>
              <a:t>ject</a:t>
            </a:r>
            <a:r>
              <a:rPr lang="en-US" sz="1400" dirty="0" smtClean="0">
                <a:solidFill>
                  <a:prstClr val="black"/>
                </a:solidFill>
              </a:rPr>
              <a:t>) data and row-overflow data</a:t>
            </a:r>
          </a:p>
          <a:p>
            <a:pPr marL="742950" lvl="1" indent="-285750">
              <a:buFont typeface="Wingdings" pitchFamily="2" charset="2"/>
              <a:buChar char="Ø"/>
            </a:pPr>
            <a:r>
              <a:rPr lang="en-US" sz="1400" dirty="0" smtClean="0">
                <a:solidFill>
                  <a:prstClr val="black"/>
                </a:solidFill>
              </a:rPr>
              <a:t>LOB data is stored “off-row” by default</a:t>
            </a:r>
          </a:p>
          <a:p>
            <a:pPr marL="742950" lvl="1" indent="-285750">
              <a:buFont typeface="Wingdings" pitchFamily="2" charset="2"/>
              <a:buChar char="Ø"/>
            </a:pPr>
            <a:r>
              <a:rPr lang="en-US" sz="1400" dirty="0" smtClean="0">
                <a:solidFill>
                  <a:prstClr val="black"/>
                </a:solidFill>
              </a:rPr>
              <a:t>Row-overflow data is </a:t>
            </a:r>
            <a:r>
              <a:rPr lang="en-US" sz="1400" u="sng" dirty="0" smtClean="0">
                <a:solidFill>
                  <a:prstClr val="black"/>
                </a:solidFill>
              </a:rPr>
              <a:t>always</a:t>
            </a:r>
            <a:r>
              <a:rPr lang="en-US" sz="1400" dirty="0" smtClean="0">
                <a:solidFill>
                  <a:prstClr val="black"/>
                </a:solidFill>
              </a:rPr>
              <a:t> stored “off-row”</a:t>
            </a:r>
          </a:p>
          <a:p>
            <a:pPr marL="285750" indent="-285750">
              <a:buFont typeface="Wingdings" pitchFamily="2" charset="2"/>
              <a:buChar char="Ø"/>
            </a:pP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The data record stores a pointer to the root of a loose tree structure that holds the LOB data in Text records.</a:t>
            </a:r>
          </a:p>
        </p:txBody>
      </p:sp>
      <p:grpSp>
        <p:nvGrpSpPr>
          <p:cNvPr id="49" name="48 Grupo"/>
          <p:cNvGrpSpPr/>
          <p:nvPr/>
        </p:nvGrpSpPr>
        <p:grpSpPr>
          <a:xfrm>
            <a:off x="381000" y="2681956"/>
            <a:ext cx="7697624" cy="1901466"/>
            <a:chOff x="533400" y="3661134"/>
            <a:chExt cx="7697624" cy="1901466"/>
          </a:xfrm>
        </p:grpSpPr>
        <p:sp>
          <p:nvSpPr>
            <p:cNvPr id="2" name="1 Rectángulo"/>
            <p:cNvSpPr/>
            <p:nvPr/>
          </p:nvSpPr>
          <p:spPr>
            <a:xfrm>
              <a:off x="533400" y="4114800"/>
              <a:ext cx="1447800" cy="14478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5 Rectángulo"/>
            <p:cNvSpPr/>
            <p:nvPr/>
          </p:nvSpPr>
          <p:spPr>
            <a:xfrm>
              <a:off x="2514600" y="4114800"/>
              <a:ext cx="1447800" cy="14478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 name="6 Rectángulo"/>
            <p:cNvSpPr/>
            <p:nvPr/>
          </p:nvSpPr>
          <p:spPr>
            <a:xfrm>
              <a:off x="4953000" y="4114800"/>
              <a:ext cx="1447800" cy="14478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7 CuadroTexto"/>
            <p:cNvSpPr txBox="1"/>
            <p:nvPr/>
          </p:nvSpPr>
          <p:spPr>
            <a:xfrm>
              <a:off x="533400" y="5257800"/>
              <a:ext cx="1447800" cy="276999"/>
            </a:xfrm>
            <a:prstGeom prst="rect">
              <a:avLst/>
            </a:prstGeom>
            <a:noFill/>
          </p:spPr>
          <p:txBody>
            <a:bodyPr wrap="square" rtlCol="0">
              <a:spAutoFit/>
            </a:bodyPr>
            <a:lstStyle/>
            <a:p>
              <a:pPr algn="ctr"/>
              <a:r>
                <a:rPr lang="en-US" sz="1200" dirty="0" smtClean="0">
                  <a:solidFill>
                    <a:prstClr val="black"/>
                  </a:solidFill>
                </a:rPr>
                <a:t>Data Page</a:t>
              </a:r>
              <a:endParaRPr lang="en-US" sz="1200" dirty="0">
                <a:solidFill>
                  <a:prstClr val="black"/>
                </a:solidFill>
              </a:endParaRPr>
            </a:p>
          </p:txBody>
        </p:sp>
        <p:sp>
          <p:nvSpPr>
            <p:cNvPr id="9" name="8 CuadroTexto"/>
            <p:cNvSpPr txBox="1"/>
            <p:nvPr/>
          </p:nvSpPr>
          <p:spPr>
            <a:xfrm>
              <a:off x="2514600" y="5257061"/>
              <a:ext cx="1447800" cy="276999"/>
            </a:xfrm>
            <a:prstGeom prst="rect">
              <a:avLst/>
            </a:prstGeom>
            <a:noFill/>
          </p:spPr>
          <p:txBody>
            <a:bodyPr wrap="square" rtlCol="0">
              <a:spAutoFit/>
            </a:bodyPr>
            <a:lstStyle/>
            <a:p>
              <a:pPr algn="ctr"/>
              <a:r>
                <a:rPr lang="en-US" sz="1200" dirty="0" smtClean="0">
                  <a:solidFill>
                    <a:prstClr val="black"/>
                  </a:solidFill>
                </a:rPr>
                <a:t>Text Page</a:t>
              </a:r>
              <a:endParaRPr lang="en-US" sz="1200" dirty="0">
                <a:solidFill>
                  <a:prstClr val="black"/>
                </a:solidFill>
              </a:endParaRPr>
            </a:p>
          </p:txBody>
        </p:sp>
        <p:sp>
          <p:nvSpPr>
            <p:cNvPr id="10" name="9 CuadroTexto"/>
            <p:cNvSpPr txBox="1"/>
            <p:nvPr/>
          </p:nvSpPr>
          <p:spPr>
            <a:xfrm>
              <a:off x="4953000" y="5257060"/>
              <a:ext cx="1447800" cy="276999"/>
            </a:xfrm>
            <a:prstGeom prst="rect">
              <a:avLst/>
            </a:prstGeom>
            <a:noFill/>
          </p:spPr>
          <p:txBody>
            <a:bodyPr wrap="square" rtlCol="0">
              <a:spAutoFit/>
            </a:bodyPr>
            <a:lstStyle/>
            <a:p>
              <a:pPr algn="ctr"/>
              <a:r>
                <a:rPr lang="en-US" sz="1200" dirty="0" smtClean="0">
                  <a:solidFill>
                    <a:prstClr val="black"/>
                  </a:solidFill>
                </a:rPr>
                <a:t>Text Page</a:t>
              </a:r>
              <a:endParaRPr lang="en-US" sz="1200" dirty="0">
                <a:solidFill>
                  <a:prstClr val="black"/>
                </a:solidFill>
              </a:endParaRPr>
            </a:p>
          </p:txBody>
        </p:sp>
        <p:grpSp>
          <p:nvGrpSpPr>
            <p:cNvPr id="13" name="12 Grupo"/>
            <p:cNvGrpSpPr/>
            <p:nvPr/>
          </p:nvGrpSpPr>
          <p:grpSpPr>
            <a:xfrm>
              <a:off x="533400" y="4724400"/>
              <a:ext cx="1447800" cy="304800"/>
              <a:chOff x="1295400" y="5401654"/>
              <a:chExt cx="1447800" cy="304800"/>
            </a:xfrm>
          </p:grpSpPr>
          <p:sp>
            <p:nvSpPr>
              <p:cNvPr id="11" name="10 Rectángulo"/>
              <p:cNvSpPr/>
              <p:nvPr/>
            </p:nvSpPr>
            <p:spPr>
              <a:xfrm>
                <a:off x="1295400" y="5401654"/>
                <a:ext cx="1447800" cy="304800"/>
              </a:xfrm>
              <a:prstGeom prst="rect">
                <a:avLst/>
              </a:prstGeom>
              <a:solidFill>
                <a:schemeClr val="bg1">
                  <a:lumMod val="6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11 Rectángulo"/>
              <p:cNvSpPr/>
              <p:nvPr/>
            </p:nvSpPr>
            <p:spPr>
              <a:xfrm>
                <a:off x="2080189" y="5401654"/>
                <a:ext cx="282011" cy="304800"/>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15" name="14 Rectángulo"/>
            <p:cNvSpPr/>
            <p:nvPr/>
          </p:nvSpPr>
          <p:spPr>
            <a:xfrm>
              <a:off x="2514600" y="4376159"/>
              <a:ext cx="1447800" cy="304800"/>
            </a:xfrm>
            <a:prstGeom prst="rect">
              <a:avLst/>
            </a:prstGeom>
            <a:solidFill>
              <a:schemeClr val="bg1">
                <a:lumMod val="6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 name="15 Rectángulo"/>
            <p:cNvSpPr/>
            <p:nvPr/>
          </p:nvSpPr>
          <p:spPr>
            <a:xfrm>
              <a:off x="2667000" y="4376159"/>
              <a:ext cx="282011" cy="304800"/>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7" name="16 Rectángulo"/>
            <p:cNvSpPr/>
            <p:nvPr/>
          </p:nvSpPr>
          <p:spPr>
            <a:xfrm>
              <a:off x="3052985" y="4376159"/>
              <a:ext cx="282011" cy="304800"/>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17 Rectángulo"/>
            <p:cNvSpPr/>
            <p:nvPr/>
          </p:nvSpPr>
          <p:spPr>
            <a:xfrm>
              <a:off x="6781800" y="4114800"/>
              <a:ext cx="1447800" cy="14478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9" name="18 CuadroTexto"/>
            <p:cNvSpPr txBox="1"/>
            <p:nvPr/>
          </p:nvSpPr>
          <p:spPr>
            <a:xfrm>
              <a:off x="6781800" y="5257060"/>
              <a:ext cx="1447800" cy="276999"/>
            </a:xfrm>
            <a:prstGeom prst="rect">
              <a:avLst/>
            </a:prstGeom>
            <a:noFill/>
          </p:spPr>
          <p:txBody>
            <a:bodyPr wrap="square" rtlCol="0">
              <a:spAutoFit/>
            </a:bodyPr>
            <a:lstStyle/>
            <a:p>
              <a:pPr algn="ctr"/>
              <a:r>
                <a:rPr lang="en-US" sz="1200" dirty="0" smtClean="0">
                  <a:solidFill>
                    <a:prstClr val="black"/>
                  </a:solidFill>
                </a:rPr>
                <a:t>Text Page</a:t>
              </a:r>
              <a:endParaRPr lang="en-US" sz="1200" dirty="0">
                <a:solidFill>
                  <a:prstClr val="black"/>
                </a:solidFill>
              </a:endParaRPr>
            </a:p>
          </p:txBody>
        </p:sp>
        <p:cxnSp>
          <p:nvCxnSpPr>
            <p:cNvPr id="21" name="20 Conector recto"/>
            <p:cNvCxnSpPr/>
            <p:nvPr/>
          </p:nvCxnSpPr>
          <p:spPr>
            <a:xfrm>
              <a:off x="1459194" y="5190146"/>
              <a:ext cx="67440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23 Conector recto"/>
            <p:cNvCxnSpPr/>
            <p:nvPr/>
          </p:nvCxnSpPr>
          <p:spPr>
            <a:xfrm>
              <a:off x="1459194" y="5029200"/>
              <a:ext cx="0" cy="1524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25 Conector recto"/>
            <p:cNvCxnSpPr/>
            <p:nvPr/>
          </p:nvCxnSpPr>
          <p:spPr>
            <a:xfrm flipV="1">
              <a:off x="2133600" y="4528559"/>
              <a:ext cx="0" cy="65304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27 Conector recto de flecha"/>
            <p:cNvCxnSpPr/>
            <p:nvPr/>
          </p:nvCxnSpPr>
          <p:spPr>
            <a:xfrm>
              <a:off x="2133600" y="4528559"/>
              <a:ext cx="381000"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9" name="28 CuadroTexto"/>
            <p:cNvSpPr txBox="1"/>
            <p:nvPr/>
          </p:nvSpPr>
          <p:spPr>
            <a:xfrm>
              <a:off x="571500" y="4343399"/>
              <a:ext cx="1371600" cy="276999"/>
            </a:xfrm>
            <a:prstGeom prst="rect">
              <a:avLst/>
            </a:prstGeom>
            <a:noFill/>
          </p:spPr>
          <p:txBody>
            <a:bodyPr wrap="square" rtlCol="0">
              <a:spAutoFit/>
            </a:bodyPr>
            <a:lstStyle/>
            <a:p>
              <a:r>
                <a:rPr lang="en-US" sz="1200" i="1" dirty="0" smtClean="0">
                  <a:solidFill>
                    <a:prstClr val="black"/>
                  </a:solidFill>
                </a:rPr>
                <a:t>Pointer to the root</a:t>
              </a:r>
              <a:endParaRPr lang="en-US" sz="1200" i="1" dirty="0">
                <a:solidFill>
                  <a:prstClr val="black"/>
                </a:solidFill>
              </a:endParaRPr>
            </a:p>
          </p:txBody>
        </p:sp>
        <p:sp>
          <p:nvSpPr>
            <p:cNvPr id="30" name="29 Rectángulo"/>
            <p:cNvSpPr/>
            <p:nvPr/>
          </p:nvSpPr>
          <p:spPr>
            <a:xfrm>
              <a:off x="4953000" y="4376159"/>
              <a:ext cx="1447800" cy="805440"/>
            </a:xfrm>
            <a:prstGeom prst="rect">
              <a:avLst/>
            </a:prstGeom>
            <a:solidFill>
              <a:schemeClr val="bg1">
                <a:lumMod val="6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30 Rectángulo"/>
            <p:cNvSpPr/>
            <p:nvPr/>
          </p:nvSpPr>
          <p:spPr>
            <a:xfrm>
              <a:off x="6781800" y="4376159"/>
              <a:ext cx="1447800" cy="805440"/>
            </a:xfrm>
            <a:prstGeom prst="rect">
              <a:avLst/>
            </a:prstGeom>
            <a:solidFill>
              <a:schemeClr val="bg1">
                <a:lumMod val="6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33" name="32 Conector recto"/>
            <p:cNvCxnSpPr>
              <a:stCxn id="16" idx="0"/>
            </p:cNvCxnSpPr>
            <p:nvPr/>
          </p:nvCxnSpPr>
          <p:spPr>
            <a:xfrm flipH="1" flipV="1">
              <a:off x="2808005" y="3661134"/>
              <a:ext cx="1" cy="71502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34 Conector recto"/>
            <p:cNvCxnSpPr/>
            <p:nvPr/>
          </p:nvCxnSpPr>
          <p:spPr>
            <a:xfrm flipV="1">
              <a:off x="3193990" y="3799633"/>
              <a:ext cx="0" cy="57652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38 Conector recto"/>
            <p:cNvCxnSpPr/>
            <p:nvPr/>
          </p:nvCxnSpPr>
          <p:spPr>
            <a:xfrm>
              <a:off x="3193990" y="3799633"/>
              <a:ext cx="236861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40 Conector recto"/>
            <p:cNvCxnSpPr/>
            <p:nvPr/>
          </p:nvCxnSpPr>
          <p:spPr>
            <a:xfrm>
              <a:off x="2808005" y="3661134"/>
              <a:ext cx="465959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42 Conector recto de flecha"/>
            <p:cNvCxnSpPr/>
            <p:nvPr/>
          </p:nvCxnSpPr>
          <p:spPr>
            <a:xfrm>
              <a:off x="5562600" y="3799633"/>
              <a:ext cx="0" cy="576526"/>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5" name="44 Conector recto de flecha"/>
            <p:cNvCxnSpPr/>
            <p:nvPr/>
          </p:nvCxnSpPr>
          <p:spPr>
            <a:xfrm>
              <a:off x="7467600" y="3661134"/>
              <a:ext cx="0" cy="682266"/>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6" name="45 CuadroTexto"/>
            <p:cNvSpPr txBox="1"/>
            <p:nvPr/>
          </p:nvSpPr>
          <p:spPr>
            <a:xfrm>
              <a:off x="2514600" y="4764649"/>
              <a:ext cx="1447800" cy="276999"/>
            </a:xfrm>
            <a:prstGeom prst="rect">
              <a:avLst/>
            </a:prstGeom>
            <a:noFill/>
          </p:spPr>
          <p:txBody>
            <a:bodyPr wrap="square" rtlCol="0">
              <a:spAutoFit/>
            </a:bodyPr>
            <a:lstStyle/>
            <a:p>
              <a:r>
                <a:rPr lang="en-US" sz="1200" i="1" dirty="0" smtClean="0">
                  <a:solidFill>
                    <a:prstClr val="black"/>
                  </a:solidFill>
                </a:rPr>
                <a:t>Pointer to each child</a:t>
              </a:r>
              <a:endParaRPr lang="en-US" sz="1200" i="1" dirty="0">
                <a:solidFill>
                  <a:prstClr val="black"/>
                </a:solidFill>
              </a:endParaRPr>
            </a:p>
          </p:txBody>
        </p:sp>
        <p:sp>
          <p:nvSpPr>
            <p:cNvPr id="47" name="46 CuadroTexto"/>
            <p:cNvSpPr txBox="1"/>
            <p:nvPr/>
          </p:nvSpPr>
          <p:spPr>
            <a:xfrm>
              <a:off x="4953000" y="4599801"/>
              <a:ext cx="1447800" cy="276999"/>
            </a:xfrm>
            <a:prstGeom prst="rect">
              <a:avLst/>
            </a:prstGeom>
            <a:noFill/>
          </p:spPr>
          <p:txBody>
            <a:bodyPr wrap="square" rtlCol="0">
              <a:spAutoFit/>
            </a:bodyPr>
            <a:lstStyle/>
            <a:p>
              <a:pPr algn="ctr"/>
              <a:r>
                <a:rPr lang="en-US" sz="1200" dirty="0" smtClean="0">
                  <a:solidFill>
                    <a:prstClr val="black"/>
                  </a:solidFill>
                </a:rPr>
                <a:t>LOB data</a:t>
              </a:r>
              <a:endParaRPr lang="en-US" sz="1200" dirty="0">
                <a:solidFill>
                  <a:prstClr val="black"/>
                </a:solidFill>
              </a:endParaRPr>
            </a:p>
          </p:txBody>
        </p:sp>
        <p:sp>
          <p:nvSpPr>
            <p:cNvPr id="48" name="47 CuadroTexto"/>
            <p:cNvSpPr txBox="1"/>
            <p:nvPr/>
          </p:nvSpPr>
          <p:spPr>
            <a:xfrm>
              <a:off x="6783224" y="4640379"/>
              <a:ext cx="1447800" cy="276999"/>
            </a:xfrm>
            <a:prstGeom prst="rect">
              <a:avLst/>
            </a:prstGeom>
            <a:noFill/>
          </p:spPr>
          <p:txBody>
            <a:bodyPr wrap="square" rtlCol="0">
              <a:spAutoFit/>
            </a:bodyPr>
            <a:lstStyle/>
            <a:p>
              <a:pPr algn="ctr"/>
              <a:r>
                <a:rPr lang="en-US" sz="1200" dirty="0" smtClean="0">
                  <a:solidFill>
                    <a:prstClr val="black"/>
                  </a:solidFill>
                </a:rPr>
                <a:t>LOB data</a:t>
              </a:r>
              <a:endParaRPr lang="en-US" sz="1200" dirty="0">
                <a:solidFill>
                  <a:prstClr val="black"/>
                </a:solidFill>
              </a:endParaRPr>
            </a:p>
          </p:txBody>
        </p:sp>
      </p:grpSp>
      <p:grpSp>
        <p:nvGrpSpPr>
          <p:cNvPr id="36" name="35 Grupo"/>
          <p:cNvGrpSpPr/>
          <p:nvPr/>
        </p:nvGrpSpPr>
        <p:grpSpPr>
          <a:xfrm>
            <a:off x="9525" y="6574392"/>
            <a:ext cx="9134399" cy="277000"/>
            <a:chOff x="9525" y="6574392"/>
            <a:chExt cx="9134399" cy="277000"/>
          </a:xfrm>
        </p:grpSpPr>
        <p:sp>
          <p:nvSpPr>
            <p:cNvPr id="37" name="36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38" name="37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40" name="39 Grupo"/>
          <p:cNvGrpSpPr/>
          <p:nvPr/>
        </p:nvGrpSpPr>
        <p:grpSpPr>
          <a:xfrm>
            <a:off x="0" y="9525"/>
            <a:ext cx="9153525" cy="408388"/>
            <a:chOff x="0" y="9525"/>
            <a:chExt cx="9153525" cy="408388"/>
          </a:xfrm>
        </p:grpSpPr>
        <p:sp>
          <p:nvSpPr>
            <p:cNvPr id="42" name="41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Record Types |  Text Records</a:t>
              </a:r>
              <a:endParaRPr lang="en-US" b="1" i="1" dirty="0">
                <a:solidFill>
                  <a:schemeClr val="bg1"/>
                </a:solidFill>
              </a:endParaRPr>
            </a:p>
          </p:txBody>
        </p:sp>
        <p:pic>
          <p:nvPicPr>
            <p:cNvPr id="44" name="43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1" name="50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2" name="51 CuadroTexto"/>
          <p:cNvSpPr txBox="1"/>
          <p:nvPr/>
        </p:nvSpPr>
        <p:spPr>
          <a:xfrm>
            <a:off x="7543800" y="6019800"/>
            <a:ext cx="1600200" cy="369332"/>
          </a:xfrm>
          <a:prstGeom prst="rect">
            <a:avLst/>
          </a:prstGeom>
          <a:solidFill>
            <a:schemeClr val="accent3">
              <a:lumMod val="75000"/>
            </a:schemeClr>
          </a:solidFill>
        </p:spPr>
        <p:txBody>
          <a:bodyPr wrap="square" rtlCol="0">
            <a:spAutoFit/>
          </a:bodyPr>
          <a:lstStyle/>
          <a:p>
            <a:pPr algn="r"/>
            <a:r>
              <a:rPr lang="en-US" dirty="0" smtClean="0">
                <a:solidFill>
                  <a:prstClr val="white"/>
                </a:solidFill>
              </a:rPr>
              <a:t>Hands On </a:t>
            </a:r>
            <a:r>
              <a:rPr lang="en-US" dirty="0" smtClean="0">
                <a:solidFill>
                  <a:prstClr val="white"/>
                </a:solidFill>
                <a:sym typeface="Wingdings" pitchFamily="2" charset="2"/>
              </a:rPr>
              <a:t></a:t>
            </a:r>
            <a:endParaRPr lang="en-US" dirty="0">
              <a:solidFill>
                <a:prstClr val="white"/>
              </a:solidFill>
            </a:endParaRPr>
          </a:p>
        </p:txBody>
      </p:sp>
    </p:spTree>
    <p:extLst>
      <p:ext uri="{BB962C8B-B14F-4D97-AF65-F5344CB8AC3E}">
        <p14:creationId xmlns:p14="http://schemas.microsoft.com/office/powerpoint/2010/main" val="389778077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2" y="3451101"/>
            <a:ext cx="35814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40" y="4175001"/>
            <a:ext cx="6858000"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7 CuadroTexto"/>
          <p:cNvSpPr txBox="1"/>
          <p:nvPr/>
        </p:nvSpPr>
        <p:spPr>
          <a:xfrm>
            <a:off x="-7834" y="3108201"/>
            <a:ext cx="9144000" cy="338554"/>
          </a:xfrm>
          <a:prstGeom prst="rect">
            <a:avLst/>
          </a:prstGeom>
          <a:noFill/>
        </p:spPr>
        <p:txBody>
          <a:bodyPr wrap="square" rtlCol="0">
            <a:spAutoFit/>
          </a:bodyPr>
          <a:lstStyle/>
          <a:p>
            <a:r>
              <a:rPr lang="en-US" sz="1600" b="1" dirty="0" smtClean="0">
                <a:solidFill>
                  <a:prstClr val="black"/>
                </a:solidFill>
              </a:rPr>
              <a:t>Examine the list of Pages</a:t>
            </a:r>
            <a:endParaRPr lang="en-US" sz="1600" b="1" dirty="0">
              <a:solidFill>
                <a:prstClr val="black"/>
              </a:solidFill>
            </a:endParaRPr>
          </a:p>
        </p:txBody>
      </p:sp>
      <p:pic>
        <p:nvPicPr>
          <p:cNvPr id="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95" y="609600"/>
            <a:ext cx="9125484" cy="2312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8 Rectángulo"/>
          <p:cNvSpPr/>
          <p:nvPr/>
        </p:nvSpPr>
        <p:spPr>
          <a:xfrm>
            <a:off x="304800" y="5089401"/>
            <a:ext cx="6533260" cy="4095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3" name="12 CuadroTexto"/>
          <p:cNvSpPr txBox="1"/>
          <p:nvPr/>
        </p:nvSpPr>
        <p:spPr>
          <a:xfrm>
            <a:off x="862413" y="6003800"/>
            <a:ext cx="2580118" cy="461665"/>
          </a:xfrm>
          <a:prstGeom prst="rect">
            <a:avLst/>
          </a:prstGeom>
          <a:noFill/>
        </p:spPr>
        <p:txBody>
          <a:bodyPr wrap="square" rtlCol="0">
            <a:spAutoFit/>
          </a:bodyPr>
          <a:lstStyle/>
          <a:p>
            <a:r>
              <a:rPr lang="en-US" sz="1200" b="1" dirty="0" smtClean="0">
                <a:solidFill>
                  <a:prstClr val="black"/>
                </a:solidFill>
              </a:rPr>
              <a:t>Text Pages</a:t>
            </a:r>
          </a:p>
          <a:p>
            <a:r>
              <a:rPr lang="en-US" sz="1200" dirty="0" smtClean="0">
                <a:solidFill>
                  <a:prstClr val="black"/>
                </a:solidFill>
              </a:rPr>
              <a:t>These 2 pages contain the LOB data</a:t>
            </a:r>
            <a:endParaRPr lang="en-US" sz="1200" dirty="0">
              <a:solidFill>
                <a:prstClr val="black"/>
              </a:solidFill>
            </a:endParaRPr>
          </a:p>
        </p:txBody>
      </p:sp>
      <p:sp>
        <p:nvSpPr>
          <p:cNvPr id="10" name="9 Rectángulo"/>
          <p:cNvSpPr/>
          <p:nvPr/>
        </p:nvSpPr>
        <p:spPr>
          <a:xfrm>
            <a:off x="838200" y="4708401"/>
            <a:ext cx="4572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5" name="14 CuadroTexto"/>
          <p:cNvSpPr txBox="1"/>
          <p:nvPr/>
        </p:nvSpPr>
        <p:spPr>
          <a:xfrm>
            <a:off x="4076700" y="3852397"/>
            <a:ext cx="990600" cy="276999"/>
          </a:xfrm>
          <a:prstGeom prst="rect">
            <a:avLst/>
          </a:prstGeom>
          <a:noFill/>
        </p:spPr>
        <p:txBody>
          <a:bodyPr wrap="square" rtlCol="0">
            <a:spAutoFit/>
          </a:bodyPr>
          <a:lstStyle/>
          <a:p>
            <a:r>
              <a:rPr lang="en-US" sz="1200" b="1" dirty="0" smtClean="0">
                <a:solidFill>
                  <a:prstClr val="black"/>
                </a:solidFill>
              </a:rPr>
              <a:t>Data Page</a:t>
            </a:r>
            <a:endParaRPr lang="en-US" sz="1200" b="1" dirty="0">
              <a:solidFill>
                <a:prstClr val="black"/>
              </a:solidFill>
            </a:endParaRPr>
          </a:p>
        </p:txBody>
      </p:sp>
      <p:cxnSp>
        <p:nvCxnSpPr>
          <p:cNvPr id="12" name="11 Conector recto de flecha"/>
          <p:cNvCxnSpPr/>
          <p:nvPr/>
        </p:nvCxnSpPr>
        <p:spPr>
          <a:xfrm>
            <a:off x="1066800" y="5498976"/>
            <a:ext cx="0" cy="50482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a:stCxn id="15" idx="1"/>
            <a:endCxn id="10" idx="3"/>
          </p:cNvCxnSpPr>
          <p:nvPr/>
        </p:nvCxnSpPr>
        <p:spPr>
          <a:xfrm flipH="1">
            <a:off x="1295400" y="3990897"/>
            <a:ext cx="2781300" cy="83180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4" name="13 Grupo"/>
          <p:cNvGrpSpPr/>
          <p:nvPr/>
        </p:nvGrpSpPr>
        <p:grpSpPr>
          <a:xfrm>
            <a:off x="0" y="9525"/>
            <a:ext cx="9153525" cy="408388"/>
            <a:chOff x="0" y="9525"/>
            <a:chExt cx="9153525" cy="408388"/>
          </a:xfrm>
        </p:grpSpPr>
        <p:sp>
          <p:nvSpPr>
            <p:cNvPr id="17" name="16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Record Types |  Text Records  </a:t>
              </a:r>
              <a:r>
                <a:rPr lang="en-US" b="1" i="1" dirty="0" smtClean="0">
                  <a:solidFill>
                    <a:schemeClr val="bg1"/>
                  </a:solidFill>
                </a:rPr>
                <a:t>(example)</a:t>
              </a:r>
              <a:endParaRPr lang="en-US" b="1" i="1" dirty="0">
                <a:solidFill>
                  <a:schemeClr val="bg1"/>
                </a:solidFill>
              </a:endParaRPr>
            </a:p>
          </p:txBody>
        </p:sp>
        <p:pic>
          <p:nvPicPr>
            <p:cNvPr id="18" name="17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9" name="18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 name="19 Grupo"/>
          <p:cNvGrpSpPr/>
          <p:nvPr/>
        </p:nvGrpSpPr>
        <p:grpSpPr>
          <a:xfrm>
            <a:off x="9525" y="6574392"/>
            <a:ext cx="9134399" cy="277000"/>
            <a:chOff x="9525" y="6574392"/>
            <a:chExt cx="9134399" cy="277000"/>
          </a:xfrm>
        </p:grpSpPr>
        <p:sp>
          <p:nvSpPr>
            <p:cNvPr id="21" name="20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2" name="21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54426072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CuadroTexto"/>
          <p:cNvSpPr txBox="1"/>
          <p:nvPr/>
        </p:nvSpPr>
        <p:spPr>
          <a:xfrm>
            <a:off x="0" y="613784"/>
            <a:ext cx="9144000" cy="338554"/>
          </a:xfrm>
          <a:prstGeom prst="rect">
            <a:avLst/>
          </a:prstGeom>
          <a:noFill/>
        </p:spPr>
        <p:txBody>
          <a:bodyPr wrap="square" rtlCol="0">
            <a:spAutoFit/>
          </a:bodyPr>
          <a:lstStyle/>
          <a:p>
            <a:r>
              <a:rPr lang="en-US" sz="1600" dirty="0" smtClean="0">
                <a:solidFill>
                  <a:prstClr val="black"/>
                </a:solidFill>
              </a:rPr>
              <a:t>The data record is located in page #2444</a:t>
            </a:r>
            <a:endParaRPr lang="en-US" sz="1600" dirty="0">
              <a:solidFill>
                <a:prstClr val="black"/>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990600"/>
            <a:ext cx="40386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3" y="2743200"/>
            <a:ext cx="5857875" cy="309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Rectángulo"/>
          <p:cNvSpPr/>
          <p:nvPr/>
        </p:nvSpPr>
        <p:spPr>
          <a:xfrm>
            <a:off x="1328870" y="5309076"/>
            <a:ext cx="9144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4 Rectángulo"/>
          <p:cNvSpPr/>
          <p:nvPr/>
        </p:nvSpPr>
        <p:spPr>
          <a:xfrm>
            <a:off x="2480416" y="5580406"/>
            <a:ext cx="1295400" cy="2535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9 CuadroTexto"/>
          <p:cNvSpPr txBox="1"/>
          <p:nvPr/>
        </p:nvSpPr>
        <p:spPr>
          <a:xfrm>
            <a:off x="4876800" y="4248202"/>
            <a:ext cx="4114800" cy="1569660"/>
          </a:xfrm>
          <a:prstGeom prst="rect">
            <a:avLst/>
          </a:prstGeom>
          <a:solidFill>
            <a:schemeClr val="accent3"/>
          </a:solidFill>
        </p:spPr>
        <p:txBody>
          <a:bodyPr wrap="square" rtlCol="0">
            <a:spAutoFit/>
          </a:bodyPr>
          <a:lstStyle/>
          <a:p>
            <a:pPr marL="171450" indent="-171450">
              <a:buFont typeface="Wingdings" pitchFamily="2" charset="2"/>
              <a:buChar char="§"/>
            </a:pPr>
            <a:r>
              <a:rPr lang="en-US" sz="1200" dirty="0" smtClean="0">
                <a:solidFill>
                  <a:prstClr val="black"/>
                </a:solidFill>
              </a:rPr>
              <a:t>The TEXT data of this column is stored </a:t>
            </a:r>
            <a:r>
              <a:rPr lang="en-US" sz="1200" b="1" dirty="0" smtClean="0">
                <a:solidFill>
                  <a:prstClr val="black"/>
                </a:solidFill>
              </a:rPr>
              <a:t>off-row</a:t>
            </a:r>
            <a:endParaRPr lang="en-US" sz="1200" dirty="0" smtClean="0">
              <a:solidFill>
                <a:prstClr val="black"/>
              </a:solidFill>
            </a:endParaRPr>
          </a:p>
          <a:p>
            <a:endParaRPr lang="en-US" sz="1200" dirty="0" smtClean="0">
              <a:solidFill>
                <a:prstClr val="black"/>
              </a:solidFill>
            </a:endParaRPr>
          </a:p>
          <a:p>
            <a:pPr marL="171450" indent="-171450">
              <a:buFont typeface="Wingdings" pitchFamily="2" charset="2"/>
              <a:buChar char="§"/>
            </a:pPr>
            <a:r>
              <a:rPr lang="en-US" sz="1200" dirty="0" smtClean="0">
                <a:solidFill>
                  <a:prstClr val="black"/>
                </a:solidFill>
              </a:rPr>
              <a:t>The data record stores a pointer to the root of a loose tree structure (known as </a:t>
            </a:r>
            <a:r>
              <a:rPr lang="en-US" sz="1200" b="1" i="1" dirty="0" smtClean="0">
                <a:solidFill>
                  <a:prstClr val="black"/>
                </a:solidFill>
              </a:rPr>
              <a:t>YUKON ROOT</a:t>
            </a:r>
            <a:r>
              <a:rPr lang="en-US" sz="1200" dirty="0" smtClean="0">
                <a:solidFill>
                  <a:prstClr val="black"/>
                </a:solidFill>
              </a:rPr>
              <a:t>) that holds the LOB data in text records.</a:t>
            </a:r>
          </a:p>
          <a:p>
            <a:endParaRPr lang="en-US" sz="1200" dirty="0" smtClean="0">
              <a:solidFill>
                <a:prstClr val="black"/>
              </a:solidFill>
            </a:endParaRPr>
          </a:p>
          <a:p>
            <a:pPr marL="171450" indent="-171450">
              <a:buFont typeface="Wingdings" pitchFamily="2" charset="2"/>
              <a:buChar char="§"/>
            </a:pPr>
            <a:r>
              <a:rPr lang="en-US" sz="1200" dirty="0" smtClean="0">
                <a:solidFill>
                  <a:prstClr val="black"/>
                </a:solidFill>
              </a:rPr>
              <a:t>Therefore the root node of the loose tree structure is located in File 1, Page 2443, Slot 0</a:t>
            </a:r>
            <a:endParaRPr lang="en-US" sz="1200" dirty="0">
              <a:solidFill>
                <a:prstClr val="black"/>
              </a:solidFill>
            </a:endParaRPr>
          </a:p>
        </p:txBody>
      </p:sp>
      <p:sp>
        <p:nvSpPr>
          <p:cNvPr id="11" name="10 CuadroTexto"/>
          <p:cNvSpPr txBox="1"/>
          <p:nvPr/>
        </p:nvSpPr>
        <p:spPr>
          <a:xfrm>
            <a:off x="0" y="2380006"/>
            <a:ext cx="9144000" cy="338554"/>
          </a:xfrm>
          <a:prstGeom prst="rect">
            <a:avLst/>
          </a:prstGeom>
          <a:noFill/>
        </p:spPr>
        <p:txBody>
          <a:bodyPr wrap="square" rtlCol="0">
            <a:spAutoFit/>
          </a:bodyPr>
          <a:lstStyle/>
          <a:p>
            <a:r>
              <a:rPr lang="en-US" sz="1600" dirty="0" smtClean="0">
                <a:solidFill>
                  <a:prstClr val="black"/>
                </a:solidFill>
              </a:rPr>
              <a:t>Dump of the page 2444</a:t>
            </a:r>
            <a:endParaRPr lang="en-US" sz="1600" dirty="0">
              <a:solidFill>
                <a:prstClr val="black"/>
              </a:solidFill>
            </a:endParaRPr>
          </a:p>
        </p:txBody>
      </p:sp>
      <p:cxnSp>
        <p:nvCxnSpPr>
          <p:cNvPr id="7" name="6 Conector recto de flecha"/>
          <p:cNvCxnSpPr>
            <a:stCxn id="10" idx="1"/>
          </p:cNvCxnSpPr>
          <p:nvPr/>
        </p:nvCxnSpPr>
        <p:spPr>
          <a:xfrm flipH="1">
            <a:off x="3775816" y="5033032"/>
            <a:ext cx="1100984" cy="54737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12 Conector recto de flecha"/>
          <p:cNvCxnSpPr/>
          <p:nvPr/>
        </p:nvCxnSpPr>
        <p:spPr>
          <a:xfrm flipH="1">
            <a:off x="2243270" y="5033032"/>
            <a:ext cx="2633530" cy="27604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2" name="11 Grupo"/>
          <p:cNvGrpSpPr/>
          <p:nvPr/>
        </p:nvGrpSpPr>
        <p:grpSpPr>
          <a:xfrm>
            <a:off x="0" y="9525"/>
            <a:ext cx="9153525" cy="408388"/>
            <a:chOff x="0" y="9525"/>
            <a:chExt cx="9153525" cy="408388"/>
          </a:xfrm>
        </p:grpSpPr>
        <p:sp>
          <p:nvSpPr>
            <p:cNvPr id="14" name="13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Record Types |  Text Records</a:t>
              </a:r>
              <a:endParaRPr lang="en-US" b="1" i="1" dirty="0">
                <a:solidFill>
                  <a:schemeClr val="bg1"/>
                </a:solidFill>
              </a:endParaRPr>
            </a:p>
          </p:txBody>
        </p:sp>
        <p:pic>
          <p:nvPicPr>
            <p:cNvPr id="15" name="14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 name="15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 name="16 Grupo"/>
          <p:cNvGrpSpPr/>
          <p:nvPr/>
        </p:nvGrpSpPr>
        <p:grpSpPr>
          <a:xfrm>
            <a:off x="9525" y="6574392"/>
            <a:ext cx="9134399" cy="277000"/>
            <a:chOff x="9525" y="6574392"/>
            <a:chExt cx="9134399" cy="277000"/>
          </a:xfrm>
        </p:grpSpPr>
        <p:sp>
          <p:nvSpPr>
            <p:cNvPr id="18" name="17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9" name="18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260315998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0" y="442334"/>
            <a:ext cx="5638800" cy="307777"/>
          </a:xfrm>
          <a:prstGeom prst="rect">
            <a:avLst/>
          </a:prstGeom>
          <a:noFill/>
        </p:spPr>
        <p:txBody>
          <a:bodyPr wrap="square" rtlCol="0">
            <a:spAutoFit/>
          </a:bodyPr>
          <a:lstStyle/>
          <a:p>
            <a:r>
              <a:rPr lang="en-US" sz="1400" dirty="0" smtClean="0">
                <a:solidFill>
                  <a:prstClr val="black"/>
                </a:solidFill>
              </a:rPr>
              <a:t>So now we need to examine the Page #2443, which is the ROOT of the Tree</a:t>
            </a:r>
            <a:endParaRPr lang="en-US" sz="1400" dirty="0">
              <a:solidFill>
                <a:prstClr val="black"/>
              </a:solidFill>
            </a:endParaRPr>
          </a:p>
        </p:txBody>
      </p: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63" y="780888"/>
            <a:ext cx="2616438" cy="1073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810604"/>
            <a:ext cx="4905375"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Rectángulo"/>
          <p:cNvSpPr/>
          <p:nvPr/>
        </p:nvSpPr>
        <p:spPr>
          <a:xfrm>
            <a:off x="6968384" y="819150"/>
            <a:ext cx="18288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5 Rectángulo"/>
          <p:cNvSpPr/>
          <p:nvPr/>
        </p:nvSpPr>
        <p:spPr>
          <a:xfrm>
            <a:off x="4225184" y="1407621"/>
            <a:ext cx="16764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 name="10 CuadroTexto"/>
          <p:cNvSpPr txBox="1"/>
          <p:nvPr/>
        </p:nvSpPr>
        <p:spPr>
          <a:xfrm>
            <a:off x="5638800" y="2022056"/>
            <a:ext cx="3481698" cy="276999"/>
          </a:xfrm>
          <a:prstGeom prst="rect">
            <a:avLst/>
          </a:prstGeom>
          <a:noFill/>
        </p:spPr>
        <p:txBody>
          <a:bodyPr wrap="square" rtlCol="0">
            <a:spAutoFit/>
          </a:bodyPr>
          <a:lstStyle/>
          <a:p>
            <a:r>
              <a:rPr lang="en-US" sz="1200" b="1" dirty="0" smtClean="0">
                <a:solidFill>
                  <a:prstClr val="black"/>
                </a:solidFill>
              </a:rPr>
              <a:t>The first child of this node is located in page #2441</a:t>
            </a:r>
            <a:endParaRPr lang="en-US" sz="1200" b="1" dirty="0">
              <a:solidFill>
                <a:prstClr val="black"/>
              </a:solidFill>
            </a:endParaRPr>
          </a:p>
        </p:txBody>
      </p:sp>
      <p:sp>
        <p:nvSpPr>
          <p:cNvPr id="9" name="8 Flecha derecha"/>
          <p:cNvSpPr/>
          <p:nvPr/>
        </p:nvSpPr>
        <p:spPr>
          <a:xfrm>
            <a:off x="2829726" y="1186085"/>
            <a:ext cx="533400" cy="2010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2343150"/>
            <a:ext cx="2678394" cy="1122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222" y="2040747"/>
            <a:ext cx="4114801" cy="4613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9 Rectángulo"/>
          <p:cNvSpPr/>
          <p:nvPr/>
        </p:nvSpPr>
        <p:spPr>
          <a:xfrm>
            <a:off x="50563" y="2022056"/>
            <a:ext cx="1625837" cy="25688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16" name="15 Conector recto de flecha"/>
          <p:cNvCxnSpPr/>
          <p:nvPr/>
        </p:nvCxnSpPr>
        <p:spPr>
          <a:xfrm>
            <a:off x="5410200" y="1686904"/>
            <a:ext cx="381000" cy="33515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16 Flecha izquierda"/>
          <p:cNvSpPr/>
          <p:nvPr/>
        </p:nvSpPr>
        <p:spPr>
          <a:xfrm>
            <a:off x="4572000" y="2343150"/>
            <a:ext cx="1028700" cy="2286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15" name="14 Grupo"/>
          <p:cNvGrpSpPr/>
          <p:nvPr/>
        </p:nvGrpSpPr>
        <p:grpSpPr>
          <a:xfrm>
            <a:off x="0" y="9525"/>
            <a:ext cx="9153525" cy="408388"/>
            <a:chOff x="0" y="9525"/>
            <a:chExt cx="9153525" cy="408388"/>
          </a:xfrm>
        </p:grpSpPr>
        <p:sp>
          <p:nvSpPr>
            <p:cNvPr id="18" name="1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Record Types |  Text Records</a:t>
              </a:r>
              <a:endParaRPr lang="en-US" b="1" i="1" dirty="0">
                <a:solidFill>
                  <a:schemeClr val="bg1"/>
                </a:solidFill>
              </a:endParaRPr>
            </a:p>
          </p:txBody>
        </p:sp>
        <p:pic>
          <p:nvPicPr>
            <p:cNvPr id="19" name="18 Imagen"/>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 name="19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 name="20 Grupo"/>
          <p:cNvGrpSpPr/>
          <p:nvPr/>
        </p:nvGrpSpPr>
        <p:grpSpPr>
          <a:xfrm>
            <a:off x="9525" y="6574392"/>
            <a:ext cx="9134399" cy="277000"/>
            <a:chOff x="9525" y="6574392"/>
            <a:chExt cx="9134399" cy="277000"/>
          </a:xfrm>
        </p:grpSpPr>
        <p:sp>
          <p:nvSpPr>
            <p:cNvPr id="22" name="2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3" name="2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73098571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0" y="613784"/>
            <a:ext cx="9144000" cy="2246769"/>
          </a:xfrm>
          <a:prstGeom prst="rect">
            <a:avLst/>
          </a:prstGeom>
          <a:noFill/>
        </p:spPr>
        <p:txBody>
          <a:bodyPr wrap="square" rtlCol="0">
            <a:spAutoFit/>
          </a:bodyPr>
          <a:lstStyle/>
          <a:p>
            <a:pPr marL="285750" indent="-285750">
              <a:buFont typeface="Wingdings" pitchFamily="2" charset="2"/>
              <a:buChar char="Ø"/>
            </a:pPr>
            <a:r>
              <a:rPr lang="en-US" sz="1400" b="1" dirty="0">
                <a:solidFill>
                  <a:prstClr val="black"/>
                </a:solidFill>
              </a:rPr>
              <a:t>A ghost record is the result of a delete </a:t>
            </a:r>
            <a:r>
              <a:rPr lang="en-US" sz="1400" b="1" dirty="0" smtClean="0">
                <a:solidFill>
                  <a:prstClr val="black"/>
                </a:solidFill>
              </a:rPr>
              <a:t>operation.</a:t>
            </a:r>
            <a:endParaRPr lang="en-US" sz="1400" b="1" dirty="0">
              <a:solidFill>
                <a:prstClr val="black"/>
              </a:solidFill>
            </a:endParaRPr>
          </a:p>
          <a:p>
            <a:pPr marL="285750" indent="-285750">
              <a:buFont typeface="Wingdings" pitchFamily="2" charset="2"/>
              <a:buChar char="Ø"/>
            </a:pP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These </a:t>
            </a:r>
            <a:r>
              <a:rPr lang="en-US" sz="1400" dirty="0">
                <a:solidFill>
                  <a:prstClr val="black"/>
                </a:solidFill>
              </a:rPr>
              <a:t>are records that have been </a:t>
            </a:r>
            <a:r>
              <a:rPr lang="en-US" sz="1400" u="sng" dirty="0">
                <a:solidFill>
                  <a:prstClr val="black"/>
                </a:solidFill>
              </a:rPr>
              <a:t>logically deleted</a:t>
            </a:r>
            <a:r>
              <a:rPr lang="en-US" sz="1400" dirty="0">
                <a:solidFill>
                  <a:prstClr val="black"/>
                </a:solidFill>
              </a:rPr>
              <a:t> but not physically deleted from a page. </a:t>
            </a:r>
            <a:endParaRPr lang="en-US" sz="1400" dirty="0" smtClean="0">
              <a:solidFill>
                <a:prstClr val="black"/>
              </a:solidFill>
            </a:endParaRPr>
          </a:p>
          <a:p>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Whenever you delete a record, SQL Server updates the </a:t>
            </a:r>
            <a:r>
              <a:rPr lang="en-US" sz="1400" b="1" dirty="0" smtClean="0">
                <a:solidFill>
                  <a:srgbClr val="0000FF"/>
                </a:solidFill>
              </a:rPr>
              <a:t>bits 1-2-3 of byte 0 (record header)</a:t>
            </a:r>
            <a:r>
              <a:rPr lang="en-US" sz="1400" dirty="0" smtClean="0">
                <a:solidFill>
                  <a:prstClr val="black"/>
                </a:solidFill>
              </a:rPr>
              <a:t> indicating </a:t>
            </a:r>
            <a:r>
              <a:rPr lang="en-US" sz="1400" dirty="0">
                <a:solidFill>
                  <a:prstClr val="black"/>
                </a:solidFill>
              </a:rPr>
              <a:t>it's a ghost </a:t>
            </a:r>
            <a:r>
              <a:rPr lang="en-US" sz="1400" dirty="0" smtClean="0">
                <a:solidFill>
                  <a:prstClr val="black"/>
                </a:solidFill>
              </a:rPr>
              <a:t>record, </a:t>
            </a:r>
            <a:r>
              <a:rPr lang="en-US" sz="1400" dirty="0">
                <a:solidFill>
                  <a:prstClr val="black"/>
                </a:solidFill>
              </a:rPr>
              <a:t>and </a:t>
            </a:r>
            <a:r>
              <a:rPr lang="en-US" sz="1400" dirty="0" smtClean="0">
                <a:solidFill>
                  <a:prstClr val="black"/>
                </a:solidFill>
              </a:rPr>
              <a:t>therefore it cannot </a:t>
            </a:r>
            <a:r>
              <a:rPr lang="en-US" sz="1400" dirty="0">
                <a:solidFill>
                  <a:prstClr val="black"/>
                </a:solidFill>
              </a:rPr>
              <a:t>be physically deleted until the transaction that caused it to be ghosted commits. </a:t>
            </a:r>
            <a:endParaRPr lang="en-US" sz="1400" dirty="0" smtClean="0">
              <a:solidFill>
                <a:prstClr val="black"/>
              </a:solidFill>
            </a:endParaRPr>
          </a:p>
          <a:p>
            <a:endParaRPr lang="en-US" sz="1400" dirty="0">
              <a:solidFill>
                <a:prstClr val="black"/>
              </a:solidFill>
            </a:endParaRPr>
          </a:p>
          <a:p>
            <a:pPr marL="285750" indent="-285750">
              <a:buFont typeface="Wingdings" pitchFamily="2" charset="2"/>
              <a:buChar char="Ø"/>
            </a:pPr>
            <a:r>
              <a:rPr lang="en-US" sz="1400" dirty="0" smtClean="0">
                <a:solidFill>
                  <a:prstClr val="black"/>
                </a:solidFill>
              </a:rPr>
              <a:t>Once the transaction commits, two things could happen:</a:t>
            </a:r>
          </a:p>
          <a:p>
            <a:pPr marL="742950" lvl="1" indent="-285750">
              <a:buFont typeface="Wingdings" pitchFamily="2" charset="2"/>
              <a:buChar char="Ø"/>
            </a:pPr>
            <a:r>
              <a:rPr lang="en-US" sz="1400" dirty="0" smtClean="0">
                <a:solidFill>
                  <a:prstClr val="black"/>
                </a:solidFill>
              </a:rPr>
              <a:t>The ghost record is </a:t>
            </a:r>
            <a:r>
              <a:rPr lang="en-US" sz="1400" u="sng" dirty="0" smtClean="0">
                <a:solidFill>
                  <a:prstClr val="black"/>
                </a:solidFill>
              </a:rPr>
              <a:t>deleted</a:t>
            </a:r>
            <a:r>
              <a:rPr lang="en-US" sz="1400" dirty="0" smtClean="0">
                <a:solidFill>
                  <a:prstClr val="black"/>
                </a:solidFill>
              </a:rPr>
              <a:t> </a:t>
            </a:r>
            <a:r>
              <a:rPr lang="en-US" sz="1400" dirty="0">
                <a:solidFill>
                  <a:prstClr val="black"/>
                </a:solidFill>
              </a:rPr>
              <a:t>by an asynchronous background </a:t>
            </a:r>
            <a:r>
              <a:rPr lang="en-US" sz="1400" dirty="0" smtClean="0">
                <a:solidFill>
                  <a:prstClr val="black"/>
                </a:solidFill>
              </a:rPr>
              <a:t>process </a:t>
            </a:r>
            <a:r>
              <a:rPr lang="en-US" sz="1400" dirty="0">
                <a:solidFill>
                  <a:prstClr val="black"/>
                </a:solidFill>
              </a:rPr>
              <a:t>(called the </a:t>
            </a:r>
            <a:r>
              <a:rPr lang="en-US" sz="1400" b="1" dirty="0">
                <a:solidFill>
                  <a:prstClr val="black"/>
                </a:solidFill>
              </a:rPr>
              <a:t>ghost-cleanup</a:t>
            </a:r>
            <a:r>
              <a:rPr lang="en-US" sz="1400" dirty="0">
                <a:solidFill>
                  <a:prstClr val="black"/>
                </a:solidFill>
              </a:rPr>
              <a:t> task) </a:t>
            </a:r>
            <a:r>
              <a:rPr lang="en-US" sz="1400" b="1" dirty="0" smtClean="0">
                <a:solidFill>
                  <a:prstClr val="black"/>
                </a:solidFill>
              </a:rPr>
              <a:t>OR </a:t>
            </a:r>
          </a:p>
          <a:p>
            <a:pPr marL="742950" lvl="1" indent="-285750">
              <a:buFont typeface="Wingdings" pitchFamily="2" charset="2"/>
              <a:buChar char="Ø"/>
            </a:pPr>
            <a:r>
              <a:rPr lang="en-US" sz="1400" dirty="0">
                <a:solidFill>
                  <a:prstClr val="black"/>
                </a:solidFill>
              </a:rPr>
              <a:t>The ghost record is </a:t>
            </a:r>
            <a:r>
              <a:rPr lang="en-US" sz="1400" u="sng" dirty="0" smtClean="0">
                <a:solidFill>
                  <a:prstClr val="black"/>
                </a:solidFill>
              </a:rPr>
              <a:t>converted </a:t>
            </a:r>
            <a:r>
              <a:rPr lang="en-US" sz="1400" u="sng" dirty="0">
                <a:solidFill>
                  <a:prstClr val="black"/>
                </a:solidFill>
              </a:rPr>
              <a:t>back</a:t>
            </a:r>
            <a:r>
              <a:rPr lang="en-US" sz="1400" dirty="0">
                <a:solidFill>
                  <a:prstClr val="black"/>
                </a:solidFill>
              </a:rPr>
              <a:t> to a real record by an insert of a record with the exact same set of keys.</a:t>
            </a:r>
          </a:p>
        </p:txBody>
      </p:sp>
      <p:sp>
        <p:nvSpPr>
          <p:cNvPr id="15" name="14 CuadroTexto"/>
          <p:cNvSpPr txBox="1"/>
          <p:nvPr/>
        </p:nvSpPr>
        <p:spPr>
          <a:xfrm>
            <a:off x="0" y="4267200"/>
            <a:ext cx="9144000" cy="1169551"/>
          </a:xfrm>
          <a:prstGeom prst="rect">
            <a:avLst/>
          </a:prstGeom>
          <a:noFill/>
        </p:spPr>
        <p:txBody>
          <a:bodyPr wrap="square" rtlCol="0">
            <a:spAutoFit/>
          </a:bodyPr>
          <a:lstStyle/>
          <a:p>
            <a:r>
              <a:rPr lang="en-US" sz="1400" b="1" dirty="0" smtClean="0">
                <a:solidFill>
                  <a:prstClr val="black"/>
                </a:solidFill>
              </a:rPr>
              <a:t>The Ghost clean up</a:t>
            </a: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Deleting a record does not trigger a ghost-cleanup. </a:t>
            </a:r>
          </a:p>
          <a:p>
            <a:pPr marL="285750" indent="-285750">
              <a:buFont typeface="Wingdings" pitchFamily="2" charset="2"/>
              <a:buChar char="Ø"/>
            </a:pPr>
            <a:r>
              <a:rPr lang="en-US" sz="1400" dirty="0" smtClean="0">
                <a:solidFill>
                  <a:prstClr val="black"/>
                </a:solidFill>
              </a:rPr>
              <a:t>The </a:t>
            </a:r>
            <a:r>
              <a:rPr lang="en-US" sz="1400" dirty="0">
                <a:solidFill>
                  <a:prstClr val="black"/>
                </a:solidFill>
              </a:rPr>
              <a:t>ghost clean up </a:t>
            </a:r>
            <a:r>
              <a:rPr lang="en-US" sz="1400" dirty="0" smtClean="0">
                <a:solidFill>
                  <a:prstClr val="black"/>
                </a:solidFill>
              </a:rPr>
              <a:t>is activated when </a:t>
            </a:r>
            <a:r>
              <a:rPr lang="en-US" sz="1400" dirty="0">
                <a:solidFill>
                  <a:prstClr val="black"/>
                </a:solidFill>
              </a:rPr>
              <a:t>the next scan operation </a:t>
            </a:r>
            <a:r>
              <a:rPr lang="en-US" sz="1400" b="1" dirty="0">
                <a:solidFill>
                  <a:srgbClr val="FF0000"/>
                </a:solidFill>
              </a:rPr>
              <a:t>reads</a:t>
            </a:r>
            <a:r>
              <a:rPr lang="en-US" sz="1400" dirty="0">
                <a:solidFill>
                  <a:srgbClr val="FF0000"/>
                </a:solidFill>
              </a:rPr>
              <a:t> </a:t>
            </a:r>
            <a:r>
              <a:rPr lang="en-US" sz="1400" dirty="0">
                <a:solidFill>
                  <a:prstClr val="black"/>
                </a:solidFill>
              </a:rPr>
              <a:t>the </a:t>
            </a:r>
            <a:r>
              <a:rPr lang="en-US" sz="1400" dirty="0" smtClean="0">
                <a:solidFill>
                  <a:prstClr val="black"/>
                </a:solidFill>
              </a:rPr>
              <a:t>data page </a:t>
            </a:r>
            <a:r>
              <a:rPr lang="en-US" sz="1400" dirty="0">
                <a:solidFill>
                  <a:prstClr val="black"/>
                </a:solidFill>
              </a:rPr>
              <a:t>and notices that the page has ghost records</a:t>
            </a:r>
            <a:r>
              <a:rPr lang="en-US" sz="1400" dirty="0" smtClean="0">
                <a:solidFill>
                  <a:prstClr val="black"/>
                </a:solidFill>
              </a:rPr>
              <a:t>.</a:t>
            </a:r>
          </a:p>
          <a:p>
            <a:pPr marL="285750" indent="-285750">
              <a:buFont typeface="Wingdings" pitchFamily="2" charset="2"/>
              <a:buChar char="Ø"/>
            </a:pPr>
            <a:r>
              <a:rPr lang="en-US" sz="1400" dirty="0">
                <a:solidFill>
                  <a:prstClr val="black"/>
                </a:solidFill>
              </a:rPr>
              <a:t>Trace flag 661: Disable the ghost record removal </a:t>
            </a:r>
            <a:r>
              <a:rPr lang="en-US" sz="1400" dirty="0" smtClean="0">
                <a:solidFill>
                  <a:prstClr val="black"/>
                </a:solidFill>
              </a:rPr>
              <a:t>process </a:t>
            </a:r>
            <a:r>
              <a:rPr lang="en-US" sz="1400" dirty="0" smtClean="0">
                <a:solidFill>
                  <a:prstClr val="black"/>
                </a:solidFill>
                <a:sym typeface="Wingdings" pitchFamily="2" charset="2"/>
              </a:rPr>
              <a:t></a:t>
            </a:r>
            <a:r>
              <a:rPr lang="en-US" sz="1400" dirty="0" smtClean="0">
                <a:solidFill>
                  <a:prstClr val="black"/>
                </a:solidFill>
              </a:rPr>
              <a:t> </a:t>
            </a:r>
            <a:r>
              <a:rPr lang="en-US" sz="1400" dirty="0" smtClean="0">
                <a:solidFill>
                  <a:prstClr val="black"/>
                </a:solidFill>
                <a:hlinkClick r:id="rId2"/>
              </a:rPr>
              <a:t>http</a:t>
            </a:r>
            <a:r>
              <a:rPr lang="en-US" sz="1400" dirty="0">
                <a:solidFill>
                  <a:prstClr val="black"/>
                </a:solidFill>
                <a:hlinkClick r:id="rId2"/>
              </a:rPr>
              <a:t>://</a:t>
            </a:r>
            <a:r>
              <a:rPr lang="en-US" sz="1400" dirty="0" smtClean="0">
                <a:solidFill>
                  <a:prstClr val="black"/>
                </a:solidFill>
                <a:hlinkClick r:id="rId2"/>
              </a:rPr>
              <a:t>support.microsoft.com/kb/920093</a:t>
            </a:r>
            <a:r>
              <a:rPr lang="en-US" sz="1400" dirty="0" smtClean="0">
                <a:solidFill>
                  <a:prstClr val="black"/>
                </a:solidFill>
              </a:rPr>
              <a:t> </a:t>
            </a:r>
            <a:endParaRPr lang="en-US" sz="1400" dirty="0">
              <a:solidFill>
                <a:prstClr val="black"/>
              </a:solidFill>
            </a:endParaRPr>
          </a:p>
        </p:txBody>
      </p:sp>
      <p:sp>
        <p:nvSpPr>
          <p:cNvPr id="6" name="5 CuadroTexto"/>
          <p:cNvSpPr txBox="1"/>
          <p:nvPr/>
        </p:nvSpPr>
        <p:spPr>
          <a:xfrm>
            <a:off x="0" y="3267383"/>
            <a:ext cx="9144000" cy="523220"/>
          </a:xfrm>
          <a:prstGeom prst="rect">
            <a:avLst/>
          </a:prstGeom>
          <a:noFill/>
        </p:spPr>
        <p:txBody>
          <a:bodyPr wrap="square" rtlCol="0">
            <a:spAutoFit/>
          </a:bodyPr>
          <a:lstStyle/>
          <a:p>
            <a:r>
              <a:rPr lang="en-US" sz="1400" b="1" dirty="0" smtClean="0">
                <a:solidFill>
                  <a:prstClr val="black"/>
                </a:solidFill>
              </a:rPr>
              <a:t>What is their purpose?</a:t>
            </a:r>
            <a:endParaRPr lang="en-US" sz="1400" dirty="0" smtClean="0">
              <a:solidFill>
                <a:prstClr val="black"/>
              </a:solidFill>
            </a:endParaRPr>
          </a:p>
          <a:p>
            <a:r>
              <a:rPr lang="en-US" sz="1400" dirty="0">
                <a:solidFill>
                  <a:prstClr val="black"/>
                </a:solidFill>
              </a:rPr>
              <a:t>Allowing delete or update operation run </a:t>
            </a:r>
            <a:r>
              <a:rPr lang="en-US" sz="1400" dirty="0" smtClean="0">
                <a:solidFill>
                  <a:prstClr val="black"/>
                </a:solidFill>
              </a:rPr>
              <a:t>to faster </a:t>
            </a:r>
            <a:r>
              <a:rPr lang="en-US" sz="1400" dirty="0">
                <a:solidFill>
                  <a:prstClr val="black"/>
                </a:solidFill>
              </a:rPr>
              <a:t>and to ensure faster rollback if the transaction is </a:t>
            </a:r>
            <a:r>
              <a:rPr lang="en-US" sz="1400" dirty="0" smtClean="0">
                <a:solidFill>
                  <a:prstClr val="black"/>
                </a:solidFill>
              </a:rPr>
              <a:t>cancelled.</a:t>
            </a:r>
            <a:endParaRPr lang="en-US" sz="1400" dirty="0">
              <a:solidFill>
                <a:prstClr val="black"/>
              </a:solidFill>
            </a:endParaRPr>
          </a:p>
        </p:txBody>
      </p:sp>
      <p:grpSp>
        <p:nvGrpSpPr>
          <p:cNvPr id="8" name="7 Grupo"/>
          <p:cNvGrpSpPr/>
          <p:nvPr/>
        </p:nvGrpSpPr>
        <p:grpSpPr>
          <a:xfrm>
            <a:off x="9525" y="6574392"/>
            <a:ext cx="9134399" cy="277000"/>
            <a:chOff x="9525" y="6574392"/>
            <a:chExt cx="9134399" cy="277000"/>
          </a:xfrm>
        </p:grpSpPr>
        <p:sp>
          <p:nvSpPr>
            <p:cNvPr id="9" name="8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0" name="9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1" name="10 Grupo"/>
          <p:cNvGrpSpPr/>
          <p:nvPr/>
        </p:nvGrpSpPr>
        <p:grpSpPr>
          <a:xfrm>
            <a:off x="0" y="9525"/>
            <a:ext cx="9153525" cy="408388"/>
            <a:chOff x="0" y="9525"/>
            <a:chExt cx="9153525" cy="408388"/>
          </a:xfrm>
        </p:grpSpPr>
        <p:sp>
          <p:nvSpPr>
            <p:cNvPr id="12" name="11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Record Types |  Ghost Records</a:t>
              </a:r>
              <a:endParaRPr lang="en-US" b="1" i="1" dirty="0">
                <a:solidFill>
                  <a:schemeClr val="bg1"/>
                </a:solidFill>
              </a:endParaRPr>
            </a:p>
          </p:txBody>
        </p:sp>
        <p:pic>
          <p:nvPicPr>
            <p:cNvPr id="13" name="12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13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 name="15 CuadroTexto"/>
          <p:cNvSpPr txBox="1"/>
          <p:nvPr/>
        </p:nvSpPr>
        <p:spPr>
          <a:xfrm>
            <a:off x="7543800" y="6019800"/>
            <a:ext cx="1600200" cy="369332"/>
          </a:xfrm>
          <a:prstGeom prst="rect">
            <a:avLst/>
          </a:prstGeom>
          <a:solidFill>
            <a:schemeClr val="accent3">
              <a:lumMod val="75000"/>
            </a:schemeClr>
          </a:solidFill>
        </p:spPr>
        <p:txBody>
          <a:bodyPr wrap="square" rtlCol="0">
            <a:spAutoFit/>
          </a:bodyPr>
          <a:lstStyle/>
          <a:p>
            <a:pPr algn="r"/>
            <a:r>
              <a:rPr lang="en-US" dirty="0" smtClean="0">
                <a:solidFill>
                  <a:prstClr val="white"/>
                </a:solidFill>
              </a:rPr>
              <a:t>Hands On </a:t>
            </a:r>
            <a:r>
              <a:rPr lang="en-US" dirty="0" smtClean="0">
                <a:solidFill>
                  <a:prstClr val="white"/>
                </a:solidFill>
                <a:sym typeface="Wingdings" pitchFamily="2" charset="2"/>
              </a:rPr>
              <a:t></a:t>
            </a:r>
            <a:endParaRPr lang="en-US" dirty="0">
              <a:solidFill>
                <a:prstClr val="white"/>
              </a:solidFill>
            </a:endParaRPr>
          </a:p>
        </p:txBody>
      </p:sp>
    </p:spTree>
    <p:extLst>
      <p:ext uri="{BB962C8B-B14F-4D97-AF65-F5344CB8AC3E}">
        <p14:creationId xmlns:p14="http://schemas.microsoft.com/office/powerpoint/2010/main" val="320874670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550" y="4926648"/>
            <a:ext cx="691515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14 CuadroTexto"/>
          <p:cNvSpPr txBox="1"/>
          <p:nvPr/>
        </p:nvSpPr>
        <p:spPr>
          <a:xfrm>
            <a:off x="0" y="530423"/>
            <a:ext cx="9144000" cy="307777"/>
          </a:xfrm>
          <a:prstGeom prst="rect">
            <a:avLst/>
          </a:prstGeom>
          <a:noFill/>
        </p:spPr>
        <p:txBody>
          <a:bodyPr wrap="square" rtlCol="0">
            <a:spAutoFit/>
          </a:bodyPr>
          <a:lstStyle/>
          <a:p>
            <a:r>
              <a:rPr lang="en-US" sz="1400" dirty="0" smtClean="0">
                <a:solidFill>
                  <a:prstClr val="black"/>
                </a:solidFill>
              </a:rPr>
              <a:t>Deleting a record does not trigger a ghost-cleanup.</a:t>
            </a:r>
            <a:endParaRPr lang="en-US" sz="1400" dirty="0">
              <a:solidFill>
                <a:prstClr val="black"/>
              </a:solidFill>
            </a:endParaRPr>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50" y="4343400"/>
            <a:ext cx="4162425"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971167" y="5508717"/>
            <a:ext cx="377851" cy="2125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410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034" y="1000125"/>
            <a:ext cx="8143875" cy="296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 name="7 Grupo"/>
          <p:cNvGrpSpPr/>
          <p:nvPr/>
        </p:nvGrpSpPr>
        <p:grpSpPr>
          <a:xfrm>
            <a:off x="0" y="9525"/>
            <a:ext cx="9153525" cy="408388"/>
            <a:chOff x="0" y="9525"/>
            <a:chExt cx="9153525" cy="408388"/>
          </a:xfrm>
        </p:grpSpPr>
        <p:sp>
          <p:nvSpPr>
            <p:cNvPr id="9" name="8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Record Types |  Ghost Records</a:t>
              </a:r>
              <a:endParaRPr lang="en-US" b="1" i="1" dirty="0">
                <a:solidFill>
                  <a:schemeClr val="bg1"/>
                </a:solidFill>
              </a:endParaRPr>
            </a:p>
          </p:txBody>
        </p:sp>
        <p:pic>
          <p:nvPicPr>
            <p:cNvPr id="10" name="9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10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11 Grupo"/>
          <p:cNvGrpSpPr/>
          <p:nvPr/>
        </p:nvGrpSpPr>
        <p:grpSpPr>
          <a:xfrm>
            <a:off x="9525" y="6574392"/>
            <a:ext cx="9134399" cy="277000"/>
            <a:chOff x="9525" y="6574392"/>
            <a:chExt cx="9134399" cy="277000"/>
          </a:xfrm>
        </p:grpSpPr>
        <p:sp>
          <p:nvSpPr>
            <p:cNvPr id="13" name="12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4" name="13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137316799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58" y="1999293"/>
            <a:ext cx="4772025" cy="454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14 CuadroTexto"/>
          <p:cNvSpPr txBox="1"/>
          <p:nvPr/>
        </p:nvSpPr>
        <p:spPr>
          <a:xfrm>
            <a:off x="0" y="474107"/>
            <a:ext cx="9144000" cy="307777"/>
          </a:xfrm>
          <a:prstGeom prst="rect">
            <a:avLst/>
          </a:prstGeom>
          <a:noFill/>
        </p:spPr>
        <p:txBody>
          <a:bodyPr wrap="square" rtlCol="0">
            <a:spAutoFit/>
          </a:bodyPr>
          <a:lstStyle/>
          <a:p>
            <a:r>
              <a:rPr lang="en-US" sz="1400" b="1" dirty="0" smtClean="0">
                <a:solidFill>
                  <a:prstClr val="black"/>
                </a:solidFill>
              </a:rPr>
              <a:t>Viewing a Ghost Record  (a “deleted” record)</a:t>
            </a:r>
            <a:endParaRPr lang="en-US" sz="1400" b="1" dirty="0">
              <a:solidFill>
                <a:prstClr val="black"/>
              </a:solidFill>
            </a:endParaRPr>
          </a:p>
        </p:txBody>
      </p:sp>
      <p:sp>
        <p:nvSpPr>
          <p:cNvPr id="2" name="1 Rectángulo"/>
          <p:cNvSpPr/>
          <p:nvPr/>
        </p:nvSpPr>
        <p:spPr>
          <a:xfrm>
            <a:off x="76201" y="4547076"/>
            <a:ext cx="2209799"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9 CuadroTexto"/>
          <p:cNvSpPr txBox="1"/>
          <p:nvPr/>
        </p:nvSpPr>
        <p:spPr>
          <a:xfrm>
            <a:off x="5806458" y="3091972"/>
            <a:ext cx="2654359" cy="461665"/>
          </a:xfrm>
          <a:prstGeom prst="rect">
            <a:avLst/>
          </a:prstGeom>
          <a:noFill/>
        </p:spPr>
        <p:txBody>
          <a:bodyPr wrap="square" rtlCol="0">
            <a:spAutoFit/>
          </a:bodyPr>
          <a:lstStyle/>
          <a:p>
            <a:r>
              <a:rPr lang="en-US" sz="1200" dirty="0" smtClean="0">
                <a:solidFill>
                  <a:prstClr val="black"/>
                </a:solidFill>
              </a:rPr>
              <a:t>This is the record we just deleted.</a:t>
            </a:r>
          </a:p>
          <a:p>
            <a:r>
              <a:rPr lang="en-US" sz="1200" dirty="0" smtClean="0">
                <a:solidFill>
                  <a:prstClr val="black"/>
                </a:solidFill>
              </a:rPr>
              <a:t>Notice it has been marked as “</a:t>
            </a:r>
            <a:r>
              <a:rPr lang="en-US" sz="1200" b="1" dirty="0" smtClean="0">
                <a:solidFill>
                  <a:prstClr val="black"/>
                </a:solidFill>
              </a:rPr>
              <a:t>Ghost</a:t>
            </a:r>
            <a:r>
              <a:rPr lang="en-US" sz="1200" dirty="0" smtClean="0">
                <a:solidFill>
                  <a:prstClr val="black"/>
                </a:solidFill>
              </a:rPr>
              <a:t>”</a:t>
            </a:r>
            <a:endParaRPr lang="en-US" sz="1200" dirty="0">
              <a:solidFill>
                <a:prstClr val="black"/>
              </a:solidFill>
            </a:endParaRPr>
          </a:p>
        </p:txBody>
      </p:sp>
      <p:cxnSp>
        <p:nvCxnSpPr>
          <p:cNvPr id="5" name="4 Conector recto de flecha"/>
          <p:cNvCxnSpPr>
            <a:stCxn id="10" idx="1"/>
          </p:cNvCxnSpPr>
          <p:nvPr/>
        </p:nvCxnSpPr>
        <p:spPr>
          <a:xfrm flipH="1">
            <a:off x="2286000" y="3322805"/>
            <a:ext cx="3520458" cy="122427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111" y="867609"/>
            <a:ext cx="4084889" cy="1035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 name="6 Grupo"/>
          <p:cNvGrpSpPr/>
          <p:nvPr/>
        </p:nvGrpSpPr>
        <p:grpSpPr>
          <a:xfrm>
            <a:off x="5938208" y="4676001"/>
            <a:ext cx="3048000" cy="276999"/>
            <a:chOff x="5410200" y="5082473"/>
            <a:chExt cx="3048000" cy="276999"/>
          </a:xfrm>
        </p:grpSpPr>
        <p:sp>
          <p:nvSpPr>
            <p:cNvPr id="3" name="2 CuadroTexto"/>
            <p:cNvSpPr txBox="1"/>
            <p:nvPr/>
          </p:nvSpPr>
          <p:spPr>
            <a:xfrm>
              <a:off x="5410200" y="5082473"/>
              <a:ext cx="304800" cy="276999"/>
            </a:xfrm>
            <a:prstGeom prst="rect">
              <a:avLst/>
            </a:prstGeom>
            <a:solidFill>
              <a:schemeClr val="bg1">
                <a:lumMod val="85000"/>
              </a:schemeClr>
            </a:solidFill>
            <a:ln>
              <a:solidFill>
                <a:schemeClr val="tx1"/>
              </a:solidFill>
            </a:ln>
          </p:spPr>
          <p:txBody>
            <a:bodyPr wrap="square" rtlCol="0">
              <a:spAutoFit/>
            </a:bodyPr>
            <a:lstStyle/>
            <a:p>
              <a:pPr algn="ctr"/>
              <a:r>
                <a:rPr lang="en-US" sz="1200" dirty="0" smtClean="0">
                  <a:solidFill>
                    <a:prstClr val="black"/>
                  </a:solidFill>
                </a:rPr>
                <a:t>0</a:t>
              </a:r>
              <a:endParaRPr lang="en-US" sz="1200" dirty="0">
                <a:solidFill>
                  <a:prstClr val="black"/>
                </a:solidFill>
              </a:endParaRPr>
            </a:p>
          </p:txBody>
        </p:sp>
        <p:sp>
          <p:nvSpPr>
            <p:cNvPr id="11" name="10 CuadroTexto"/>
            <p:cNvSpPr txBox="1"/>
            <p:nvPr/>
          </p:nvSpPr>
          <p:spPr>
            <a:xfrm>
              <a:off x="5802086" y="5082473"/>
              <a:ext cx="304800" cy="276999"/>
            </a:xfrm>
            <a:prstGeom prst="rect">
              <a:avLst/>
            </a:prstGeom>
            <a:solidFill>
              <a:schemeClr val="bg1">
                <a:lumMod val="85000"/>
              </a:schemeClr>
            </a:solidFill>
            <a:ln>
              <a:solidFill>
                <a:schemeClr val="tx1"/>
              </a:solidFill>
            </a:ln>
          </p:spPr>
          <p:txBody>
            <a:bodyPr wrap="square" rtlCol="0">
              <a:spAutoFit/>
            </a:bodyPr>
            <a:lstStyle/>
            <a:p>
              <a:pPr algn="ctr"/>
              <a:r>
                <a:rPr lang="en-US" sz="1200" dirty="0" smtClean="0">
                  <a:solidFill>
                    <a:prstClr val="black"/>
                  </a:solidFill>
                </a:rPr>
                <a:t>0</a:t>
              </a:r>
              <a:endParaRPr lang="en-US" sz="1200" dirty="0">
                <a:solidFill>
                  <a:prstClr val="black"/>
                </a:solidFill>
              </a:endParaRPr>
            </a:p>
          </p:txBody>
        </p:sp>
        <p:sp>
          <p:nvSpPr>
            <p:cNvPr id="12" name="11 CuadroTexto"/>
            <p:cNvSpPr txBox="1"/>
            <p:nvPr/>
          </p:nvSpPr>
          <p:spPr>
            <a:xfrm>
              <a:off x="6193972" y="5082473"/>
              <a:ext cx="304800" cy="276999"/>
            </a:xfrm>
            <a:prstGeom prst="rect">
              <a:avLst/>
            </a:prstGeom>
            <a:solidFill>
              <a:schemeClr val="bg1">
                <a:lumMod val="85000"/>
              </a:schemeClr>
            </a:solidFill>
            <a:ln>
              <a:solidFill>
                <a:schemeClr val="tx1"/>
              </a:solidFill>
            </a:ln>
          </p:spPr>
          <p:txBody>
            <a:bodyPr wrap="square" rtlCol="0">
              <a:spAutoFit/>
            </a:bodyPr>
            <a:lstStyle/>
            <a:p>
              <a:pPr algn="ctr"/>
              <a:r>
                <a:rPr lang="en-US" sz="1200" dirty="0" smtClean="0">
                  <a:solidFill>
                    <a:prstClr val="black"/>
                  </a:solidFill>
                </a:rPr>
                <a:t>0</a:t>
              </a:r>
              <a:endParaRPr lang="en-US" sz="1200" dirty="0">
                <a:solidFill>
                  <a:prstClr val="black"/>
                </a:solidFill>
              </a:endParaRPr>
            </a:p>
          </p:txBody>
        </p:sp>
        <p:sp>
          <p:nvSpPr>
            <p:cNvPr id="13" name="12 CuadroTexto"/>
            <p:cNvSpPr txBox="1"/>
            <p:nvPr/>
          </p:nvSpPr>
          <p:spPr>
            <a:xfrm>
              <a:off x="6585858" y="5082473"/>
              <a:ext cx="304800" cy="276999"/>
            </a:xfrm>
            <a:prstGeom prst="rect">
              <a:avLst/>
            </a:prstGeom>
            <a:solidFill>
              <a:schemeClr val="tx1"/>
            </a:solidFill>
            <a:ln>
              <a:solidFill>
                <a:schemeClr val="tx1"/>
              </a:solidFill>
            </a:ln>
          </p:spPr>
          <p:txBody>
            <a:bodyPr wrap="square" rtlCol="0">
              <a:spAutoFit/>
            </a:bodyPr>
            <a:lstStyle/>
            <a:p>
              <a:pPr algn="ctr"/>
              <a:r>
                <a:rPr lang="en-US" sz="1200" dirty="0">
                  <a:solidFill>
                    <a:prstClr val="white"/>
                  </a:solidFill>
                </a:rPr>
                <a:t>1</a:t>
              </a:r>
            </a:p>
          </p:txBody>
        </p:sp>
        <p:sp>
          <p:nvSpPr>
            <p:cNvPr id="14" name="13 CuadroTexto"/>
            <p:cNvSpPr txBox="1"/>
            <p:nvPr/>
          </p:nvSpPr>
          <p:spPr>
            <a:xfrm>
              <a:off x="6977744" y="5082473"/>
              <a:ext cx="304800" cy="276999"/>
            </a:xfrm>
            <a:prstGeom prst="rect">
              <a:avLst/>
            </a:prstGeom>
            <a:solidFill>
              <a:schemeClr val="bg1">
                <a:lumMod val="85000"/>
              </a:schemeClr>
            </a:solidFill>
            <a:ln>
              <a:solidFill>
                <a:schemeClr val="tx1"/>
              </a:solidFill>
            </a:ln>
          </p:spPr>
          <p:txBody>
            <a:bodyPr wrap="square" rtlCol="0">
              <a:spAutoFit/>
            </a:bodyPr>
            <a:lstStyle/>
            <a:p>
              <a:pPr algn="ctr"/>
              <a:r>
                <a:rPr lang="en-US" sz="1200" dirty="0" smtClean="0">
                  <a:solidFill>
                    <a:prstClr val="black"/>
                  </a:solidFill>
                </a:rPr>
                <a:t>0</a:t>
              </a:r>
              <a:endParaRPr lang="en-US" sz="1200" dirty="0">
                <a:solidFill>
                  <a:prstClr val="black"/>
                </a:solidFill>
              </a:endParaRPr>
            </a:p>
          </p:txBody>
        </p:sp>
        <p:sp>
          <p:nvSpPr>
            <p:cNvPr id="16" name="15 CuadroTexto"/>
            <p:cNvSpPr txBox="1"/>
            <p:nvPr/>
          </p:nvSpPr>
          <p:spPr>
            <a:xfrm>
              <a:off x="7369630" y="5082473"/>
              <a:ext cx="304800" cy="276999"/>
            </a:xfrm>
            <a:prstGeom prst="rect">
              <a:avLst/>
            </a:prstGeom>
            <a:solidFill>
              <a:schemeClr val="bg1">
                <a:lumMod val="85000"/>
              </a:schemeClr>
            </a:solidFill>
            <a:ln>
              <a:solidFill>
                <a:schemeClr val="tx1"/>
              </a:solidFill>
            </a:ln>
          </p:spPr>
          <p:txBody>
            <a:bodyPr wrap="square" rtlCol="0">
              <a:spAutoFit/>
            </a:bodyPr>
            <a:lstStyle/>
            <a:p>
              <a:pPr algn="ctr"/>
              <a:r>
                <a:rPr lang="en-US" sz="1200" dirty="0" smtClean="0">
                  <a:solidFill>
                    <a:prstClr val="black"/>
                  </a:solidFill>
                </a:rPr>
                <a:t>0</a:t>
              </a:r>
              <a:endParaRPr lang="en-US" sz="1200" dirty="0">
                <a:solidFill>
                  <a:prstClr val="black"/>
                </a:solidFill>
              </a:endParaRPr>
            </a:p>
          </p:txBody>
        </p:sp>
        <p:sp>
          <p:nvSpPr>
            <p:cNvPr id="17" name="16 CuadroTexto"/>
            <p:cNvSpPr txBox="1"/>
            <p:nvPr/>
          </p:nvSpPr>
          <p:spPr>
            <a:xfrm>
              <a:off x="7761516" y="5082473"/>
              <a:ext cx="304800" cy="276999"/>
            </a:xfrm>
            <a:prstGeom prst="rect">
              <a:avLst/>
            </a:prstGeom>
            <a:solidFill>
              <a:schemeClr val="bg1">
                <a:lumMod val="85000"/>
              </a:schemeClr>
            </a:solidFill>
            <a:ln>
              <a:solidFill>
                <a:schemeClr val="tx1"/>
              </a:solidFill>
            </a:ln>
          </p:spPr>
          <p:txBody>
            <a:bodyPr wrap="square" rtlCol="0">
              <a:spAutoFit/>
            </a:bodyPr>
            <a:lstStyle/>
            <a:p>
              <a:pPr algn="ctr"/>
              <a:r>
                <a:rPr lang="en-US" sz="1200" dirty="0" smtClean="0">
                  <a:solidFill>
                    <a:prstClr val="black"/>
                  </a:solidFill>
                </a:rPr>
                <a:t>0</a:t>
              </a:r>
              <a:endParaRPr lang="en-US" sz="1200" dirty="0">
                <a:solidFill>
                  <a:prstClr val="black"/>
                </a:solidFill>
              </a:endParaRPr>
            </a:p>
          </p:txBody>
        </p:sp>
        <p:sp>
          <p:nvSpPr>
            <p:cNvPr id="18" name="17 CuadroTexto"/>
            <p:cNvSpPr txBox="1"/>
            <p:nvPr/>
          </p:nvSpPr>
          <p:spPr>
            <a:xfrm>
              <a:off x="8153400" y="5082473"/>
              <a:ext cx="304800" cy="276999"/>
            </a:xfrm>
            <a:prstGeom prst="rect">
              <a:avLst/>
            </a:prstGeom>
            <a:solidFill>
              <a:schemeClr val="bg1">
                <a:lumMod val="85000"/>
              </a:schemeClr>
            </a:solidFill>
            <a:ln>
              <a:solidFill>
                <a:schemeClr val="tx1"/>
              </a:solidFill>
            </a:ln>
          </p:spPr>
          <p:txBody>
            <a:bodyPr wrap="square" rtlCol="0">
              <a:spAutoFit/>
            </a:bodyPr>
            <a:lstStyle/>
            <a:p>
              <a:pPr algn="ctr"/>
              <a:r>
                <a:rPr lang="en-US" sz="1200" dirty="0" smtClean="0">
                  <a:solidFill>
                    <a:prstClr val="black"/>
                  </a:solidFill>
                </a:rPr>
                <a:t>0</a:t>
              </a:r>
              <a:endParaRPr lang="en-US" sz="1200" dirty="0">
                <a:solidFill>
                  <a:prstClr val="black"/>
                </a:solidFill>
              </a:endParaRPr>
            </a:p>
          </p:txBody>
        </p:sp>
      </p:grpSp>
      <p:grpSp>
        <p:nvGrpSpPr>
          <p:cNvPr id="8" name="7 Grupo"/>
          <p:cNvGrpSpPr/>
          <p:nvPr/>
        </p:nvGrpSpPr>
        <p:grpSpPr>
          <a:xfrm>
            <a:off x="5938208" y="5590401"/>
            <a:ext cx="3048000" cy="276999"/>
            <a:chOff x="5410200" y="5895201"/>
            <a:chExt cx="3048000" cy="276999"/>
          </a:xfrm>
        </p:grpSpPr>
        <p:sp>
          <p:nvSpPr>
            <p:cNvPr id="27" name="26 CuadroTexto"/>
            <p:cNvSpPr txBox="1"/>
            <p:nvPr/>
          </p:nvSpPr>
          <p:spPr>
            <a:xfrm>
              <a:off x="5410200" y="5895201"/>
              <a:ext cx="304800" cy="276999"/>
            </a:xfrm>
            <a:prstGeom prst="rect">
              <a:avLst/>
            </a:prstGeom>
            <a:solidFill>
              <a:schemeClr val="bg1">
                <a:lumMod val="85000"/>
              </a:schemeClr>
            </a:solidFill>
            <a:ln>
              <a:solidFill>
                <a:schemeClr val="tx1"/>
              </a:solidFill>
            </a:ln>
          </p:spPr>
          <p:txBody>
            <a:bodyPr wrap="square" rtlCol="0">
              <a:spAutoFit/>
            </a:bodyPr>
            <a:lstStyle/>
            <a:p>
              <a:pPr algn="ctr"/>
              <a:r>
                <a:rPr lang="en-US" sz="1200" dirty="0" smtClean="0">
                  <a:solidFill>
                    <a:prstClr val="black"/>
                  </a:solidFill>
                </a:rPr>
                <a:t>0</a:t>
              </a:r>
              <a:endParaRPr lang="en-US" sz="1200" dirty="0">
                <a:solidFill>
                  <a:prstClr val="black"/>
                </a:solidFill>
              </a:endParaRPr>
            </a:p>
          </p:txBody>
        </p:sp>
        <p:sp>
          <p:nvSpPr>
            <p:cNvPr id="28" name="27 CuadroTexto"/>
            <p:cNvSpPr txBox="1"/>
            <p:nvPr/>
          </p:nvSpPr>
          <p:spPr>
            <a:xfrm>
              <a:off x="5802086" y="5895201"/>
              <a:ext cx="304800" cy="276999"/>
            </a:xfrm>
            <a:prstGeom prst="rect">
              <a:avLst/>
            </a:prstGeom>
            <a:solidFill>
              <a:schemeClr val="bg1">
                <a:lumMod val="85000"/>
              </a:schemeClr>
            </a:solidFill>
            <a:ln>
              <a:solidFill>
                <a:schemeClr val="tx1"/>
              </a:solidFill>
            </a:ln>
          </p:spPr>
          <p:txBody>
            <a:bodyPr wrap="square" rtlCol="0">
              <a:spAutoFit/>
            </a:bodyPr>
            <a:lstStyle/>
            <a:p>
              <a:pPr algn="ctr"/>
              <a:r>
                <a:rPr lang="en-US" sz="1200" dirty="0" smtClean="0">
                  <a:solidFill>
                    <a:prstClr val="black"/>
                  </a:solidFill>
                </a:rPr>
                <a:t>0</a:t>
              </a:r>
              <a:endParaRPr lang="en-US" sz="1200" dirty="0">
                <a:solidFill>
                  <a:prstClr val="black"/>
                </a:solidFill>
              </a:endParaRPr>
            </a:p>
          </p:txBody>
        </p:sp>
        <p:sp>
          <p:nvSpPr>
            <p:cNvPr id="29" name="28 CuadroTexto"/>
            <p:cNvSpPr txBox="1"/>
            <p:nvPr/>
          </p:nvSpPr>
          <p:spPr>
            <a:xfrm>
              <a:off x="6193972" y="5895201"/>
              <a:ext cx="304800" cy="276999"/>
            </a:xfrm>
            <a:prstGeom prst="rect">
              <a:avLst/>
            </a:prstGeom>
            <a:solidFill>
              <a:schemeClr val="bg1">
                <a:lumMod val="85000"/>
              </a:schemeClr>
            </a:solidFill>
            <a:ln>
              <a:solidFill>
                <a:schemeClr val="tx1"/>
              </a:solidFill>
            </a:ln>
          </p:spPr>
          <p:txBody>
            <a:bodyPr wrap="square" rtlCol="0">
              <a:spAutoFit/>
            </a:bodyPr>
            <a:lstStyle/>
            <a:p>
              <a:pPr algn="ctr"/>
              <a:r>
                <a:rPr lang="en-US" sz="1200" dirty="0" smtClean="0">
                  <a:solidFill>
                    <a:prstClr val="black"/>
                  </a:solidFill>
                </a:rPr>
                <a:t>0</a:t>
              </a:r>
              <a:endParaRPr lang="en-US" sz="1200" dirty="0">
                <a:solidFill>
                  <a:prstClr val="black"/>
                </a:solidFill>
              </a:endParaRPr>
            </a:p>
          </p:txBody>
        </p:sp>
        <p:sp>
          <p:nvSpPr>
            <p:cNvPr id="30" name="29 CuadroTexto"/>
            <p:cNvSpPr txBox="1"/>
            <p:nvPr/>
          </p:nvSpPr>
          <p:spPr>
            <a:xfrm>
              <a:off x="6585858" y="5895201"/>
              <a:ext cx="304800" cy="276999"/>
            </a:xfrm>
            <a:prstGeom prst="rect">
              <a:avLst/>
            </a:prstGeom>
            <a:solidFill>
              <a:schemeClr val="tx1"/>
            </a:solidFill>
            <a:ln>
              <a:solidFill>
                <a:schemeClr val="tx1"/>
              </a:solidFill>
            </a:ln>
          </p:spPr>
          <p:txBody>
            <a:bodyPr wrap="square" rtlCol="0">
              <a:spAutoFit/>
            </a:bodyPr>
            <a:lstStyle/>
            <a:p>
              <a:pPr algn="ctr"/>
              <a:r>
                <a:rPr lang="en-US" sz="1200" dirty="0" smtClean="0">
                  <a:solidFill>
                    <a:prstClr val="white"/>
                  </a:solidFill>
                </a:rPr>
                <a:t>1</a:t>
              </a:r>
              <a:endParaRPr lang="en-US" sz="1200" dirty="0">
                <a:solidFill>
                  <a:prstClr val="white"/>
                </a:solidFill>
              </a:endParaRPr>
            </a:p>
          </p:txBody>
        </p:sp>
        <p:sp>
          <p:nvSpPr>
            <p:cNvPr id="31" name="30 CuadroTexto"/>
            <p:cNvSpPr txBox="1"/>
            <p:nvPr/>
          </p:nvSpPr>
          <p:spPr>
            <a:xfrm>
              <a:off x="6977744" y="5895201"/>
              <a:ext cx="304800" cy="276999"/>
            </a:xfrm>
            <a:prstGeom prst="rect">
              <a:avLst/>
            </a:prstGeom>
            <a:solidFill>
              <a:schemeClr val="tx1"/>
            </a:solidFill>
            <a:ln>
              <a:solidFill>
                <a:schemeClr val="tx1"/>
              </a:solidFill>
            </a:ln>
          </p:spPr>
          <p:txBody>
            <a:bodyPr wrap="square" rtlCol="0">
              <a:spAutoFit/>
            </a:bodyPr>
            <a:lstStyle/>
            <a:p>
              <a:pPr algn="ctr"/>
              <a:r>
                <a:rPr lang="en-US" sz="1200" dirty="0" smtClean="0">
                  <a:solidFill>
                    <a:prstClr val="white"/>
                  </a:solidFill>
                </a:rPr>
                <a:t>1</a:t>
              </a:r>
              <a:endParaRPr lang="en-US" sz="1200" dirty="0">
                <a:solidFill>
                  <a:prstClr val="white"/>
                </a:solidFill>
              </a:endParaRPr>
            </a:p>
          </p:txBody>
        </p:sp>
        <p:sp>
          <p:nvSpPr>
            <p:cNvPr id="32" name="31 CuadroTexto"/>
            <p:cNvSpPr txBox="1"/>
            <p:nvPr/>
          </p:nvSpPr>
          <p:spPr>
            <a:xfrm>
              <a:off x="7369630" y="5895201"/>
              <a:ext cx="304800" cy="276999"/>
            </a:xfrm>
            <a:prstGeom prst="rect">
              <a:avLst/>
            </a:prstGeom>
            <a:solidFill>
              <a:schemeClr val="tx1"/>
            </a:solidFill>
            <a:ln>
              <a:solidFill>
                <a:schemeClr val="tx1"/>
              </a:solidFill>
            </a:ln>
          </p:spPr>
          <p:txBody>
            <a:bodyPr wrap="square" rtlCol="0">
              <a:spAutoFit/>
            </a:bodyPr>
            <a:lstStyle/>
            <a:p>
              <a:pPr algn="ctr"/>
              <a:r>
                <a:rPr lang="en-US" sz="1200" dirty="0" smtClean="0">
                  <a:solidFill>
                    <a:prstClr val="white"/>
                  </a:solidFill>
                </a:rPr>
                <a:t>1</a:t>
              </a:r>
              <a:endParaRPr lang="en-US" sz="1200" dirty="0">
                <a:solidFill>
                  <a:prstClr val="white"/>
                </a:solidFill>
              </a:endParaRPr>
            </a:p>
          </p:txBody>
        </p:sp>
        <p:sp>
          <p:nvSpPr>
            <p:cNvPr id="33" name="32 CuadroTexto"/>
            <p:cNvSpPr txBox="1"/>
            <p:nvPr/>
          </p:nvSpPr>
          <p:spPr>
            <a:xfrm>
              <a:off x="7761516" y="5895201"/>
              <a:ext cx="304800" cy="276999"/>
            </a:xfrm>
            <a:prstGeom prst="rect">
              <a:avLst/>
            </a:prstGeom>
            <a:solidFill>
              <a:schemeClr val="bg1">
                <a:lumMod val="85000"/>
              </a:schemeClr>
            </a:solidFill>
            <a:ln>
              <a:solidFill>
                <a:schemeClr val="tx1"/>
              </a:solidFill>
            </a:ln>
          </p:spPr>
          <p:txBody>
            <a:bodyPr wrap="square" rtlCol="0">
              <a:spAutoFit/>
            </a:bodyPr>
            <a:lstStyle/>
            <a:p>
              <a:pPr algn="ctr"/>
              <a:r>
                <a:rPr lang="en-US" sz="1200" dirty="0" smtClean="0">
                  <a:solidFill>
                    <a:prstClr val="black"/>
                  </a:solidFill>
                </a:rPr>
                <a:t>0</a:t>
              </a:r>
              <a:endParaRPr lang="en-US" sz="1200" dirty="0">
                <a:solidFill>
                  <a:prstClr val="black"/>
                </a:solidFill>
              </a:endParaRPr>
            </a:p>
          </p:txBody>
        </p:sp>
        <p:sp>
          <p:nvSpPr>
            <p:cNvPr id="34" name="33 CuadroTexto"/>
            <p:cNvSpPr txBox="1"/>
            <p:nvPr/>
          </p:nvSpPr>
          <p:spPr>
            <a:xfrm>
              <a:off x="8153400" y="5895201"/>
              <a:ext cx="304800" cy="276999"/>
            </a:xfrm>
            <a:prstGeom prst="rect">
              <a:avLst/>
            </a:prstGeom>
            <a:solidFill>
              <a:schemeClr val="bg1">
                <a:lumMod val="85000"/>
              </a:schemeClr>
            </a:solidFill>
            <a:ln>
              <a:solidFill>
                <a:schemeClr val="tx1"/>
              </a:solidFill>
            </a:ln>
          </p:spPr>
          <p:txBody>
            <a:bodyPr wrap="square" rtlCol="0">
              <a:spAutoFit/>
            </a:bodyPr>
            <a:lstStyle/>
            <a:p>
              <a:pPr algn="ctr"/>
              <a:r>
                <a:rPr lang="en-US" sz="1200" dirty="0" smtClean="0">
                  <a:solidFill>
                    <a:prstClr val="black"/>
                  </a:solidFill>
                </a:rPr>
                <a:t>0</a:t>
              </a:r>
              <a:endParaRPr lang="en-US" sz="1200" dirty="0">
                <a:solidFill>
                  <a:prstClr val="black"/>
                </a:solidFill>
              </a:endParaRPr>
            </a:p>
          </p:txBody>
        </p:sp>
      </p:grpSp>
      <p:sp>
        <p:nvSpPr>
          <p:cNvPr id="9" name="8 Rectángulo"/>
          <p:cNvSpPr/>
          <p:nvPr/>
        </p:nvSpPr>
        <p:spPr>
          <a:xfrm>
            <a:off x="905854" y="5020654"/>
            <a:ext cx="152400" cy="152400"/>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1" name="40 CuadroTexto"/>
          <p:cNvSpPr txBox="1"/>
          <p:nvPr/>
        </p:nvSpPr>
        <p:spPr>
          <a:xfrm>
            <a:off x="5853626" y="4318889"/>
            <a:ext cx="2654359" cy="276999"/>
          </a:xfrm>
          <a:prstGeom prst="rect">
            <a:avLst/>
          </a:prstGeom>
          <a:noFill/>
        </p:spPr>
        <p:txBody>
          <a:bodyPr wrap="square" rtlCol="0">
            <a:spAutoFit/>
          </a:bodyPr>
          <a:lstStyle/>
          <a:p>
            <a:r>
              <a:rPr lang="en-US" sz="1200" dirty="0" smtClean="0">
                <a:solidFill>
                  <a:prstClr val="black"/>
                </a:solidFill>
              </a:rPr>
              <a:t>Previous value of byte 0 = 0x10</a:t>
            </a:r>
            <a:endParaRPr lang="en-US" sz="1200" dirty="0">
              <a:solidFill>
                <a:prstClr val="black"/>
              </a:solidFill>
            </a:endParaRPr>
          </a:p>
        </p:txBody>
      </p:sp>
      <p:sp>
        <p:nvSpPr>
          <p:cNvPr id="42" name="41 CuadroTexto"/>
          <p:cNvSpPr txBox="1"/>
          <p:nvPr/>
        </p:nvSpPr>
        <p:spPr>
          <a:xfrm>
            <a:off x="5835656" y="5260347"/>
            <a:ext cx="2654359" cy="276999"/>
          </a:xfrm>
          <a:prstGeom prst="rect">
            <a:avLst/>
          </a:prstGeom>
          <a:noFill/>
        </p:spPr>
        <p:txBody>
          <a:bodyPr wrap="square" rtlCol="0">
            <a:spAutoFit/>
          </a:bodyPr>
          <a:lstStyle/>
          <a:p>
            <a:r>
              <a:rPr lang="en-US" sz="1200" b="1" dirty="0" smtClean="0">
                <a:solidFill>
                  <a:srgbClr val="0000FF"/>
                </a:solidFill>
              </a:rPr>
              <a:t>New value of byte 0 = 0x1C</a:t>
            </a:r>
            <a:endParaRPr lang="en-US" sz="1200" b="1" dirty="0">
              <a:solidFill>
                <a:srgbClr val="0000FF"/>
              </a:solidFill>
            </a:endParaRPr>
          </a:p>
        </p:txBody>
      </p:sp>
      <p:cxnSp>
        <p:nvCxnSpPr>
          <p:cNvPr id="40" name="39 Conector recto de flecha"/>
          <p:cNvCxnSpPr>
            <a:endCxn id="42" idx="1"/>
          </p:cNvCxnSpPr>
          <p:nvPr/>
        </p:nvCxnSpPr>
        <p:spPr>
          <a:xfrm>
            <a:off x="998432" y="5173054"/>
            <a:ext cx="4837224" cy="22579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6" name="45 CuadroTexto"/>
          <p:cNvSpPr txBox="1"/>
          <p:nvPr/>
        </p:nvSpPr>
        <p:spPr>
          <a:xfrm>
            <a:off x="5847387" y="3943074"/>
            <a:ext cx="3198643"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b="1" dirty="0" smtClean="0">
                <a:solidFill>
                  <a:prstClr val="black"/>
                </a:solidFill>
              </a:rPr>
              <a:t>State of the “</a:t>
            </a:r>
            <a:r>
              <a:rPr lang="en-US" sz="1200" b="1" dirty="0" err="1" smtClean="0">
                <a:solidFill>
                  <a:prstClr val="black"/>
                </a:solidFill>
              </a:rPr>
              <a:t>TagA</a:t>
            </a:r>
            <a:r>
              <a:rPr lang="en-US" sz="1200" b="1" dirty="0" smtClean="0">
                <a:solidFill>
                  <a:prstClr val="black"/>
                </a:solidFill>
              </a:rPr>
              <a:t>” byte  (byte 0 of the header)</a:t>
            </a:r>
            <a:endParaRPr lang="en-US" sz="1200" b="1" dirty="0">
              <a:solidFill>
                <a:prstClr val="black"/>
              </a:solidFill>
            </a:endParaRPr>
          </a:p>
        </p:txBody>
      </p:sp>
      <p:sp>
        <p:nvSpPr>
          <p:cNvPr id="45" name="44 Rectángulo"/>
          <p:cNvSpPr/>
          <p:nvPr/>
        </p:nvSpPr>
        <p:spPr>
          <a:xfrm>
            <a:off x="5847387" y="4220073"/>
            <a:ext cx="3198643" cy="179972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35" name="34 Grupo"/>
          <p:cNvGrpSpPr/>
          <p:nvPr/>
        </p:nvGrpSpPr>
        <p:grpSpPr>
          <a:xfrm>
            <a:off x="9525" y="6574392"/>
            <a:ext cx="9134399" cy="277000"/>
            <a:chOff x="9525" y="6574392"/>
            <a:chExt cx="9134399" cy="277000"/>
          </a:xfrm>
        </p:grpSpPr>
        <p:sp>
          <p:nvSpPr>
            <p:cNvPr id="36" name="35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37" name="36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38" name="37 Grupo"/>
          <p:cNvGrpSpPr/>
          <p:nvPr/>
        </p:nvGrpSpPr>
        <p:grpSpPr>
          <a:xfrm>
            <a:off x="0" y="9525"/>
            <a:ext cx="9153525" cy="408388"/>
            <a:chOff x="0" y="9525"/>
            <a:chExt cx="9153525" cy="408388"/>
          </a:xfrm>
        </p:grpSpPr>
        <p:sp>
          <p:nvSpPr>
            <p:cNvPr id="39" name="38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Record Types |  Ghost Records</a:t>
              </a:r>
              <a:endParaRPr lang="en-US" b="1" i="1" dirty="0">
                <a:solidFill>
                  <a:schemeClr val="bg1"/>
                </a:solidFill>
              </a:endParaRPr>
            </a:p>
          </p:txBody>
        </p:sp>
        <p:pic>
          <p:nvPicPr>
            <p:cNvPr id="43" name="42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4" name="43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0237642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CuadroTexto"/>
          <p:cNvSpPr txBox="1"/>
          <p:nvPr/>
        </p:nvSpPr>
        <p:spPr>
          <a:xfrm>
            <a:off x="0" y="523220"/>
            <a:ext cx="9144000" cy="954107"/>
          </a:xfrm>
          <a:prstGeom prst="rect">
            <a:avLst/>
          </a:prstGeom>
          <a:noFill/>
        </p:spPr>
        <p:txBody>
          <a:bodyPr wrap="square" rtlCol="0">
            <a:spAutoFit/>
          </a:bodyPr>
          <a:lstStyle/>
          <a:p>
            <a:pPr marL="285750" indent="-285750">
              <a:buFont typeface="Wingdings" pitchFamily="2" charset="2"/>
              <a:buChar char="Ø"/>
            </a:pPr>
            <a:r>
              <a:rPr lang="en-US" sz="1400" dirty="0" smtClean="0">
                <a:solidFill>
                  <a:prstClr val="black"/>
                </a:solidFill>
              </a:rPr>
              <a:t>It’s a thread that </a:t>
            </a:r>
            <a:r>
              <a:rPr lang="en-US" sz="1400" b="1" dirty="0">
                <a:solidFill>
                  <a:prstClr val="black"/>
                </a:solidFill>
              </a:rPr>
              <a:t>physically removes</a:t>
            </a:r>
            <a:r>
              <a:rPr lang="en-US" sz="1400" dirty="0">
                <a:solidFill>
                  <a:prstClr val="black"/>
                </a:solidFill>
              </a:rPr>
              <a:t> the records </a:t>
            </a:r>
            <a:r>
              <a:rPr lang="en-US" sz="1400" dirty="0" smtClean="0">
                <a:solidFill>
                  <a:prstClr val="black"/>
                </a:solidFill>
              </a:rPr>
              <a:t>that were marked for deletion.</a:t>
            </a:r>
            <a:endParaRPr lang="en-US" sz="1400" dirty="0">
              <a:solidFill>
                <a:prstClr val="black"/>
              </a:solidFill>
            </a:endParaRPr>
          </a:p>
          <a:p>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More specifically, it’s a thread </a:t>
            </a:r>
            <a:r>
              <a:rPr lang="en-US" sz="1400" dirty="0">
                <a:solidFill>
                  <a:prstClr val="black"/>
                </a:solidFill>
              </a:rPr>
              <a:t>that periodically checks </a:t>
            </a:r>
            <a:r>
              <a:rPr lang="en-US" sz="1400" dirty="0" smtClean="0">
                <a:solidFill>
                  <a:prstClr val="black"/>
                </a:solidFill>
              </a:rPr>
              <a:t>the B-trees </a:t>
            </a:r>
            <a:r>
              <a:rPr lang="en-US" sz="1400" dirty="0">
                <a:solidFill>
                  <a:prstClr val="black"/>
                </a:solidFill>
              </a:rPr>
              <a:t>for ghosted </a:t>
            </a:r>
            <a:r>
              <a:rPr lang="en-US" sz="1400" dirty="0" smtClean="0">
                <a:solidFill>
                  <a:prstClr val="black"/>
                </a:solidFill>
              </a:rPr>
              <a:t>records, </a:t>
            </a:r>
            <a:r>
              <a:rPr lang="en-US" sz="1400" dirty="0">
                <a:solidFill>
                  <a:prstClr val="black"/>
                </a:solidFill>
              </a:rPr>
              <a:t>and asynchronously removes them from the leaf level of the index</a:t>
            </a:r>
            <a:r>
              <a:rPr lang="en-US" sz="1400" dirty="0" smtClean="0">
                <a:solidFill>
                  <a:prstClr val="black"/>
                </a:solidFill>
              </a:rPr>
              <a:t>.</a:t>
            </a:r>
          </a:p>
        </p:txBody>
      </p:sp>
      <p:sp>
        <p:nvSpPr>
          <p:cNvPr id="35" name="34 CuadroTexto"/>
          <p:cNvSpPr txBox="1"/>
          <p:nvPr/>
        </p:nvSpPr>
        <p:spPr>
          <a:xfrm>
            <a:off x="-21364" y="2209562"/>
            <a:ext cx="9144000" cy="1600438"/>
          </a:xfrm>
          <a:prstGeom prst="rect">
            <a:avLst/>
          </a:prstGeom>
          <a:noFill/>
        </p:spPr>
        <p:txBody>
          <a:bodyPr wrap="square" rtlCol="0">
            <a:spAutoFit/>
          </a:bodyPr>
          <a:lstStyle/>
          <a:p>
            <a:r>
              <a:rPr lang="en-US" sz="1400" dirty="0" smtClean="0">
                <a:solidFill>
                  <a:prstClr val="black"/>
                </a:solidFill>
              </a:rPr>
              <a:t>The </a:t>
            </a:r>
            <a:r>
              <a:rPr lang="en-US" sz="1400" dirty="0">
                <a:solidFill>
                  <a:prstClr val="black"/>
                </a:solidFill>
              </a:rPr>
              <a:t>Ghost cleanup </a:t>
            </a:r>
            <a:r>
              <a:rPr lang="en-US" sz="1400" dirty="0" smtClean="0">
                <a:solidFill>
                  <a:prstClr val="black"/>
                </a:solidFill>
              </a:rPr>
              <a:t>task divides </a:t>
            </a:r>
            <a:r>
              <a:rPr lang="en-US" sz="1400" dirty="0">
                <a:solidFill>
                  <a:prstClr val="black"/>
                </a:solidFill>
              </a:rPr>
              <a:t>the “ghost pages” into 2 categories</a:t>
            </a:r>
            <a:r>
              <a:rPr lang="en-US" sz="1400" dirty="0" smtClean="0">
                <a:solidFill>
                  <a:prstClr val="black"/>
                </a:solidFill>
              </a:rPr>
              <a:t>:</a:t>
            </a:r>
            <a:endParaRPr lang="en-US" sz="1400" dirty="0">
              <a:solidFill>
                <a:prstClr val="black"/>
              </a:solidFill>
            </a:endParaRPr>
          </a:p>
          <a:p>
            <a:pPr marL="285750" indent="-285750">
              <a:buFont typeface="Wingdings" pitchFamily="2" charset="2"/>
              <a:buChar char="ü"/>
            </a:pPr>
            <a:r>
              <a:rPr lang="en-US" sz="1400" b="1" dirty="0">
                <a:solidFill>
                  <a:prstClr val="black"/>
                </a:solidFill>
              </a:rPr>
              <a:t>Hot Pages </a:t>
            </a:r>
            <a:r>
              <a:rPr lang="en-US" sz="1400" b="1" dirty="0" smtClean="0">
                <a:solidFill>
                  <a:prstClr val="black"/>
                </a:solidFill>
              </a:rPr>
              <a:t> </a:t>
            </a:r>
            <a:r>
              <a:rPr lang="en-US" sz="1400" dirty="0" smtClean="0">
                <a:solidFill>
                  <a:prstClr val="black"/>
                </a:solidFill>
              </a:rPr>
              <a:t>(</a:t>
            </a:r>
            <a:r>
              <a:rPr lang="en-US" sz="1400" dirty="0">
                <a:solidFill>
                  <a:prstClr val="black"/>
                </a:solidFill>
              </a:rPr>
              <a:t>frequently visited by scanning processes)</a:t>
            </a:r>
          </a:p>
          <a:p>
            <a:pPr marL="285750" indent="-285750">
              <a:buFont typeface="Wingdings" pitchFamily="2" charset="2"/>
              <a:buChar char="ü"/>
            </a:pPr>
            <a:r>
              <a:rPr lang="en-US" sz="1400" b="1" dirty="0">
                <a:solidFill>
                  <a:prstClr val="black"/>
                </a:solidFill>
              </a:rPr>
              <a:t>Cold </a:t>
            </a:r>
            <a:r>
              <a:rPr lang="en-US" sz="1400" b="1" dirty="0" smtClean="0">
                <a:solidFill>
                  <a:prstClr val="black"/>
                </a:solidFill>
              </a:rPr>
              <a:t>Pages</a:t>
            </a:r>
          </a:p>
          <a:p>
            <a:pPr marL="285750" indent="-285750">
              <a:buFont typeface="Wingdings" pitchFamily="2" charset="2"/>
              <a:buChar char="Ø"/>
            </a:pP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The </a:t>
            </a:r>
            <a:r>
              <a:rPr lang="en-US" sz="1400" dirty="0">
                <a:solidFill>
                  <a:prstClr val="black"/>
                </a:solidFill>
              </a:rPr>
              <a:t>thread wakes up every 5 seconds. </a:t>
            </a:r>
          </a:p>
          <a:p>
            <a:pPr marL="285750" indent="-285750">
              <a:buFont typeface="Wingdings" pitchFamily="2" charset="2"/>
              <a:buChar char="Ø"/>
            </a:pPr>
            <a:r>
              <a:rPr lang="en-US" sz="1400" dirty="0">
                <a:solidFill>
                  <a:prstClr val="black"/>
                </a:solidFill>
              </a:rPr>
              <a:t>Its mission is to clean up a maximum of 10 ghost pages at a time</a:t>
            </a:r>
          </a:p>
          <a:p>
            <a:pPr marL="285750" indent="-285750">
              <a:buFont typeface="Wingdings" pitchFamily="2" charset="2"/>
              <a:buChar char="Ø"/>
            </a:pPr>
            <a:r>
              <a:rPr lang="en-US" sz="1400" dirty="0">
                <a:solidFill>
                  <a:prstClr val="black"/>
                </a:solidFill>
              </a:rPr>
              <a:t>If the thread cleans up 10 hot ghost pages, it </a:t>
            </a:r>
            <a:r>
              <a:rPr lang="en-US" sz="1400" dirty="0" smtClean="0">
                <a:solidFill>
                  <a:prstClr val="black"/>
                </a:solidFill>
              </a:rPr>
              <a:t>yields</a:t>
            </a:r>
            <a:endParaRPr lang="en-US" sz="1400" dirty="0">
              <a:solidFill>
                <a:prstClr val="black"/>
              </a:solidFill>
            </a:endParaRPr>
          </a:p>
        </p:txBody>
      </p:sp>
      <p:sp>
        <p:nvSpPr>
          <p:cNvPr id="36" name="35 CuadroTexto"/>
          <p:cNvSpPr txBox="1"/>
          <p:nvPr/>
        </p:nvSpPr>
        <p:spPr>
          <a:xfrm>
            <a:off x="0" y="4293096"/>
            <a:ext cx="9144000" cy="307777"/>
          </a:xfrm>
          <a:prstGeom prst="rect">
            <a:avLst/>
          </a:prstGeom>
          <a:noFill/>
        </p:spPr>
        <p:txBody>
          <a:bodyPr wrap="square" rtlCol="0">
            <a:spAutoFit/>
          </a:bodyPr>
          <a:lstStyle/>
          <a:p>
            <a:r>
              <a:rPr lang="en-US" sz="1400" b="1" dirty="0" smtClean="0">
                <a:solidFill>
                  <a:prstClr val="black"/>
                </a:solidFill>
              </a:rPr>
              <a:t>What if there are more than 10 hot ghost pages?</a:t>
            </a:r>
            <a:endParaRPr lang="en-US" sz="1400" b="1" dirty="0">
              <a:solidFill>
                <a:prstClr val="black"/>
              </a:solidFill>
            </a:endParaRPr>
          </a:p>
        </p:txBody>
      </p:sp>
      <p:sp>
        <p:nvSpPr>
          <p:cNvPr id="37" name="36 CuadroTexto"/>
          <p:cNvSpPr txBox="1"/>
          <p:nvPr/>
        </p:nvSpPr>
        <p:spPr>
          <a:xfrm>
            <a:off x="1424" y="4617965"/>
            <a:ext cx="9144000" cy="1384995"/>
          </a:xfrm>
          <a:prstGeom prst="rect">
            <a:avLst/>
          </a:prstGeom>
          <a:noFill/>
        </p:spPr>
        <p:txBody>
          <a:bodyPr wrap="square" rtlCol="0">
            <a:spAutoFit/>
          </a:bodyPr>
          <a:lstStyle/>
          <a:p>
            <a:pPr marL="285750" indent="-285750">
              <a:buFont typeface="Wingdings" pitchFamily="2" charset="2"/>
              <a:buChar char="Ø"/>
            </a:pPr>
            <a:r>
              <a:rPr lang="en-US" sz="1400" dirty="0" smtClean="0">
                <a:solidFill>
                  <a:prstClr val="black"/>
                </a:solidFill>
              </a:rPr>
              <a:t>If </a:t>
            </a:r>
            <a:r>
              <a:rPr lang="en-US" sz="1400" dirty="0">
                <a:solidFill>
                  <a:prstClr val="black"/>
                </a:solidFill>
              </a:rPr>
              <a:t>the number of hot ghost pages is </a:t>
            </a:r>
            <a:r>
              <a:rPr lang="en-US" sz="1400" dirty="0" smtClean="0">
                <a:solidFill>
                  <a:prstClr val="black"/>
                </a:solidFill>
              </a:rPr>
              <a:t>greater than 10 then </a:t>
            </a:r>
            <a:r>
              <a:rPr lang="en-US" sz="1400" dirty="0">
                <a:solidFill>
                  <a:prstClr val="black"/>
                </a:solidFill>
              </a:rPr>
              <a:t>the </a:t>
            </a:r>
            <a:r>
              <a:rPr lang="en-US" sz="1400" dirty="0" smtClean="0">
                <a:solidFill>
                  <a:prstClr val="black"/>
                </a:solidFill>
              </a:rPr>
              <a:t>thread </a:t>
            </a:r>
            <a:r>
              <a:rPr lang="en-US" sz="1400" b="1" dirty="0" smtClean="0">
                <a:solidFill>
                  <a:prstClr val="black"/>
                </a:solidFill>
              </a:rPr>
              <a:t>will run </a:t>
            </a:r>
            <a:r>
              <a:rPr lang="en-US" sz="1400" b="1" dirty="0">
                <a:solidFill>
                  <a:prstClr val="black"/>
                </a:solidFill>
              </a:rPr>
              <a:t>non-stop</a:t>
            </a:r>
            <a:r>
              <a:rPr lang="en-US" sz="1400" dirty="0">
                <a:solidFill>
                  <a:prstClr val="black"/>
                </a:solidFill>
              </a:rPr>
              <a:t> </a:t>
            </a:r>
            <a:r>
              <a:rPr lang="en-US" sz="1400" dirty="0" smtClean="0">
                <a:solidFill>
                  <a:prstClr val="black"/>
                </a:solidFill>
              </a:rPr>
              <a:t>until </a:t>
            </a:r>
            <a:r>
              <a:rPr lang="en-US" sz="1400" dirty="0">
                <a:solidFill>
                  <a:prstClr val="black"/>
                </a:solidFill>
              </a:rPr>
              <a:t>the count comes down </a:t>
            </a:r>
            <a:endParaRPr lang="en-US" sz="1400" dirty="0" smtClean="0">
              <a:solidFill>
                <a:prstClr val="black"/>
              </a:solidFill>
            </a:endParaRPr>
          </a:p>
          <a:p>
            <a:r>
              <a:rPr lang="en-US" sz="1400" dirty="0" smtClean="0">
                <a:solidFill>
                  <a:prstClr val="black"/>
                </a:solidFill>
              </a:rPr>
              <a:t>below </a:t>
            </a:r>
            <a:r>
              <a:rPr lang="en-US" sz="1400" dirty="0">
                <a:solidFill>
                  <a:prstClr val="black"/>
                </a:solidFill>
              </a:rPr>
              <a:t>the threshold </a:t>
            </a:r>
            <a:r>
              <a:rPr lang="en-US" sz="1400" dirty="0" smtClean="0">
                <a:solidFill>
                  <a:prstClr val="black"/>
                </a:solidFill>
              </a:rPr>
              <a:t>value</a:t>
            </a:r>
          </a:p>
          <a:p>
            <a:endParaRPr lang="en-US" sz="1400" dirty="0">
              <a:solidFill>
                <a:prstClr val="black"/>
              </a:solidFill>
            </a:endParaRPr>
          </a:p>
          <a:p>
            <a:pPr marL="285750" indent="-285750">
              <a:buFont typeface="Wingdings" pitchFamily="2" charset="2"/>
              <a:buChar char="Ø"/>
            </a:pPr>
            <a:r>
              <a:rPr lang="en-US" sz="1400" dirty="0">
                <a:solidFill>
                  <a:prstClr val="black"/>
                </a:solidFill>
              </a:rPr>
              <a:t>If there is no CPU usage on the system, the Ghost cleanup task runs </a:t>
            </a:r>
            <a:r>
              <a:rPr lang="en-US" sz="1400" dirty="0" smtClean="0">
                <a:solidFill>
                  <a:prstClr val="black"/>
                </a:solidFill>
              </a:rPr>
              <a:t>until there </a:t>
            </a:r>
            <a:r>
              <a:rPr lang="en-US" sz="1400" dirty="0">
                <a:solidFill>
                  <a:prstClr val="black"/>
                </a:solidFill>
              </a:rPr>
              <a:t>are no more ghost pages to clean </a:t>
            </a:r>
            <a:r>
              <a:rPr lang="en-US" sz="1400" dirty="0" smtClean="0">
                <a:solidFill>
                  <a:prstClr val="black"/>
                </a:solidFill>
              </a:rPr>
              <a:t>up</a:t>
            </a:r>
          </a:p>
          <a:p>
            <a:endParaRPr lang="en-US" sz="1400" dirty="0" smtClean="0">
              <a:solidFill>
                <a:prstClr val="black"/>
              </a:solidFill>
            </a:endParaRPr>
          </a:p>
          <a:p>
            <a:r>
              <a:rPr lang="en-US" sz="1400" dirty="0" smtClean="0">
                <a:solidFill>
                  <a:prstClr val="black"/>
                </a:solidFill>
              </a:rPr>
              <a:t>CPU spikes? </a:t>
            </a:r>
            <a:r>
              <a:rPr lang="en-US" sz="1400" dirty="0" smtClean="0">
                <a:solidFill>
                  <a:prstClr val="black"/>
                </a:solidFill>
                <a:sym typeface="Wingdings" pitchFamily="2" charset="2"/>
              </a:rPr>
              <a:t></a:t>
            </a:r>
            <a:r>
              <a:rPr lang="en-US" sz="1400" dirty="0" smtClean="0">
                <a:solidFill>
                  <a:prstClr val="black"/>
                </a:solidFill>
              </a:rPr>
              <a:t>  </a:t>
            </a:r>
            <a:r>
              <a:rPr lang="en-US" sz="1400" dirty="0" smtClean="0">
                <a:solidFill>
                  <a:prstClr val="black"/>
                </a:solidFill>
                <a:hlinkClick r:id="rId2"/>
              </a:rPr>
              <a:t>http</a:t>
            </a:r>
            <a:r>
              <a:rPr lang="en-US" sz="1400" dirty="0">
                <a:solidFill>
                  <a:prstClr val="black"/>
                </a:solidFill>
                <a:hlinkClick r:id="rId2"/>
              </a:rPr>
              <a:t>://</a:t>
            </a:r>
            <a:r>
              <a:rPr lang="en-US" sz="1400" dirty="0" smtClean="0">
                <a:solidFill>
                  <a:prstClr val="black"/>
                </a:solidFill>
                <a:hlinkClick r:id="rId2"/>
              </a:rPr>
              <a:t>support.microsoft.com/kb/978430</a:t>
            </a:r>
            <a:r>
              <a:rPr lang="en-US" sz="1400" dirty="0" smtClean="0">
                <a:solidFill>
                  <a:prstClr val="black"/>
                </a:solidFill>
              </a:rPr>
              <a:t> </a:t>
            </a:r>
            <a:endParaRPr lang="en-US" sz="1400" dirty="0">
              <a:solidFill>
                <a:prstClr val="black"/>
              </a:solidFill>
            </a:endParaRPr>
          </a:p>
        </p:txBody>
      </p:sp>
      <p:sp>
        <p:nvSpPr>
          <p:cNvPr id="38" name="37 CuadroTexto"/>
          <p:cNvSpPr txBox="1"/>
          <p:nvPr/>
        </p:nvSpPr>
        <p:spPr>
          <a:xfrm>
            <a:off x="0" y="1876988"/>
            <a:ext cx="9144000" cy="307777"/>
          </a:xfrm>
          <a:prstGeom prst="rect">
            <a:avLst/>
          </a:prstGeom>
          <a:noFill/>
        </p:spPr>
        <p:txBody>
          <a:bodyPr wrap="square" rtlCol="0">
            <a:spAutoFit/>
          </a:bodyPr>
          <a:lstStyle/>
          <a:p>
            <a:r>
              <a:rPr lang="en-US" sz="1400" b="1" dirty="0" smtClean="0">
                <a:solidFill>
                  <a:prstClr val="black"/>
                </a:solidFill>
              </a:rPr>
              <a:t>How it works?</a:t>
            </a:r>
            <a:endParaRPr lang="en-US" sz="1400" b="1" dirty="0">
              <a:solidFill>
                <a:prstClr val="black"/>
              </a:solidFill>
            </a:endParaRPr>
          </a:p>
        </p:txBody>
      </p:sp>
      <p:grpSp>
        <p:nvGrpSpPr>
          <p:cNvPr id="8" name="7 Grupo"/>
          <p:cNvGrpSpPr/>
          <p:nvPr/>
        </p:nvGrpSpPr>
        <p:grpSpPr>
          <a:xfrm>
            <a:off x="9525" y="6574392"/>
            <a:ext cx="9134399" cy="277000"/>
            <a:chOff x="9525" y="6574392"/>
            <a:chExt cx="9134399" cy="277000"/>
          </a:xfrm>
        </p:grpSpPr>
        <p:sp>
          <p:nvSpPr>
            <p:cNvPr id="9" name="8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0" name="9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1" name="10 Grupo"/>
          <p:cNvGrpSpPr/>
          <p:nvPr/>
        </p:nvGrpSpPr>
        <p:grpSpPr>
          <a:xfrm>
            <a:off x="0" y="9525"/>
            <a:ext cx="9153525" cy="408388"/>
            <a:chOff x="0" y="9525"/>
            <a:chExt cx="9153525" cy="408388"/>
          </a:xfrm>
        </p:grpSpPr>
        <p:sp>
          <p:nvSpPr>
            <p:cNvPr id="12" name="11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What is the </a:t>
              </a:r>
              <a:r>
                <a:rPr lang="en-US" b="1" i="1" dirty="0" smtClean="0">
                  <a:solidFill>
                    <a:schemeClr val="bg1"/>
                  </a:solidFill>
                </a:rPr>
                <a:t>Ghost Cleanup Task</a:t>
              </a:r>
              <a:r>
                <a:rPr lang="en-US" b="1" dirty="0" smtClean="0">
                  <a:solidFill>
                    <a:schemeClr val="bg1"/>
                  </a:solidFill>
                </a:rPr>
                <a:t>?</a:t>
              </a:r>
              <a:endParaRPr lang="en-US" b="1" i="1" dirty="0">
                <a:solidFill>
                  <a:schemeClr val="bg1"/>
                </a:solidFill>
              </a:endParaRPr>
            </a:p>
          </p:txBody>
        </p:sp>
        <p:pic>
          <p:nvPicPr>
            <p:cNvPr id="13" name="12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13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 name="15 CuadroTexto"/>
          <p:cNvSpPr txBox="1"/>
          <p:nvPr/>
        </p:nvSpPr>
        <p:spPr>
          <a:xfrm>
            <a:off x="7543800" y="6019800"/>
            <a:ext cx="1600200" cy="369332"/>
          </a:xfrm>
          <a:prstGeom prst="rect">
            <a:avLst/>
          </a:prstGeom>
          <a:solidFill>
            <a:schemeClr val="accent3">
              <a:lumMod val="75000"/>
            </a:schemeClr>
          </a:solidFill>
        </p:spPr>
        <p:txBody>
          <a:bodyPr wrap="square" rtlCol="0">
            <a:spAutoFit/>
          </a:bodyPr>
          <a:lstStyle/>
          <a:p>
            <a:pPr algn="r"/>
            <a:r>
              <a:rPr lang="en-US" dirty="0" smtClean="0">
                <a:solidFill>
                  <a:prstClr val="white"/>
                </a:solidFill>
              </a:rPr>
              <a:t>Hands On </a:t>
            </a:r>
            <a:r>
              <a:rPr lang="en-US" dirty="0" smtClean="0">
                <a:solidFill>
                  <a:prstClr val="white"/>
                </a:solidFill>
                <a:sym typeface="Wingdings" pitchFamily="2" charset="2"/>
              </a:rPr>
              <a:t></a:t>
            </a:r>
            <a:endParaRPr lang="en-US" dirty="0">
              <a:solidFill>
                <a:prstClr val="white"/>
              </a:solidFill>
            </a:endParaRPr>
          </a:p>
        </p:txBody>
      </p:sp>
    </p:spTree>
    <p:extLst>
      <p:ext uri="{BB962C8B-B14F-4D97-AF65-F5344CB8AC3E}">
        <p14:creationId xmlns:p14="http://schemas.microsoft.com/office/powerpoint/2010/main" val="2383982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CuadroTexto"/>
          <p:cNvSpPr txBox="1"/>
          <p:nvPr/>
        </p:nvSpPr>
        <p:spPr>
          <a:xfrm>
            <a:off x="0" y="475595"/>
            <a:ext cx="9144000" cy="738664"/>
          </a:xfrm>
          <a:prstGeom prst="rect">
            <a:avLst/>
          </a:prstGeom>
          <a:noFill/>
        </p:spPr>
        <p:txBody>
          <a:bodyPr wrap="square" rtlCol="0">
            <a:spAutoFit/>
          </a:bodyPr>
          <a:lstStyle/>
          <a:p>
            <a:pPr marL="285750" indent="-285750">
              <a:buFont typeface="Wingdings" pitchFamily="2" charset="2"/>
              <a:buChar char="ü"/>
            </a:pPr>
            <a:r>
              <a:rPr lang="en-US" sz="1400" dirty="0">
                <a:solidFill>
                  <a:prstClr val="black"/>
                </a:solidFill>
              </a:rPr>
              <a:t>Trace flag </a:t>
            </a:r>
            <a:r>
              <a:rPr lang="en-US" sz="1400" dirty="0" smtClean="0">
                <a:solidFill>
                  <a:prstClr val="black"/>
                </a:solidFill>
              </a:rPr>
              <a:t>661 disables the ghost cleanup </a:t>
            </a:r>
            <a:r>
              <a:rPr lang="en-US" sz="1400" dirty="0">
                <a:solidFill>
                  <a:prstClr val="black"/>
                </a:solidFill>
              </a:rPr>
              <a:t>task.  When this </a:t>
            </a:r>
            <a:r>
              <a:rPr lang="en-US" sz="1400" dirty="0" smtClean="0">
                <a:solidFill>
                  <a:prstClr val="black"/>
                </a:solidFill>
              </a:rPr>
              <a:t>flag </a:t>
            </a:r>
            <a:r>
              <a:rPr lang="en-US" sz="1400" dirty="0">
                <a:solidFill>
                  <a:prstClr val="black"/>
                </a:solidFill>
              </a:rPr>
              <a:t>is </a:t>
            </a:r>
            <a:r>
              <a:rPr lang="en-US" sz="1400" dirty="0" smtClean="0">
                <a:solidFill>
                  <a:prstClr val="black"/>
                </a:solidFill>
              </a:rPr>
              <a:t>on the Ghost </a:t>
            </a:r>
            <a:r>
              <a:rPr lang="en-US" sz="1400" dirty="0">
                <a:solidFill>
                  <a:prstClr val="black"/>
                </a:solidFill>
              </a:rPr>
              <a:t>cleanup task will not run. </a:t>
            </a:r>
          </a:p>
          <a:p>
            <a:pPr marL="285750" indent="-285750">
              <a:buFont typeface="Wingdings" pitchFamily="2" charset="2"/>
              <a:buChar char="ü"/>
            </a:pPr>
            <a:r>
              <a:rPr lang="en-US" sz="1400" dirty="0">
                <a:solidFill>
                  <a:prstClr val="black"/>
                </a:solidFill>
              </a:rPr>
              <a:t>Trace </a:t>
            </a:r>
            <a:r>
              <a:rPr lang="en-US" sz="1400" dirty="0" smtClean="0">
                <a:solidFill>
                  <a:prstClr val="black"/>
                </a:solidFill>
              </a:rPr>
              <a:t>flag 662 </a:t>
            </a:r>
            <a:r>
              <a:rPr lang="en-US" sz="1400" dirty="0">
                <a:solidFill>
                  <a:prstClr val="black"/>
                </a:solidFill>
              </a:rPr>
              <a:t>along with 3605 </a:t>
            </a:r>
            <a:r>
              <a:rPr lang="en-US" sz="1400" dirty="0" smtClean="0">
                <a:solidFill>
                  <a:prstClr val="black"/>
                </a:solidFill>
              </a:rPr>
              <a:t>redirects the </a:t>
            </a:r>
            <a:r>
              <a:rPr lang="en-US" sz="1400" dirty="0">
                <a:solidFill>
                  <a:prstClr val="black"/>
                </a:solidFill>
              </a:rPr>
              <a:t>output of </a:t>
            </a:r>
            <a:r>
              <a:rPr lang="en-US" sz="1400" dirty="0" smtClean="0">
                <a:solidFill>
                  <a:prstClr val="black"/>
                </a:solidFill>
              </a:rPr>
              <a:t>the cleanup </a:t>
            </a:r>
            <a:r>
              <a:rPr lang="en-US" sz="1400" dirty="0">
                <a:solidFill>
                  <a:prstClr val="black"/>
                </a:solidFill>
              </a:rPr>
              <a:t>task to SQL Server error log </a:t>
            </a:r>
            <a:endParaRPr lang="en-US" sz="1400" dirty="0" smtClean="0">
              <a:solidFill>
                <a:prstClr val="black"/>
              </a:solidFill>
            </a:endParaRPr>
          </a:p>
          <a:p>
            <a:pPr marL="285750" indent="-285750">
              <a:buFont typeface="Wingdings" pitchFamily="2" charset="2"/>
              <a:buChar char="ü"/>
            </a:pPr>
            <a:r>
              <a:rPr lang="en-US" sz="1400" dirty="0" smtClean="0">
                <a:solidFill>
                  <a:prstClr val="black"/>
                </a:solidFill>
              </a:rPr>
              <a:t>Monitor: SQL Profiler </a:t>
            </a:r>
            <a:r>
              <a:rPr lang="en-US" sz="1400" dirty="0" smtClean="0">
                <a:solidFill>
                  <a:prstClr val="black"/>
                </a:solidFill>
                <a:sym typeface="Wingdings" pitchFamily="2" charset="2"/>
              </a:rPr>
              <a:t> </a:t>
            </a:r>
            <a:r>
              <a:rPr lang="en-US" sz="1400" dirty="0" smtClean="0">
                <a:solidFill>
                  <a:prstClr val="black"/>
                </a:solidFill>
              </a:rPr>
              <a:t>select SQL </a:t>
            </a:r>
            <a:r>
              <a:rPr lang="en-US" sz="1400" dirty="0">
                <a:solidFill>
                  <a:prstClr val="black"/>
                </a:solidFill>
              </a:rPr>
              <a:t>Transaction </a:t>
            </a:r>
            <a:r>
              <a:rPr lang="en-US" sz="1400" dirty="0" smtClean="0">
                <a:solidFill>
                  <a:prstClr val="black"/>
                </a:solidFill>
                <a:sym typeface="Wingdings" pitchFamily="2" charset="2"/>
              </a:rPr>
              <a:t></a:t>
            </a:r>
            <a:r>
              <a:rPr lang="en-US" sz="1400" dirty="0" smtClean="0">
                <a:solidFill>
                  <a:prstClr val="black"/>
                </a:solidFill>
              </a:rPr>
              <a:t> </a:t>
            </a:r>
            <a:r>
              <a:rPr lang="en-US" sz="1400" dirty="0">
                <a:solidFill>
                  <a:prstClr val="black"/>
                </a:solidFill>
              </a:rPr>
              <a:t>filter by </a:t>
            </a:r>
            <a:r>
              <a:rPr lang="en-US" sz="1400" dirty="0" smtClean="0">
                <a:solidFill>
                  <a:prstClr val="black"/>
                </a:solidFill>
              </a:rPr>
              <a:t>Object Name </a:t>
            </a:r>
            <a:r>
              <a:rPr lang="en-US" sz="1400" dirty="0">
                <a:solidFill>
                  <a:prstClr val="black"/>
                </a:solidFill>
              </a:rPr>
              <a:t>like </a:t>
            </a:r>
            <a:r>
              <a:rPr lang="en-US" sz="1400" dirty="0" smtClean="0">
                <a:solidFill>
                  <a:prstClr val="black"/>
                </a:solidFill>
              </a:rPr>
              <a:t>“</a:t>
            </a:r>
            <a:r>
              <a:rPr lang="en-US" sz="1400" dirty="0" err="1">
                <a:solidFill>
                  <a:prstClr val="black"/>
                </a:solidFill>
              </a:rPr>
              <a:t>GhostCleanupTask</a:t>
            </a:r>
            <a:r>
              <a:rPr lang="en-US" sz="1400" dirty="0" smtClean="0">
                <a:solidFill>
                  <a:prstClr val="black"/>
                </a:solidFill>
              </a:rPr>
              <a: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22" y="2009564"/>
            <a:ext cx="8001000" cy="4575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535" y="1254233"/>
            <a:ext cx="3481387" cy="755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1363922" y="2771565"/>
            <a:ext cx="1600200" cy="3657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7" name="6 Grupo"/>
          <p:cNvGrpSpPr/>
          <p:nvPr/>
        </p:nvGrpSpPr>
        <p:grpSpPr>
          <a:xfrm>
            <a:off x="0" y="9525"/>
            <a:ext cx="9153525" cy="408388"/>
            <a:chOff x="0" y="9525"/>
            <a:chExt cx="9153525" cy="408388"/>
          </a:xfrm>
        </p:grpSpPr>
        <p:sp>
          <p:nvSpPr>
            <p:cNvPr id="8" name="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What is the </a:t>
              </a:r>
              <a:r>
                <a:rPr lang="en-US" b="1" i="1" dirty="0" smtClean="0">
                  <a:solidFill>
                    <a:schemeClr val="bg1"/>
                  </a:solidFill>
                </a:rPr>
                <a:t>Ghost Cleanup Task</a:t>
              </a:r>
              <a:r>
                <a:rPr lang="en-US" b="1" dirty="0" smtClean="0">
                  <a:solidFill>
                    <a:schemeClr val="bg1"/>
                  </a:solidFill>
                </a:rPr>
                <a:t>?</a:t>
              </a:r>
              <a:endParaRPr lang="en-US" b="1" i="1" dirty="0">
                <a:solidFill>
                  <a:schemeClr val="bg1"/>
                </a:solidFill>
              </a:endParaRPr>
            </a:p>
          </p:txBody>
        </p:sp>
        <p:pic>
          <p:nvPicPr>
            <p:cNvPr id="9" name="8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9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10 Grupo"/>
          <p:cNvGrpSpPr/>
          <p:nvPr/>
        </p:nvGrpSpPr>
        <p:grpSpPr>
          <a:xfrm>
            <a:off x="9525" y="6574392"/>
            <a:ext cx="9134399" cy="277000"/>
            <a:chOff x="9525" y="6574392"/>
            <a:chExt cx="9134399" cy="277000"/>
          </a:xfrm>
        </p:grpSpPr>
        <p:sp>
          <p:nvSpPr>
            <p:cNvPr id="12" name="1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3" name="1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58695172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85800"/>
            <a:ext cx="696486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p:cNvSpPr txBox="1"/>
          <p:nvPr/>
        </p:nvSpPr>
        <p:spPr>
          <a:xfrm>
            <a:off x="7151049" y="2142722"/>
            <a:ext cx="1547501" cy="461665"/>
          </a:xfrm>
          <a:prstGeom prst="rect">
            <a:avLst/>
          </a:prstGeom>
          <a:noFill/>
        </p:spPr>
        <p:txBody>
          <a:bodyPr wrap="square" rtlCol="0">
            <a:spAutoFit/>
          </a:bodyPr>
          <a:lstStyle/>
          <a:p>
            <a:r>
              <a:rPr lang="en-US" sz="1200" dirty="0" smtClean="0">
                <a:solidFill>
                  <a:prstClr val="black"/>
                </a:solidFill>
              </a:rPr>
              <a:t>The </a:t>
            </a:r>
            <a:r>
              <a:rPr lang="en-US" sz="1200" dirty="0">
                <a:solidFill>
                  <a:prstClr val="black"/>
                </a:solidFill>
              </a:rPr>
              <a:t>10 ghost pages </a:t>
            </a:r>
            <a:endParaRPr lang="en-US" sz="1200" dirty="0" smtClean="0">
              <a:solidFill>
                <a:prstClr val="black"/>
              </a:solidFill>
            </a:endParaRPr>
          </a:p>
          <a:p>
            <a:r>
              <a:rPr lang="en-US" sz="1200" dirty="0" smtClean="0">
                <a:solidFill>
                  <a:prstClr val="black"/>
                </a:solidFill>
              </a:rPr>
              <a:t>that were cleaned up</a:t>
            </a:r>
            <a:endParaRPr lang="en-US" sz="1200" dirty="0">
              <a:solidFill>
                <a:prstClr val="black"/>
              </a:solidFill>
            </a:endParaRPr>
          </a:p>
        </p:txBody>
      </p:sp>
      <p:cxnSp>
        <p:nvCxnSpPr>
          <p:cNvPr id="3" name="2 Conector recto"/>
          <p:cNvCxnSpPr/>
          <p:nvPr/>
        </p:nvCxnSpPr>
        <p:spPr>
          <a:xfrm>
            <a:off x="5410200" y="1752600"/>
            <a:ext cx="1676400" cy="0"/>
          </a:xfrm>
          <a:prstGeom prst="line">
            <a:avLst/>
          </a:prstGeom>
          <a:ln w="254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a:off x="5410200" y="3276600"/>
            <a:ext cx="1676400" cy="0"/>
          </a:xfrm>
          <a:prstGeom prst="line">
            <a:avLst/>
          </a:prstGeom>
          <a:ln w="25400">
            <a:solidFill>
              <a:srgbClr val="FF0000"/>
            </a:solidFill>
            <a:headEnd type="triangle"/>
          </a:ln>
        </p:spPr>
        <p:style>
          <a:lnRef idx="1">
            <a:schemeClr val="accent1"/>
          </a:lnRef>
          <a:fillRef idx="0">
            <a:schemeClr val="accent1"/>
          </a:fillRef>
          <a:effectRef idx="0">
            <a:schemeClr val="accent1"/>
          </a:effectRef>
          <a:fontRef idx="minor">
            <a:schemeClr val="tx1"/>
          </a:fontRef>
        </p:style>
      </p:cxnSp>
      <p:cxnSp>
        <p:nvCxnSpPr>
          <p:cNvPr id="8" name="7 Conector recto"/>
          <p:cNvCxnSpPr/>
          <p:nvPr/>
        </p:nvCxnSpPr>
        <p:spPr>
          <a:xfrm>
            <a:off x="7086600" y="1752600"/>
            <a:ext cx="0" cy="152400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0" name="9 Grupo"/>
          <p:cNvGrpSpPr/>
          <p:nvPr/>
        </p:nvGrpSpPr>
        <p:grpSpPr>
          <a:xfrm>
            <a:off x="0" y="9525"/>
            <a:ext cx="9153525" cy="408388"/>
            <a:chOff x="0" y="9525"/>
            <a:chExt cx="9153525" cy="408388"/>
          </a:xfrm>
        </p:grpSpPr>
        <p:sp>
          <p:nvSpPr>
            <p:cNvPr id="11" name="10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What is the </a:t>
              </a:r>
              <a:r>
                <a:rPr lang="en-US" b="1" i="1" dirty="0" smtClean="0">
                  <a:solidFill>
                    <a:schemeClr val="bg1"/>
                  </a:solidFill>
                </a:rPr>
                <a:t>Ghost Cleanup Task</a:t>
              </a:r>
              <a:r>
                <a:rPr lang="en-US" b="1" dirty="0" smtClean="0">
                  <a:solidFill>
                    <a:schemeClr val="bg1"/>
                  </a:solidFill>
                </a:rPr>
                <a:t>?</a:t>
              </a:r>
              <a:endParaRPr lang="en-US" b="1" i="1" dirty="0">
                <a:solidFill>
                  <a:schemeClr val="bg1"/>
                </a:solidFill>
              </a:endParaRPr>
            </a:p>
          </p:txBody>
        </p:sp>
        <p:pic>
          <p:nvPicPr>
            <p:cNvPr id="12" name="11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12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 name="13 Grupo"/>
          <p:cNvGrpSpPr/>
          <p:nvPr/>
        </p:nvGrpSpPr>
        <p:grpSpPr>
          <a:xfrm>
            <a:off x="9525" y="6574392"/>
            <a:ext cx="9134399" cy="277000"/>
            <a:chOff x="9525" y="6574392"/>
            <a:chExt cx="9134399" cy="277000"/>
          </a:xfrm>
        </p:grpSpPr>
        <p:sp>
          <p:nvSpPr>
            <p:cNvPr id="15" name="14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6" name="15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82302055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44569" y="4528248"/>
            <a:ext cx="914400" cy="276999"/>
          </a:xfrm>
          <a:prstGeom prst="rect">
            <a:avLst/>
          </a:prstGeom>
          <a:noFill/>
        </p:spPr>
        <p:txBody>
          <a:bodyPr wrap="square" rtlCol="0">
            <a:spAutoFit/>
          </a:bodyPr>
          <a:lstStyle/>
          <a:p>
            <a:r>
              <a:rPr lang="en-US" sz="1200" dirty="0" smtClean="0">
                <a:solidFill>
                  <a:prstClr val="black"/>
                </a:solidFill>
              </a:rPr>
              <a:t>Tag bytes</a:t>
            </a:r>
            <a:endParaRPr lang="en-US" sz="1200" i="1" dirty="0">
              <a:solidFill>
                <a:prstClr val="black"/>
              </a:solidFill>
            </a:endParaRPr>
          </a:p>
        </p:txBody>
      </p:sp>
      <p:sp>
        <p:nvSpPr>
          <p:cNvPr id="15" name="14 CuadroTexto"/>
          <p:cNvSpPr txBox="1"/>
          <p:nvPr/>
        </p:nvSpPr>
        <p:spPr>
          <a:xfrm>
            <a:off x="502600" y="3124200"/>
            <a:ext cx="1433200" cy="276999"/>
          </a:xfrm>
          <a:prstGeom prst="rect">
            <a:avLst/>
          </a:prstGeom>
          <a:noFill/>
        </p:spPr>
        <p:txBody>
          <a:bodyPr wrap="square" rtlCol="0">
            <a:spAutoFit/>
          </a:bodyPr>
          <a:lstStyle/>
          <a:p>
            <a:r>
              <a:rPr lang="en-US" sz="1200" dirty="0" smtClean="0">
                <a:solidFill>
                  <a:prstClr val="black"/>
                </a:solidFill>
              </a:rPr>
              <a:t>Null Bitmap Offset</a:t>
            </a:r>
            <a:endParaRPr lang="en-US" sz="1200" i="1" dirty="0">
              <a:solidFill>
                <a:prstClr val="black"/>
              </a:solidFill>
            </a:endParaRPr>
          </a:p>
        </p:txBody>
      </p:sp>
      <p:sp>
        <p:nvSpPr>
          <p:cNvPr id="16" name="15 CuadroTexto"/>
          <p:cNvSpPr txBox="1"/>
          <p:nvPr/>
        </p:nvSpPr>
        <p:spPr>
          <a:xfrm>
            <a:off x="1454210" y="4528248"/>
            <a:ext cx="2247542" cy="461665"/>
          </a:xfrm>
          <a:prstGeom prst="rect">
            <a:avLst/>
          </a:prstGeom>
          <a:noFill/>
        </p:spPr>
        <p:txBody>
          <a:bodyPr wrap="square" rtlCol="0">
            <a:spAutoFit/>
          </a:bodyPr>
          <a:lstStyle/>
          <a:p>
            <a:r>
              <a:rPr lang="en-US" sz="1200" dirty="0">
                <a:solidFill>
                  <a:prstClr val="black"/>
                </a:solidFill>
              </a:rPr>
              <a:t>Fixed length portion of the record</a:t>
            </a:r>
            <a:endParaRPr lang="en-US" sz="1200" i="1" dirty="0">
              <a:solidFill>
                <a:prstClr val="black"/>
              </a:solidFill>
            </a:endParaRPr>
          </a:p>
        </p:txBody>
      </p:sp>
      <p:sp>
        <p:nvSpPr>
          <p:cNvPr id="20" name="19 CuadroTexto"/>
          <p:cNvSpPr txBox="1"/>
          <p:nvPr/>
        </p:nvSpPr>
        <p:spPr>
          <a:xfrm>
            <a:off x="3564307" y="3297354"/>
            <a:ext cx="979207" cy="276999"/>
          </a:xfrm>
          <a:prstGeom prst="rect">
            <a:avLst/>
          </a:prstGeom>
          <a:noFill/>
        </p:spPr>
        <p:txBody>
          <a:bodyPr wrap="square" rtlCol="0">
            <a:spAutoFit/>
          </a:bodyPr>
          <a:lstStyle/>
          <a:p>
            <a:r>
              <a:rPr lang="en-US" sz="1200" dirty="0" smtClean="0">
                <a:solidFill>
                  <a:prstClr val="black"/>
                </a:solidFill>
              </a:rPr>
              <a:t>Null Bitmap</a:t>
            </a:r>
            <a:endParaRPr lang="en-US" sz="1200" i="1" dirty="0">
              <a:solidFill>
                <a:prstClr val="black"/>
              </a:solidFill>
            </a:endParaRPr>
          </a:p>
        </p:txBody>
      </p:sp>
      <p:sp>
        <p:nvSpPr>
          <p:cNvPr id="21" name="20 CuadroTexto"/>
          <p:cNvSpPr txBox="1"/>
          <p:nvPr/>
        </p:nvSpPr>
        <p:spPr>
          <a:xfrm>
            <a:off x="4267200" y="4528248"/>
            <a:ext cx="1480204" cy="461665"/>
          </a:xfrm>
          <a:prstGeom prst="rect">
            <a:avLst/>
          </a:prstGeom>
          <a:noFill/>
        </p:spPr>
        <p:txBody>
          <a:bodyPr wrap="square" rtlCol="0">
            <a:spAutoFit/>
          </a:bodyPr>
          <a:lstStyle/>
          <a:p>
            <a:r>
              <a:rPr lang="en-US" sz="1200" dirty="0" smtClean="0">
                <a:solidFill>
                  <a:prstClr val="black"/>
                </a:solidFill>
              </a:rPr>
              <a:t>Variable length </a:t>
            </a:r>
          </a:p>
          <a:p>
            <a:r>
              <a:rPr lang="en-US" sz="1200" dirty="0" smtClean="0">
                <a:solidFill>
                  <a:prstClr val="black"/>
                </a:solidFill>
              </a:rPr>
              <a:t>Column Offset Array</a:t>
            </a:r>
            <a:endParaRPr lang="en-US" sz="1200" i="1" dirty="0">
              <a:solidFill>
                <a:prstClr val="black"/>
              </a:solidFill>
            </a:endParaRPr>
          </a:p>
        </p:txBody>
      </p:sp>
      <p:sp>
        <p:nvSpPr>
          <p:cNvPr id="2" name="1 Rectángulo"/>
          <p:cNvSpPr/>
          <p:nvPr/>
        </p:nvSpPr>
        <p:spPr>
          <a:xfrm>
            <a:off x="152400" y="3897709"/>
            <a:ext cx="8839200" cy="4572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7" name="6 Conector recto"/>
          <p:cNvCxnSpPr/>
          <p:nvPr/>
        </p:nvCxnSpPr>
        <p:spPr>
          <a:xfrm>
            <a:off x="457200" y="3897709"/>
            <a:ext cx="0" cy="4572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a:off x="779092" y="3897709"/>
            <a:ext cx="0" cy="4572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10 CuadroTexto"/>
          <p:cNvSpPr txBox="1"/>
          <p:nvPr/>
        </p:nvSpPr>
        <p:spPr>
          <a:xfrm>
            <a:off x="159520" y="3972420"/>
            <a:ext cx="272042" cy="307777"/>
          </a:xfrm>
          <a:prstGeom prst="rect">
            <a:avLst/>
          </a:prstGeom>
          <a:noFill/>
        </p:spPr>
        <p:txBody>
          <a:bodyPr wrap="square" rtlCol="0">
            <a:spAutoFit/>
          </a:bodyPr>
          <a:lstStyle/>
          <a:p>
            <a:r>
              <a:rPr lang="en-US" sz="1400" b="1" dirty="0" smtClean="0">
                <a:solidFill>
                  <a:prstClr val="black"/>
                </a:solidFill>
                <a:effectLst>
                  <a:outerShdw blurRad="38100" dist="38100" dir="2700000" algn="tl">
                    <a:srgbClr val="000000">
                      <a:alpha val="43137"/>
                    </a:srgbClr>
                  </a:outerShdw>
                </a:effectLst>
              </a:rPr>
              <a:t>A</a:t>
            </a:r>
            <a:endParaRPr lang="en-US" sz="1400" b="1" i="1" dirty="0">
              <a:solidFill>
                <a:prstClr val="black"/>
              </a:solidFill>
              <a:effectLst>
                <a:outerShdw blurRad="38100" dist="38100" dir="2700000" algn="tl">
                  <a:srgbClr val="000000">
                    <a:alpha val="43137"/>
                  </a:srgbClr>
                </a:outerShdw>
              </a:effectLst>
            </a:endParaRPr>
          </a:p>
        </p:txBody>
      </p:sp>
      <p:sp>
        <p:nvSpPr>
          <p:cNvPr id="12" name="11 CuadroTexto"/>
          <p:cNvSpPr txBox="1"/>
          <p:nvPr/>
        </p:nvSpPr>
        <p:spPr>
          <a:xfrm>
            <a:off x="465748" y="3972420"/>
            <a:ext cx="272042" cy="307777"/>
          </a:xfrm>
          <a:prstGeom prst="rect">
            <a:avLst/>
          </a:prstGeom>
          <a:noFill/>
        </p:spPr>
        <p:txBody>
          <a:bodyPr wrap="square" rtlCol="0">
            <a:spAutoFit/>
          </a:bodyPr>
          <a:lstStyle/>
          <a:p>
            <a:r>
              <a:rPr lang="en-US" sz="1400" b="1" dirty="0">
                <a:solidFill>
                  <a:prstClr val="black"/>
                </a:solidFill>
                <a:effectLst>
                  <a:outerShdw blurRad="38100" dist="38100" dir="2700000" algn="tl">
                    <a:srgbClr val="000000">
                      <a:alpha val="43137"/>
                    </a:srgbClr>
                  </a:outerShdw>
                </a:effectLst>
              </a:rPr>
              <a:t>B</a:t>
            </a:r>
            <a:endParaRPr lang="en-US" sz="1400" b="1" i="1" dirty="0">
              <a:solidFill>
                <a:prstClr val="black"/>
              </a:solidFill>
              <a:effectLst>
                <a:outerShdw blurRad="38100" dist="38100" dir="2700000" algn="tl">
                  <a:srgbClr val="000000">
                    <a:alpha val="43137"/>
                  </a:srgbClr>
                </a:outerShdw>
              </a:effectLst>
            </a:endParaRPr>
          </a:p>
        </p:txBody>
      </p:sp>
      <p:cxnSp>
        <p:nvCxnSpPr>
          <p:cNvPr id="13" name="12 Conector recto"/>
          <p:cNvCxnSpPr/>
          <p:nvPr/>
        </p:nvCxnSpPr>
        <p:spPr>
          <a:xfrm>
            <a:off x="1084607" y="3897709"/>
            <a:ext cx="0" cy="4572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13 Conector recto"/>
          <p:cNvCxnSpPr/>
          <p:nvPr/>
        </p:nvCxnSpPr>
        <p:spPr>
          <a:xfrm>
            <a:off x="1371600" y="3897709"/>
            <a:ext cx="0" cy="4572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16 Conector recto"/>
          <p:cNvCxnSpPr/>
          <p:nvPr/>
        </p:nvCxnSpPr>
        <p:spPr>
          <a:xfrm>
            <a:off x="3668993" y="3890815"/>
            <a:ext cx="0" cy="4572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18 Conector recto"/>
          <p:cNvCxnSpPr/>
          <p:nvPr/>
        </p:nvCxnSpPr>
        <p:spPr>
          <a:xfrm>
            <a:off x="4267200" y="3897709"/>
            <a:ext cx="0" cy="4572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21 Conector recto"/>
          <p:cNvCxnSpPr/>
          <p:nvPr/>
        </p:nvCxnSpPr>
        <p:spPr>
          <a:xfrm>
            <a:off x="4572000" y="3890815"/>
            <a:ext cx="0" cy="4572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22 Conector recto"/>
          <p:cNvCxnSpPr/>
          <p:nvPr/>
        </p:nvCxnSpPr>
        <p:spPr>
          <a:xfrm>
            <a:off x="4876800" y="3897709"/>
            <a:ext cx="0" cy="4572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23 Conector recto"/>
          <p:cNvCxnSpPr/>
          <p:nvPr/>
        </p:nvCxnSpPr>
        <p:spPr>
          <a:xfrm>
            <a:off x="5181600" y="3890815"/>
            <a:ext cx="0" cy="4572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24 Conector recto"/>
          <p:cNvCxnSpPr/>
          <p:nvPr/>
        </p:nvCxnSpPr>
        <p:spPr>
          <a:xfrm>
            <a:off x="5486400" y="3890815"/>
            <a:ext cx="0" cy="4572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25 CuadroTexto"/>
          <p:cNvSpPr txBox="1"/>
          <p:nvPr/>
        </p:nvSpPr>
        <p:spPr>
          <a:xfrm>
            <a:off x="6858000" y="4528248"/>
            <a:ext cx="1752600" cy="276999"/>
          </a:xfrm>
          <a:prstGeom prst="rect">
            <a:avLst/>
          </a:prstGeom>
          <a:noFill/>
        </p:spPr>
        <p:txBody>
          <a:bodyPr wrap="square" rtlCol="0">
            <a:spAutoFit/>
          </a:bodyPr>
          <a:lstStyle/>
          <a:p>
            <a:r>
              <a:rPr lang="en-US" sz="1200" dirty="0" smtClean="0">
                <a:solidFill>
                  <a:prstClr val="black"/>
                </a:solidFill>
              </a:rPr>
              <a:t>Variable length Columns</a:t>
            </a:r>
            <a:endParaRPr lang="en-US" sz="1200" i="1" dirty="0">
              <a:solidFill>
                <a:prstClr val="black"/>
              </a:solidFill>
            </a:endParaRPr>
          </a:p>
        </p:txBody>
      </p:sp>
      <p:cxnSp>
        <p:nvCxnSpPr>
          <p:cNvPr id="27" name="26 Conector recto de flecha"/>
          <p:cNvCxnSpPr/>
          <p:nvPr/>
        </p:nvCxnSpPr>
        <p:spPr>
          <a:xfrm flipH="1">
            <a:off x="905142" y="3435853"/>
            <a:ext cx="179465" cy="4618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29 Conector recto de flecha"/>
          <p:cNvCxnSpPr/>
          <p:nvPr/>
        </p:nvCxnSpPr>
        <p:spPr>
          <a:xfrm>
            <a:off x="1084607" y="3435853"/>
            <a:ext cx="134593" cy="4618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35 Conector recto de flecha"/>
          <p:cNvCxnSpPr/>
          <p:nvPr/>
        </p:nvCxnSpPr>
        <p:spPr>
          <a:xfrm>
            <a:off x="3962400" y="3574353"/>
            <a:ext cx="0" cy="3164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36 Conector recto"/>
          <p:cNvCxnSpPr/>
          <p:nvPr/>
        </p:nvCxnSpPr>
        <p:spPr>
          <a:xfrm>
            <a:off x="6248400" y="3910498"/>
            <a:ext cx="0" cy="4572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37 Conector recto"/>
          <p:cNvCxnSpPr/>
          <p:nvPr/>
        </p:nvCxnSpPr>
        <p:spPr>
          <a:xfrm>
            <a:off x="6934200" y="3913090"/>
            <a:ext cx="0" cy="4572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38 Conector recto"/>
          <p:cNvCxnSpPr/>
          <p:nvPr/>
        </p:nvCxnSpPr>
        <p:spPr>
          <a:xfrm>
            <a:off x="7543800" y="3897709"/>
            <a:ext cx="0" cy="4572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39 Conector recto"/>
          <p:cNvCxnSpPr/>
          <p:nvPr/>
        </p:nvCxnSpPr>
        <p:spPr>
          <a:xfrm>
            <a:off x="8229600" y="3913090"/>
            <a:ext cx="0" cy="4572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40 Flecha curvada hacia abajo"/>
          <p:cNvSpPr/>
          <p:nvPr/>
        </p:nvSpPr>
        <p:spPr>
          <a:xfrm>
            <a:off x="4343400" y="3574353"/>
            <a:ext cx="1905000" cy="31646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black"/>
              </a:solidFill>
            </a:endParaRPr>
          </a:p>
        </p:txBody>
      </p:sp>
      <p:sp>
        <p:nvSpPr>
          <p:cNvPr id="42" name="41 Flecha curvada hacia abajo"/>
          <p:cNvSpPr/>
          <p:nvPr/>
        </p:nvSpPr>
        <p:spPr>
          <a:xfrm>
            <a:off x="4724400" y="3574353"/>
            <a:ext cx="2209800" cy="31646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black"/>
              </a:solidFill>
            </a:endParaRPr>
          </a:p>
        </p:txBody>
      </p:sp>
      <p:sp>
        <p:nvSpPr>
          <p:cNvPr id="43" name="42 Flecha curvada hacia abajo"/>
          <p:cNvSpPr/>
          <p:nvPr/>
        </p:nvSpPr>
        <p:spPr>
          <a:xfrm>
            <a:off x="5007302" y="3574353"/>
            <a:ext cx="2536498" cy="31646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black"/>
              </a:solidFill>
            </a:endParaRPr>
          </a:p>
        </p:txBody>
      </p:sp>
      <p:sp>
        <p:nvSpPr>
          <p:cNvPr id="44" name="43 Flecha curvada hacia abajo"/>
          <p:cNvSpPr/>
          <p:nvPr/>
        </p:nvSpPr>
        <p:spPr>
          <a:xfrm>
            <a:off x="5295900" y="3401199"/>
            <a:ext cx="3009900" cy="48961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black"/>
              </a:solidFill>
            </a:endParaRPr>
          </a:p>
        </p:txBody>
      </p:sp>
      <p:sp>
        <p:nvSpPr>
          <p:cNvPr id="45" name="44 CuadroTexto"/>
          <p:cNvSpPr txBox="1"/>
          <p:nvPr/>
        </p:nvSpPr>
        <p:spPr>
          <a:xfrm>
            <a:off x="4267200" y="5066858"/>
            <a:ext cx="1892272" cy="461665"/>
          </a:xfrm>
          <a:prstGeom prst="rect">
            <a:avLst/>
          </a:prstGeom>
          <a:noFill/>
        </p:spPr>
        <p:txBody>
          <a:bodyPr wrap="square" rtlCol="0">
            <a:spAutoFit/>
          </a:bodyPr>
          <a:lstStyle/>
          <a:p>
            <a:r>
              <a:rPr lang="en-US" sz="1200" i="1" dirty="0" smtClean="0">
                <a:solidFill>
                  <a:prstClr val="black"/>
                </a:solidFill>
              </a:rPr>
              <a:t>(Pointer to the </a:t>
            </a:r>
            <a:r>
              <a:rPr lang="en-US" sz="1200" i="1" u="sng" dirty="0" smtClean="0">
                <a:solidFill>
                  <a:prstClr val="black"/>
                </a:solidFill>
              </a:rPr>
              <a:t>end</a:t>
            </a:r>
            <a:r>
              <a:rPr lang="en-US" sz="1200" i="1" dirty="0" smtClean="0">
                <a:solidFill>
                  <a:prstClr val="black"/>
                </a:solidFill>
              </a:rPr>
              <a:t> of each variable length column)</a:t>
            </a:r>
            <a:endParaRPr lang="en-US" sz="1200" i="1" dirty="0">
              <a:solidFill>
                <a:prstClr val="black"/>
              </a:solidFill>
            </a:endParaRPr>
          </a:p>
        </p:txBody>
      </p:sp>
      <p:sp>
        <p:nvSpPr>
          <p:cNvPr id="47" name="46 CuadroTexto"/>
          <p:cNvSpPr txBox="1"/>
          <p:nvPr/>
        </p:nvSpPr>
        <p:spPr>
          <a:xfrm>
            <a:off x="0" y="546318"/>
            <a:ext cx="9144000" cy="1815882"/>
          </a:xfrm>
          <a:prstGeom prst="rect">
            <a:avLst/>
          </a:prstGeom>
          <a:noFill/>
        </p:spPr>
        <p:txBody>
          <a:bodyPr wrap="square" rtlCol="0">
            <a:spAutoFit/>
          </a:bodyPr>
          <a:lstStyle/>
          <a:p>
            <a:r>
              <a:rPr lang="en-US" sz="1400" b="1" dirty="0">
                <a:solidFill>
                  <a:prstClr val="black"/>
                </a:solidFill>
              </a:rPr>
              <a:t>All records have the same structure, regardless of their type and </a:t>
            </a:r>
            <a:r>
              <a:rPr lang="en-US" sz="1400" b="1" dirty="0" smtClean="0">
                <a:solidFill>
                  <a:prstClr val="black"/>
                </a:solidFill>
              </a:rPr>
              <a:t>use.</a:t>
            </a:r>
          </a:p>
          <a:p>
            <a:endParaRPr lang="en-US" sz="1400" dirty="0" smtClean="0">
              <a:solidFill>
                <a:prstClr val="black"/>
              </a:solidFill>
            </a:endParaRPr>
          </a:p>
          <a:p>
            <a:r>
              <a:rPr lang="en-US" sz="1400" dirty="0">
                <a:solidFill>
                  <a:prstClr val="black"/>
                </a:solidFill>
              </a:rPr>
              <a:t>The record structure is as follows:</a:t>
            </a: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Record header  (4 bytes)</a:t>
            </a:r>
            <a:endParaRPr lang="en-US" sz="1400" dirty="0">
              <a:solidFill>
                <a:prstClr val="black"/>
              </a:solidFill>
            </a:endParaRPr>
          </a:p>
          <a:p>
            <a:pPr marL="285750" indent="-285750">
              <a:buFont typeface="Wingdings" pitchFamily="2" charset="2"/>
              <a:buChar char="Ø"/>
            </a:pPr>
            <a:r>
              <a:rPr lang="en-US" sz="1400" dirty="0" smtClean="0">
                <a:solidFill>
                  <a:prstClr val="black"/>
                </a:solidFill>
              </a:rPr>
              <a:t>Fixed </a:t>
            </a:r>
            <a:r>
              <a:rPr lang="en-US" sz="1400" dirty="0">
                <a:solidFill>
                  <a:prstClr val="black"/>
                </a:solidFill>
              </a:rPr>
              <a:t>length portion of the record</a:t>
            </a:r>
          </a:p>
          <a:p>
            <a:pPr marL="285750" indent="-285750">
              <a:buFont typeface="Wingdings" pitchFamily="2" charset="2"/>
              <a:buChar char="Ø"/>
            </a:pPr>
            <a:r>
              <a:rPr lang="en-US" sz="1400" dirty="0">
                <a:solidFill>
                  <a:prstClr val="black"/>
                </a:solidFill>
              </a:rPr>
              <a:t>NULL bitmap</a:t>
            </a:r>
          </a:p>
          <a:p>
            <a:pPr marL="285750" indent="-285750">
              <a:buFont typeface="Wingdings" pitchFamily="2" charset="2"/>
              <a:buChar char="Ø"/>
            </a:pPr>
            <a:r>
              <a:rPr lang="en-US" sz="1400" dirty="0" smtClean="0">
                <a:solidFill>
                  <a:prstClr val="black"/>
                </a:solidFill>
              </a:rPr>
              <a:t>Variable-length </a:t>
            </a:r>
            <a:r>
              <a:rPr lang="en-US" sz="1400" dirty="0">
                <a:solidFill>
                  <a:prstClr val="black"/>
                </a:solidFill>
              </a:rPr>
              <a:t>column offset array</a:t>
            </a:r>
          </a:p>
          <a:p>
            <a:pPr marL="285750" indent="-285750">
              <a:buFont typeface="Wingdings" pitchFamily="2" charset="2"/>
              <a:buChar char="Ø"/>
            </a:pPr>
            <a:r>
              <a:rPr lang="en-US" sz="1400" dirty="0" smtClean="0">
                <a:solidFill>
                  <a:prstClr val="black"/>
                </a:solidFill>
              </a:rPr>
              <a:t>Versioning tag</a:t>
            </a:r>
            <a:endParaRPr lang="en-US" sz="1400" dirty="0">
              <a:solidFill>
                <a:prstClr val="black"/>
              </a:solidFill>
            </a:endParaRPr>
          </a:p>
        </p:txBody>
      </p:sp>
      <p:grpSp>
        <p:nvGrpSpPr>
          <p:cNvPr id="35" name="34 Grupo"/>
          <p:cNvGrpSpPr/>
          <p:nvPr/>
        </p:nvGrpSpPr>
        <p:grpSpPr>
          <a:xfrm>
            <a:off x="9525" y="6574392"/>
            <a:ext cx="9134399" cy="277000"/>
            <a:chOff x="9525" y="6574392"/>
            <a:chExt cx="9134399" cy="277000"/>
          </a:xfrm>
        </p:grpSpPr>
        <p:sp>
          <p:nvSpPr>
            <p:cNvPr id="46" name="45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48" name="47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49" name="48 Grupo"/>
          <p:cNvGrpSpPr/>
          <p:nvPr/>
        </p:nvGrpSpPr>
        <p:grpSpPr>
          <a:xfrm>
            <a:off x="0" y="9525"/>
            <a:ext cx="9153525" cy="408388"/>
            <a:chOff x="0" y="9525"/>
            <a:chExt cx="9153525" cy="408388"/>
          </a:xfrm>
        </p:grpSpPr>
        <p:sp>
          <p:nvSpPr>
            <p:cNvPr id="50" name="49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Storage Internals  |  Record Structure</a:t>
              </a:r>
              <a:endParaRPr lang="en-US" b="1" i="1" dirty="0">
                <a:solidFill>
                  <a:schemeClr val="bg1"/>
                </a:solidFill>
              </a:endParaRPr>
            </a:p>
          </p:txBody>
        </p:sp>
        <p:pic>
          <p:nvPicPr>
            <p:cNvPr id="51" name="50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2" name="51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8404994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5 Grupo"/>
          <p:cNvGrpSpPr/>
          <p:nvPr/>
        </p:nvGrpSpPr>
        <p:grpSpPr>
          <a:xfrm>
            <a:off x="145321" y="1068556"/>
            <a:ext cx="8443601" cy="381000"/>
            <a:chOff x="166999" y="1213503"/>
            <a:chExt cx="8443601" cy="381000"/>
          </a:xfrm>
        </p:grpSpPr>
        <p:sp>
          <p:nvSpPr>
            <p:cNvPr id="5" name="4 Rectángulo"/>
            <p:cNvSpPr/>
            <p:nvPr/>
          </p:nvSpPr>
          <p:spPr>
            <a:xfrm>
              <a:off x="166999" y="1213503"/>
              <a:ext cx="381000" cy="381000"/>
            </a:xfrm>
            <a:prstGeom prst="rect">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9" name="18 Rectángulo"/>
            <p:cNvSpPr/>
            <p:nvPr/>
          </p:nvSpPr>
          <p:spPr>
            <a:xfrm>
              <a:off x="591346" y="1213503"/>
              <a:ext cx="381000" cy="381000"/>
            </a:xfrm>
            <a:prstGeom prst="rect">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0" name="19 Rectángulo"/>
            <p:cNvSpPr/>
            <p:nvPr/>
          </p:nvSpPr>
          <p:spPr>
            <a:xfrm>
              <a:off x="1015693" y="1213503"/>
              <a:ext cx="381000" cy="381000"/>
            </a:xfrm>
            <a:prstGeom prst="rect">
              <a:avLst/>
            </a:prstGeom>
            <a:solidFill>
              <a:schemeClr val="bg1">
                <a:lumMod val="6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1" name="20 Rectángulo"/>
            <p:cNvSpPr/>
            <p:nvPr/>
          </p:nvSpPr>
          <p:spPr>
            <a:xfrm>
              <a:off x="1440040" y="1213503"/>
              <a:ext cx="381000" cy="381000"/>
            </a:xfrm>
            <a:prstGeom prst="rect">
              <a:avLst/>
            </a:prstGeom>
            <a:solidFill>
              <a:schemeClr val="bg1">
                <a:lumMod val="6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2" name="21 Rectángulo"/>
            <p:cNvSpPr/>
            <p:nvPr/>
          </p:nvSpPr>
          <p:spPr>
            <a:xfrm>
              <a:off x="1864387" y="1213503"/>
              <a:ext cx="381000" cy="381000"/>
            </a:xfrm>
            <a:prstGeom prst="rect">
              <a:avLst/>
            </a:prstGeom>
            <a:solidFill>
              <a:schemeClr val="accent3"/>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22 Rectángulo"/>
            <p:cNvSpPr/>
            <p:nvPr/>
          </p:nvSpPr>
          <p:spPr>
            <a:xfrm>
              <a:off x="2288734" y="1213503"/>
              <a:ext cx="381000" cy="381000"/>
            </a:xfrm>
            <a:prstGeom prst="rect">
              <a:avLst/>
            </a:prstGeom>
            <a:solidFill>
              <a:schemeClr val="accent3"/>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4" name="23 Rectángulo"/>
            <p:cNvSpPr/>
            <p:nvPr/>
          </p:nvSpPr>
          <p:spPr>
            <a:xfrm>
              <a:off x="2713081" y="1213503"/>
              <a:ext cx="381000" cy="381000"/>
            </a:xfrm>
            <a:prstGeom prst="rect">
              <a:avLst/>
            </a:prstGeom>
            <a:solidFill>
              <a:schemeClr val="accent3"/>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5" name="24 Rectángulo"/>
            <p:cNvSpPr/>
            <p:nvPr/>
          </p:nvSpPr>
          <p:spPr>
            <a:xfrm>
              <a:off x="3137428" y="1213503"/>
              <a:ext cx="381000" cy="381000"/>
            </a:xfrm>
            <a:prstGeom prst="rect">
              <a:avLst/>
            </a:prstGeom>
            <a:solidFill>
              <a:schemeClr val="accent3"/>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6" name="25 Rectángulo"/>
            <p:cNvSpPr/>
            <p:nvPr/>
          </p:nvSpPr>
          <p:spPr>
            <a:xfrm>
              <a:off x="3561775" y="1213503"/>
              <a:ext cx="381000" cy="381000"/>
            </a:xfrm>
            <a:prstGeom prst="rect">
              <a:avLst/>
            </a:prstGeom>
            <a:solidFill>
              <a:schemeClr val="tx2">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7" name="26 Rectángulo"/>
            <p:cNvSpPr/>
            <p:nvPr/>
          </p:nvSpPr>
          <p:spPr>
            <a:xfrm>
              <a:off x="3986122" y="1213503"/>
              <a:ext cx="381000" cy="381000"/>
            </a:xfrm>
            <a:prstGeom prst="rect">
              <a:avLst/>
            </a:prstGeom>
            <a:solidFill>
              <a:schemeClr val="tx2">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8" name="27 Rectángulo"/>
            <p:cNvSpPr/>
            <p:nvPr/>
          </p:nvSpPr>
          <p:spPr>
            <a:xfrm>
              <a:off x="4410469" y="1213503"/>
              <a:ext cx="381000" cy="381000"/>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9" name="28 Rectángulo"/>
            <p:cNvSpPr/>
            <p:nvPr/>
          </p:nvSpPr>
          <p:spPr>
            <a:xfrm>
              <a:off x="4834816" y="1213503"/>
              <a:ext cx="381000" cy="381000"/>
            </a:xfrm>
            <a:prstGeom prst="rect">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0" name="29 Rectángulo"/>
            <p:cNvSpPr/>
            <p:nvPr/>
          </p:nvSpPr>
          <p:spPr>
            <a:xfrm>
              <a:off x="5259163" y="1213503"/>
              <a:ext cx="381000" cy="381000"/>
            </a:xfrm>
            <a:prstGeom prst="rect">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30 Rectángulo"/>
            <p:cNvSpPr/>
            <p:nvPr/>
          </p:nvSpPr>
          <p:spPr>
            <a:xfrm>
              <a:off x="5683510" y="1213503"/>
              <a:ext cx="381000" cy="381000"/>
            </a:xfrm>
            <a:prstGeom prst="rect">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2" name="31 Rectángulo"/>
            <p:cNvSpPr/>
            <p:nvPr/>
          </p:nvSpPr>
          <p:spPr>
            <a:xfrm>
              <a:off x="6107857" y="1213503"/>
              <a:ext cx="381000" cy="381000"/>
            </a:xfrm>
            <a:prstGeom prst="rect">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3" name="32 CuadroTexto"/>
            <p:cNvSpPr txBox="1"/>
            <p:nvPr/>
          </p:nvSpPr>
          <p:spPr>
            <a:xfrm>
              <a:off x="202250" y="1250114"/>
              <a:ext cx="272042" cy="307777"/>
            </a:xfrm>
            <a:prstGeom prst="rect">
              <a:avLst/>
            </a:prstGeom>
            <a:noFill/>
          </p:spPr>
          <p:txBody>
            <a:bodyPr wrap="square" rtlCol="0">
              <a:spAutoFit/>
            </a:bodyPr>
            <a:lstStyle/>
            <a:p>
              <a:r>
                <a:rPr lang="en-US" sz="1400" b="1" dirty="0" smtClean="0">
                  <a:solidFill>
                    <a:prstClr val="black"/>
                  </a:solidFill>
                  <a:effectLst>
                    <a:outerShdw blurRad="38100" dist="38100" dir="2700000" algn="tl">
                      <a:srgbClr val="000000">
                        <a:alpha val="43137"/>
                      </a:srgbClr>
                    </a:outerShdw>
                  </a:effectLst>
                </a:rPr>
                <a:t>A</a:t>
              </a:r>
              <a:endParaRPr lang="en-US" sz="1400" b="1" i="1" dirty="0">
                <a:solidFill>
                  <a:prstClr val="black"/>
                </a:solidFill>
                <a:effectLst>
                  <a:outerShdw blurRad="38100" dist="38100" dir="2700000" algn="tl">
                    <a:srgbClr val="000000">
                      <a:alpha val="43137"/>
                    </a:srgbClr>
                  </a:outerShdw>
                </a:effectLst>
              </a:endParaRPr>
            </a:p>
          </p:txBody>
        </p:sp>
        <p:sp>
          <p:nvSpPr>
            <p:cNvPr id="34" name="33 CuadroTexto"/>
            <p:cNvSpPr txBox="1"/>
            <p:nvPr/>
          </p:nvSpPr>
          <p:spPr>
            <a:xfrm>
              <a:off x="645825" y="1250113"/>
              <a:ext cx="272042" cy="307777"/>
            </a:xfrm>
            <a:prstGeom prst="rect">
              <a:avLst/>
            </a:prstGeom>
            <a:noFill/>
          </p:spPr>
          <p:txBody>
            <a:bodyPr wrap="square" rtlCol="0">
              <a:spAutoFit/>
            </a:bodyPr>
            <a:lstStyle/>
            <a:p>
              <a:r>
                <a:rPr lang="en-US" sz="1400" b="1" dirty="0" smtClean="0">
                  <a:solidFill>
                    <a:prstClr val="black"/>
                  </a:solidFill>
                  <a:effectLst>
                    <a:outerShdw blurRad="38100" dist="38100" dir="2700000" algn="tl">
                      <a:srgbClr val="000000">
                        <a:alpha val="43137"/>
                      </a:srgbClr>
                    </a:outerShdw>
                  </a:effectLst>
                </a:rPr>
                <a:t>B</a:t>
              </a:r>
              <a:endParaRPr lang="en-US" sz="1400" b="1" i="1" dirty="0">
                <a:solidFill>
                  <a:prstClr val="black"/>
                </a:solidFill>
                <a:effectLst>
                  <a:outerShdw blurRad="38100" dist="38100" dir="2700000" algn="tl">
                    <a:srgbClr val="000000">
                      <a:alpha val="43137"/>
                    </a:srgbClr>
                  </a:outerShdw>
                </a:effectLst>
              </a:endParaRPr>
            </a:p>
          </p:txBody>
        </p:sp>
        <p:sp>
          <p:nvSpPr>
            <p:cNvPr id="35" name="34 Rectángulo"/>
            <p:cNvSpPr/>
            <p:nvPr/>
          </p:nvSpPr>
          <p:spPr>
            <a:xfrm>
              <a:off x="6532204" y="1213503"/>
              <a:ext cx="381000" cy="381000"/>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6" name="35 Rectángulo"/>
            <p:cNvSpPr/>
            <p:nvPr/>
          </p:nvSpPr>
          <p:spPr>
            <a:xfrm>
              <a:off x="6956551" y="1213503"/>
              <a:ext cx="381000" cy="381000"/>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7" name="36 Rectángulo"/>
            <p:cNvSpPr/>
            <p:nvPr/>
          </p:nvSpPr>
          <p:spPr>
            <a:xfrm>
              <a:off x="7380898" y="1213503"/>
              <a:ext cx="381000" cy="381000"/>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8" name="37 Rectángulo"/>
            <p:cNvSpPr/>
            <p:nvPr/>
          </p:nvSpPr>
          <p:spPr>
            <a:xfrm>
              <a:off x="7805245" y="1213503"/>
              <a:ext cx="381000" cy="381000"/>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9" name="38 Rectángulo"/>
            <p:cNvSpPr/>
            <p:nvPr/>
          </p:nvSpPr>
          <p:spPr>
            <a:xfrm>
              <a:off x="8229600" y="1213503"/>
              <a:ext cx="381000" cy="381000"/>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0" name="39 CuadroTexto"/>
          <p:cNvSpPr txBox="1"/>
          <p:nvPr/>
        </p:nvSpPr>
        <p:spPr>
          <a:xfrm>
            <a:off x="7291" y="3125956"/>
            <a:ext cx="9144000" cy="3046988"/>
          </a:xfrm>
          <a:prstGeom prst="rect">
            <a:avLst/>
          </a:prstGeom>
          <a:noFill/>
        </p:spPr>
        <p:txBody>
          <a:bodyPr wrap="square" rtlCol="0">
            <a:spAutoFit/>
          </a:bodyPr>
          <a:lstStyle/>
          <a:p>
            <a:pPr fontAlgn="base"/>
            <a:r>
              <a:rPr lang="en-US" sz="1100" dirty="0">
                <a:solidFill>
                  <a:prstClr val="black"/>
                </a:solidFill>
              </a:rPr>
              <a:t>Byte 0 is the </a:t>
            </a:r>
            <a:r>
              <a:rPr lang="en-US" sz="1600" b="1" dirty="0" err="1">
                <a:solidFill>
                  <a:srgbClr val="FF0000"/>
                </a:solidFill>
              </a:rPr>
              <a:t>TagA</a:t>
            </a:r>
            <a:r>
              <a:rPr lang="en-US" sz="1600" b="1" dirty="0">
                <a:solidFill>
                  <a:srgbClr val="FF0000"/>
                </a:solidFill>
              </a:rPr>
              <a:t> </a:t>
            </a:r>
            <a:r>
              <a:rPr lang="en-US" sz="1100" dirty="0">
                <a:solidFill>
                  <a:prstClr val="black"/>
                </a:solidFill>
              </a:rPr>
              <a:t>byte of the record metadata</a:t>
            </a:r>
            <a:r>
              <a:rPr lang="en-US" sz="1100" dirty="0" smtClean="0">
                <a:solidFill>
                  <a:prstClr val="black"/>
                </a:solidFill>
              </a:rPr>
              <a:t>.</a:t>
            </a:r>
          </a:p>
          <a:p>
            <a:pPr fontAlgn="base"/>
            <a:endParaRPr lang="en-US" sz="1100" dirty="0" smtClean="0">
              <a:solidFill>
                <a:prstClr val="black"/>
              </a:solidFill>
            </a:endParaRPr>
          </a:p>
          <a:p>
            <a:pPr marL="171450" indent="-171450" fontAlgn="base">
              <a:buFont typeface="Wingdings" pitchFamily="2" charset="2"/>
              <a:buChar char="§"/>
            </a:pPr>
            <a:r>
              <a:rPr lang="en-US" sz="1100" dirty="0" smtClean="0">
                <a:solidFill>
                  <a:prstClr val="black"/>
                </a:solidFill>
              </a:rPr>
              <a:t>Bit </a:t>
            </a:r>
            <a:r>
              <a:rPr lang="en-US" sz="1100" dirty="0">
                <a:solidFill>
                  <a:prstClr val="black"/>
                </a:solidFill>
              </a:rPr>
              <a:t>0 : Versioning information. In SQL server 2008 this is always 0</a:t>
            </a:r>
          </a:p>
          <a:p>
            <a:pPr marL="171450" indent="-171450" fontAlgn="base">
              <a:buFont typeface="Wingdings" pitchFamily="2" charset="2"/>
              <a:buChar char="§"/>
            </a:pPr>
            <a:r>
              <a:rPr lang="en-US" sz="1100" dirty="0" smtClean="0">
                <a:solidFill>
                  <a:prstClr val="black"/>
                </a:solidFill>
              </a:rPr>
              <a:t>Bits </a:t>
            </a:r>
            <a:r>
              <a:rPr lang="en-US" sz="1100" dirty="0">
                <a:solidFill>
                  <a:prstClr val="black"/>
                </a:solidFill>
              </a:rPr>
              <a:t>1-3 </a:t>
            </a:r>
            <a:r>
              <a:rPr lang="en-US" sz="1100" dirty="0" smtClean="0">
                <a:solidFill>
                  <a:prstClr val="black"/>
                </a:solidFill>
              </a:rPr>
              <a:t>indicate the type of record:</a:t>
            </a:r>
          </a:p>
          <a:p>
            <a:pPr marL="628650" lvl="1" indent="-171450" fontAlgn="base">
              <a:buFont typeface="Wingdings" pitchFamily="2" charset="2"/>
              <a:buChar char="§"/>
            </a:pPr>
            <a:r>
              <a:rPr lang="en-US" sz="1100" dirty="0" smtClean="0">
                <a:solidFill>
                  <a:prstClr val="black"/>
                </a:solidFill>
              </a:rPr>
              <a:t>0 </a:t>
            </a:r>
            <a:r>
              <a:rPr lang="en-US" sz="1100" dirty="0">
                <a:solidFill>
                  <a:prstClr val="black"/>
                </a:solidFill>
              </a:rPr>
              <a:t>= primary </a:t>
            </a:r>
            <a:r>
              <a:rPr lang="en-US" sz="1100" dirty="0" smtClean="0">
                <a:solidFill>
                  <a:prstClr val="black"/>
                </a:solidFill>
              </a:rPr>
              <a:t>record  - </a:t>
            </a:r>
            <a:r>
              <a:rPr lang="en-US" sz="1100" dirty="0">
                <a:solidFill>
                  <a:prstClr val="black"/>
                </a:solidFill>
              </a:rPr>
              <a:t>A data record in a heap that hasn't been </a:t>
            </a:r>
            <a:r>
              <a:rPr lang="en-US" sz="1100" dirty="0" smtClean="0">
                <a:solidFill>
                  <a:prstClr val="black"/>
                </a:solidFill>
              </a:rPr>
              <a:t>forwarded or </a:t>
            </a:r>
            <a:r>
              <a:rPr lang="en-US" sz="1100" dirty="0">
                <a:solidFill>
                  <a:prstClr val="black"/>
                </a:solidFill>
              </a:rPr>
              <a:t>a data record at the leaf level of a clustered </a:t>
            </a:r>
            <a:r>
              <a:rPr lang="en-US" sz="1100" dirty="0" smtClean="0">
                <a:solidFill>
                  <a:prstClr val="black"/>
                </a:solidFill>
              </a:rPr>
              <a:t>index.</a:t>
            </a:r>
          </a:p>
          <a:p>
            <a:pPr marL="628650" lvl="1" indent="-171450" fontAlgn="base">
              <a:buFont typeface="Wingdings" pitchFamily="2" charset="2"/>
              <a:buChar char="§"/>
            </a:pPr>
            <a:r>
              <a:rPr lang="en-US" sz="1100" dirty="0" smtClean="0">
                <a:solidFill>
                  <a:prstClr val="black"/>
                </a:solidFill>
              </a:rPr>
              <a:t>1 </a:t>
            </a:r>
            <a:r>
              <a:rPr lang="en-US" sz="1100" dirty="0">
                <a:solidFill>
                  <a:prstClr val="black"/>
                </a:solidFill>
              </a:rPr>
              <a:t>= </a:t>
            </a:r>
            <a:r>
              <a:rPr lang="en-US" sz="1100" dirty="0" smtClean="0">
                <a:solidFill>
                  <a:prstClr val="black"/>
                </a:solidFill>
              </a:rPr>
              <a:t>forwarded record</a:t>
            </a:r>
          </a:p>
          <a:p>
            <a:pPr marL="628650" lvl="1" indent="-171450" fontAlgn="base">
              <a:buFont typeface="Wingdings" pitchFamily="2" charset="2"/>
              <a:buChar char="§"/>
            </a:pPr>
            <a:r>
              <a:rPr lang="en-US" sz="1100" dirty="0" smtClean="0">
                <a:solidFill>
                  <a:prstClr val="black"/>
                </a:solidFill>
              </a:rPr>
              <a:t>2 </a:t>
            </a:r>
            <a:r>
              <a:rPr lang="en-US" sz="1100" dirty="0">
                <a:solidFill>
                  <a:prstClr val="black"/>
                </a:solidFill>
              </a:rPr>
              <a:t>= forwarding </a:t>
            </a:r>
            <a:r>
              <a:rPr lang="en-US" sz="1100" dirty="0" smtClean="0">
                <a:solidFill>
                  <a:prstClr val="black"/>
                </a:solidFill>
              </a:rPr>
              <a:t>record</a:t>
            </a:r>
          </a:p>
          <a:p>
            <a:pPr marL="628650" lvl="1" indent="-171450" fontAlgn="base">
              <a:buFont typeface="Wingdings" pitchFamily="2" charset="2"/>
              <a:buChar char="§"/>
            </a:pPr>
            <a:r>
              <a:rPr lang="en-US" sz="1100" dirty="0" smtClean="0">
                <a:solidFill>
                  <a:prstClr val="black"/>
                </a:solidFill>
              </a:rPr>
              <a:t>3 </a:t>
            </a:r>
            <a:r>
              <a:rPr lang="en-US" sz="1100" dirty="0">
                <a:solidFill>
                  <a:prstClr val="black"/>
                </a:solidFill>
              </a:rPr>
              <a:t>= index </a:t>
            </a:r>
            <a:r>
              <a:rPr lang="en-US" sz="1100" dirty="0" smtClean="0">
                <a:solidFill>
                  <a:prstClr val="black"/>
                </a:solidFill>
              </a:rPr>
              <a:t>record</a:t>
            </a:r>
          </a:p>
          <a:p>
            <a:pPr marL="628650" lvl="1" indent="-171450" fontAlgn="base">
              <a:buFont typeface="Wingdings" pitchFamily="2" charset="2"/>
              <a:buChar char="§"/>
            </a:pPr>
            <a:r>
              <a:rPr lang="en-US" sz="1100" dirty="0" smtClean="0">
                <a:solidFill>
                  <a:prstClr val="black"/>
                </a:solidFill>
              </a:rPr>
              <a:t>4 </a:t>
            </a:r>
            <a:r>
              <a:rPr lang="en-US" sz="1100" dirty="0">
                <a:solidFill>
                  <a:prstClr val="black"/>
                </a:solidFill>
              </a:rPr>
              <a:t>= blob </a:t>
            </a:r>
            <a:r>
              <a:rPr lang="en-US" sz="1100" dirty="0" smtClean="0">
                <a:solidFill>
                  <a:prstClr val="black"/>
                </a:solidFill>
              </a:rPr>
              <a:t>fragment</a:t>
            </a:r>
          </a:p>
          <a:p>
            <a:pPr marL="628650" lvl="1" indent="-171450" fontAlgn="base">
              <a:buFont typeface="Wingdings" pitchFamily="2" charset="2"/>
              <a:buChar char="§"/>
            </a:pPr>
            <a:r>
              <a:rPr lang="en-US" sz="1100" dirty="0" smtClean="0">
                <a:solidFill>
                  <a:prstClr val="black"/>
                </a:solidFill>
              </a:rPr>
              <a:t>5 </a:t>
            </a:r>
            <a:r>
              <a:rPr lang="en-US" sz="1100" dirty="0">
                <a:solidFill>
                  <a:prstClr val="black"/>
                </a:solidFill>
              </a:rPr>
              <a:t>= ghost index </a:t>
            </a:r>
            <a:r>
              <a:rPr lang="en-US" sz="1100" dirty="0" smtClean="0">
                <a:solidFill>
                  <a:prstClr val="black"/>
                </a:solidFill>
              </a:rPr>
              <a:t>record</a:t>
            </a:r>
          </a:p>
          <a:p>
            <a:pPr marL="628650" lvl="1" indent="-171450" fontAlgn="base">
              <a:buFont typeface="Wingdings" pitchFamily="2" charset="2"/>
              <a:buChar char="§"/>
            </a:pPr>
            <a:r>
              <a:rPr lang="en-US" sz="1100" dirty="0" smtClean="0">
                <a:solidFill>
                  <a:prstClr val="black"/>
                </a:solidFill>
              </a:rPr>
              <a:t>6 </a:t>
            </a:r>
            <a:r>
              <a:rPr lang="en-US" sz="1100" dirty="0">
                <a:solidFill>
                  <a:prstClr val="black"/>
                </a:solidFill>
              </a:rPr>
              <a:t>= ghost data </a:t>
            </a:r>
            <a:r>
              <a:rPr lang="en-US" sz="1100" dirty="0" smtClean="0">
                <a:solidFill>
                  <a:prstClr val="black"/>
                </a:solidFill>
              </a:rPr>
              <a:t>record</a:t>
            </a:r>
          </a:p>
          <a:p>
            <a:pPr marL="628650" lvl="1" indent="-171450" fontAlgn="base">
              <a:buFont typeface="Wingdings" pitchFamily="2" charset="2"/>
              <a:buChar char="§"/>
            </a:pPr>
            <a:r>
              <a:rPr lang="en-US" sz="1100" dirty="0" smtClean="0">
                <a:solidFill>
                  <a:prstClr val="black"/>
                </a:solidFill>
              </a:rPr>
              <a:t>7 </a:t>
            </a:r>
            <a:r>
              <a:rPr lang="en-US" sz="1100" dirty="0">
                <a:solidFill>
                  <a:prstClr val="black"/>
                </a:solidFill>
              </a:rPr>
              <a:t>= ghost version </a:t>
            </a:r>
            <a:r>
              <a:rPr lang="en-US" sz="1100" dirty="0" smtClean="0">
                <a:solidFill>
                  <a:prstClr val="black"/>
                </a:solidFill>
              </a:rPr>
              <a:t>record</a:t>
            </a:r>
            <a:r>
              <a:rPr lang="en-US" sz="1100" dirty="0">
                <a:solidFill>
                  <a:prstClr val="black"/>
                </a:solidFill>
              </a:rPr>
              <a:t> </a:t>
            </a:r>
            <a:endParaRPr lang="en-US" sz="1100" dirty="0" smtClean="0">
              <a:solidFill>
                <a:prstClr val="black"/>
              </a:solidFill>
            </a:endParaRPr>
          </a:p>
          <a:p>
            <a:pPr fontAlgn="base"/>
            <a:endParaRPr lang="en-US" sz="1100" dirty="0" smtClean="0">
              <a:solidFill>
                <a:prstClr val="black"/>
              </a:solidFill>
            </a:endParaRPr>
          </a:p>
          <a:p>
            <a:pPr marL="171450" indent="-171450" fontAlgn="base">
              <a:buFont typeface="Wingdings" pitchFamily="2" charset="2"/>
              <a:buChar char="§"/>
            </a:pPr>
            <a:r>
              <a:rPr lang="en-US" sz="1100" dirty="0">
                <a:solidFill>
                  <a:prstClr val="black"/>
                </a:solidFill>
              </a:rPr>
              <a:t>Bit 4: </a:t>
            </a:r>
            <a:r>
              <a:rPr lang="en-US" sz="1100" dirty="0" smtClean="0">
                <a:solidFill>
                  <a:prstClr val="black"/>
                </a:solidFill>
              </a:rPr>
              <a:t>Indicates whether a Null </a:t>
            </a:r>
            <a:r>
              <a:rPr lang="en-US" sz="1100" dirty="0">
                <a:solidFill>
                  <a:prstClr val="black"/>
                </a:solidFill>
              </a:rPr>
              <a:t>bitmap exists or </a:t>
            </a:r>
            <a:r>
              <a:rPr lang="en-US" sz="1100" dirty="0" smtClean="0">
                <a:solidFill>
                  <a:prstClr val="black"/>
                </a:solidFill>
              </a:rPr>
              <a:t>not – (In </a:t>
            </a:r>
            <a:r>
              <a:rPr lang="en-US" sz="1100" dirty="0">
                <a:solidFill>
                  <a:prstClr val="black"/>
                </a:solidFill>
              </a:rPr>
              <a:t>SQL server 2008 null bitmap exists even if there is no </a:t>
            </a:r>
            <a:r>
              <a:rPr lang="en-US" sz="1100" dirty="0" smtClean="0">
                <a:solidFill>
                  <a:prstClr val="black"/>
                </a:solidFill>
              </a:rPr>
              <a:t>null able columns)</a:t>
            </a:r>
            <a:endParaRPr lang="en-US" sz="1100" dirty="0">
              <a:solidFill>
                <a:prstClr val="black"/>
              </a:solidFill>
            </a:endParaRPr>
          </a:p>
          <a:p>
            <a:pPr marL="171450" indent="-171450" fontAlgn="base">
              <a:buFont typeface="Wingdings" pitchFamily="2" charset="2"/>
              <a:buChar char="§"/>
            </a:pPr>
            <a:r>
              <a:rPr lang="en-US" sz="1100" dirty="0">
                <a:solidFill>
                  <a:prstClr val="black"/>
                </a:solidFill>
              </a:rPr>
              <a:t>Bit 5: </a:t>
            </a:r>
            <a:r>
              <a:rPr lang="en-US" sz="1100" dirty="0" smtClean="0">
                <a:solidFill>
                  <a:prstClr val="black"/>
                </a:solidFill>
              </a:rPr>
              <a:t>Indicates whether the record contains variable length columns </a:t>
            </a:r>
            <a:r>
              <a:rPr lang="en-US" sz="1100" dirty="0">
                <a:solidFill>
                  <a:prstClr val="black"/>
                </a:solidFill>
              </a:rPr>
              <a:t>or not.</a:t>
            </a:r>
          </a:p>
          <a:p>
            <a:pPr marL="171450" indent="-171450" fontAlgn="base">
              <a:buFont typeface="Wingdings" pitchFamily="2" charset="2"/>
              <a:buChar char="§"/>
            </a:pPr>
            <a:r>
              <a:rPr lang="en-US" sz="1100" dirty="0">
                <a:solidFill>
                  <a:prstClr val="black"/>
                </a:solidFill>
              </a:rPr>
              <a:t>Bit </a:t>
            </a:r>
            <a:r>
              <a:rPr lang="en-US" sz="1100" dirty="0" smtClean="0">
                <a:solidFill>
                  <a:prstClr val="black"/>
                </a:solidFill>
              </a:rPr>
              <a:t>6: Indicates the row contains </a:t>
            </a:r>
            <a:r>
              <a:rPr lang="en-US" sz="1100" dirty="0">
                <a:solidFill>
                  <a:prstClr val="black"/>
                </a:solidFill>
              </a:rPr>
              <a:t>versioning </a:t>
            </a:r>
            <a:r>
              <a:rPr lang="en-US" sz="1100" dirty="0" smtClean="0">
                <a:solidFill>
                  <a:prstClr val="black"/>
                </a:solidFill>
              </a:rPr>
              <a:t>information</a:t>
            </a:r>
          </a:p>
          <a:p>
            <a:pPr marL="171450" indent="-171450" fontAlgn="base">
              <a:buFont typeface="Wingdings" pitchFamily="2" charset="2"/>
              <a:buChar char="§"/>
            </a:pPr>
            <a:r>
              <a:rPr lang="en-US" sz="1100" dirty="0">
                <a:solidFill>
                  <a:prstClr val="black"/>
                </a:solidFill>
              </a:rPr>
              <a:t>Bit </a:t>
            </a:r>
            <a:r>
              <a:rPr lang="en-US" sz="1100" dirty="0" smtClean="0">
                <a:solidFill>
                  <a:prstClr val="black"/>
                </a:solidFill>
              </a:rPr>
              <a:t>7: </a:t>
            </a:r>
            <a:r>
              <a:rPr lang="en-US" sz="1100" dirty="0">
                <a:solidFill>
                  <a:prstClr val="black"/>
                </a:solidFill>
              </a:rPr>
              <a:t>Not used in SQL server</a:t>
            </a:r>
          </a:p>
        </p:txBody>
      </p:sp>
      <p:sp>
        <p:nvSpPr>
          <p:cNvPr id="41" name="40 CuadroTexto"/>
          <p:cNvSpPr txBox="1"/>
          <p:nvPr/>
        </p:nvSpPr>
        <p:spPr>
          <a:xfrm>
            <a:off x="4563396" y="2188589"/>
            <a:ext cx="4025526" cy="600164"/>
          </a:xfrm>
          <a:prstGeom prst="rect">
            <a:avLst/>
          </a:prstGeom>
          <a:noFill/>
        </p:spPr>
        <p:txBody>
          <a:bodyPr wrap="square" rtlCol="0">
            <a:spAutoFit/>
          </a:bodyPr>
          <a:lstStyle/>
          <a:p>
            <a:pPr fontAlgn="base"/>
            <a:r>
              <a:rPr lang="en-US" sz="1100" dirty="0">
                <a:solidFill>
                  <a:prstClr val="black"/>
                </a:solidFill>
              </a:rPr>
              <a:t>Byte 1 is the </a:t>
            </a:r>
            <a:r>
              <a:rPr lang="en-US" sz="1100" b="1" dirty="0" err="1">
                <a:solidFill>
                  <a:prstClr val="black"/>
                </a:solidFill>
              </a:rPr>
              <a:t>TagB</a:t>
            </a:r>
            <a:r>
              <a:rPr lang="en-US" sz="1100" dirty="0">
                <a:solidFill>
                  <a:prstClr val="black"/>
                </a:solidFill>
              </a:rPr>
              <a:t> byte of the record metadata. </a:t>
            </a:r>
            <a:endParaRPr lang="en-US" sz="1100" dirty="0" smtClean="0">
              <a:solidFill>
                <a:prstClr val="black"/>
              </a:solidFill>
            </a:endParaRPr>
          </a:p>
          <a:p>
            <a:pPr fontAlgn="base"/>
            <a:r>
              <a:rPr lang="en-US" sz="1100" dirty="0" smtClean="0">
                <a:solidFill>
                  <a:prstClr val="black"/>
                </a:solidFill>
              </a:rPr>
              <a:t>It </a:t>
            </a:r>
            <a:r>
              <a:rPr lang="en-US" sz="1100" dirty="0">
                <a:solidFill>
                  <a:prstClr val="black"/>
                </a:solidFill>
              </a:rPr>
              <a:t>can either be 0×00 or 0×01. </a:t>
            </a:r>
            <a:endParaRPr lang="en-US" sz="1100" dirty="0" smtClean="0">
              <a:solidFill>
                <a:prstClr val="black"/>
              </a:solidFill>
            </a:endParaRPr>
          </a:p>
          <a:p>
            <a:pPr fontAlgn="base"/>
            <a:r>
              <a:rPr lang="en-US" sz="1100" dirty="0" smtClean="0">
                <a:solidFill>
                  <a:prstClr val="black"/>
                </a:solidFill>
              </a:rPr>
              <a:t>If </a:t>
            </a:r>
            <a:r>
              <a:rPr lang="en-US" sz="1100" dirty="0">
                <a:solidFill>
                  <a:prstClr val="black"/>
                </a:solidFill>
              </a:rPr>
              <a:t>it is </a:t>
            </a:r>
            <a:r>
              <a:rPr lang="en-US" sz="1100" b="1" dirty="0">
                <a:solidFill>
                  <a:prstClr val="black"/>
                </a:solidFill>
              </a:rPr>
              <a:t>0×01</a:t>
            </a:r>
            <a:r>
              <a:rPr lang="en-US" sz="1100" dirty="0">
                <a:solidFill>
                  <a:prstClr val="black"/>
                </a:solidFill>
              </a:rPr>
              <a:t>, </a:t>
            </a:r>
            <a:r>
              <a:rPr lang="en-US" sz="1100" dirty="0" smtClean="0">
                <a:solidFill>
                  <a:prstClr val="black"/>
                </a:solidFill>
              </a:rPr>
              <a:t>that </a:t>
            </a:r>
            <a:r>
              <a:rPr lang="en-US" sz="1100" dirty="0">
                <a:solidFill>
                  <a:prstClr val="black"/>
                </a:solidFill>
              </a:rPr>
              <a:t>means the record type is </a:t>
            </a:r>
            <a:r>
              <a:rPr lang="en-US" sz="1100" b="1" dirty="0">
                <a:solidFill>
                  <a:prstClr val="black"/>
                </a:solidFill>
              </a:rPr>
              <a:t>ghost forwarded record</a:t>
            </a:r>
            <a:r>
              <a:rPr lang="en-US" sz="1100" dirty="0">
                <a:solidFill>
                  <a:prstClr val="black"/>
                </a:solidFill>
              </a:rPr>
              <a:t>.</a:t>
            </a:r>
          </a:p>
        </p:txBody>
      </p:sp>
      <p:cxnSp>
        <p:nvCxnSpPr>
          <p:cNvPr id="43" name="42 Conector recto"/>
          <p:cNvCxnSpPr/>
          <p:nvPr/>
        </p:nvCxnSpPr>
        <p:spPr>
          <a:xfrm>
            <a:off x="760168" y="1525756"/>
            <a:ext cx="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44 Conector recto de flecha"/>
          <p:cNvCxnSpPr/>
          <p:nvPr/>
        </p:nvCxnSpPr>
        <p:spPr>
          <a:xfrm>
            <a:off x="760168" y="2363956"/>
            <a:ext cx="380322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48 Conector recto de flecha"/>
          <p:cNvCxnSpPr/>
          <p:nvPr/>
        </p:nvCxnSpPr>
        <p:spPr>
          <a:xfrm>
            <a:off x="316593" y="1525756"/>
            <a:ext cx="0" cy="152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0" name="49 CuadroTexto"/>
          <p:cNvSpPr txBox="1"/>
          <p:nvPr/>
        </p:nvSpPr>
        <p:spPr>
          <a:xfrm>
            <a:off x="4956873" y="593466"/>
            <a:ext cx="1253760" cy="400110"/>
          </a:xfrm>
          <a:prstGeom prst="rect">
            <a:avLst/>
          </a:prstGeom>
          <a:noFill/>
        </p:spPr>
        <p:txBody>
          <a:bodyPr wrap="square" rtlCol="0">
            <a:spAutoFit/>
          </a:bodyPr>
          <a:lstStyle/>
          <a:p>
            <a:r>
              <a:rPr lang="en-US" sz="1000" dirty="0" smtClean="0">
                <a:solidFill>
                  <a:prstClr val="black"/>
                </a:solidFill>
              </a:rPr>
              <a:t>Variable length </a:t>
            </a:r>
          </a:p>
          <a:p>
            <a:r>
              <a:rPr lang="en-US" sz="1000" dirty="0" smtClean="0">
                <a:solidFill>
                  <a:prstClr val="black"/>
                </a:solidFill>
              </a:rPr>
              <a:t>Column Offset Array</a:t>
            </a:r>
            <a:endParaRPr lang="en-US" sz="1000" i="1" dirty="0">
              <a:solidFill>
                <a:prstClr val="black"/>
              </a:solidFill>
            </a:endParaRPr>
          </a:p>
        </p:txBody>
      </p:sp>
      <p:sp>
        <p:nvSpPr>
          <p:cNvPr id="51" name="50 CuadroTexto"/>
          <p:cNvSpPr txBox="1"/>
          <p:nvPr/>
        </p:nvSpPr>
        <p:spPr>
          <a:xfrm>
            <a:off x="6500161" y="684592"/>
            <a:ext cx="1752600" cy="246221"/>
          </a:xfrm>
          <a:prstGeom prst="rect">
            <a:avLst/>
          </a:prstGeom>
          <a:noFill/>
        </p:spPr>
        <p:txBody>
          <a:bodyPr wrap="square" rtlCol="0">
            <a:spAutoFit/>
          </a:bodyPr>
          <a:lstStyle/>
          <a:p>
            <a:r>
              <a:rPr lang="en-US" sz="1000" dirty="0" smtClean="0">
                <a:solidFill>
                  <a:prstClr val="black"/>
                </a:solidFill>
              </a:rPr>
              <a:t>Variable length Columns</a:t>
            </a:r>
            <a:endParaRPr lang="en-US" sz="1000" i="1" dirty="0">
              <a:solidFill>
                <a:prstClr val="black"/>
              </a:solidFill>
            </a:endParaRPr>
          </a:p>
        </p:txBody>
      </p:sp>
      <p:grpSp>
        <p:nvGrpSpPr>
          <p:cNvPr id="42" name="41 Grupo"/>
          <p:cNvGrpSpPr/>
          <p:nvPr/>
        </p:nvGrpSpPr>
        <p:grpSpPr>
          <a:xfrm>
            <a:off x="0" y="9525"/>
            <a:ext cx="9153525" cy="408388"/>
            <a:chOff x="0" y="9525"/>
            <a:chExt cx="9153525" cy="408388"/>
          </a:xfrm>
        </p:grpSpPr>
        <p:sp>
          <p:nvSpPr>
            <p:cNvPr id="44" name="43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Storage Internals  |  Record Structure</a:t>
              </a:r>
              <a:endParaRPr lang="en-US" b="1" i="1" dirty="0">
                <a:solidFill>
                  <a:schemeClr val="bg1"/>
                </a:solidFill>
              </a:endParaRPr>
            </a:p>
          </p:txBody>
        </p:sp>
        <p:pic>
          <p:nvPicPr>
            <p:cNvPr id="46" name="45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7" name="46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8" name="47 Grupo"/>
          <p:cNvGrpSpPr/>
          <p:nvPr/>
        </p:nvGrpSpPr>
        <p:grpSpPr>
          <a:xfrm>
            <a:off x="9525" y="6574392"/>
            <a:ext cx="9134399" cy="277000"/>
            <a:chOff x="9525" y="6574392"/>
            <a:chExt cx="9134399" cy="277000"/>
          </a:xfrm>
        </p:grpSpPr>
        <p:sp>
          <p:nvSpPr>
            <p:cNvPr id="52" name="5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53" name="5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80253095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5 Grupo"/>
          <p:cNvGrpSpPr/>
          <p:nvPr/>
        </p:nvGrpSpPr>
        <p:grpSpPr>
          <a:xfrm>
            <a:off x="145321" y="1217474"/>
            <a:ext cx="8443601" cy="381000"/>
            <a:chOff x="166999" y="1213503"/>
            <a:chExt cx="8443601" cy="381000"/>
          </a:xfrm>
        </p:grpSpPr>
        <p:sp>
          <p:nvSpPr>
            <p:cNvPr id="5" name="4 Rectángulo"/>
            <p:cNvSpPr/>
            <p:nvPr/>
          </p:nvSpPr>
          <p:spPr>
            <a:xfrm>
              <a:off x="166999" y="1213503"/>
              <a:ext cx="381000" cy="381000"/>
            </a:xfrm>
            <a:prstGeom prst="rect">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9" name="18 Rectángulo"/>
            <p:cNvSpPr/>
            <p:nvPr/>
          </p:nvSpPr>
          <p:spPr>
            <a:xfrm>
              <a:off x="591346" y="1213503"/>
              <a:ext cx="381000" cy="381000"/>
            </a:xfrm>
            <a:prstGeom prst="rect">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0" name="19 Rectángulo"/>
            <p:cNvSpPr/>
            <p:nvPr/>
          </p:nvSpPr>
          <p:spPr>
            <a:xfrm>
              <a:off x="1015693" y="1213503"/>
              <a:ext cx="381000" cy="381000"/>
            </a:xfrm>
            <a:prstGeom prst="rect">
              <a:avLst/>
            </a:prstGeom>
            <a:solidFill>
              <a:schemeClr val="bg1">
                <a:lumMod val="6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1" name="20 Rectángulo"/>
            <p:cNvSpPr/>
            <p:nvPr/>
          </p:nvSpPr>
          <p:spPr>
            <a:xfrm>
              <a:off x="1440040" y="1213503"/>
              <a:ext cx="381000" cy="381000"/>
            </a:xfrm>
            <a:prstGeom prst="rect">
              <a:avLst/>
            </a:prstGeom>
            <a:solidFill>
              <a:schemeClr val="bg1">
                <a:lumMod val="6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2" name="21 Rectángulo"/>
            <p:cNvSpPr/>
            <p:nvPr/>
          </p:nvSpPr>
          <p:spPr>
            <a:xfrm>
              <a:off x="1864387" y="1213503"/>
              <a:ext cx="381000" cy="381000"/>
            </a:xfrm>
            <a:prstGeom prst="rect">
              <a:avLst/>
            </a:prstGeom>
            <a:solidFill>
              <a:schemeClr val="accent3"/>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22 Rectángulo"/>
            <p:cNvSpPr/>
            <p:nvPr/>
          </p:nvSpPr>
          <p:spPr>
            <a:xfrm>
              <a:off x="2288734" y="1213503"/>
              <a:ext cx="381000" cy="381000"/>
            </a:xfrm>
            <a:prstGeom prst="rect">
              <a:avLst/>
            </a:prstGeom>
            <a:solidFill>
              <a:schemeClr val="accent3"/>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4" name="23 Rectángulo"/>
            <p:cNvSpPr/>
            <p:nvPr/>
          </p:nvSpPr>
          <p:spPr>
            <a:xfrm>
              <a:off x="2713081" y="1213503"/>
              <a:ext cx="381000" cy="381000"/>
            </a:xfrm>
            <a:prstGeom prst="rect">
              <a:avLst/>
            </a:prstGeom>
            <a:solidFill>
              <a:schemeClr val="accent3"/>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5" name="24 Rectángulo"/>
            <p:cNvSpPr/>
            <p:nvPr/>
          </p:nvSpPr>
          <p:spPr>
            <a:xfrm>
              <a:off x="3137428" y="1213503"/>
              <a:ext cx="381000" cy="381000"/>
            </a:xfrm>
            <a:prstGeom prst="rect">
              <a:avLst/>
            </a:prstGeom>
            <a:solidFill>
              <a:schemeClr val="accent3"/>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6" name="25 Rectángulo"/>
            <p:cNvSpPr/>
            <p:nvPr/>
          </p:nvSpPr>
          <p:spPr>
            <a:xfrm>
              <a:off x="3561775" y="1213503"/>
              <a:ext cx="381000" cy="381000"/>
            </a:xfrm>
            <a:prstGeom prst="rect">
              <a:avLst/>
            </a:prstGeom>
            <a:solidFill>
              <a:schemeClr val="tx2">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7" name="26 Rectángulo"/>
            <p:cNvSpPr/>
            <p:nvPr/>
          </p:nvSpPr>
          <p:spPr>
            <a:xfrm>
              <a:off x="3986122" y="1213503"/>
              <a:ext cx="381000" cy="381000"/>
            </a:xfrm>
            <a:prstGeom prst="rect">
              <a:avLst/>
            </a:prstGeom>
            <a:solidFill>
              <a:schemeClr val="tx2">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8" name="27 Rectángulo"/>
            <p:cNvSpPr/>
            <p:nvPr/>
          </p:nvSpPr>
          <p:spPr>
            <a:xfrm>
              <a:off x="4410469" y="1213503"/>
              <a:ext cx="381000" cy="381000"/>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9" name="28 Rectángulo"/>
            <p:cNvSpPr/>
            <p:nvPr/>
          </p:nvSpPr>
          <p:spPr>
            <a:xfrm>
              <a:off x="4834816" y="1213503"/>
              <a:ext cx="381000" cy="381000"/>
            </a:xfrm>
            <a:prstGeom prst="rect">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0" name="29 Rectángulo"/>
            <p:cNvSpPr/>
            <p:nvPr/>
          </p:nvSpPr>
          <p:spPr>
            <a:xfrm>
              <a:off x="5259163" y="1213503"/>
              <a:ext cx="381000" cy="381000"/>
            </a:xfrm>
            <a:prstGeom prst="rect">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30 Rectángulo"/>
            <p:cNvSpPr/>
            <p:nvPr/>
          </p:nvSpPr>
          <p:spPr>
            <a:xfrm>
              <a:off x="5683510" y="1213503"/>
              <a:ext cx="381000" cy="381000"/>
            </a:xfrm>
            <a:prstGeom prst="rect">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2" name="31 Rectángulo"/>
            <p:cNvSpPr/>
            <p:nvPr/>
          </p:nvSpPr>
          <p:spPr>
            <a:xfrm>
              <a:off x="6107857" y="1213503"/>
              <a:ext cx="381000" cy="381000"/>
            </a:xfrm>
            <a:prstGeom prst="rect">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3" name="32 CuadroTexto"/>
            <p:cNvSpPr txBox="1"/>
            <p:nvPr/>
          </p:nvSpPr>
          <p:spPr>
            <a:xfrm>
              <a:off x="202250" y="1250114"/>
              <a:ext cx="272042" cy="307777"/>
            </a:xfrm>
            <a:prstGeom prst="rect">
              <a:avLst/>
            </a:prstGeom>
            <a:noFill/>
          </p:spPr>
          <p:txBody>
            <a:bodyPr wrap="square" rtlCol="0">
              <a:spAutoFit/>
            </a:bodyPr>
            <a:lstStyle/>
            <a:p>
              <a:r>
                <a:rPr lang="en-US" sz="1400" b="1" dirty="0" smtClean="0">
                  <a:solidFill>
                    <a:prstClr val="black"/>
                  </a:solidFill>
                  <a:effectLst>
                    <a:outerShdw blurRad="38100" dist="38100" dir="2700000" algn="tl">
                      <a:srgbClr val="000000">
                        <a:alpha val="43137"/>
                      </a:srgbClr>
                    </a:outerShdw>
                  </a:effectLst>
                </a:rPr>
                <a:t>A</a:t>
              </a:r>
              <a:endParaRPr lang="en-US" sz="1400" b="1" i="1" dirty="0">
                <a:solidFill>
                  <a:prstClr val="black"/>
                </a:solidFill>
                <a:effectLst>
                  <a:outerShdw blurRad="38100" dist="38100" dir="2700000" algn="tl">
                    <a:srgbClr val="000000">
                      <a:alpha val="43137"/>
                    </a:srgbClr>
                  </a:outerShdw>
                </a:effectLst>
              </a:endParaRPr>
            </a:p>
          </p:txBody>
        </p:sp>
        <p:sp>
          <p:nvSpPr>
            <p:cNvPr id="34" name="33 CuadroTexto"/>
            <p:cNvSpPr txBox="1"/>
            <p:nvPr/>
          </p:nvSpPr>
          <p:spPr>
            <a:xfrm>
              <a:off x="645825" y="1250113"/>
              <a:ext cx="272042" cy="307777"/>
            </a:xfrm>
            <a:prstGeom prst="rect">
              <a:avLst/>
            </a:prstGeom>
            <a:noFill/>
          </p:spPr>
          <p:txBody>
            <a:bodyPr wrap="square" rtlCol="0">
              <a:spAutoFit/>
            </a:bodyPr>
            <a:lstStyle/>
            <a:p>
              <a:r>
                <a:rPr lang="en-US" sz="1400" b="1" dirty="0" smtClean="0">
                  <a:solidFill>
                    <a:prstClr val="black"/>
                  </a:solidFill>
                  <a:effectLst>
                    <a:outerShdw blurRad="38100" dist="38100" dir="2700000" algn="tl">
                      <a:srgbClr val="000000">
                        <a:alpha val="43137"/>
                      </a:srgbClr>
                    </a:outerShdw>
                  </a:effectLst>
                </a:rPr>
                <a:t>B</a:t>
              </a:r>
              <a:endParaRPr lang="en-US" sz="1400" b="1" i="1" dirty="0">
                <a:solidFill>
                  <a:prstClr val="black"/>
                </a:solidFill>
                <a:effectLst>
                  <a:outerShdw blurRad="38100" dist="38100" dir="2700000" algn="tl">
                    <a:srgbClr val="000000">
                      <a:alpha val="43137"/>
                    </a:srgbClr>
                  </a:outerShdw>
                </a:effectLst>
              </a:endParaRPr>
            </a:p>
          </p:txBody>
        </p:sp>
        <p:sp>
          <p:nvSpPr>
            <p:cNvPr id="35" name="34 Rectángulo"/>
            <p:cNvSpPr/>
            <p:nvPr/>
          </p:nvSpPr>
          <p:spPr>
            <a:xfrm>
              <a:off x="6532204" y="1213503"/>
              <a:ext cx="381000" cy="381000"/>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6" name="35 Rectángulo"/>
            <p:cNvSpPr/>
            <p:nvPr/>
          </p:nvSpPr>
          <p:spPr>
            <a:xfrm>
              <a:off x="6956551" y="1213503"/>
              <a:ext cx="381000" cy="381000"/>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7" name="36 Rectángulo"/>
            <p:cNvSpPr/>
            <p:nvPr/>
          </p:nvSpPr>
          <p:spPr>
            <a:xfrm>
              <a:off x="7380898" y="1213503"/>
              <a:ext cx="381000" cy="381000"/>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8" name="37 Rectángulo"/>
            <p:cNvSpPr/>
            <p:nvPr/>
          </p:nvSpPr>
          <p:spPr>
            <a:xfrm>
              <a:off x="7805245" y="1213503"/>
              <a:ext cx="381000" cy="381000"/>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9" name="38 Rectángulo"/>
            <p:cNvSpPr/>
            <p:nvPr/>
          </p:nvSpPr>
          <p:spPr>
            <a:xfrm>
              <a:off x="8229600" y="1213503"/>
              <a:ext cx="381000" cy="381000"/>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2" name="41 CuadroTexto"/>
          <p:cNvSpPr txBox="1"/>
          <p:nvPr/>
        </p:nvSpPr>
        <p:spPr>
          <a:xfrm>
            <a:off x="27715" y="2436674"/>
            <a:ext cx="1771647" cy="577081"/>
          </a:xfrm>
          <a:prstGeom prst="rect">
            <a:avLst/>
          </a:prstGeom>
          <a:noFill/>
          <a:ln>
            <a:solidFill>
              <a:schemeClr val="tx1"/>
            </a:solidFill>
          </a:ln>
        </p:spPr>
        <p:txBody>
          <a:bodyPr wrap="square" rtlCol="0">
            <a:spAutoFit/>
          </a:bodyPr>
          <a:lstStyle/>
          <a:p>
            <a:r>
              <a:rPr lang="en-US" sz="1050" dirty="0">
                <a:solidFill>
                  <a:prstClr val="black"/>
                </a:solidFill>
              </a:rPr>
              <a:t>Bytes 2 and 3 are the offset </a:t>
            </a:r>
            <a:endParaRPr lang="en-US" sz="1050" dirty="0" smtClean="0">
              <a:solidFill>
                <a:prstClr val="black"/>
              </a:solidFill>
            </a:endParaRPr>
          </a:p>
          <a:p>
            <a:r>
              <a:rPr lang="en-US" sz="1050" dirty="0" smtClean="0">
                <a:solidFill>
                  <a:prstClr val="black"/>
                </a:solidFill>
              </a:rPr>
              <a:t>of the NULL </a:t>
            </a:r>
            <a:r>
              <a:rPr lang="en-US" sz="1050" dirty="0">
                <a:solidFill>
                  <a:prstClr val="black"/>
                </a:solidFill>
              </a:rPr>
              <a:t>bitmap in the record</a:t>
            </a:r>
          </a:p>
        </p:txBody>
      </p:sp>
      <p:sp>
        <p:nvSpPr>
          <p:cNvPr id="43" name="42 CuadroTexto"/>
          <p:cNvSpPr txBox="1"/>
          <p:nvPr/>
        </p:nvSpPr>
        <p:spPr>
          <a:xfrm>
            <a:off x="847207" y="3732074"/>
            <a:ext cx="2839697" cy="1061829"/>
          </a:xfrm>
          <a:prstGeom prst="rect">
            <a:avLst/>
          </a:prstGeom>
          <a:noFill/>
          <a:ln>
            <a:solidFill>
              <a:schemeClr val="tx1"/>
            </a:solidFill>
          </a:ln>
        </p:spPr>
        <p:txBody>
          <a:bodyPr wrap="square" rtlCol="0">
            <a:spAutoFit/>
          </a:bodyPr>
          <a:lstStyle/>
          <a:p>
            <a:pPr marL="171450" indent="-171450">
              <a:buFont typeface="Wingdings" pitchFamily="2" charset="2"/>
              <a:buChar char="§"/>
            </a:pPr>
            <a:r>
              <a:rPr lang="en-US" sz="1050" dirty="0">
                <a:solidFill>
                  <a:prstClr val="black"/>
                </a:solidFill>
              </a:rPr>
              <a:t>Bytes 4 to 7 are the fixed length </a:t>
            </a:r>
            <a:r>
              <a:rPr lang="en-US" sz="1050" dirty="0" smtClean="0">
                <a:solidFill>
                  <a:prstClr val="black"/>
                </a:solidFill>
              </a:rPr>
              <a:t>columns.</a:t>
            </a:r>
          </a:p>
          <a:p>
            <a:endParaRPr lang="en-US" sz="1050" dirty="0" smtClean="0">
              <a:solidFill>
                <a:prstClr val="black"/>
              </a:solidFill>
            </a:endParaRPr>
          </a:p>
          <a:p>
            <a:pPr marL="171450" indent="-171450">
              <a:buFont typeface="Wingdings" pitchFamily="2" charset="2"/>
              <a:buChar char="§"/>
            </a:pPr>
            <a:r>
              <a:rPr lang="en-US" sz="1050" dirty="0" smtClean="0">
                <a:solidFill>
                  <a:prstClr val="black"/>
                </a:solidFill>
              </a:rPr>
              <a:t>This is a 4-bytes Integer</a:t>
            </a:r>
          </a:p>
          <a:p>
            <a:endParaRPr lang="en-US" sz="1050" dirty="0" smtClean="0">
              <a:solidFill>
                <a:prstClr val="black"/>
              </a:solidFill>
            </a:endParaRPr>
          </a:p>
          <a:p>
            <a:pPr marL="171450" indent="-171450">
              <a:buFont typeface="Wingdings" pitchFamily="2" charset="2"/>
              <a:buChar char="§"/>
            </a:pPr>
            <a:r>
              <a:rPr lang="en-US" sz="1050" dirty="0">
                <a:solidFill>
                  <a:prstClr val="black"/>
                </a:solidFill>
              </a:rPr>
              <a:t>This is the same value </a:t>
            </a:r>
            <a:r>
              <a:rPr lang="en-US" sz="1050" dirty="0" smtClean="0">
                <a:solidFill>
                  <a:prstClr val="black"/>
                </a:solidFill>
              </a:rPr>
              <a:t>displayed </a:t>
            </a:r>
            <a:r>
              <a:rPr lang="en-US" sz="1050" dirty="0">
                <a:solidFill>
                  <a:prstClr val="black"/>
                </a:solidFill>
              </a:rPr>
              <a:t>in the </a:t>
            </a:r>
            <a:r>
              <a:rPr lang="en-US" sz="1050" b="1" dirty="0" err="1">
                <a:solidFill>
                  <a:prstClr val="black"/>
                </a:solidFill>
              </a:rPr>
              <a:t>pminlen</a:t>
            </a:r>
            <a:r>
              <a:rPr lang="en-US" sz="1050" dirty="0">
                <a:solidFill>
                  <a:prstClr val="black"/>
                </a:solidFill>
              </a:rPr>
              <a:t> field in the page </a:t>
            </a:r>
            <a:r>
              <a:rPr lang="en-US" sz="1050" dirty="0" smtClean="0">
                <a:solidFill>
                  <a:prstClr val="black"/>
                </a:solidFill>
              </a:rPr>
              <a:t>header (DBCC)</a:t>
            </a:r>
            <a:endParaRPr lang="en-US" sz="1050" dirty="0">
              <a:solidFill>
                <a:prstClr val="black"/>
              </a:solidFill>
            </a:endParaRPr>
          </a:p>
        </p:txBody>
      </p:sp>
      <p:sp>
        <p:nvSpPr>
          <p:cNvPr id="44" name="43 CuadroTexto"/>
          <p:cNvSpPr txBox="1"/>
          <p:nvPr/>
        </p:nvSpPr>
        <p:spPr>
          <a:xfrm>
            <a:off x="3441652" y="2598256"/>
            <a:ext cx="1451222" cy="577081"/>
          </a:xfrm>
          <a:prstGeom prst="rect">
            <a:avLst/>
          </a:prstGeom>
          <a:noFill/>
          <a:ln>
            <a:solidFill>
              <a:schemeClr val="tx1"/>
            </a:solidFill>
          </a:ln>
        </p:spPr>
        <p:txBody>
          <a:bodyPr wrap="square" rtlCol="0">
            <a:spAutoFit/>
          </a:bodyPr>
          <a:lstStyle/>
          <a:p>
            <a:r>
              <a:rPr lang="en-US" sz="1050" dirty="0">
                <a:solidFill>
                  <a:prstClr val="black"/>
                </a:solidFill>
              </a:rPr>
              <a:t>Bytes 8 and 9 are the count of columns in the record</a:t>
            </a:r>
          </a:p>
        </p:txBody>
      </p:sp>
      <p:sp>
        <p:nvSpPr>
          <p:cNvPr id="45" name="44 CuadroTexto"/>
          <p:cNvSpPr txBox="1"/>
          <p:nvPr/>
        </p:nvSpPr>
        <p:spPr>
          <a:xfrm>
            <a:off x="4231262" y="3316576"/>
            <a:ext cx="1196723" cy="415498"/>
          </a:xfrm>
          <a:prstGeom prst="rect">
            <a:avLst/>
          </a:prstGeom>
          <a:noFill/>
          <a:ln>
            <a:solidFill>
              <a:schemeClr val="tx1"/>
            </a:solidFill>
          </a:ln>
        </p:spPr>
        <p:txBody>
          <a:bodyPr wrap="square" rtlCol="0">
            <a:spAutoFit/>
          </a:bodyPr>
          <a:lstStyle/>
          <a:p>
            <a:pPr algn="ctr"/>
            <a:r>
              <a:rPr lang="en-US" sz="1050" dirty="0">
                <a:solidFill>
                  <a:prstClr val="black"/>
                </a:solidFill>
              </a:rPr>
              <a:t>Byte 10 is the NULL </a:t>
            </a:r>
            <a:r>
              <a:rPr lang="en-US" sz="1050" dirty="0" smtClean="0">
                <a:solidFill>
                  <a:prstClr val="black"/>
                </a:solidFill>
              </a:rPr>
              <a:t>bitmap mask</a:t>
            </a:r>
            <a:endParaRPr lang="en-US" sz="1050" dirty="0">
              <a:solidFill>
                <a:prstClr val="black"/>
              </a:solidFill>
            </a:endParaRPr>
          </a:p>
        </p:txBody>
      </p:sp>
      <p:sp>
        <p:nvSpPr>
          <p:cNvPr id="46" name="45 CuadroTexto"/>
          <p:cNvSpPr txBox="1"/>
          <p:nvPr/>
        </p:nvSpPr>
        <p:spPr>
          <a:xfrm>
            <a:off x="4606102" y="4424571"/>
            <a:ext cx="4231151" cy="1223412"/>
          </a:xfrm>
          <a:prstGeom prst="rect">
            <a:avLst/>
          </a:prstGeom>
          <a:noFill/>
          <a:ln>
            <a:solidFill>
              <a:schemeClr val="tx1"/>
            </a:solidFill>
          </a:ln>
        </p:spPr>
        <p:txBody>
          <a:bodyPr wrap="square" rtlCol="0">
            <a:spAutoFit/>
          </a:bodyPr>
          <a:lstStyle/>
          <a:p>
            <a:pPr marL="171450" indent="-171450">
              <a:buFont typeface="Wingdings" pitchFamily="2" charset="2"/>
              <a:buChar char="§"/>
            </a:pPr>
            <a:r>
              <a:rPr lang="en-US" sz="1050" dirty="0">
                <a:solidFill>
                  <a:prstClr val="black"/>
                </a:solidFill>
              </a:rPr>
              <a:t>Bytes </a:t>
            </a:r>
            <a:r>
              <a:rPr lang="en-US" sz="1050" dirty="0" smtClean="0">
                <a:solidFill>
                  <a:prstClr val="black"/>
                </a:solidFill>
              </a:rPr>
              <a:t>11-12-13-14 are </a:t>
            </a:r>
            <a:r>
              <a:rPr lang="en-US" sz="1050" dirty="0">
                <a:solidFill>
                  <a:prstClr val="black"/>
                </a:solidFill>
              </a:rPr>
              <a:t>the count of variable length columns in the </a:t>
            </a:r>
            <a:r>
              <a:rPr lang="en-US" sz="1050" dirty="0" smtClean="0">
                <a:solidFill>
                  <a:prstClr val="black"/>
                </a:solidFill>
              </a:rPr>
              <a:t>record.</a:t>
            </a:r>
          </a:p>
          <a:p>
            <a:pPr marL="171450" indent="-171450">
              <a:buFont typeface="Wingdings" pitchFamily="2" charset="2"/>
              <a:buChar char="§"/>
            </a:pPr>
            <a:endParaRPr lang="en-US" sz="1050" dirty="0" smtClean="0">
              <a:solidFill>
                <a:prstClr val="black"/>
              </a:solidFill>
            </a:endParaRPr>
          </a:p>
          <a:p>
            <a:pPr marL="171450" indent="-171450">
              <a:buFont typeface="Wingdings" pitchFamily="2" charset="2"/>
              <a:buChar char="§"/>
            </a:pPr>
            <a:r>
              <a:rPr lang="en-US" sz="1050" dirty="0">
                <a:solidFill>
                  <a:prstClr val="black"/>
                </a:solidFill>
              </a:rPr>
              <a:t>NULL bitmap entries point to the </a:t>
            </a:r>
            <a:r>
              <a:rPr lang="en-US" sz="1050" u="sng" dirty="0">
                <a:solidFill>
                  <a:prstClr val="black"/>
                </a:solidFill>
              </a:rPr>
              <a:t>end</a:t>
            </a:r>
            <a:r>
              <a:rPr lang="en-US" sz="1050" dirty="0">
                <a:solidFill>
                  <a:prstClr val="black"/>
                </a:solidFill>
              </a:rPr>
              <a:t> of the column </a:t>
            </a:r>
            <a:r>
              <a:rPr lang="en-US" sz="1050" dirty="0" smtClean="0">
                <a:solidFill>
                  <a:prstClr val="black"/>
                </a:solidFill>
              </a:rPr>
              <a:t>value.</a:t>
            </a:r>
          </a:p>
          <a:p>
            <a:pPr marL="171450" indent="-171450">
              <a:buFont typeface="Wingdings" pitchFamily="2" charset="2"/>
              <a:buChar char="§"/>
            </a:pPr>
            <a:endParaRPr lang="en-US" sz="1050" dirty="0" smtClean="0">
              <a:solidFill>
                <a:prstClr val="black"/>
              </a:solidFill>
            </a:endParaRPr>
          </a:p>
          <a:p>
            <a:pPr marL="171450" indent="-171450">
              <a:buFont typeface="Wingdings" pitchFamily="2" charset="2"/>
              <a:buChar char="§"/>
            </a:pPr>
            <a:r>
              <a:rPr lang="en-US" sz="1050" dirty="0" smtClean="0">
                <a:solidFill>
                  <a:prstClr val="black"/>
                </a:solidFill>
              </a:rPr>
              <a:t>This </a:t>
            </a:r>
            <a:r>
              <a:rPr lang="en-US" sz="1050" dirty="0">
                <a:solidFill>
                  <a:prstClr val="black"/>
                </a:solidFill>
              </a:rPr>
              <a:t>is done so that we know how long each column is without having to store their length as well</a:t>
            </a:r>
          </a:p>
        </p:txBody>
      </p:sp>
      <p:cxnSp>
        <p:nvCxnSpPr>
          <p:cNvPr id="18" name="17 Conector recto de flecha"/>
          <p:cNvCxnSpPr/>
          <p:nvPr/>
        </p:nvCxnSpPr>
        <p:spPr>
          <a:xfrm flipV="1">
            <a:off x="3733800" y="1674674"/>
            <a:ext cx="0" cy="92358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47 Conector recto de flecha"/>
          <p:cNvCxnSpPr>
            <a:stCxn id="44" idx="0"/>
          </p:cNvCxnSpPr>
          <p:nvPr/>
        </p:nvCxnSpPr>
        <p:spPr>
          <a:xfrm flipV="1">
            <a:off x="4167263" y="1674674"/>
            <a:ext cx="0" cy="92358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49 Conector recto de flecha"/>
          <p:cNvCxnSpPr/>
          <p:nvPr/>
        </p:nvCxnSpPr>
        <p:spPr>
          <a:xfrm flipV="1">
            <a:off x="1184515" y="1674674"/>
            <a:ext cx="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51 Conector recto de flecha"/>
          <p:cNvCxnSpPr/>
          <p:nvPr/>
        </p:nvCxnSpPr>
        <p:spPr>
          <a:xfrm flipV="1">
            <a:off x="1608862" y="1674674"/>
            <a:ext cx="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56 Conector recto"/>
          <p:cNvCxnSpPr/>
          <p:nvPr/>
        </p:nvCxnSpPr>
        <p:spPr>
          <a:xfrm flipV="1">
            <a:off x="5105400" y="2360474"/>
            <a:ext cx="0" cy="956102"/>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58 Conector recto"/>
          <p:cNvCxnSpPr/>
          <p:nvPr/>
        </p:nvCxnSpPr>
        <p:spPr>
          <a:xfrm flipH="1">
            <a:off x="4606102" y="2360474"/>
            <a:ext cx="4992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60 Conector recto de flecha"/>
          <p:cNvCxnSpPr/>
          <p:nvPr/>
        </p:nvCxnSpPr>
        <p:spPr>
          <a:xfrm flipV="1">
            <a:off x="4606102" y="1674674"/>
            <a:ext cx="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62 Conector recto"/>
          <p:cNvCxnSpPr/>
          <p:nvPr/>
        </p:nvCxnSpPr>
        <p:spPr>
          <a:xfrm>
            <a:off x="4956873" y="2017574"/>
            <a:ext cx="131980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66 Conector recto"/>
          <p:cNvCxnSpPr/>
          <p:nvPr/>
        </p:nvCxnSpPr>
        <p:spPr>
          <a:xfrm flipV="1">
            <a:off x="6276679" y="1674674"/>
            <a:ext cx="0" cy="342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68 Conector recto"/>
          <p:cNvCxnSpPr/>
          <p:nvPr/>
        </p:nvCxnSpPr>
        <p:spPr>
          <a:xfrm flipV="1">
            <a:off x="5852332" y="1674674"/>
            <a:ext cx="0" cy="342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70 Conector recto"/>
          <p:cNvCxnSpPr/>
          <p:nvPr/>
        </p:nvCxnSpPr>
        <p:spPr>
          <a:xfrm flipV="1">
            <a:off x="5427985" y="1674674"/>
            <a:ext cx="0" cy="342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72 Conector recto"/>
          <p:cNvCxnSpPr/>
          <p:nvPr/>
        </p:nvCxnSpPr>
        <p:spPr>
          <a:xfrm flipV="1">
            <a:off x="4956873" y="1674674"/>
            <a:ext cx="0" cy="342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74 Conector recto de flecha"/>
          <p:cNvCxnSpPr/>
          <p:nvPr/>
        </p:nvCxnSpPr>
        <p:spPr>
          <a:xfrm>
            <a:off x="5650438" y="2034350"/>
            <a:ext cx="0" cy="240699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7" name="76 Conector recto"/>
          <p:cNvCxnSpPr/>
          <p:nvPr/>
        </p:nvCxnSpPr>
        <p:spPr>
          <a:xfrm flipH="1">
            <a:off x="2033209" y="2017574"/>
            <a:ext cx="12730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78 Conector recto"/>
          <p:cNvCxnSpPr/>
          <p:nvPr/>
        </p:nvCxnSpPr>
        <p:spPr>
          <a:xfrm flipV="1">
            <a:off x="2033209" y="1674674"/>
            <a:ext cx="0" cy="342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80 Conector recto"/>
          <p:cNvCxnSpPr/>
          <p:nvPr/>
        </p:nvCxnSpPr>
        <p:spPr>
          <a:xfrm flipV="1">
            <a:off x="2457556" y="1674674"/>
            <a:ext cx="0" cy="342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82 Conector recto"/>
          <p:cNvCxnSpPr/>
          <p:nvPr/>
        </p:nvCxnSpPr>
        <p:spPr>
          <a:xfrm flipV="1">
            <a:off x="2881903" y="1674674"/>
            <a:ext cx="0" cy="342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84 Conector recto"/>
          <p:cNvCxnSpPr/>
          <p:nvPr/>
        </p:nvCxnSpPr>
        <p:spPr>
          <a:xfrm flipV="1">
            <a:off x="3306250" y="1674674"/>
            <a:ext cx="0" cy="342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88 Conector recto de flecha"/>
          <p:cNvCxnSpPr/>
          <p:nvPr/>
        </p:nvCxnSpPr>
        <p:spPr>
          <a:xfrm>
            <a:off x="2648056" y="2017574"/>
            <a:ext cx="0" cy="16383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1" name="90 CuadroTexto"/>
          <p:cNvSpPr txBox="1"/>
          <p:nvPr/>
        </p:nvSpPr>
        <p:spPr>
          <a:xfrm>
            <a:off x="4956873" y="685800"/>
            <a:ext cx="1253760" cy="400110"/>
          </a:xfrm>
          <a:prstGeom prst="rect">
            <a:avLst/>
          </a:prstGeom>
          <a:noFill/>
        </p:spPr>
        <p:txBody>
          <a:bodyPr wrap="square" rtlCol="0">
            <a:spAutoFit/>
          </a:bodyPr>
          <a:lstStyle/>
          <a:p>
            <a:r>
              <a:rPr lang="en-US" sz="1000" dirty="0" smtClean="0">
                <a:solidFill>
                  <a:prstClr val="black"/>
                </a:solidFill>
              </a:rPr>
              <a:t>Variable length </a:t>
            </a:r>
          </a:p>
          <a:p>
            <a:r>
              <a:rPr lang="en-US" sz="1000" dirty="0" smtClean="0">
                <a:solidFill>
                  <a:prstClr val="black"/>
                </a:solidFill>
              </a:rPr>
              <a:t>Column Offset Array</a:t>
            </a:r>
            <a:endParaRPr lang="en-US" sz="1000" i="1" dirty="0">
              <a:solidFill>
                <a:prstClr val="black"/>
              </a:solidFill>
            </a:endParaRPr>
          </a:p>
        </p:txBody>
      </p:sp>
      <p:sp>
        <p:nvSpPr>
          <p:cNvPr id="92" name="91 CuadroTexto"/>
          <p:cNvSpPr txBox="1"/>
          <p:nvPr/>
        </p:nvSpPr>
        <p:spPr>
          <a:xfrm>
            <a:off x="6510526" y="747355"/>
            <a:ext cx="1752600" cy="246221"/>
          </a:xfrm>
          <a:prstGeom prst="rect">
            <a:avLst/>
          </a:prstGeom>
          <a:noFill/>
        </p:spPr>
        <p:txBody>
          <a:bodyPr wrap="square" rtlCol="0">
            <a:spAutoFit/>
          </a:bodyPr>
          <a:lstStyle/>
          <a:p>
            <a:r>
              <a:rPr lang="en-US" sz="1000" dirty="0" smtClean="0">
                <a:solidFill>
                  <a:prstClr val="black"/>
                </a:solidFill>
              </a:rPr>
              <a:t>Variable length Columns</a:t>
            </a:r>
            <a:endParaRPr lang="en-US" sz="1000" i="1" dirty="0">
              <a:solidFill>
                <a:prstClr val="black"/>
              </a:solidFill>
            </a:endParaRPr>
          </a:p>
        </p:txBody>
      </p:sp>
      <p:sp>
        <p:nvSpPr>
          <p:cNvPr id="53" name="52 CuadroTexto"/>
          <p:cNvSpPr txBox="1"/>
          <p:nvPr/>
        </p:nvSpPr>
        <p:spPr>
          <a:xfrm>
            <a:off x="1757248" y="978066"/>
            <a:ext cx="1844196" cy="246221"/>
          </a:xfrm>
          <a:prstGeom prst="rect">
            <a:avLst/>
          </a:prstGeom>
          <a:noFill/>
        </p:spPr>
        <p:txBody>
          <a:bodyPr wrap="square" rtlCol="0">
            <a:spAutoFit/>
          </a:bodyPr>
          <a:lstStyle/>
          <a:p>
            <a:r>
              <a:rPr lang="en-US" sz="1000" b="1" dirty="0" smtClean="0">
                <a:solidFill>
                  <a:prstClr val="black"/>
                </a:solidFill>
              </a:rPr>
              <a:t>(4 bytes minimum – this varies)</a:t>
            </a:r>
            <a:endParaRPr lang="en-US" sz="1000" b="1" i="1" dirty="0">
              <a:solidFill>
                <a:prstClr val="black"/>
              </a:solidFill>
            </a:endParaRPr>
          </a:p>
        </p:txBody>
      </p:sp>
      <p:grpSp>
        <p:nvGrpSpPr>
          <p:cNvPr id="54" name="53 Grupo"/>
          <p:cNvGrpSpPr/>
          <p:nvPr/>
        </p:nvGrpSpPr>
        <p:grpSpPr>
          <a:xfrm>
            <a:off x="0" y="9525"/>
            <a:ext cx="9153525" cy="408388"/>
            <a:chOff x="0" y="9525"/>
            <a:chExt cx="9153525" cy="408388"/>
          </a:xfrm>
        </p:grpSpPr>
        <p:sp>
          <p:nvSpPr>
            <p:cNvPr id="55" name="54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Storage Internals  |  Record Structure</a:t>
              </a:r>
              <a:endParaRPr lang="en-US" b="1" i="1" dirty="0">
                <a:solidFill>
                  <a:schemeClr val="bg1"/>
                </a:solidFill>
              </a:endParaRPr>
            </a:p>
          </p:txBody>
        </p:sp>
        <p:pic>
          <p:nvPicPr>
            <p:cNvPr id="56" name="55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5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0" name="59 Grupo"/>
          <p:cNvGrpSpPr/>
          <p:nvPr/>
        </p:nvGrpSpPr>
        <p:grpSpPr>
          <a:xfrm>
            <a:off x="9525" y="6574392"/>
            <a:ext cx="9134399" cy="277000"/>
            <a:chOff x="9525" y="6574392"/>
            <a:chExt cx="9134399" cy="277000"/>
          </a:xfrm>
        </p:grpSpPr>
        <p:sp>
          <p:nvSpPr>
            <p:cNvPr id="62" name="6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64" name="63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236596132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2849" y="762000"/>
            <a:ext cx="9144000" cy="4278094"/>
          </a:xfrm>
          <a:prstGeom prst="rect">
            <a:avLst/>
          </a:prstGeom>
          <a:noFill/>
        </p:spPr>
        <p:txBody>
          <a:bodyPr wrap="square" rtlCol="0">
            <a:spAutoFit/>
          </a:bodyPr>
          <a:lstStyle/>
          <a:p>
            <a:r>
              <a:rPr lang="en-US" sz="1600" b="1" dirty="0" smtClean="0">
                <a:solidFill>
                  <a:prstClr val="black"/>
                </a:solidFill>
              </a:rPr>
              <a:t>Data Pages</a:t>
            </a:r>
          </a:p>
          <a:p>
            <a:pPr marL="285750" indent="-285750">
              <a:buFont typeface="Wingdings" pitchFamily="2" charset="2"/>
              <a:buChar char="Ø"/>
            </a:pPr>
            <a:r>
              <a:rPr lang="en-US" sz="1600" dirty="0" smtClean="0">
                <a:solidFill>
                  <a:prstClr val="black"/>
                </a:solidFill>
              </a:rPr>
              <a:t>Store Data Records</a:t>
            </a:r>
          </a:p>
          <a:p>
            <a:pPr marL="285750" indent="-285750">
              <a:buFont typeface="Wingdings" pitchFamily="2" charset="2"/>
              <a:buChar char="Ø"/>
            </a:pPr>
            <a:r>
              <a:rPr lang="en-US" sz="1600" dirty="0" smtClean="0">
                <a:solidFill>
                  <a:prstClr val="black"/>
                </a:solidFill>
              </a:rPr>
              <a:t>They occur in a heap, or leaf-level of a Clustered Index</a:t>
            </a:r>
          </a:p>
          <a:p>
            <a:endParaRPr lang="en-US" sz="1600" dirty="0">
              <a:solidFill>
                <a:prstClr val="black"/>
              </a:solidFill>
            </a:endParaRPr>
          </a:p>
          <a:p>
            <a:r>
              <a:rPr lang="en-US" sz="1600" b="1" dirty="0" smtClean="0">
                <a:solidFill>
                  <a:prstClr val="black"/>
                </a:solidFill>
              </a:rPr>
              <a:t>Index Pages</a:t>
            </a:r>
          </a:p>
          <a:p>
            <a:pPr marL="285750" indent="-285750">
              <a:buFont typeface="Wingdings" pitchFamily="2" charset="2"/>
              <a:buChar char="Ø"/>
            </a:pPr>
            <a:r>
              <a:rPr lang="en-US" sz="1600" dirty="0" smtClean="0">
                <a:solidFill>
                  <a:prstClr val="black"/>
                </a:solidFill>
              </a:rPr>
              <a:t>Store Index Records</a:t>
            </a:r>
          </a:p>
          <a:p>
            <a:pPr marL="285750" indent="-285750">
              <a:buFont typeface="Wingdings" pitchFamily="2" charset="2"/>
              <a:buChar char="Ø"/>
            </a:pPr>
            <a:r>
              <a:rPr lang="en-US" sz="1600" dirty="0" smtClean="0">
                <a:solidFill>
                  <a:prstClr val="black"/>
                </a:solidFill>
              </a:rPr>
              <a:t>Occur in Leaf level of Non-Clustered Indexes</a:t>
            </a:r>
          </a:p>
          <a:p>
            <a:pPr marL="285750" indent="-285750">
              <a:buFont typeface="Wingdings" pitchFamily="2" charset="2"/>
              <a:buChar char="Ø"/>
            </a:pPr>
            <a:r>
              <a:rPr lang="en-US" sz="1600" dirty="0">
                <a:solidFill>
                  <a:prstClr val="black"/>
                </a:solidFill>
              </a:rPr>
              <a:t>Occur in </a:t>
            </a:r>
            <a:r>
              <a:rPr lang="en-US" sz="1600" dirty="0" smtClean="0">
                <a:solidFill>
                  <a:prstClr val="black"/>
                </a:solidFill>
              </a:rPr>
              <a:t>Non-Leaf level of all index types</a:t>
            </a:r>
          </a:p>
          <a:p>
            <a:endParaRPr lang="en-US" sz="1600" dirty="0">
              <a:solidFill>
                <a:prstClr val="black"/>
              </a:solidFill>
            </a:endParaRPr>
          </a:p>
          <a:p>
            <a:r>
              <a:rPr lang="en-US" sz="1600" b="1" dirty="0" smtClean="0">
                <a:solidFill>
                  <a:prstClr val="black"/>
                </a:solidFill>
              </a:rPr>
              <a:t>Text Pages</a:t>
            </a:r>
          </a:p>
          <a:p>
            <a:pPr marL="285750" indent="-285750">
              <a:buFont typeface="Wingdings" pitchFamily="2" charset="2"/>
              <a:buChar char="Ø"/>
            </a:pPr>
            <a:r>
              <a:rPr lang="en-US" sz="1600" dirty="0" smtClean="0">
                <a:solidFill>
                  <a:prstClr val="black"/>
                </a:solidFill>
              </a:rPr>
              <a:t>Store Text Records (off-row LOB values)</a:t>
            </a:r>
          </a:p>
          <a:p>
            <a:pPr marL="742950" lvl="1" indent="-285750">
              <a:buFont typeface="Wingdings" pitchFamily="2" charset="2"/>
              <a:buChar char="Ø"/>
            </a:pPr>
            <a:r>
              <a:rPr lang="en-US" sz="1600" b="1" dirty="0" smtClean="0">
                <a:solidFill>
                  <a:prstClr val="black"/>
                </a:solidFill>
              </a:rPr>
              <a:t>Text Tree</a:t>
            </a:r>
          </a:p>
          <a:p>
            <a:pPr lvl="1"/>
            <a:r>
              <a:rPr lang="en-US" sz="1600" dirty="0" smtClean="0">
                <a:solidFill>
                  <a:prstClr val="black"/>
                </a:solidFill>
              </a:rPr>
              <a:t>      Used when values are larger than 8K</a:t>
            </a:r>
          </a:p>
          <a:p>
            <a:pPr marL="742950" lvl="1" indent="-285750">
              <a:buFont typeface="Wingdings" pitchFamily="2" charset="2"/>
              <a:buChar char="Ø"/>
            </a:pPr>
            <a:endParaRPr lang="en-US" sz="1600" dirty="0" smtClean="0">
              <a:solidFill>
                <a:prstClr val="black"/>
              </a:solidFill>
            </a:endParaRPr>
          </a:p>
          <a:p>
            <a:pPr marL="742950" lvl="1" indent="-285750">
              <a:buFont typeface="Wingdings" pitchFamily="2" charset="2"/>
              <a:buChar char="Ø"/>
            </a:pPr>
            <a:r>
              <a:rPr lang="en-US" sz="1600" b="1" dirty="0" smtClean="0">
                <a:solidFill>
                  <a:prstClr val="black"/>
                </a:solidFill>
              </a:rPr>
              <a:t>Text Mix</a:t>
            </a:r>
          </a:p>
          <a:p>
            <a:pPr lvl="1"/>
            <a:r>
              <a:rPr lang="en-US" sz="1600" dirty="0" smtClean="0">
                <a:solidFill>
                  <a:prstClr val="black"/>
                </a:solidFill>
              </a:rPr>
              <a:t>      Used to store multiple values when they are less than 8K</a:t>
            </a:r>
          </a:p>
          <a:p>
            <a:endParaRPr lang="en-US" sz="1600" dirty="0">
              <a:solidFill>
                <a:prstClr val="black"/>
              </a:solidFill>
            </a:endParaRPr>
          </a:p>
        </p:txBody>
      </p:sp>
      <p:grpSp>
        <p:nvGrpSpPr>
          <p:cNvPr id="5" name="4 Grupo"/>
          <p:cNvGrpSpPr/>
          <p:nvPr/>
        </p:nvGrpSpPr>
        <p:grpSpPr>
          <a:xfrm>
            <a:off x="9525" y="6574392"/>
            <a:ext cx="9134399" cy="277000"/>
            <a:chOff x="9525" y="6574392"/>
            <a:chExt cx="9134399" cy="277000"/>
          </a:xfrm>
        </p:grpSpPr>
        <p:sp>
          <p:nvSpPr>
            <p:cNvPr id="6" name="5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7" name="6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8" name="7 Grupo"/>
          <p:cNvGrpSpPr/>
          <p:nvPr/>
        </p:nvGrpSpPr>
        <p:grpSpPr>
          <a:xfrm>
            <a:off x="0" y="9525"/>
            <a:ext cx="9153525" cy="408388"/>
            <a:chOff x="0" y="9525"/>
            <a:chExt cx="9153525" cy="408388"/>
          </a:xfrm>
        </p:grpSpPr>
        <p:sp>
          <p:nvSpPr>
            <p:cNvPr id="9" name="8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Storage Internals  |  Page Types</a:t>
              </a:r>
              <a:endParaRPr lang="en-US" b="1" i="1" dirty="0">
                <a:solidFill>
                  <a:schemeClr val="bg1"/>
                </a:solidFill>
              </a:endParaRPr>
            </a:p>
          </p:txBody>
        </p:sp>
        <p:pic>
          <p:nvPicPr>
            <p:cNvPr id="10" name="9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10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9964656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2849" y="685800"/>
            <a:ext cx="9144000" cy="3539430"/>
          </a:xfrm>
          <a:prstGeom prst="rect">
            <a:avLst/>
          </a:prstGeom>
          <a:noFill/>
        </p:spPr>
        <p:txBody>
          <a:bodyPr wrap="square" rtlCol="0">
            <a:spAutoFit/>
          </a:bodyPr>
          <a:lstStyle/>
          <a:p>
            <a:r>
              <a:rPr lang="en-US" sz="1600" b="1" dirty="0" smtClean="0">
                <a:solidFill>
                  <a:prstClr val="black"/>
                </a:solidFill>
              </a:rPr>
              <a:t>Sort Pages</a:t>
            </a:r>
          </a:p>
          <a:p>
            <a:pPr marL="285750" indent="-285750">
              <a:buFont typeface="Wingdings" pitchFamily="2" charset="2"/>
              <a:buChar char="Ø"/>
            </a:pPr>
            <a:r>
              <a:rPr lang="en-US" sz="1600" dirty="0" smtClean="0">
                <a:solidFill>
                  <a:prstClr val="black"/>
                </a:solidFill>
              </a:rPr>
              <a:t>They are located in </a:t>
            </a:r>
            <a:r>
              <a:rPr lang="en-US" sz="1600" dirty="0" err="1" smtClean="0">
                <a:solidFill>
                  <a:prstClr val="black"/>
                </a:solidFill>
              </a:rPr>
              <a:t>TempDB</a:t>
            </a:r>
            <a:r>
              <a:rPr lang="en-US" sz="1600" dirty="0" smtClean="0">
                <a:solidFill>
                  <a:prstClr val="black"/>
                </a:solidFill>
              </a:rPr>
              <a:t> and they are used to support sort operations</a:t>
            </a:r>
          </a:p>
          <a:p>
            <a:pPr marL="285750" indent="-285750">
              <a:buFont typeface="Wingdings" pitchFamily="2" charset="2"/>
              <a:buChar char="Ø"/>
            </a:pPr>
            <a:r>
              <a:rPr lang="en-US" sz="1600" dirty="0" smtClean="0">
                <a:solidFill>
                  <a:prstClr val="black"/>
                </a:solidFill>
              </a:rPr>
              <a:t>They store </a:t>
            </a:r>
            <a:r>
              <a:rPr lang="en-US" sz="1600" dirty="0">
                <a:solidFill>
                  <a:prstClr val="black"/>
                </a:solidFill>
              </a:rPr>
              <a:t>intermediate results during a sort operation</a:t>
            </a:r>
            <a:endParaRPr lang="en-US" sz="1600" dirty="0" smtClean="0">
              <a:solidFill>
                <a:prstClr val="black"/>
              </a:solidFill>
            </a:endParaRPr>
          </a:p>
          <a:p>
            <a:endParaRPr lang="en-US" sz="1600" dirty="0">
              <a:solidFill>
                <a:prstClr val="black"/>
              </a:solidFill>
            </a:endParaRPr>
          </a:p>
          <a:p>
            <a:r>
              <a:rPr lang="en-US" sz="1600" b="1" dirty="0">
                <a:solidFill>
                  <a:prstClr val="black"/>
                </a:solidFill>
              </a:rPr>
              <a:t>Boot Pages</a:t>
            </a:r>
          </a:p>
          <a:p>
            <a:pPr marL="285750" indent="-285750">
              <a:buFont typeface="Wingdings" pitchFamily="2" charset="2"/>
              <a:buChar char="Ø"/>
            </a:pPr>
            <a:r>
              <a:rPr lang="en-US" sz="1600" dirty="0" smtClean="0">
                <a:solidFill>
                  <a:prstClr val="black"/>
                </a:solidFill>
              </a:rPr>
              <a:t>There is only </a:t>
            </a:r>
            <a:r>
              <a:rPr lang="en-US" sz="1600" b="1" dirty="0" smtClean="0">
                <a:solidFill>
                  <a:prstClr val="black"/>
                </a:solidFill>
              </a:rPr>
              <a:t>ONE</a:t>
            </a:r>
            <a:r>
              <a:rPr lang="en-US" sz="1600" dirty="0" smtClean="0">
                <a:solidFill>
                  <a:prstClr val="black"/>
                </a:solidFill>
              </a:rPr>
              <a:t> Boot Page per database. It is </a:t>
            </a:r>
            <a:r>
              <a:rPr lang="en-US" sz="1600" dirty="0" smtClean="0">
                <a:solidFill>
                  <a:srgbClr val="0000FF"/>
                </a:solidFill>
              </a:rPr>
              <a:t>page 1:9</a:t>
            </a:r>
            <a:endParaRPr lang="en-US" sz="1600" dirty="0">
              <a:solidFill>
                <a:srgbClr val="0000FF"/>
              </a:solidFill>
            </a:endParaRPr>
          </a:p>
          <a:p>
            <a:pPr marL="285750" indent="-285750">
              <a:buFont typeface="Wingdings" pitchFamily="2" charset="2"/>
              <a:buChar char="Ø"/>
            </a:pPr>
            <a:r>
              <a:rPr lang="en-US" sz="1600" dirty="0">
                <a:solidFill>
                  <a:prstClr val="black"/>
                </a:solidFill>
              </a:rPr>
              <a:t>Stores base metadata about the database as a whole</a:t>
            </a:r>
          </a:p>
          <a:p>
            <a:endParaRPr lang="en-US" sz="1600" dirty="0">
              <a:solidFill>
                <a:prstClr val="black"/>
              </a:solidFill>
            </a:endParaRPr>
          </a:p>
          <a:p>
            <a:r>
              <a:rPr lang="en-US" sz="1600" b="1" dirty="0" smtClean="0">
                <a:solidFill>
                  <a:prstClr val="black"/>
                </a:solidFill>
              </a:rPr>
              <a:t>File Header Pages</a:t>
            </a:r>
            <a:endParaRPr lang="en-US" sz="1600" b="1" dirty="0">
              <a:solidFill>
                <a:prstClr val="black"/>
              </a:solidFill>
            </a:endParaRPr>
          </a:p>
          <a:p>
            <a:pPr marL="285750" indent="-285750">
              <a:buFont typeface="Wingdings" pitchFamily="2" charset="2"/>
              <a:buChar char="Ø"/>
            </a:pPr>
            <a:r>
              <a:rPr lang="en-US" sz="1600" dirty="0" smtClean="0">
                <a:solidFill>
                  <a:prstClr val="black"/>
                </a:solidFill>
              </a:rPr>
              <a:t>One per Data File, always the first page</a:t>
            </a:r>
            <a:endParaRPr lang="en-US" sz="1600" dirty="0">
              <a:solidFill>
                <a:prstClr val="black"/>
              </a:solidFill>
            </a:endParaRPr>
          </a:p>
          <a:p>
            <a:pPr marL="285750" indent="-285750">
              <a:buFont typeface="Wingdings" pitchFamily="2" charset="2"/>
              <a:buChar char="Ø"/>
            </a:pPr>
            <a:r>
              <a:rPr lang="en-US" sz="1600" dirty="0">
                <a:solidFill>
                  <a:prstClr val="black"/>
                </a:solidFill>
              </a:rPr>
              <a:t>Stores </a:t>
            </a:r>
            <a:r>
              <a:rPr lang="en-US" sz="1600" dirty="0" smtClean="0">
                <a:solidFill>
                  <a:prstClr val="black"/>
                </a:solidFill>
              </a:rPr>
              <a:t>metadata </a:t>
            </a:r>
            <a:r>
              <a:rPr lang="en-US" sz="1600" dirty="0">
                <a:solidFill>
                  <a:prstClr val="black"/>
                </a:solidFill>
              </a:rPr>
              <a:t>about the </a:t>
            </a:r>
            <a:r>
              <a:rPr lang="en-US" sz="1600" dirty="0" smtClean="0">
                <a:solidFill>
                  <a:prstClr val="black"/>
                </a:solidFill>
              </a:rPr>
              <a:t>data file(s)</a:t>
            </a:r>
            <a:endParaRPr lang="en-US" sz="1600" dirty="0">
              <a:solidFill>
                <a:prstClr val="black"/>
              </a:solidFill>
            </a:endParaRPr>
          </a:p>
          <a:p>
            <a:endParaRPr lang="en-US" sz="1600" dirty="0" smtClean="0">
              <a:solidFill>
                <a:prstClr val="black"/>
              </a:solidFill>
            </a:endParaRPr>
          </a:p>
          <a:p>
            <a:r>
              <a:rPr lang="en-US" sz="1600" b="1" dirty="0" smtClean="0">
                <a:solidFill>
                  <a:prstClr val="black"/>
                </a:solidFill>
              </a:rPr>
              <a:t>Allocation Bitmaps</a:t>
            </a:r>
          </a:p>
          <a:p>
            <a:pPr marL="285750" indent="-285750">
              <a:buFont typeface="Wingdings" pitchFamily="2" charset="2"/>
              <a:buChar char="Ø"/>
            </a:pPr>
            <a:r>
              <a:rPr lang="en-US" sz="1600" dirty="0" smtClean="0">
                <a:solidFill>
                  <a:prstClr val="black"/>
                </a:solidFill>
              </a:rPr>
              <a:t>PFS, GAM, SGAM, IAM, DIFF_MAP, ML_MAP</a:t>
            </a:r>
            <a:endParaRPr lang="en-US" sz="1600" dirty="0">
              <a:solidFill>
                <a:prstClr val="black"/>
              </a:solidFill>
            </a:endParaRPr>
          </a:p>
        </p:txBody>
      </p:sp>
      <p:grpSp>
        <p:nvGrpSpPr>
          <p:cNvPr id="5" name="4 Grupo"/>
          <p:cNvGrpSpPr/>
          <p:nvPr/>
        </p:nvGrpSpPr>
        <p:grpSpPr>
          <a:xfrm>
            <a:off x="9525" y="6574392"/>
            <a:ext cx="9134399" cy="277000"/>
            <a:chOff x="9525" y="6574392"/>
            <a:chExt cx="9134399" cy="277000"/>
          </a:xfrm>
        </p:grpSpPr>
        <p:sp>
          <p:nvSpPr>
            <p:cNvPr id="6" name="5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7" name="6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8" name="7 Grupo"/>
          <p:cNvGrpSpPr/>
          <p:nvPr/>
        </p:nvGrpSpPr>
        <p:grpSpPr>
          <a:xfrm>
            <a:off x="0" y="9525"/>
            <a:ext cx="9153525" cy="408388"/>
            <a:chOff x="0" y="9525"/>
            <a:chExt cx="9153525" cy="408388"/>
          </a:xfrm>
        </p:grpSpPr>
        <p:sp>
          <p:nvSpPr>
            <p:cNvPr id="9" name="8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Storage Internals  |  Page Types</a:t>
              </a:r>
              <a:endParaRPr lang="en-US" b="1" i="1" dirty="0">
                <a:solidFill>
                  <a:schemeClr val="bg1"/>
                </a:solidFill>
              </a:endParaRPr>
            </a:p>
          </p:txBody>
        </p:sp>
        <p:pic>
          <p:nvPicPr>
            <p:cNvPr id="10" name="9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10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841386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2500" y="3629025"/>
            <a:ext cx="5257800" cy="2764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7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182" y="657225"/>
            <a:ext cx="6701691"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 name="4 Grupo"/>
          <p:cNvGrpSpPr/>
          <p:nvPr/>
        </p:nvGrpSpPr>
        <p:grpSpPr>
          <a:xfrm>
            <a:off x="0" y="9525"/>
            <a:ext cx="9153525" cy="408388"/>
            <a:chOff x="0" y="9525"/>
            <a:chExt cx="9153525" cy="408388"/>
          </a:xfrm>
        </p:grpSpPr>
        <p:sp>
          <p:nvSpPr>
            <p:cNvPr id="6" name="5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Structure of a SQL Server Page</a:t>
              </a:r>
              <a:endParaRPr lang="en-US" b="1" i="1" dirty="0">
                <a:solidFill>
                  <a:schemeClr val="bg1"/>
                </a:solidFill>
              </a:endParaRPr>
            </a:p>
          </p:txBody>
        </p:sp>
        <p:pic>
          <p:nvPicPr>
            <p:cNvPr id="7" name="6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 name="8 Grupo"/>
          <p:cNvGrpSpPr/>
          <p:nvPr/>
        </p:nvGrpSpPr>
        <p:grpSpPr>
          <a:xfrm>
            <a:off x="9525" y="6574392"/>
            <a:ext cx="9134399" cy="277000"/>
            <a:chOff x="9525" y="6574392"/>
            <a:chExt cx="9134399" cy="277000"/>
          </a:xfrm>
        </p:grpSpPr>
        <p:sp>
          <p:nvSpPr>
            <p:cNvPr id="10" name="9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1" name="10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08986997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0" y="609600"/>
            <a:ext cx="9144000" cy="1600438"/>
          </a:xfrm>
          <a:prstGeom prst="rect">
            <a:avLst/>
          </a:prstGeom>
          <a:noFill/>
        </p:spPr>
        <p:txBody>
          <a:bodyPr wrap="square" rtlCol="0">
            <a:spAutoFit/>
          </a:bodyPr>
          <a:lstStyle/>
          <a:p>
            <a:r>
              <a:rPr lang="en-US" sz="1400" b="1" dirty="0">
                <a:solidFill>
                  <a:prstClr val="black"/>
                </a:solidFill>
              </a:rPr>
              <a:t>Fixed column length (IN_ROW_DATA</a:t>
            </a:r>
            <a:r>
              <a:rPr lang="en-US" sz="1400" b="1" dirty="0" smtClean="0">
                <a:solidFill>
                  <a:prstClr val="black"/>
                </a:solidFill>
              </a:rPr>
              <a:t>)</a:t>
            </a:r>
          </a:p>
          <a:p>
            <a:pPr marL="742950" lvl="1" indent="-285750">
              <a:buFont typeface="Wingdings" pitchFamily="2" charset="2"/>
              <a:buChar char="Ø"/>
            </a:pPr>
            <a:r>
              <a:rPr lang="en-US" sz="1400" dirty="0" smtClean="0">
                <a:solidFill>
                  <a:prstClr val="black"/>
                </a:solidFill>
              </a:rPr>
              <a:t>Maximum = 8,060 bytes   - as per SQL Server architecture</a:t>
            </a:r>
          </a:p>
          <a:p>
            <a:pPr marL="742950" lvl="1" indent="-285750">
              <a:buFont typeface="Wingdings" pitchFamily="2" charset="2"/>
              <a:buChar char="Ø"/>
            </a:pPr>
            <a:r>
              <a:rPr lang="en-US" sz="1400" dirty="0" smtClean="0">
                <a:solidFill>
                  <a:prstClr val="black"/>
                </a:solidFill>
              </a:rPr>
              <a:t>7 bytes of </a:t>
            </a:r>
            <a:r>
              <a:rPr lang="en-US" sz="1400" u="sng" dirty="0" smtClean="0">
                <a:solidFill>
                  <a:prstClr val="black"/>
                </a:solidFill>
              </a:rPr>
              <a:t>minimum</a:t>
            </a:r>
            <a:r>
              <a:rPr lang="en-US" sz="1400" dirty="0" smtClean="0">
                <a:solidFill>
                  <a:prstClr val="black"/>
                </a:solidFill>
              </a:rPr>
              <a:t> row overhead</a:t>
            </a:r>
            <a:endParaRPr lang="en-US" sz="1400" dirty="0">
              <a:solidFill>
                <a:prstClr val="black"/>
              </a:solidFill>
            </a:endParaRPr>
          </a:p>
          <a:p>
            <a:pPr marL="1200150" lvl="2" indent="-285750">
              <a:buFont typeface="Wingdings" pitchFamily="2" charset="2"/>
              <a:buChar char="ü"/>
            </a:pPr>
            <a:r>
              <a:rPr lang="en-US" sz="1400" dirty="0" smtClean="0">
                <a:solidFill>
                  <a:prstClr val="black"/>
                </a:solidFill>
              </a:rPr>
              <a:t>2 Bytes = </a:t>
            </a:r>
            <a:r>
              <a:rPr lang="en-US" sz="1400" dirty="0">
                <a:solidFill>
                  <a:prstClr val="black"/>
                </a:solidFill>
              </a:rPr>
              <a:t>Status Bits </a:t>
            </a:r>
            <a:r>
              <a:rPr lang="en-US" sz="1400" dirty="0" smtClean="0">
                <a:solidFill>
                  <a:prstClr val="black"/>
                </a:solidFill>
                <a:sym typeface="Wingdings" pitchFamily="2" charset="2"/>
              </a:rPr>
              <a:t></a:t>
            </a:r>
            <a:r>
              <a:rPr lang="en-US" sz="1400" dirty="0" smtClean="0">
                <a:solidFill>
                  <a:prstClr val="black"/>
                </a:solidFill>
              </a:rPr>
              <a:t> </a:t>
            </a:r>
            <a:r>
              <a:rPr lang="en-US" sz="1400" dirty="0" err="1" smtClean="0">
                <a:solidFill>
                  <a:prstClr val="black"/>
                </a:solidFill>
              </a:rPr>
              <a:t>TagA</a:t>
            </a:r>
            <a:r>
              <a:rPr lang="en-US" sz="1400" dirty="0" smtClean="0">
                <a:solidFill>
                  <a:prstClr val="black"/>
                </a:solidFill>
              </a:rPr>
              <a:t> + </a:t>
            </a:r>
            <a:r>
              <a:rPr lang="en-US" sz="1400" dirty="0" err="1" smtClean="0">
                <a:solidFill>
                  <a:prstClr val="black"/>
                </a:solidFill>
              </a:rPr>
              <a:t>TagB</a:t>
            </a:r>
            <a:endParaRPr lang="en-US" sz="1400" dirty="0">
              <a:solidFill>
                <a:prstClr val="black"/>
              </a:solidFill>
            </a:endParaRPr>
          </a:p>
          <a:p>
            <a:pPr marL="1200150" lvl="2" indent="-285750">
              <a:buFont typeface="Wingdings" pitchFamily="2" charset="2"/>
              <a:buChar char="ü"/>
            </a:pPr>
            <a:r>
              <a:rPr lang="en-US" sz="1400" dirty="0" smtClean="0">
                <a:solidFill>
                  <a:prstClr val="black"/>
                </a:solidFill>
              </a:rPr>
              <a:t>2 Bytes = </a:t>
            </a:r>
            <a:r>
              <a:rPr lang="en-US" sz="1400" dirty="0">
                <a:solidFill>
                  <a:prstClr val="black"/>
                </a:solidFill>
              </a:rPr>
              <a:t>Offset to which the fixed data is stored</a:t>
            </a:r>
          </a:p>
          <a:p>
            <a:pPr marL="1200150" lvl="2" indent="-285750">
              <a:buFont typeface="Wingdings" pitchFamily="2" charset="2"/>
              <a:buChar char="ü"/>
            </a:pPr>
            <a:r>
              <a:rPr lang="en-US" sz="1400" dirty="0" smtClean="0">
                <a:solidFill>
                  <a:prstClr val="black"/>
                </a:solidFill>
              </a:rPr>
              <a:t>2 Bytes = </a:t>
            </a:r>
            <a:r>
              <a:rPr lang="en-US" sz="1400" dirty="0">
                <a:solidFill>
                  <a:prstClr val="black"/>
                </a:solidFill>
              </a:rPr>
              <a:t>Column count</a:t>
            </a:r>
          </a:p>
          <a:p>
            <a:pPr marL="1200150" lvl="2" indent="-285750">
              <a:buFont typeface="Wingdings" pitchFamily="2" charset="2"/>
              <a:buChar char="ü"/>
            </a:pPr>
            <a:r>
              <a:rPr lang="en-US" sz="1400" dirty="0" smtClean="0">
                <a:solidFill>
                  <a:prstClr val="black"/>
                </a:solidFill>
              </a:rPr>
              <a:t>1 </a:t>
            </a:r>
            <a:r>
              <a:rPr lang="en-US" sz="1400" dirty="0">
                <a:solidFill>
                  <a:prstClr val="black"/>
                </a:solidFill>
              </a:rPr>
              <a:t>Byte </a:t>
            </a:r>
            <a:r>
              <a:rPr lang="en-US" sz="1400" dirty="0" smtClean="0">
                <a:solidFill>
                  <a:prstClr val="black"/>
                </a:solidFill>
              </a:rPr>
              <a:t>  = NULL </a:t>
            </a:r>
            <a:r>
              <a:rPr lang="en-US" sz="1400" dirty="0">
                <a:solidFill>
                  <a:prstClr val="black"/>
                </a:solidFill>
              </a:rPr>
              <a:t>bitmap </a:t>
            </a:r>
            <a:r>
              <a:rPr lang="en-US" sz="1400" dirty="0" smtClean="0">
                <a:solidFill>
                  <a:prstClr val="black"/>
                </a:solidFill>
              </a:rPr>
              <a:t>mask </a:t>
            </a:r>
            <a:r>
              <a:rPr lang="en-US" sz="1400" dirty="0">
                <a:solidFill>
                  <a:prstClr val="black"/>
                </a:solidFill>
              </a:rPr>
              <a:t>(minimum</a:t>
            </a:r>
            <a:r>
              <a:rPr lang="en-US" sz="1400" dirty="0" smtClean="0">
                <a:solidFill>
                  <a:prstClr val="black"/>
                </a:solidFill>
              </a:rPr>
              <a:t>)</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99" y="5105400"/>
            <a:ext cx="6867525"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76" y="3352800"/>
            <a:ext cx="6553200" cy="139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CuadroTexto"/>
          <p:cNvSpPr txBox="1"/>
          <p:nvPr/>
        </p:nvSpPr>
        <p:spPr>
          <a:xfrm>
            <a:off x="0" y="2362200"/>
            <a:ext cx="9144000" cy="369332"/>
          </a:xfrm>
          <a:prstGeom prst="rect">
            <a:avLst/>
          </a:prstGeom>
          <a:solidFill>
            <a:schemeClr val="accent3"/>
          </a:solidFill>
        </p:spPr>
        <p:txBody>
          <a:bodyPr wrap="square" rtlCol="0">
            <a:spAutoFit/>
          </a:bodyPr>
          <a:lstStyle/>
          <a:p>
            <a:pPr algn="ctr"/>
            <a:r>
              <a:rPr lang="en-US" dirty="0" smtClean="0">
                <a:solidFill>
                  <a:prstClr val="black"/>
                </a:solidFill>
              </a:rPr>
              <a:t>Net Payload = 8,053 bytes</a:t>
            </a:r>
            <a:endParaRPr lang="en-US" dirty="0">
              <a:solidFill>
                <a:prstClr val="black"/>
              </a:solidFill>
            </a:endParaRPr>
          </a:p>
        </p:txBody>
      </p:sp>
      <p:sp>
        <p:nvSpPr>
          <p:cNvPr id="5" name="4 Flecha abajo"/>
          <p:cNvSpPr/>
          <p:nvPr/>
        </p:nvSpPr>
        <p:spPr>
          <a:xfrm>
            <a:off x="3917535" y="2845393"/>
            <a:ext cx="228600" cy="381000"/>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8" name="7 Grupo"/>
          <p:cNvGrpSpPr/>
          <p:nvPr/>
        </p:nvGrpSpPr>
        <p:grpSpPr>
          <a:xfrm>
            <a:off x="9525" y="6574392"/>
            <a:ext cx="9134399" cy="277000"/>
            <a:chOff x="9525" y="6574392"/>
            <a:chExt cx="9134399" cy="277000"/>
          </a:xfrm>
        </p:grpSpPr>
        <p:sp>
          <p:nvSpPr>
            <p:cNvPr id="9" name="8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0" name="9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1" name="10 Grupo"/>
          <p:cNvGrpSpPr/>
          <p:nvPr/>
        </p:nvGrpSpPr>
        <p:grpSpPr>
          <a:xfrm>
            <a:off x="0" y="9525"/>
            <a:ext cx="9153525" cy="408388"/>
            <a:chOff x="0" y="9525"/>
            <a:chExt cx="9153525" cy="408388"/>
          </a:xfrm>
        </p:grpSpPr>
        <p:sp>
          <p:nvSpPr>
            <p:cNvPr id="12" name="11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Data Page Restrictions</a:t>
              </a:r>
              <a:endParaRPr lang="en-US" b="1" i="1" dirty="0">
                <a:solidFill>
                  <a:schemeClr val="bg1"/>
                </a:solidFill>
              </a:endParaRPr>
            </a:p>
          </p:txBody>
        </p:sp>
        <p:pic>
          <p:nvPicPr>
            <p:cNvPr id="13" name="12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13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5042713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1781" y="2362200"/>
            <a:ext cx="9144000" cy="2246769"/>
          </a:xfrm>
          <a:prstGeom prst="rect">
            <a:avLst/>
          </a:prstGeom>
          <a:noFill/>
        </p:spPr>
        <p:txBody>
          <a:bodyPr wrap="square" rtlCol="0">
            <a:spAutoFit/>
          </a:bodyPr>
          <a:lstStyle/>
          <a:p>
            <a:r>
              <a:rPr lang="en-US" sz="1400" b="1" dirty="0" smtClean="0">
                <a:solidFill>
                  <a:prstClr val="black"/>
                </a:solidFill>
              </a:rPr>
              <a:t>What is their goal?</a:t>
            </a: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Primarily, they are intended to keep the database from becoming fragmented.</a:t>
            </a:r>
          </a:p>
          <a:p>
            <a:pPr marL="285750" indent="-285750">
              <a:buFont typeface="Wingdings" pitchFamily="2" charset="2"/>
              <a:buChar char="Ø"/>
            </a:pPr>
            <a:r>
              <a:rPr lang="en-US" sz="1400" dirty="0" smtClean="0">
                <a:solidFill>
                  <a:prstClr val="black"/>
                </a:solidFill>
              </a:rPr>
              <a:t>Fragmentation means that pages that belong together are scattered throughout the database file.</a:t>
            </a:r>
          </a:p>
          <a:p>
            <a:pPr marL="285750" indent="-285750">
              <a:buFont typeface="Wingdings" pitchFamily="2" charset="2"/>
              <a:buChar char="Ø"/>
            </a:pPr>
            <a:r>
              <a:rPr lang="en-US" sz="1400" dirty="0" smtClean="0">
                <a:solidFill>
                  <a:prstClr val="black"/>
                </a:solidFill>
              </a:rPr>
              <a:t>To prevent fragmentation, SQL Server assigns space to tables and indexes in </a:t>
            </a:r>
            <a:r>
              <a:rPr lang="en-US" sz="1400" b="1" dirty="0" smtClean="0">
                <a:solidFill>
                  <a:prstClr val="black"/>
                </a:solidFill>
              </a:rPr>
              <a:t>Extents</a:t>
            </a:r>
            <a:r>
              <a:rPr lang="en-US" sz="1400" dirty="0" smtClean="0">
                <a:solidFill>
                  <a:prstClr val="black"/>
                </a:solidFill>
              </a:rPr>
              <a:t>.</a:t>
            </a:r>
          </a:p>
          <a:p>
            <a:pPr marL="285750" indent="-285750">
              <a:buFont typeface="Wingdings" pitchFamily="2" charset="2"/>
              <a:buChar char="Ø"/>
            </a:pPr>
            <a:r>
              <a:rPr lang="en-US" sz="1400" dirty="0" smtClean="0">
                <a:solidFill>
                  <a:prstClr val="black"/>
                </a:solidFill>
              </a:rPr>
              <a:t> That way, at least 8 of the pages </a:t>
            </a:r>
            <a:r>
              <a:rPr lang="en-US" sz="1400" b="1" u="sng" dirty="0" smtClean="0">
                <a:solidFill>
                  <a:prstClr val="black"/>
                </a:solidFill>
              </a:rPr>
              <a:t>should be physically next to one another</a:t>
            </a:r>
            <a:r>
              <a:rPr lang="en-US" sz="1400" dirty="0" smtClean="0">
                <a:solidFill>
                  <a:prstClr val="black"/>
                </a:solidFill>
              </a:rPr>
              <a:t>, making them easier for SQL Server to locate.</a:t>
            </a:r>
          </a:p>
          <a:p>
            <a:pPr marL="285750" indent="-285750">
              <a:buFont typeface="Wingdings" pitchFamily="2" charset="2"/>
              <a:buChar char="Ø"/>
            </a:pPr>
            <a:endParaRPr lang="en-US" sz="1400" dirty="0" smtClean="0">
              <a:solidFill>
                <a:prstClr val="black"/>
              </a:solidFill>
            </a:endParaRPr>
          </a:p>
          <a:p>
            <a:r>
              <a:rPr lang="en-US" sz="1400" b="1" dirty="0" smtClean="0">
                <a:solidFill>
                  <a:prstClr val="black"/>
                </a:solidFill>
              </a:rPr>
              <a:t>More info</a:t>
            </a:r>
          </a:p>
          <a:p>
            <a:pPr marL="285750" indent="-285750">
              <a:buFont typeface="Wingdings" pitchFamily="2" charset="2"/>
              <a:buChar char="Ø"/>
            </a:pPr>
            <a:r>
              <a:rPr lang="en-US" sz="1400" dirty="0" smtClean="0">
                <a:solidFill>
                  <a:prstClr val="black"/>
                </a:solidFill>
              </a:rPr>
              <a:t>Extents </a:t>
            </a:r>
            <a:r>
              <a:rPr lang="en-US" sz="1400" dirty="0">
                <a:solidFill>
                  <a:prstClr val="black"/>
                </a:solidFill>
              </a:rPr>
              <a:t>are always aligned on 64KB boundaries (i.e. 8-page boundaries), starting at the beginning of the </a:t>
            </a:r>
            <a:r>
              <a:rPr lang="en-US" sz="1400" dirty="0" smtClean="0">
                <a:solidFill>
                  <a:prstClr val="black"/>
                </a:solidFill>
              </a:rPr>
              <a:t>file.</a:t>
            </a:r>
          </a:p>
          <a:p>
            <a:pPr marL="285750" indent="-285750">
              <a:buFont typeface="Wingdings" pitchFamily="2" charset="2"/>
              <a:buChar char="Ø"/>
            </a:pPr>
            <a:r>
              <a:rPr lang="en-US" sz="1400" dirty="0" smtClean="0">
                <a:solidFill>
                  <a:prstClr val="black"/>
                </a:solidFill>
              </a:rPr>
              <a:t>IAM, GAM and SGAM pages keep track of an Extent’s location</a:t>
            </a:r>
          </a:p>
          <a:p>
            <a:pPr marL="285750" indent="-285750">
              <a:buFont typeface="Wingdings" pitchFamily="2" charset="2"/>
              <a:buChar char="Ø"/>
            </a:pPr>
            <a:r>
              <a:rPr lang="en-US" sz="1400" dirty="0">
                <a:solidFill>
                  <a:prstClr val="black"/>
                </a:solidFill>
              </a:rPr>
              <a:t>SQL Server databases have 16 extents per megabyte</a:t>
            </a:r>
            <a:r>
              <a:rPr lang="en-US" sz="1400" dirty="0" smtClean="0">
                <a:solidFill>
                  <a:prstClr val="black"/>
                </a:solidFill>
              </a:rPr>
              <a:t>. </a:t>
            </a:r>
            <a:r>
              <a:rPr lang="en-US" sz="1400" dirty="0" smtClean="0">
                <a:solidFill>
                  <a:prstClr val="black"/>
                </a:solidFill>
                <a:sym typeface="Wingdings" pitchFamily="2" charset="2"/>
              </a:rPr>
              <a:t></a:t>
            </a:r>
            <a:r>
              <a:rPr lang="en-US" sz="1400" dirty="0" smtClean="0">
                <a:solidFill>
                  <a:prstClr val="black"/>
                </a:solidFill>
              </a:rPr>
              <a:t> </a:t>
            </a:r>
            <a:r>
              <a:rPr lang="en-US" sz="1400" i="1" dirty="0" smtClean="0">
                <a:solidFill>
                  <a:prstClr val="black"/>
                </a:solidFill>
              </a:rPr>
              <a:t>(16 * 8 Pages * 8KB = 1024KB = 1MB)</a:t>
            </a:r>
          </a:p>
        </p:txBody>
      </p:sp>
      <p:sp>
        <p:nvSpPr>
          <p:cNvPr id="5" name="4 CuadroTexto"/>
          <p:cNvSpPr txBox="1"/>
          <p:nvPr/>
        </p:nvSpPr>
        <p:spPr>
          <a:xfrm>
            <a:off x="0" y="5686425"/>
            <a:ext cx="3048000" cy="738664"/>
          </a:xfrm>
          <a:prstGeom prst="rect">
            <a:avLst/>
          </a:prstGeom>
          <a:noFill/>
        </p:spPr>
        <p:txBody>
          <a:bodyPr wrap="square" rtlCol="0">
            <a:spAutoFit/>
          </a:bodyPr>
          <a:lstStyle/>
          <a:p>
            <a:r>
              <a:rPr lang="en-US" sz="1400" b="1" dirty="0" smtClean="0">
                <a:solidFill>
                  <a:prstClr val="black"/>
                </a:solidFill>
              </a:rPr>
              <a:t>Types of Extents</a:t>
            </a:r>
          </a:p>
          <a:p>
            <a:pPr marL="285750" indent="-285750">
              <a:buFont typeface="Wingdings" pitchFamily="2" charset="2"/>
              <a:buChar char="Ø"/>
            </a:pPr>
            <a:r>
              <a:rPr lang="en-US" sz="1400" dirty="0" smtClean="0">
                <a:solidFill>
                  <a:prstClr val="black"/>
                </a:solidFill>
              </a:rPr>
              <a:t>Mixed </a:t>
            </a:r>
            <a:r>
              <a:rPr lang="en-US" sz="1400" dirty="0">
                <a:solidFill>
                  <a:prstClr val="black"/>
                </a:solidFill>
              </a:rPr>
              <a:t>extents </a:t>
            </a: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Dedicated </a:t>
            </a:r>
            <a:r>
              <a:rPr lang="en-US" sz="1400" dirty="0">
                <a:solidFill>
                  <a:prstClr val="black"/>
                </a:solidFill>
              </a:rPr>
              <a:t>(or uniform) </a:t>
            </a:r>
            <a:r>
              <a:rPr lang="en-US" sz="1400" dirty="0" smtClean="0">
                <a:solidFill>
                  <a:prstClr val="black"/>
                </a:solidFill>
              </a:rPr>
              <a:t>extents</a:t>
            </a:r>
            <a:endParaRPr lang="en-US" sz="1400" dirty="0">
              <a:solidFill>
                <a:prstClr val="black"/>
              </a:solidFill>
            </a:endParaRPr>
          </a:p>
        </p:txBody>
      </p:sp>
      <p:sp>
        <p:nvSpPr>
          <p:cNvPr id="6" name="5 CuadroTexto"/>
          <p:cNvSpPr txBox="1"/>
          <p:nvPr/>
        </p:nvSpPr>
        <p:spPr>
          <a:xfrm>
            <a:off x="395536" y="1412776"/>
            <a:ext cx="2894888" cy="738664"/>
          </a:xfrm>
          <a:prstGeom prst="rect">
            <a:avLst/>
          </a:prstGeom>
          <a:solidFill>
            <a:schemeClr val="accent3"/>
          </a:solidFill>
        </p:spPr>
        <p:txBody>
          <a:bodyPr wrap="square" rtlCol="0">
            <a:spAutoFit/>
          </a:bodyPr>
          <a:lstStyle/>
          <a:p>
            <a:pPr marL="285750" indent="-285750">
              <a:buFont typeface="Wingdings" pitchFamily="2" charset="2"/>
              <a:buChar char="§"/>
            </a:pPr>
            <a:r>
              <a:rPr lang="en-US" sz="1400" dirty="0" smtClean="0">
                <a:solidFill>
                  <a:prstClr val="black"/>
                </a:solidFill>
              </a:rPr>
              <a:t>8,192 bytes (8K) 	</a:t>
            </a:r>
            <a:r>
              <a:rPr lang="en-US" sz="1400" dirty="0" smtClean="0">
                <a:solidFill>
                  <a:prstClr val="black"/>
                </a:solidFill>
                <a:sym typeface="Wingdings" pitchFamily="2" charset="2"/>
              </a:rPr>
              <a:t></a:t>
            </a:r>
            <a:r>
              <a:rPr lang="en-US" sz="1400" dirty="0" smtClean="0">
                <a:solidFill>
                  <a:prstClr val="black"/>
                </a:solidFill>
              </a:rPr>
              <a:t> 1 Page</a:t>
            </a:r>
          </a:p>
          <a:p>
            <a:pPr marL="285750" indent="-285750">
              <a:buFont typeface="Wingdings" pitchFamily="2" charset="2"/>
              <a:buChar char="§"/>
            </a:pPr>
            <a:r>
              <a:rPr lang="en-US" sz="1400" dirty="0" smtClean="0">
                <a:solidFill>
                  <a:prstClr val="black"/>
                </a:solidFill>
              </a:rPr>
              <a:t>       8 Pages (64K) 	</a:t>
            </a:r>
            <a:r>
              <a:rPr lang="en-US" sz="1400" dirty="0" smtClean="0">
                <a:solidFill>
                  <a:prstClr val="black"/>
                </a:solidFill>
                <a:sym typeface="Wingdings" pitchFamily="2" charset="2"/>
              </a:rPr>
              <a:t></a:t>
            </a:r>
            <a:r>
              <a:rPr lang="en-US" sz="1400" dirty="0" smtClean="0">
                <a:solidFill>
                  <a:prstClr val="black"/>
                </a:solidFill>
              </a:rPr>
              <a:t> 1 Extent</a:t>
            </a:r>
          </a:p>
          <a:p>
            <a:pPr marL="285750" indent="-285750">
              <a:buFont typeface="Wingdings" pitchFamily="2" charset="2"/>
              <a:buChar char="§"/>
            </a:pPr>
            <a:r>
              <a:rPr lang="en-US" sz="1400" dirty="0" smtClean="0">
                <a:solidFill>
                  <a:prstClr val="black"/>
                </a:solidFill>
              </a:rPr>
              <a:t>             16 Extents 	</a:t>
            </a:r>
            <a:r>
              <a:rPr lang="en-US" sz="1400" dirty="0" smtClean="0">
                <a:solidFill>
                  <a:prstClr val="black"/>
                </a:solidFill>
                <a:sym typeface="Wingdings" pitchFamily="2" charset="2"/>
              </a:rPr>
              <a:t></a:t>
            </a:r>
            <a:r>
              <a:rPr lang="en-US" sz="1400" dirty="0" smtClean="0">
                <a:solidFill>
                  <a:prstClr val="black"/>
                </a:solidFill>
              </a:rPr>
              <a:t> 1MB</a:t>
            </a:r>
          </a:p>
        </p:txBody>
      </p:sp>
      <p:sp>
        <p:nvSpPr>
          <p:cNvPr id="7" name="6 CuadroTexto"/>
          <p:cNvSpPr txBox="1"/>
          <p:nvPr/>
        </p:nvSpPr>
        <p:spPr>
          <a:xfrm>
            <a:off x="0" y="637664"/>
            <a:ext cx="9144000" cy="307777"/>
          </a:xfrm>
          <a:prstGeom prst="rect">
            <a:avLst/>
          </a:prstGeom>
          <a:noFill/>
        </p:spPr>
        <p:txBody>
          <a:bodyPr wrap="square" rtlCol="0">
            <a:spAutoFit/>
          </a:bodyPr>
          <a:lstStyle/>
          <a:p>
            <a:r>
              <a:rPr lang="en-US" sz="1400" b="1" dirty="0" smtClean="0">
                <a:solidFill>
                  <a:prstClr val="black"/>
                </a:solidFill>
              </a:rPr>
              <a:t>What is an “Extent”?</a:t>
            </a:r>
            <a:endParaRPr lang="en-US" sz="1400" dirty="0" smtClean="0">
              <a:solidFill>
                <a:prstClr val="black"/>
              </a:solidFill>
            </a:endParaRPr>
          </a:p>
        </p:txBody>
      </p:sp>
      <p:sp>
        <p:nvSpPr>
          <p:cNvPr id="9" name="8 CuadroTexto"/>
          <p:cNvSpPr txBox="1"/>
          <p:nvPr/>
        </p:nvSpPr>
        <p:spPr>
          <a:xfrm>
            <a:off x="0" y="4876800"/>
            <a:ext cx="9144000" cy="523220"/>
          </a:xfrm>
          <a:prstGeom prst="rect">
            <a:avLst/>
          </a:prstGeom>
          <a:noFill/>
        </p:spPr>
        <p:txBody>
          <a:bodyPr wrap="square" rtlCol="0">
            <a:spAutoFit/>
          </a:bodyPr>
          <a:lstStyle/>
          <a:p>
            <a:r>
              <a:rPr lang="en-US" sz="1400" b="1" dirty="0" smtClean="0">
                <a:solidFill>
                  <a:prstClr val="black"/>
                </a:solidFill>
              </a:rPr>
              <a:t>Why Extents exist?</a:t>
            </a:r>
          </a:p>
          <a:p>
            <a:pPr marL="285750" indent="-285750">
              <a:buFont typeface="Wingdings" pitchFamily="2" charset="2"/>
              <a:buChar char="Ø"/>
            </a:pPr>
            <a:r>
              <a:rPr lang="en-US" sz="1400" dirty="0" smtClean="0">
                <a:solidFill>
                  <a:prstClr val="black"/>
                </a:solidFill>
              </a:rPr>
              <a:t>They exist to make the Allocation sub-system more efficient - simple as that.</a:t>
            </a:r>
            <a:endParaRPr lang="en-US" sz="1400" dirty="0">
              <a:solidFill>
                <a:prstClr val="black"/>
              </a:solidFill>
            </a:endParaRPr>
          </a:p>
        </p:txBody>
      </p:sp>
      <p:sp>
        <p:nvSpPr>
          <p:cNvPr id="10" name="9 CuadroTexto"/>
          <p:cNvSpPr txBox="1"/>
          <p:nvPr/>
        </p:nvSpPr>
        <p:spPr>
          <a:xfrm>
            <a:off x="1781" y="945441"/>
            <a:ext cx="9144000" cy="307777"/>
          </a:xfrm>
          <a:prstGeom prst="rect">
            <a:avLst/>
          </a:prstGeom>
          <a:noFill/>
        </p:spPr>
        <p:txBody>
          <a:bodyPr wrap="square" rtlCol="0">
            <a:spAutoFit/>
          </a:bodyPr>
          <a:lstStyle/>
          <a:p>
            <a:r>
              <a:rPr lang="en-US" sz="1400" dirty="0">
                <a:solidFill>
                  <a:prstClr val="black"/>
                </a:solidFill>
              </a:rPr>
              <a:t>An extent is a collection of 8 </a:t>
            </a:r>
            <a:r>
              <a:rPr lang="en-US" sz="1400" b="1" dirty="0">
                <a:solidFill>
                  <a:prstClr val="black"/>
                </a:solidFill>
              </a:rPr>
              <a:t>contiguous </a:t>
            </a:r>
            <a:r>
              <a:rPr lang="en-US" sz="1400" dirty="0" smtClean="0">
                <a:solidFill>
                  <a:prstClr val="black"/>
                </a:solidFill>
              </a:rPr>
              <a:t>pages.</a:t>
            </a:r>
            <a:endParaRPr lang="en-US" sz="1400" dirty="0">
              <a:solidFill>
                <a:prstClr val="black"/>
              </a:solidFill>
            </a:endParaRPr>
          </a:p>
        </p:txBody>
      </p:sp>
      <p:pic>
        <p:nvPicPr>
          <p:cNvPr id="2" name="1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0030" y="637664"/>
            <a:ext cx="5334000" cy="1644508"/>
          </a:xfrm>
          <a:prstGeom prst="rect">
            <a:avLst/>
          </a:prstGeom>
        </p:spPr>
      </p:pic>
      <p:grpSp>
        <p:nvGrpSpPr>
          <p:cNvPr id="11" name="10 Grupo"/>
          <p:cNvGrpSpPr/>
          <p:nvPr/>
        </p:nvGrpSpPr>
        <p:grpSpPr>
          <a:xfrm>
            <a:off x="0" y="9525"/>
            <a:ext cx="9153525" cy="408388"/>
            <a:chOff x="0" y="9525"/>
            <a:chExt cx="9153525" cy="408388"/>
          </a:xfrm>
        </p:grpSpPr>
        <p:sp>
          <p:nvSpPr>
            <p:cNvPr id="12" name="11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Storage Internals  |  Extents</a:t>
              </a:r>
              <a:endParaRPr lang="en-US" b="1" i="1" dirty="0">
                <a:solidFill>
                  <a:schemeClr val="bg1"/>
                </a:solidFill>
              </a:endParaRPr>
            </a:p>
          </p:txBody>
        </p:sp>
        <p:pic>
          <p:nvPicPr>
            <p:cNvPr id="13" name="12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13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14 Grupo"/>
          <p:cNvGrpSpPr/>
          <p:nvPr/>
        </p:nvGrpSpPr>
        <p:grpSpPr>
          <a:xfrm>
            <a:off x="9525" y="6574392"/>
            <a:ext cx="9134399" cy="277000"/>
            <a:chOff x="9525" y="6574392"/>
            <a:chExt cx="9134399" cy="277000"/>
          </a:xfrm>
        </p:grpSpPr>
        <p:sp>
          <p:nvSpPr>
            <p:cNvPr id="16" name="15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7" name="16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135810003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0" y="533400"/>
            <a:ext cx="9144000" cy="954107"/>
          </a:xfrm>
          <a:prstGeom prst="rect">
            <a:avLst/>
          </a:prstGeom>
          <a:noFill/>
        </p:spPr>
        <p:txBody>
          <a:bodyPr wrap="square" rtlCol="0">
            <a:spAutoFit/>
          </a:bodyPr>
          <a:lstStyle/>
          <a:p>
            <a:r>
              <a:rPr lang="en-US" sz="1400" dirty="0" smtClean="0">
                <a:solidFill>
                  <a:prstClr val="black"/>
                </a:solidFill>
              </a:rPr>
              <a:t>When an Extent is occupied by a single object (</a:t>
            </a:r>
            <a:r>
              <a:rPr lang="en-US" sz="1400" i="1" dirty="0" smtClean="0">
                <a:solidFill>
                  <a:prstClr val="black"/>
                </a:solidFill>
              </a:rPr>
              <a:t>for example: the “Customers” table</a:t>
            </a:r>
            <a:r>
              <a:rPr lang="en-US" sz="1400" dirty="0" smtClean="0">
                <a:solidFill>
                  <a:prstClr val="black"/>
                </a:solidFill>
              </a:rPr>
              <a:t>) then it is called a “</a:t>
            </a:r>
            <a:r>
              <a:rPr lang="en-US" sz="1400" b="1" dirty="0" smtClean="0">
                <a:solidFill>
                  <a:prstClr val="black"/>
                </a:solidFill>
              </a:rPr>
              <a:t>Uniform Extent</a:t>
            </a:r>
            <a:r>
              <a:rPr lang="en-US" sz="1400" dirty="0" smtClean="0">
                <a:solidFill>
                  <a:prstClr val="black"/>
                </a:solidFill>
              </a:rPr>
              <a:t>”</a:t>
            </a:r>
          </a:p>
          <a:p>
            <a:endParaRPr lang="en-US" sz="1400" dirty="0">
              <a:solidFill>
                <a:prstClr val="black"/>
              </a:solidFill>
            </a:endParaRPr>
          </a:p>
          <a:p>
            <a:r>
              <a:rPr lang="en-US" sz="1400" b="1" dirty="0" smtClean="0">
                <a:solidFill>
                  <a:prstClr val="black"/>
                </a:solidFill>
              </a:rPr>
              <a:t>Why?</a:t>
            </a:r>
          </a:p>
          <a:p>
            <a:r>
              <a:rPr lang="en-US" sz="1400" dirty="0" smtClean="0">
                <a:solidFill>
                  <a:prstClr val="black"/>
                </a:solidFill>
              </a:rPr>
              <a:t>Because the entire 64 KB of data is physically allocated to the “</a:t>
            </a:r>
            <a:r>
              <a:rPr lang="en-US" sz="1400" i="1" dirty="0" smtClean="0">
                <a:solidFill>
                  <a:prstClr val="black"/>
                </a:solidFill>
              </a:rPr>
              <a:t>Customers</a:t>
            </a:r>
            <a:r>
              <a:rPr lang="en-US" sz="1400" dirty="0" smtClean="0">
                <a:solidFill>
                  <a:prstClr val="black"/>
                </a:solidFill>
              </a:rPr>
              <a:t>” table.</a:t>
            </a:r>
            <a:endParaRPr lang="en-US" sz="1400" dirty="0">
              <a:solidFill>
                <a:prstClr val="black"/>
              </a:solidFill>
            </a:endParaRPr>
          </a:p>
        </p:txBody>
      </p:sp>
      <p:grpSp>
        <p:nvGrpSpPr>
          <p:cNvPr id="8" name="7 Grupo"/>
          <p:cNvGrpSpPr/>
          <p:nvPr/>
        </p:nvGrpSpPr>
        <p:grpSpPr>
          <a:xfrm>
            <a:off x="376727" y="3426864"/>
            <a:ext cx="914400" cy="838200"/>
            <a:chOff x="152400" y="2819400"/>
            <a:chExt cx="914400" cy="838200"/>
          </a:xfrm>
        </p:grpSpPr>
        <p:sp>
          <p:nvSpPr>
            <p:cNvPr id="2" name="1 Rectángulo"/>
            <p:cNvSpPr/>
            <p:nvPr/>
          </p:nvSpPr>
          <p:spPr>
            <a:xfrm>
              <a:off x="152400" y="2819400"/>
              <a:ext cx="914400" cy="8382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4 CuadroTexto"/>
            <p:cNvSpPr txBox="1"/>
            <p:nvPr/>
          </p:nvSpPr>
          <p:spPr>
            <a:xfrm>
              <a:off x="160946" y="2827946"/>
              <a:ext cx="905854" cy="246221"/>
            </a:xfrm>
            <a:prstGeom prst="rect">
              <a:avLst/>
            </a:prstGeom>
            <a:solidFill>
              <a:schemeClr val="tx1">
                <a:lumMod val="50000"/>
                <a:lumOff val="50000"/>
              </a:schemeClr>
            </a:solidFill>
          </p:spPr>
          <p:txBody>
            <a:bodyPr wrap="square" rtlCol="0">
              <a:spAutoFit/>
            </a:bodyPr>
            <a:lstStyle/>
            <a:p>
              <a:r>
                <a:rPr lang="en-US" sz="1000" dirty="0" smtClean="0">
                  <a:solidFill>
                    <a:prstClr val="black"/>
                  </a:solidFill>
                </a:rPr>
                <a:t>Page 1  (8K)</a:t>
              </a:r>
              <a:endParaRPr lang="en-US" sz="1000" dirty="0">
                <a:solidFill>
                  <a:prstClr val="black"/>
                </a:solidFill>
              </a:endParaRPr>
            </a:p>
          </p:txBody>
        </p:sp>
        <p:sp>
          <p:nvSpPr>
            <p:cNvPr id="6" name="5 CuadroTexto"/>
            <p:cNvSpPr txBox="1"/>
            <p:nvPr/>
          </p:nvSpPr>
          <p:spPr>
            <a:xfrm>
              <a:off x="152400" y="3246856"/>
              <a:ext cx="914400" cy="246221"/>
            </a:xfrm>
            <a:prstGeom prst="rect">
              <a:avLst/>
            </a:prstGeom>
            <a:noFill/>
          </p:spPr>
          <p:txBody>
            <a:bodyPr wrap="square" rtlCol="0">
              <a:spAutoFit/>
            </a:bodyPr>
            <a:lstStyle/>
            <a:p>
              <a:pPr marL="171450" indent="-171450" algn="ctr">
                <a:buFont typeface="Wingdings" pitchFamily="2" charset="2"/>
                <a:buChar char="ü"/>
              </a:pPr>
              <a:r>
                <a:rPr lang="en-US" sz="1000" dirty="0" smtClean="0">
                  <a:solidFill>
                    <a:prstClr val="black"/>
                  </a:solidFill>
                </a:rPr>
                <a:t>Customers</a:t>
              </a:r>
              <a:endParaRPr lang="en-US" sz="1000" dirty="0">
                <a:solidFill>
                  <a:prstClr val="black"/>
                </a:solidFill>
              </a:endParaRPr>
            </a:p>
          </p:txBody>
        </p:sp>
      </p:grpSp>
      <p:grpSp>
        <p:nvGrpSpPr>
          <p:cNvPr id="9" name="8 Grupo"/>
          <p:cNvGrpSpPr/>
          <p:nvPr/>
        </p:nvGrpSpPr>
        <p:grpSpPr>
          <a:xfrm>
            <a:off x="1443527" y="3426864"/>
            <a:ext cx="914400" cy="838200"/>
            <a:chOff x="152400" y="2819400"/>
            <a:chExt cx="914400" cy="838200"/>
          </a:xfrm>
        </p:grpSpPr>
        <p:sp>
          <p:nvSpPr>
            <p:cNvPr id="10" name="9 Rectángulo"/>
            <p:cNvSpPr/>
            <p:nvPr/>
          </p:nvSpPr>
          <p:spPr>
            <a:xfrm>
              <a:off x="152400" y="2819400"/>
              <a:ext cx="914400" cy="8382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 name="10 CuadroTexto"/>
            <p:cNvSpPr txBox="1"/>
            <p:nvPr/>
          </p:nvSpPr>
          <p:spPr>
            <a:xfrm>
              <a:off x="160946" y="2827946"/>
              <a:ext cx="905854" cy="246221"/>
            </a:xfrm>
            <a:prstGeom prst="rect">
              <a:avLst/>
            </a:prstGeom>
            <a:solidFill>
              <a:schemeClr val="tx1">
                <a:lumMod val="50000"/>
                <a:lumOff val="50000"/>
              </a:schemeClr>
            </a:solidFill>
          </p:spPr>
          <p:txBody>
            <a:bodyPr wrap="square" rtlCol="0">
              <a:spAutoFit/>
            </a:bodyPr>
            <a:lstStyle/>
            <a:p>
              <a:r>
                <a:rPr lang="en-US" sz="1000" dirty="0" smtClean="0">
                  <a:solidFill>
                    <a:prstClr val="black"/>
                  </a:solidFill>
                </a:rPr>
                <a:t>Page 2  (8K)</a:t>
              </a:r>
              <a:endParaRPr lang="en-US" sz="1000" dirty="0">
                <a:solidFill>
                  <a:prstClr val="black"/>
                </a:solidFill>
              </a:endParaRPr>
            </a:p>
          </p:txBody>
        </p:sp>
        <p:sp>
          <p:nvSpPr>
            <p:cNvPr id="12" name="11 CuadroTexto"/>
            <p:cNvSpPr txBox="1"/>
            <p:nvPr/>
          </p:nvSpPr>
          <p:spPr>
            <a:xfrm>
              <a:off x="152400" y="3246856"/>
              <a:ext cx="914400" cy="246221"/>
            </a:xfrm>
            <a:prstGeom prst="rect">
              <a:avLst/>
            </a:prstGeom>
            <a:noFill/>
          </p:spPr>
          <p:txBody>
            <a:bodyPr wrap="square" rtlCol="0">
              <a:spAutoFit/>
            </a:bodyPr>
            <a:lstStyle/>
            <a:p>
              <a:pPr marL="171450" indent="-171450" algn="ctr">
                <a:buFont typeface="Wingdings" pitchFamily="2" charset="2"/>
                <a:buChar char="ü"/>
              </a:pPr>
              <a:r>
                <a:rPr lang="en-US" sz="1000" dirty="0" smtClean="0">
                  <a:solidFill>
                    <a:prstClr val="black"/>
                  </a:solidFill>
                </a:rPr>
                <a:t>Customers</a:t>
              </a:r>
              <a:endParaRPr lang="en-US" sz="1000" dirty="0">
                <a:solidFill>
                  <a:prstClr val="black"/>
                </a:solidFill>
              </a:endParaRPr>
            </a:p>
          </p:txBody>
        </p:sp>
      </p:grpSp>
      <p:grpSp>
        <p:nvGrpSpPr>
          <p:cNvPr id="13" name="12 Grupo"/>
          <p:cNvGrpSpPr/>
          <p:nvPr/>
        </p:nvGrpSpPr>
        <p:grpSpPr>
          <a:xfrm>
            <a:off x="2510327" y="3426864"/>
            <a:ext cx="914400" cy="838200"/>
            <a:chOff x="152400" y="2819400"/>
            <a:chExt cx="914400" cy="838200"/>
          </a:xfrm>
        </p:grpSpPr>
        <p:sp>
          <p:nvSpPr>
            <p:cNvPr id="14" name="13 Rectángulo"/>
            <p:cNvSpPr/>
            <p:nvPr/>
          </p:nvSpPr>
          <p:spPr>
            <a:xfrm>
              <a:off x="152400" y="2819400"/>
              <a:ext cx="914400" cy="8382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5" name="14 CuadroTexto"/>
            <p:cNvSpPr txBox="1"/>
            <p:nvPr/>
          </p:nvSpPr>
          <p:spPr>
            <a:xfrm>
              <a:off x="160946" y="2827946"/>
              <a:ext cx="905854" cy="246221"/>
            </a:xfrm>
            <a:prstGeom prst="rect">
              <a:avLst/>
            </a:prstGeom>
            <a:solidFill>
              <a:schemeClr val="tx1">
                <a:lumMod val="50000"/>
                <a:lumOff val="50000"/>
              </a:schemeClr>
            </a:solidFill>
          </p:spPr>
          <p:txBody>
            <a:bodyPr wrap="square" rtlCol="0">
              <a:spAutoFit/>
            </a:bodyPr>
            <a:lstStyle/>
            <a:p>
              <a:r>
                <a:rPr lang="en-US" sz="1000" dirty="0" smtClean="0">
                  <a:solidFill>
                    <a:prstClr val="black"/>
                  </a:solidFill>
                </a:rPr>
                <a:t>Page 3  (8K)</a:t>
              </a:r>
              <a:endParaRPr lang="en-US" sz="1000" dirty="0">
                <a:solidFill>
                  <a:prstClr val="black"/>
                </a:solidFill>
              </a:endParaRPr>
            </a:p>
          </p:txBody>
        </p:sp>
        <p:sp>
          <p:nvSpPr>
            <p:cNvPr id="16" name="15 CuadroTexto"/>
            <p:cNvSpPr txBox="1"/>
            <p:nvPr/>
          </p:nvSpPr>
          <p:spPr>
            <a:xfrm>
              <a:off x="152400" y="3246856"/>
              <a:ext cx="914400" cy="246221"/>
            </a:xfrm>
            <a:prstGeom prst="rect">
              <a:avLst/>
            </a:prstGeom>
            <a:noFill/>
          </p:spPr>
          <p:txBody>
            <a:bodyPr wrap="square" rtlCol="0">
              <a:spAutoFit/>
            </a:bodyPr>
            <a:lstStyle/>
            <a:p>
              <a:pPr marL="171450" indent="-171450" algn="ctr">
                <a:buFont typeface="Wingdings" pitchFamily="2" charset="2"/>
                <a:buChar char="ü"/>
              </a:pPr>
              <a:r>
                <a:rPr lang="en-US" sz="1000" dirty="0" smtClean="0">
                  <a:solidFill>
                    <a:prstClr val="black"/>
                  </a:solidFill>
                </a:rPr>
                <a:t>Customers</a:t>
              </a:r>
              <a:endParaRPr lang="en-US" sz="1000" dirty="0">
                <a:solidFill>
                  <a:prstClr val="black"/>
                </a:solidFill>
              </a:endParaRPr>
            </a:p>
          </p:txBody>
        </p:sp>
      </p:grpSp>
      <p:grpSp>
        <p:nvGrpSpPr>
          <p:cNvPr id="17" name="16 Grupo"/>
          <p:cNvGrpSpPr/>
          <p:nvPr/>
        </p:nvGrpSpPr>
        <p:grpSpPr>
          <a:xfrm>
            <a:off x="3577127" y="3426864"/>
            <a:ext cx="914400" cy="838200"/>
            <a:chOff x="152400" y="2819400"/>
            <a:chExt cx="914400" cy="838200"/>
          </a:xfrm>
        </p:grpSpPr>
        <p:sp>
          <p:nvSpPr>
            <p:cNvPr id="18" name="17 Rectángulo"/>
            <p:cNvSpPr/>
            <p:nvPr/>
          </p:nvSpPr>
          <p:spPr>
            <a:xfrm>
              <a:off x="152400" y="2819400"/>
              <a:ext cx="914400" cy="8382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9" name="18 CuadroTexto"/>
            <p:cNvSpPr txBox="1"/>
            <p:nvPr/>
          </p:nvSpPr>
          <p:spPr>
            <a:xfrm>
              <a:off x="160946" y="2827946"/>
              <a:ext cx="905854" cy="246221"/>
            </a:xfrm>
            <a:prstGeom prst="rect">
              <a:avLst/>
            </a:prstGeom>
            <a:solidFill>
              <a:schemeClr val="tx1">
                <a:lumMod val="50000"/>
                <a:lumOff val="50000"/>
              </a:schemeClr>
            </a:solidFill>
          </p:spPr>
          <p:txBody>
            <a:bodyPr wrap="square" rtlCol="0">
              <a:spAutoFit/>
            </a:bodyPr>
            <a:lstStyle/>
            <a:p>
              <a:r>
                <a:rPr lang="en-US" sz="1000" dirty="0" smtClean="0">
                  <a:solidFill>
                    <a:prstClr val="black"/>
                  </a:solidFill>
                </a:rPr>
                <a:t>Page 4  (8K)</a:t>
              </a:r>
              <a:endParaRPr lang="en-US" sz="1000" dirty="0">
                <a:solidFill>
                  <a:prstClr val="black"/>
                </a:solidFill>
              </a:endParaRPr>
            </a:p>
          </p:txBody>
        </p:sp>
        <p:sp>
          <p:nvSpPr>
            <p:cNvPr id="20" name="19 CuadroTexto"/>
            <p:cNvSpPr txBox="1"/>
            <p:nvPr/>
          </p:nvSpPr>
          <p:spPr>
            <a:xfrm>
              <a:off x="152400" y="3246856"/>
              <a:ext cx="914400" cy="246221"/>
            </a:xfrm>
            <a:prstGeom prst="rect">
              <a:avLst/>
            </a:prstGeom>
            <a:noFill/>
          </p:spPr>
          <p:txBody>
            <a:bodyPr wrap="square" rtlCol="0">
              <a:spAutoFit/>
            </a:bodyPr>
            <a:lstStyle/>
            <a:p>
              <a:pPr marL="171450" indent="-171450" algn="ctr">
                <a:buFont typeface="Wingdings" pitchFamily="2" charset="2"/>
                <a:buChar char="ü"/>
              </a:pPr>
              <a:r>
                <a:rPr lang="en-US" sz="1000" dirty="0" smtClean="0">
                  <a:solidFill>
                    <a:prstClr val="black"/>
                  </a:solidFill>
                </a:rPr>
                <a:t>Customers</a:t>
              </a:r>
              <a:endParaRPr lang="en-US" sz="1000" dirty="0">
                <a:solidFill>
                  <a:prstClr val="black"/>
                </a:solidFill>
              </a:endParaRPr>
            </a:p>
          </p:txBody>
        </p:sp>
      </p:grpSp>
      <p:grpSp>
        <p:nvGrpSpPr>
          <p:cNvPr id="21" name="20 Grupo"/>
          <p:cNvGrpSpPr/>
          <p:nvPr/>
        </p:nvGrpSpPr>
        <p:grpSpPr>
          <a:xfrm>
            <a:off x="4643927" y="3426864"/>
            <a:ext cx="914400" cy="838200"/>
            <a:chOff x="152400" y="2819400"/>
            <a:chExt cx="914400" cy="838200"/>
          </a:xfrm>
        </p:grpSpPr>
        <p:sp>
          <p:nvSpPr>
            <p:cNvPr id="22" name="21 Rectángulo"/>
            <p:cNvSpPr/>
            <p:nvPr/>
          </p:nvSpPr>
          <p:spPr>
            <a:xfrm>
              <a:off x="152400" y="2819400"/>
              <a:ext cx="914400" cy="8382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22 CuadroTexto"/>
            <p:cNvSpPr txBox="1"/>
            <p:nvPr/>
          </p:nvSpPr>
          <p:spPr>
            <a:xfrm>
              <a:off x="160946" y="2827946"/>
              <a:ext cx="905854" cy="246221"/>
            </a:xfrm>
            <a:prstGeom prst="rect">
              <a:avLst/>
            </a:prstGeom>
            <a:solidFill>
              <a:schemeClr val="tx1">
                <a:lumMod val="50000"/>
                <a:lumOff val="50000"/>
              </a:schemeClr>
            </a:solidFill>
          </p:spPr>
          <p:txBody>
            <a:bodyPr wrap="square" rtlCol="0">
              <a:spAutoFit/>
            </a:bodyPr>
            <a:lstStyle/>
            <a:p>
              <a:r>
                <a:rPr lang="en-US" sz="1000" dirty="0" smtClean="0">
                  <a:solidFill>
                    <a:prstClr val="black"/>
                  </a:solidFill>
                </a:rPr>
                <a:t>Page 5  (8K)</a:t>
              </a:r>
              <a:endParaRPr lang="en-US" sz="1000" dirty="0">
                <a:solidFill>
                  <a:prstClr val="black"/>
                </a:solidFill>
              </a:endParaRPr>
            </a:p>
          </p:txBody>
        </p:sp>
        <p:sp>
          <p:nvSpPr>
            <p:cNvPr id="24" name="23 CuadroTexto"/>
            <p:cNvSpPr txBox="1"/>
            <p:nvPr/>
          </p:nvSpPr>
          <p:spPr>
            <a:xfrm>
              <a:off x="152400" y="3246856"/>
              <a:ext cx="914400" cy="246221"/>
            </a:xfrm>
            <a:prstGeom prst="rect">
              <a:avLst/>
            </a:prstGeom>
            <a:noFill/>
          </p:spPr>
          <p:txBody>
            <a:bodyPr wrap="square" rtlCol="0">
              <a:spAutoFit/>
            </a:bodyPr>
            <a:lstStyle/>
            <a:p>
              <a:pPr marL="171450" indent="-171450" algn="ctr">
                <a:buFont typeface="Wingdings" pitchFamily="2" charset="2"/>
                <a:buChar char="ü"/>
              </a:pPr>
              <a:r>
                <a:rPr lang="en-US" sz="1000" dirty="0" smtClean="0">
                  <a:solidFill>
                    <a:prstClr val="black"/>
                  </a:solidFill>
                </a:rPr>
                <a:t>Customers</a:t>
              </a:r>
              <a:endParaRPr lang="en-US" sz="1000" dirty="0">
                <a:solidFill>
                  <a:prstClr val="black"/>
                </a:solidFill>
              </a:endParaRPr>
            </a:p>
          </p:txBody>
        </p:sp>
      </p:grpSp>
      <p:grpSp>
        <p:nvGrpSpPr>
          <p:cNvPr id="25" name="24 Grupo"/>
          <p:cNvGrpSpPr/>
          <p:nvPr/>
        </p:nvGrpSpPr>
        <p:grpSpPr>
          <a:xfrm>
            <a:off x="5710727" y="3426864"/>
            <a:ext cx="914400" cy="838200"/>
            <a:chOff x="152400" y="2819400"/>
            <a:chExt cx="914400" cy="838200"/>
          </a:xfrm>
        </p:grpSpPr>
        <p:sp>
          <p:nvSpPr>
            <p:cNvPr id="26" name="25 Rectángulo"/>
            <p:cNvSpPr/>
            <p:nvPr/>
          </p:nvSpPr>
          <p:spPr>
            <a:xfrm>
              <a:off x="152400" y="2819400"/>
              <a:ext cx="914400" cy="8382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7" name="26 CuadroTexto"/>
            <p:cNvSpPr txBox="1"/>
            <p:nvPr/>
          </p:nvSpPr>
          <p:spPr>
            <a:xfrm>
              <a:off x="160946" y="2827946"/>
              <a:ext cx="905854" cy="246221"/>
            </a:xfrm>
            <a:prstGeom prst="rect">
              <a:avLst/>
            </a:prstGeom>
            <a:solidFill>
              <a:schemeClr val="tx1">
                <a:lumMod val="50000"/>
                <a:lumOff val="50000"/>
              </a:schemeClr>
            </a:solidFill>
          </p:spPr>
          <p:txBody>
            <a:bodyPr wrap="square" rtlCol="0">
              <a:spAutoFit/>
            </a:bodyPr>
            <a:lstStyle/>
            <a:p>
              <a:r>
                <a:rPr lang="en-US" sz="1000" dirty="0" smtClean="0">
                  <a:solidFill>
                    <a:prstClr val="black"/>
                  </a:solidFill>
                </a:rPr>
                <a:t>Page 6  (8K)</a:t>
              </a:r>
              <a:endParaRPr lang="en-US" sz="1000" dirty="0">
                <a:solidFill>
                  <a:prstClr val="black"/>
                </a:solidFill>
              </a:endParaRPr>
            </a:p>
          </p:txBody>
        </p:sp>
        <p:sp>
          <p:nvSpPr>
            <p:cNvPr id="28" name="27 CuadroTexto"/>
            <p:cNvSpPr txBox="1"/>
            <p:nvPr/>
          </p:nvSpPr>
          <p:spPr>
            <a:xfrm>
              <a:off x="152400" y="3246856"/>
              <a:ext cx="914400" cy="246221"/>
            </a:xfrm>
            <a:prstGeom prst="rect">
              <a:avLst/>
            </a:prstGeom>
            <a:noFill/>
          </p:spPr>
          <p:txBody>
            <a:bodyPr wrap="square" rtlCol="0">
              <a:spAutoFit/>
            </a:bodyPr>
            <a:lstStyle/>
            <a:p>
              <a:pPr marL="171450" indent="-171450" algn="ctr">
                <a:buFont typeface="Wingdings" pitchFamily="2" charset="2"/>
                <a:buChar char="ü"/>
              </a:pPr>
              <a:r>
                <a:rPr lang="en-US" sz="1000" dirty="0" smtClean="0">
                  <a:solidFill>
                    <a:prstClr val="black"/>
                  </a:solidFill>
                </a:rPr>
                <a:t>Customers</a:t>
              </a:r>
              <a:endParaRPr lang="en-US" sz="1000" dirty="0">
                <a:solidFill>
                  <a:prstClr val="black"/>
                </a:solidFill>
              </a:endParaRPr>
            </a:p>
          </p:txBody>
        </p:sp>
      </p:grpSp>
      <p:grpSp>
        <p:nvGrpSpPr>
          <p:cNvPr id="29" name="28 Grupo"/>
          <p:cNvGrpSpPr/>
          <p:nvPr/>
        </p:nvGrpSpPr>
        <p:grpSpPr>
          <a:xfrm>
            <a:off x="6777527" y="3426864"/>
            <a:ext cx="914400" cy="838200"/>
            <a:chOff x="152400" y="2819400"/>
            <a:chExt cx="914400" cy="838200"/>
          </a:xfrm>
        </p:grpSpPr>
        <p:sp>
          <p:nvSpPr>
            <p:cNvPr id="30" name="29 Rectángulo"/>
            <p:cNvSpPr/>
            <p:nvPr/>
          </p:nvSpPr>
          <p:spPr>
            <a:xfrm>
              <a:off x="152400" y="2819400"/>
              <a:ext cx="914400" cy="8382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30 CuadroTexto"/>
            <p:cNvSpPr txBox="1"/>
            <p:nvPr/>
          </p:nvSpPr>
          <p:spPr>
            <a:xfrm>
              <a:off x="160946" y="2827946"/>
              <a:ext cx="905854" cy="246221"/>
            </a:xfrm>
            <a:prstGeom prst="rect">
              <a:avLst/>
            </a:prstGeom>
            <a:solidFill>
              <a:schemeClr val="tx1">
                <a:lumMod val="50000"/>
                <a:lumOff val="50000"/>
              </a:schemeClr>
            </a:solidFill>
          </p:spPr>
          <p:txBody>
            <a:bodyPr wrap="square" rtlCol="0">
              <a:spAutoFit/>
            </a:bodyPr>
            <a:lstStyle/>
            <a:p>
              <a:r>
                <a:rPr lang="en-US" sz="1000" dirty="0" smtClean="0">
                  <a:solidFill>
                    <a:prstClr val="black"/>
                  </a:solidFill>
                </a:rPr>
                <a:t>Page 7  (8K)</a:t>
              </a:r>
              <a:endParaRPr lang="en-US" sz="1000" dirty="0">
                <a:solidFill>
                  <a:prstClr val="black"/>
                </a:solidFill>
              </a:endParaRPr>
            </a:p>
          </p:txBody>
        </p:sp>
        <p:sp>
          <p:nvSpPr>
            <p:cNvPr id="32" name="31 CuadroTexto"/>
            <p:cNvSpPr txBox="1"/>
            <p:nvPr/>
          </p:nvSpPr>
          <p:spPr>
            <a:xfrm>
              <a:off x="152400" y="3246856"/>
              <a:ext cx="914400" cy="246221"/>
            </a:xfrm>
            <a:prstGeom prst="rect">
              <a:avLst/>
            </a:prstGeom>
            <a:noFill/>
          </p:spPr>
          <p:txBody>
            <a:bodyPr wrap="square" rtlCol="0">
              <a:spAutoFit/>
            </a:bodyPr>
            <a:lstStyle/>
            <a:p>
              <a:pPr marL="171450" indent="-171450" algn="ctr">
                <a:buFont typeface="Wingdings" pitchFamily="2" charset="2"/>
                <a:buChar char="ü"/>
              </a:pPr>
              <a:r>
                <a:rPr lang="en-US" sz="1000" dirty="0" smtClean="0">
                  <a:solidFill>
                    <a:prstClr val="black"/>
                  </a:solidFill>
                </a:rPr>
                <a:t>Customers</a:t>
              </a:r>
              <a:endParaRPr lang="en-US" sz="1000" dirty="0">
                <a:solidFill>
                  <a:prstClr val="black"/>
                </a:solidFill>
              </a:endParaRPr>
            </a:p>
          </p:txBody>
        </p:sp>
      </p:grpSp>
      <p:grpSp>
        <p:nvGrpSpPr>
          <p:cNvPr id="33" name="32 Grupo"/>
          <p:cNvGrpSpPr/>
          <p:nvPr/>
        </p:nvGrpSpPr>
        <p:grpSpPr>
          <a:xfrm>
            <a:off x="7844327" y="3426864"/>
            <a:ext cx="914400" cy="838200"/>
            <a:chOff x="152400" y="2819400"/>
            <a:chExt cx="914400" cy="838200"/>
          </a:xfrm>
        </p:grpSpPr>
        <p:sp>
          <p:nvSpPr>
            <p:cNvPr id="34" name="33 Rectángulo"/>
            <p:cNvSpPr/>
            <p:nvPr/>
          </p:nvSpPr>
          <p:spPr>
            <a:xfrm>
              <a:off x="152400" y="2819400"/>
              <a:ext cx="914400" cy="8382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5" name="34 CuadroTexto"/>
            <p:cNvSpPr txBox="1"/>
            <p:nvPr/>
          </p:nvSpPr>
          <p:spPr>
            <a:xfrm>
              <a:off x="160946" y="2827946"/>
              <a:ext cx="905854" cy="246221"/>
            </a:xfrm>
            <a:prstGeom prst="rect">
              <a:avLst/>
            </a:prstGeom>
            <a:solidFill>
              <a:schemeClr val="tx1">
                <a:lumMod val="50000"/>
                <a:lumOff val="50000"/>
              </a:schemeClr>
            </a:solidFill>
          </p:spPr>
          <p:txBody>
            <a:bodyPr wrap="square" rtlCol="0">
              <a:spAutoFit/>
            </a:bodyPr>
            <a:lstStyle/>
            <a:p>
              <a:r>
                <a:rPr lang="en-US" sz="1000" dirty="0" smtClean="0">
                  <a:solidFill>
                    <a:prstClr val="black"/>
                  </a:solidFill>
                </a:rPr>
                <a:t>Page 8  (8K)</a:t>
              </a:r>
              <a:endParaRPr lang="en-US" sz="1000" dirty="0">
                <a:solidFill>
                  <a:prstClr val="black"/>
                </a:solidFill>
              </a:endParaRPr>
            </a:p>
          </p:txBody>
        </p:sp>
        <p:sp>
          <p:nvSpPr>
            <p:cNvPr id="36" name="35 CuadroTexto"/>
            <p:cNvSpPr txBox="1"/>
            <p:nvPr/>
          </p:nvSpPr>
          <p:spPr>
            <a:xfrm>
              <a:off x="152400" y="3246856"/>
              <a:ext cx="914400" cy="246221"/>
            </a:xfrm>
            <a:prstGeom prst="rect">
              <a:avLst/>
            </a:prstGeom>
            <a:noFill/>
          </p:spPr>
          <p:txBody>
            <a:bodyPr wrap="square" rtlCol="0">
              <a:spAutoFit/>
            </a:bodyPr>
            <a:lstStyle/>
            <a:p>
              <a:pPr marL="171450" indent="-171450" algn="ctr">
                <a:buFont typeface="Wingdings" pitchFamily="2" charset="2"/>
                <a:buChar char="ü"/>
              </a:pPr>
              <a:r>
                <a:rPr lang="en-US" sz="1000" dirty="0" smtClean="0">
                  <a:solidFill>
                    <a:prstClr val="black"/>
                  </a:solidFill>
                </a:rPr>
                <a:t>Customers</a:t>
              </a:r>
              <a:endParaRPr lang="en-US" sz="1000" dirty="0">
                <a:solidFill>
                  <a:prstClr val="black"/>
                </a:solidFill>
              </a:endParaRPr>
            </a:p>
          </p:txBody>
        </p:sp>
      </p:grpSp>
      <p:sp>
        <p:nvSpPr>
          <p:cNvPr id="37" name="36 CuadroTexto"/>
          <p:cNvSpPr txBox="1"/>
          <p:nvPr/>
        </p:nvSpPr>
        <p:spPr>
          <a:xfrm>
            <a:off x="0" y="4953000"/>
            <a:ext cx="9144000" cy="738664"/>
          </a:xfrm>
          <a:prstGeom prst="rect">
            <a:avLst/>
          </a:prstGeom>
          <a:noFill/>
        </p:spPr>
        <p:txBody>
          <a:bodyPr wrap="square" rtlCol="0">
            <a:spAutoFit/>
          </a:bodyPr>
          <a:lstStyle/>
          <a:p>
            <a:r>
              <a:rPr lang="en-US" sz="1400" b="1" dirty="0" smtClean="0">
                <a:solidFill>
                  <a:prstClr val="black"/>
                </a:solidFill>
              </a:rPr>
              <a:t>Uniform Extent</a:t>
            </a:r>
          </a:p>
          <a:p>
            <a:r>
              <a:rPr lang="en-US" sz="1400" dirty="0" smtClean="0">
                <a:solidFill>
                  <a:prstClr val="black"/>
                </a:solidFill>
              </a:rPr>
              <a:t>The 8 pages of the Extent </a:t>
            </a:r>
            <a:r>
              <a:rPr lang="en-US" sz="1400" dirty="0">
                <a:solidFill>
                  <a:prstClr val="black"/>
                </a:solidFill>
              </a:rPr>
              <a:t>are occupied </a:t>
            </a:r>
            <a:r>
              <a:rPr lang="en-US" sz="1400" dirty="0" smtClean="0">
                <a:solidFill>
                  <a:prstClr val="black"/>
                </a:solidFill>
              </a:rPr>
              <a:t>by a single object. </a:t>
            </a:r>
          </a:p>
          <a:p>
            <a:r>
              <a:rPr lang="en-US" sz="1400" dirty="0" smtClean="0">
                <a:solidFill>
                  <a:prstClr val="black"/>
                </a:solidFill>
              </a:rPr>
              <a:t>Since the 8 pages are </a:t>
            </a:r>
            <a:r>
              <a:rPr lang="en-US" sz="1400" dirty="0">
                <a:solidFill>
                  <a:prstClr val="black"/>
                </a:solidFill>
              </a:rPr>
              <a:t>physically </a:t>
            </a:r>
            <a:r>
              <a:rPr lang="en-US" sz="1400" dirty="0" smtClean="0">
                <a:solidFill>
                  <a:prstClr val="black"/>
                </a:solidFill>
              </a:rPr>
              <a:t>allocated in a </a:t>
            </a:r>
            <a:r>
              <a:rPr lang="en-US" sz="1400" u="sng" dirty="0" smtClean="0">
                <a:solidFill>
                  <a:prstClr val="black"/>
                </a:solidFill>
              </a:rPr>
              <a:t>sequential</a:t>
            </a:r>
            <a:r>
              <a:rPr lang="en-US" sz="1400" dirty="0" smtClean="0">
                <a:solidFill>
                  <a:prstClr val="black"/>
                </a:solidFill>
              </a:rPr>
              <a:t> manner, we can read the data in chunks of 64K!  </a:t>
            </a:r>
            <a:r>
              <a:rPr lang="en-US" sz="1400" dirty="0" err="1" smtClean="0">
                <a:solidFill>
                  <a:prstClr val="black"/>
                </a:solidFill>
              </a:rPr>
              <a:t>Whooho</a:t>
            </a:r>
            <a:r>
              <a:rPr lang="en-US" sz="1400" dirty="0" smtClean="0">
                <a:solidFill>
                  <a:prstClr val="black"/>
                </a:solidFill>
              </a:rPr>
              <a:t>! </a:t>
            </a:r>
            <a:r>
              <a:rPr lang="en-US" sz="1400" dirty="0" smtClean="0">
                <a:solidFill>
                  <a:prstClr val="black"/>
                </a:solidFill>
                <a:sym typeface="Wingdings" pitchFamily="2" charset="2"/>
              </a:rPr>
              <a:t></a:t>
            </a:r>
            <a:endParaRPr lang="en-US" sz="1400" dirty="0">
              <a:solidFill>
                <a:prstClr val="black"/>
              </a:solidFill>
            </a:endParaRPr>
          </a:p>
        </p:txBody>
      </p:sp>
      <p:sp>
        <p:nvSpPr>
          <p:cNvPr id="38" name="37 CuadroTexto"/>
          <p:cNvSpPr txBox="1"/>
          <p:nvPr/>
        </p:nvSpPr>
        <p:spPr>
          <a:xfrm>
            <a:off x="385273" y="2966687"/>
            <a:ext cx="8373454" cy="307777"/>
          </a:xfrm>
          <a:prstGeom prst="rect">
            <a:avLst/>
          </a:prstGeom>
          <a:noFill/>
        </p:spPr>
        <p:txBody>
          <a:bodyPr wrap="square" rtlCol="0">
            <a:spAutoFit/>
          </a:bodyPr>
          <a:lstStyle/>
          <a:p>
            <a:pPr algn="ctr"/>
            <a:r>
              <a:rPr lang="en-US" sz="1400" b="1" dirty="0" smtClean="0">
                <a:solidFill>
                  <a:prstClr val="black"/>
                </a:solidFill>
              </a:rPr>
              <a:t>1 Extent = 64 Kilobytes</a:t>
            </a:r>
            <a:endParaRPr lang="en-US" sz="1400" dirty="0">
              <a:solidFill>
                <a:prstClr val="black"/>
              </a:solidFill>
            </a:endParaRPr>
          </a:p>
        </p:txBody>
      </p:sp>
      <p:cxnSp>
        <p:nvCxnSpPr>
          <p:cNvPr id="40" name="39 Conector recto de flecha"/>
          <p:cNvCxnSpPr/>
          <p:nvPr/>
        </p:nvCxnSpPr>
        <p:spPr>
          <a:xfrm flipH="1">
            <a:off x="385273" y="3122064"/>
            <a:ext cx="3272327"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41 Conector recto de flecha"/>
          <p:cNvCxnSpPr/>
          <p:nvPr/>
        </p:nvCxnSpPr>
        <p:spPr>
          <a:xfrm>
            <a:off x="5558327" y="3120575"/>
            <a:ext cx="3200400" cy="148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43 CuadroTexto"/>
          <p:cNvSpPr txBox="1"/>
          <p:nvPr/>
        </p:nvSpPr>
        <p:spPr>
          <a:xfrm>
            <a:off x="385273" y="2658910"/>
            <a:ext cx="8373454" cy="307777"/>
          </a:xfrm>
          <a:prstGeom prst="rect">
            <a:avLst/>
          </a:prstGeom>
          <a:noFill/>
        </p:spPr>
        <p:txBody>
          <a:bodyPr wrap="square" rtlCol="0">
            <a:spAutoFit/>
          </a:bodyPr>
          <a:lstStyle/>
          <a:p>
            <a:pPr algn="ctr"/>
            <a:r>
              <a:rPr lang="en-US" sz="1400" b="1" dirty="0" smtClean="0">
                <a:solidFill>
                  <a:prstClr val="black"/>
                </a:solidFill>
              </a:rPr>
              <a:t>The pages are physically arranged in a </a:t>
            </a:r>
            <a:r>
              <a:rPr lang="en-US" sz="1400" b="1" dirty="0" smtClean="0">
                <a:solidFill>
                  <a:srgbClr val="0000FF"/>
                </a:solidFill>
                <a:effectLst>
                  <a:outerShdw blurRad="38100" dist="38100" dir="2700000" algn="tl">
                    <a:srgbClr val="000000">
                      <a:alpha val="43137"/>
                    </a:srgbClr>
                  </a:outerShdw>
                </a:effectLst>
              </a:rPr>
              <a:t>sequential</a:t>
            </a:r>
            <a:r>
              <a:rPr lang="en-US" sz="1400" b="1" dirty="0" smtClean="0">
                <a:solidFill>
                  <a:srgbClr val="0000FF"/>
                </a:solidFill>
              </a:rPr>
              <a:t> </a:t>
            </a:r>
            <a:r>
              <a:rPr lang="en-US" sz="1400" b="1" dirty="0" smtClean="0">
                <a:solidFill>
                  <a:prstClr val="black"/>
                </a:solidFill>
              </a:rPr>
              <a:t>manner, in 8K chunks – one after another</a:t>
            </a:r>
            <a:endParaRPr lang="en-US" sz="1400" dirty="0">
              <a:solidFill>
                <a:prstClr val="black"/>
              </a:solidFill>
            </a:endParaRPr>
          </a:p>
        </p:txBody>
      </p:sp>
      <p:sp>
        <p:nvSpPr>
          <p:cNvPr id="47" name="46 CuadroTexto"/>
          <p:cNvSpPr txBox="1"/>
          <p:nvPr/>
        </p:nvSpPr>
        <p:spPr>
          <a:xfrm>
            <a:off x="0" y="2170888"/>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Pictorial View of a Uniform Extent</a:t>
            </a:r>
            <a:endParaRPr lang="en-US" sz="1400" dirty="0">
              <a:solidFill>
                <a:prstClr val="black"/>
              </a:solidFill>
            </a:endParaRPr>
          </a:p>
        </p:txBody>
      </p:sp>
      <p:grpSp>
        <p:nvGrpSpPr>
          <p:cNvPr id="43" name="42 Grupo"/>
          <p:cNvGrpSpPr/>
          <p:nvPr/>
        </p:nvGrpSpPr>
        <p:grpSpPr>
          <a:xfrm>
            <a:off x="0" y="9525"/>
            <a:ext cx="9153525" cy="408388"/>
            <a:chOff x="0" y="9525"/>
            <a:chExt cx="9153525" cy="408388"/>
          </a:xfrm>
        </p:grpSpPr>
        <p:sp>
          <p:nvSpPr>
            <p:cNvPr id="45" name="44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Storage Internals  |  Uniform Extents</a:t>
              </a:r>
              <a:endParaRPr lang="en-US" b="1" i="1" dirty="0">
                <a:solidFill>
                  <a:schemeClr val="bg1"/>
                </a:solidFill>
              </a:endParaRPr>
            </a:p>
          </p:txBody>
        </p:sp>
        <p:pic>
          <p:nvPicPr>
            <p:cNvPr id="46" name="45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8" name="4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9" name="48 Grupo"/>
          <p:cNvGrpSpPr/>
          <p:nvPr/>
        </p:nvGrpSpPr>
        <p:grpSpPr>
          <a:xfrm>
            <a:off x="9525" y="6574392"/>
            <a:ext cx="9134399" cy="277000"/>
            <a:chOff x="9525" y="6574392"/>
            <a:chExt cx="9134399" cy="277000"/>
          </a:xfrm>
        </p:grpSpPr>
        <p:sp>
          <p:nvSpPr>
            <p:cNvPr id="50" name="49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51" name="50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219328122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0" y="533400"/>
            <a:ext cx="9144000" cy="1169551"/>
          </a:xfrm>
          <a:prstGeom prst="rect">
            <a:avLst/>
          </a:prstGeom>
          <a:noFill/>
        </p:spPr>
        <p:txBody>
          <a:bodyPr wrap="square" rtlCol="0">
            <a:spAutoFit/>
          </a:bodyPr>
          <a:lstStyle/>
          <a:p>
            <a:r>
              <a:rPr lang="en-US" sz="1400" dirty="0" smtClean="0">
                <a:solidFill>
                  <a:prstClr val="black"/>
                </a:solidFill>
              </a:rPr>
              <a:t>When an Extent is occupied by multiple objects (two different Tables, for example) then it is called a “</a:t>
            </a:r>
            <a:r>
              <a:rPr lang="en-US" sz="1400" b="1" dirty="0" smtClean="0">
                <a:solidFill>
                  <a:prstClr val="black"/>
                </a:solidFill>
              </a:rPr>
              <a:t>Mixed Extent</a:t>
            </a:r>
            <a:r>
              <a:rPr lang="en-US" sz="1400" dirty="0" smtClean="0">
                <a:solidFill>
                  <a:prstClr val="black"/>
                </a:solidFill>
              </a:rPr>
              <a:t>”</a:t>
            </a:r>
          </a:p>
          <a:p>
            <a:endParaRPr lang="en-US" sz="1400" dirty="0">
              <a:solidFill>
                <a:prstClr val="black"/>
              </a:solidFill>
            </a:endParaRPr>
          </a:p>
          <a:p>
            <a:r>
              <a:rPr lang="en-US" sz="1400" b="1" dirty="0" smtClean="0">
                <a:solidFill>
                  <a:prstClr val="black"/>
                </a:solidFill>
              </a:rPr>
              <a:t>Why?</a:t>
            </a:r>
          </a:p>
          <a:p>
            <a:r>
              <a:rPr lang="en-US" sz="1400" dirty="0" smtClean="0">
                <a:solidFill>
                  <a:prstClr val="black"/>
                </a:solidFill>
              </a:rPr>
              <a:t>Because the space represented by those 64 KB of data is “</a:t>
            </a:r>
            <a:r>
              <a:rPr lang="en-US" sz="1400" b="1" dirty="0" smtClean="0">
                <a:solidFill>
                  <a:prstClr val="black"/>
                </a:solidFill>
              </a:rPr>
              <a:t>shared</a:t>
            </a:r>
            <a:r>
              <a:rPr lang="en-US" sz="1400" dirty="0" smtClean="0">
                <a:solidFill>
                  <a:prstClr val="black"/>
                </a:solidFill>
              </a:rPr>
              <a:t>” by different objects.</a:t>
            </a:r>
          </a:p>
          <a:p>
            <a:r>
              <a:rPr lang="en-US" sz="1400" dirty="0" smtClean="0">
                <a:solidFill>
                  <a:prstClr val="black"/>
                </a:solidFill>
              </a:rPr>
              <a:t>That’s why a mixed extent is also known as “</a:t>
            </a:r>
            <a:r>
              <a:rPr lang="en-US" sz="1400" b="1" i="1" dirty="0">
                <a:solidFill>
                  <a:prstClr val="black"/>
                </a:solidFill>
              </a:rPr>
              <a:t>S</a:t>
            </a:r>
            <a:r>
              <a:rPr lang="en-US" sz="1400" b="1" i="1" dirty="0" smtClean="0">
                <a:solidFill>
                  <a:prstClr val="black"/>
                </a:solidFill>
              </a:rPr>
              <a:t>hared Extent</a:t>
            </a:r>
            <a:r>
              <a:rPr lang="en-US" sz="1400" dirty="0" smtClean="0">
                <a:solidFill>
                  <a:prstClr val="black"/>
                </a:solidFill>
              </a:rPr>
              <a:t>”</a:t>
            </a:r>
            <a:endParaRPr lang="en-US" sz="1400" dirty="0">
              <a:solidFill>
                <a:prstClr val="black"/>
              </a:solidFill>
            </a:endParaRPr>
          </a:p>
        </p:txBody>
      </p:sp>
      <p:grpSp>
        <p:nvGrpSpPr>
          <p:cNvPr id="7" name="6 Grupo"/>
          <p:cNvGrpSpPr/>
          <p:nvPr/>
        </p:nvGrpSpPr>
        <p:grpSpPr>
          <a:xfrm>
            <a:off x="376727" y="3426864"/>
            <a:ext cx="8382000" cy="838200"/>
            <a:chOff x="376727" y="3426864"/>
            <a:chExt cx="8382000" cy="838200"/>
          </a:xfrm>
        </p:grpSpPr>
        <p:sp>
          <p:nvSpPr>
            <p:cNvPr id="2" name="1 Rectángulo"/>
            <p:cNvSpPr/>
            <p:nvPr/>
          </p:nvSpPr>
          <p:spPr>
            <a:xfrm>
              <a:off x="376727" y="3426864"/>
              <a:ext cx="914400" cy="8382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4 CuadroTexto"/>
            <p:cNvSpPr txBox="1"/>
            <p:nvPr/>
          </p:nvSpPr>
          <p:spPr>
            <a:xfrm>
              <a:off x="385273" y="3435410"/>
              <a:ext cx="905854" cy="246221"/>
            </a:xfrm>
            <a:prstGeom prst="rect">
              <a:avLst/>
            </a:prstGeom>
            <a:solidFill>
              <a:schemeClr val="tx1">
                <a:lumMod val="50000"/>
                <a:lumOff val="50000"/>
              </a:schemeClr>
            </a:solidFill>
          </p:spPr>
          <p:txBody>
            <a:bodyPr wrap="square" rtlCol="0">
              <a:spAutoFit/>
            </a:bodyPr>
            <a:lstStyle/>
            <a:p>
              <a:r>
                <a:rPr lang="en-US" sz="1000" dirty="0" smtClean="0">
                  <a:solidFill>
                    <a:prstClr val="black"/>
                  </a:solidFill>
                </a:rPr>
                <a:t>Page 1  (8K)</a:t>
              </a:r>
              <a:endParaRPr lang="en-US" sz="1000" dirty="0">
                <a:solidFill>
                  <a:prstClr val="black"/>
                </a:solidFill>
              </a:endParaRPr>
            </a:p>
          </p:txBody>
        </p:sp>
        <p:sp>
          <p:nvSpPr>
            <p:cNvPr id="6" name="5 CuadroTexto"/>
            <p:cNvSpPr txBox="1"/>
            <p:nvPr/>
          </p:nvSpPr>
          <p:spPr>
            <a:xfrm>
              <a:off x="376727" y="3854320"/>
              <a:ext cx="914400" cy="246221"/>
            </a:xfrm>
            <a:prstGeom prst="rect">
              <a:avLst/>
            </a:prstGeom>
            <a:noFill/>
          </p:spPr>
          <p:txBody>
            <a:bodyPr wrap="square" rtlCol="0">
              <a:spAutoFit/>
            </a:bodyPr>
            <a:lstStyle/>
            <a:p>
              <a:pPr marL="171450" indent="-171450" algn="ctr">
                <a:buFont typeface="Wingdings" pitchFamily="2" charset="2"/>
                <a:buChar char="q"/>
              </a:pPr>
              <a:r>
                <a:rPr lang="en-US" sz="1000" dirty="0" smtClean="0">
                  <a:solidFill>
                    <a:prstClr val="black"/>
                  </a:solidFill>
                </a:rPr>
                <a:t>Orders</a:t>
              </a:r>
              <a:endParaRPr lang="en-US" sz="1000" dirty="0">
                <a:solidFill>
                  <a:prstClr val="black"/>
                </a:solidFill>
              </a:endParaRPr>
            </a:p>
          </p:txBody>
        </p:sp>
        <p:sp>
          <p:nvSpPr>
            <p:cNvPr id="10" name="9 Rectángulo"/>
            <p:cNvSpPr/>
            <p:nvPr/>
          </p:nvSpPr>
          <p:spPr>
            <a:xfrm>
              <a:off x="1443527" y="3426864"/>
              <a:ext cx="914400" cy="8382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 name="10 CuadroTexto"/>
            <p:cNvSpPr txBox="1"/>
            <p:nvPr/>
          </p:nvSpPr>
          <p:spPr>
            <a:xfrm>
              <a:off x="1452073" y="3435410"/>
              <a:ext cx="905854" cy="246221"/>
            </a:xfrm>
            <a:prstGeom prst="rect">
              <a:avLst/>
            </a:prstGeom>
            <a:solidFill>
              <a:schemeClr val="tx1">
                <a:lumMod val="50000"/>
                <a:lumOff val="50000"/>
              </a:schemeClr>
            </a:solidFill>
          </p:spPr>
          <p:txBody>
            <a:bodyPr wrap="square" rtlCol="0">
              <a:spAutoFit/>
            </a:bodyPr>
            <a:lstStyle/>
            <a:p>
              <a:r>
                <a:rPr lang="en-US" sz="1000" dirty="0" smtClean="0">
                  <a:solidFill>
                    <a:prstClr val="black"/>
                  </a:solidFill>
                </a:rPr>
                <a:t>Page 2  (8K)</a:t>
              </a:r>
              <a:endParaRPr lang="en-US" sz="1000" dirty="0">
                <a:solidFill>
                  <a:prstClr val="black"/>
                </a:solidFill>
              </a:endParaRPr>
            </a:p>
          </p:txBody>
        </p:sp>
        <p:sp>
          <p:nvSpPr>
            <p:cNvPr id="12" name="11 CuadroTexto"/>
            <p:cNvSpPr txBox="1"/>
            <p:nvPr/>
          </p:nvSpPr>
          <p:spPr>
            <a:xfrm>
              <a:off x="1443527" y="3854320"/>
              <a:ext cx="914400" cy="246221"/>
            </a:xfrm>
            <a:prstGeom prst="rect">
              <a:avLst/>
            </a:prstGeom>
            <a:noFill/>
          </p:spPr>
          <p:txBody>
            <a:bodyPr wrap="square" rtlCol="0">
              <a:spAutoFit/>
            </a:bodyPr>
            <a:lstStyle/>
            <a:p>
              <a:pPr marL="171450" indent="-171450" algn="ctr">
                <a:buFont typeface="Wingdings" pitchFamily="2" charset="2"/>
                <a:buChar char="Ø"/>
              </a:pPr>
              <a:r>
                <a:rPr lang="en-US" sz="1000" dirty="0" smtClean="0">
                  <a:solidFill>
                    <a:prstClr val="black"/>
                  </a:solidFill>
                </a:rPr>
                <a:t>Customers</a:t>
              </a:r>
              <a:endParaRPr lang="en-US" sz="1000" dirty="0">
                <a:solidFill>
                  <a:prstClr val="black"/>
                </a:solidFill>
              </a:endParaRPr>
            </a:p>
          </p:txBody>
        </p:sp>
        <p:sp>
          <p:nvSpPr>
            <p:cNvPr id="14" name="13 Rectángulo"/>
            <p:cNvSpPr/>
            <p:nvPr/>
          </p:nvSpPr>
          <p:spPr>
            <a:xfrm>
              <a:off x="2510327" y="3426864"/>
              <a:ext cx="914400" cy="8382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5" name="14 CuadroTexto"/>
            <p:cNvSpPr txBox="1"/>
            <p:nvPr/>
          </p:nvSpPr>
          <p:spPr>
            <a:xfrm>
              <a:off x="2518873" y="3435410"/>
              <a:ext cx="905854" cy="246221"/>
            </a:xfrm>
            <a:prstGeom prst="rect">
              <a:avLst/>
            </a:prstGeom>
            <a:solidFill>
              <a:schemeClr val="tx1">
                <a:lumMod val="50000"/>
                <a:lumOff val="50000"/>
              </a:schemeClr>
            </a:solidFill>
          </p:spPr>
          <p:txBody>
            <a:bodyPr wrap="square" rtlCol="0">
              <a:spAutoFit/>
            </a:bodyPr>
            <a:lstStyle/>
            <a:p>
              <a:r>
                <a:rPr lang="en-US" sz="1000" dirty="0" smtClean="0">
                  <a:solidFill>
                    <a:prstClr val="black"/>
                  </a:solidFill>
                </a:rPr>
                <a:t>Page 3  (8K)</a:t>
              </a:r>
              <a:endParaRPr lang="en-US" sz="1000" dirty="0">
                <a:solidFill>
                  <a:prstClr val="black"/>
                </a:solidFill>
              </a:endParaRPr>
            </a:p>
          </p:txBody>
        </p:sp>
        <p:sp>
          <p:nvSpPr>
            <p:cNvPr id="16" name="15 CuadroTexto"/>
            <p:cNvSpPr txBox="1"/>
            <p:nvPr/>
          </p:nvSpPr>
          <p:spPr>
            <a:xfrm>
              <a:off x="2510327" y="3854320"/>
              <a:ext cx="914400" cy="246221"/>
            </a:xfrm>
            <a:prstGeom prst="rect">
              <a:avLst/>
            </a:prstGeom>
            <a:noFill/>
          </p:spPr>
          <p:txBody>
            <a:bodyPr wrap="square" rtlCol="0">
              <a:spAutoFit/>
            </a:bodyPr>
            <a:lstStyle/>
            <a:p>
              <a:pPr marL="171450" indent="-171450" algn="ctr">
                <a:buFont typeface="Wingdings" pitchFamily="2" charset="2"/>
                <a:buChar char="q"/>
              </a:pPr>
              <a:r>
                <a:rPr lang="en-US" sz="1000" dirty="0" smtClean="0">
                  <a:solidFill>
                    <a:prstClr val="black"/>
                  </a:solidFill>
                </a:rPr>
                <a:t>Orders</a:t>
              </a:r>
              <a:endParaRPr lang="en-US" sz="1000" dirty="0">
                <a:solidFill>
                  <a:prstClr val="black"/>
                </a:solidFill>
              </a:endParaRPr>
            </a:p>
          </p:txBody>
        </p:sp>
        <p:sp>
          <p:nvSpPr>
            <p:cNvPr id="18" name="17 Rectángulo"/>
            <p:cNvSpPr/>
            <p:nvPr/>
          </p:nvSpPr>
          <p:spPr>
            <a:xfrm>
              <a:off x="3577127" y="3426864"/>
              <a:ext cx="914400" cy="8382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9" name="18 CuadroTexto"/>
            <p:cNvSpPr txBox="1"/>
            <p:nvPr/>
          </p:nvSpPr>
          <p:spPr>
            <a:xfrm>
              <a:off x="3585673" y="3435410"/>
              <a:ext cx="905854" cy="246221"/>
            </a:xfrm>
            <a:prstGeom prst="rect">
              <a:avLst/>
            </a:prstGeom>
            <a:solidFill>
              <a:schemeClr val="tx1">
                <a:lumMod val="50000"/>
                <a:lumOff val="50000"/>
              </a:schemeClr>
            </a:solidFill>
          </p:spPr>
          <p:txBody>
            <a:bodyPr wrap="square" rtlCol="0">
              <a:spAutoFit/>
            </a:bodyPr>
            <a:lstStyle/>
            <a:p>
              <a:r>
                <a:rPr lang="en-US" sz="1000" dirty="0" smtClean="0">
                  <a:solidFill>
                    <a:prstClr val="black"/>
                  </a:solidFill>
                </a:rPr>
                <a:t>Page 4  (8K)</a:t>
              </a:r>
              <a:endParaRPr lang="en-US" sz="1000" dirty="0">
                <a:solidFill>
                  <a:prstClr val="black"/>
                </a:solidFill>
              </a:endParaRPr>
            </a:p>
          </p:txBody>
        </p:sp>
        <p:sp>
          <p:nvSpPr>
            <p:cNvPr id="20" name="19 CuadroTexto"/>
            <p:cNvSpPr txBox="1"/>
            <p:nvPr/>
          </p:nvSpPr>
          <p:spPr>
            <a:xfrm>
              <a:off x="3577127" y="3854320"/>
              <a:ext cx="914400" cy="246221"/>
            </a:xfrm>
            <a:prstGeom prst="rect">
              <a:avLst/>
            </a:prstGeom>
            <a:noFill/>
          </p:spPr>
          <p:txBody>
            <a:bodyPr wrap="square" rtlCol="0">
              <a:spAutoFit/>
            </a:bodyPr>
            <a:lstStyle/>
            <a:p>
              <a:pPr marL="171450" indent="-171450" algn="ctr">
                <a:buFont typeface="Wingdings" pitchFamily="2" charset="2"/>
                <a:buChar char="Ø"/>
              </a:pPr>
              <a:r>
                <a:rPr lang="en-US" sz="1000" dirty="0" smtClean="0">
                  <a:solidFill>
                    <a:prstClr val="black"/>
                  </a:solidFill>
                </a:rPr>
                <a:t>Customers</a:t>
              </a:r>
              <a:endParaRPr lang="en-US" sz="1000" dirty="0">
                <a:solidFill>
                  <a:prstClr val="black"/>
                </a:solidFill>
              </a:endParaRPr>
            </a:p>
          </p:txBody>
        </p:sp>
        <p:sp>
          <p:nvSpPr>
            <p:cNvPr id="22" name="21 Rectángulo"/>
            <p:cNvSpPr/>
            <p:nvPr/>
          </p:nvSpPr>
          <p:spPr>
            <a:xfrm>
              <a:off x="4643927" y="3426864"/>
              <a:ext cx="914400" cy="8382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22 CuadroTexto"/>
            <p:cNvSpPr txBox="1"/>
            <p:nvPr/>
          </p:nvSpPr>
          <p:spPr>
            <a:xfrm>
              <a:off x="4652473" y="3435410"/>
              <a:ext cx="905854" cy="246221"/>
            </a:xfrm>
            <a:prstGeom prst="rect">
              <a:avLst/>
            </a:prstGeom>
            <a:solidFill>
              <a:schemeClr val="tx1">
                <a:lumMod val="50000"/>
                <a:lumOff val="50000"/>
              </a:schemeClr>
            </a:solidFill>
          </p:spPr>
          <p:txBody>
            <a:bodyPr wrap="square" rtlCol="0">
              <a:spAutoFit/>
            </a:bodyPr>
            <a:lstStyle/>
            <a:p>
              <a:r>
                <a:rPr lang="en-US" sz="1000" dirty="0" smtClean="0">
                  <a:solidFill>
                    <a:prstClr val="black"/>
                  </a:solidFill>
                </a:rPr>
                <a:t>Page 5  (8K)</a:t>
              </a:r>
              <a:endParaRPr lang="en-US" sz="1000" dirty="0">
                <a:solidFill>
                  <a:prstClr val="black"/>
                </a:solidFill>
              </a:endParaRPr>
            </a:p>
          </p:txBody>
        </p:sp>
        <p:sp>
          <p:nvSpPr>
            <p:cNvPr id="24" name="23 CuadroTexto"/>
            <p:cNvSpPr txBox="1"/>
            <p:nvPr/>
          </p:nvSpPr>
          <p:spPr>
            <a:xfrm>
              <a:off x="4643927" y="3854320"/>
              <a:ext cx="914400" cy="246221"/>
            </a:xfrm>
            <a:prstGeom prst="rect">
              <a:avLst/>
            </a:prstGeom>
            <a:noFill/>
          </p:spPr>
          <p:txBody>
            <a:bodyPr wrap="square" rtlCol="0">
              <a:spAutoFit/>
            </a:bodyPr>
            <a:lstStyle/>
            <a:p>
              <a:pPr marL="171450" indent="-171450" algn="ctr">
                <a:buFont typeface="Wingdings" pitchFamily="2" charset="2"/>
                <a:buChar char="q"/>
              </a:pPr>
              <a:r>
                <a:rPr lang="en-US" sz="1000" dirty="0" smtClean="0">
                  <a:solidFill>
                    <a:prstClr val="black"/>
                  </a:solidFill>
                </a:rPr>
                <a:t>Orders</a:t>
              </a:r>
              <a:endParaRPr lang="en-US" sz="1000" dirty="0">
                <a:solidFill>
                  <a:prstClr val="black"/>
                </a:solidFill>
              </a:endParaRPr>
            </a:p>
          </p:txBody>
        </p:sp>
        <p:sp>
          <p:nvSpPr>
            <p:cNvPr id="26" name="25 Rectángulo"/>
            <p:cNvSpPr/>
            <p:nvPr/>
          </p:nvSpPr>
          <p:spPr>
            <a:xfrm>
              <a:off x="5710727" y="3426864"/>
              <a:ext cx="914400" cy="8382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7" name="26 CuadroTexto"/>
            <p:cNvSpPr txBox="1"/>
            <p:nvPr/>
          </p:nvSpPr>
          <p:spPr>
            <a:xfrm>
              <a:off x="5719273" y="3435410"/>
              <a:ext cx="905854" cy="246221"/>
            </a:xfrm>
            <a:prstGeom prst="rect">
              <a:avLst/>
            </a:prstGeom>
            <a:solidFill>
              <a:schemeClr val="tx1">
                <a:lumMod val="50000"/>
                <a:lumOff val="50000"/>
              </a:schemeClr>
            </a:solidFill>
          </p:spPr>
          <p:txBody>
            <a:bodyPr wrap="square" rtlCol="0">
              <a:spAutoFit/>
            </a:bodyPr>
            <a:lstStyle/>
            <a:p>
              <a:r>
                <a:rPr lang="en-US" sz="1000" dirty="0" smtClean="0">
                  <a:solidFill>
                    <a:prstClr val="black"/>
                  </a:solidFill>
                </a:rPr>
                <a:t>Page 6  (8K)</a:t>
              </a:r>
              <a:endParaRPr lang="en-US" sz="1000" dirty="0">
                <a:solidFill>
                  <a:prstClr val="black"/>
                </a:solidFill>
              </a:endParaRPr>
            </a:p>
          </p:txBody>
        </p:sp>
        <p:sp>
          <p:nvSpPr>
            <p:cNvPr id="28" name="27 CuadroTexto"/>
            <p:cNvSpPr txBox="1"/>
            <p:nvPr/>
          </p:nvSpPr>
          <p:spPr>
            <a:xfrm>
              <a:off x="5710727" y="3854320"/>
              <a:ext cx="914400" cy="246221"/>
            </a:xfrm>
            <a:prstGeom prst="rect">
              <a:avLst/>
            </a:prstGeom>
            <a:noFill/>
          </p:spPr>
          <p:txBody>
            <a:bodyPr wrap="square" rtlCol="0">
              <a:spAutoFit/>
            </a:bodyPr>
            <a:lstStyle/>
            <a:p>
              <a:pPr marL="171450" indent="-171450" algn="ctr">
                <a:buFont typeface="Wingdings" pitchFamily="2" charset="2"/>
                <a:buChar char="Ø"/>
              </a:pPr>
              <a:r>
                <a:rPr lang="en-US" sz="1000" dirty="0" smtClean="0">
                  <a:solidFill>
                    <a:prstClr val="black"/>
                  </a:solidFill>
                </a:rPr>
                <a:t>Customers</a:t>
              </a:r>
              <a:endParaRPr lang="en-US" sz="1000" dirty="0">
                <a:solidFill>
                  <a:prstClr val="black"/>
                </a:solidFill>
              </a:endParaRPr>
            </a:p>
          </p:txBody>
        </p:sp>
        <p:sp>
          <p:nvSpPr>
            <p:cNvPr id="30" name="29 Rectángulo"/>
            <p:cNvSpPr/>
            <p:nvPr/>
          </p:nvSpPr>
          <p:spPr>
            <a:xfrm>
              <a:off x="6777527" y="3426864"/>
              <a:ext cx="914400" cy="8382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30 CuadroTexto"/>
            <p:cNvSpPr txBox="1"/>
            <p:nvPr/>
          </p:nvSpPr>
          <p:spPr>
            <a:xfrm>
              <a:off x="6786073" y="3435410"/>
              <a:ext cx="905854" cy="246221"/>
            </a:xfrm>
            <a:prstGeom prst="rect">
              <a:avLst/>
            </a:prstGeom>
            <a:solidFill>
              <a:schemeClr val="tx1">
                <a:lumMod val="50000"/>
                <a:lumOff val="50000"/>
              </a:schemeClr>
            </a:solidFill>
          </p:spPr>
          <p:txBody>
            <a:bodyPr wrap="square" rtlCol="0">
              <a:spAutoFit/>
            </a:bodyPr>
            <a:lstStyle/>
            <a:p>
              <a:r>
                <a:rPr lang="en-US" sz="1000" dirty="0" smtClean="0">
                  <a:solidFill>
                    <a:prstClr val="black"/>
                  </a:solidFill>
                </a:rPr>
                <a:t>Page 7  (8K)</a:t>
              </a:r>
              <a:endParaRPr lang="en-US" sz="1000" dirty="0">
                <a:solidFill>
                  <a:prstClr val="black"/>
                </a:solidFill>
              </a:endParaRPr>
            </a:p>
          </p:txBody>
        </p:sp>
        <p:sp>
          <p:nvSpPr>
            <p:cNvPr id="32" name="31 CuadroTexto"/>
            <p:cNvSpPr txBox="1"/>
            <p:nvPr/>
          </p:nvSpPr>
          <p:spPr>
            <a:xfrm>
              <a:off x="6777527" y="3854320"/>
              <a:ext cx="914400" cy="246221"/>
            </a:xfrm>
            <a:prstGeom prst="rect">
              <a:avLst/>
            </a:prstGeom>
            <a:noFill/>
          </p:spPr>
          <p:txBody>
            <a:bodyPr wrap="square" rtlCol="0">
              <a:spAutoFit/>
            </a:bodyPr>
            <a:lstStyle/>
            <a:p>
              <a:pPr marL="171450" indent="-171450" algn="ctr">
                <a:buFont typeface="Wingdings" pitchFamily="2" charset="2"/>
                <a:buChar char="v"/>
              </a:pPr>
              <a:r>
                <a:rPr lang="en-US" sz="1000" dirty="0" smtClean="0">
                  <a:solidFill>
                    <a:prstClr val="black"/>
                  </a:solidFill>
                </a:rPr>
                <a:t>Employees</a:t>
              </a:r>
              <a:endParaRPr lang="en-US" sz="1000" dirty="0">
                <a:solidFill>
                  <a:prstClr val="black"/>
                </a:solidFill>
              </a:endParaRPr>
            </a:p>
          </p:txBody>
        </p:sp>
        <p:sp>
          <p:nvSpPr>
            <p:cNvPr id="34" name="33 Rectángulo"/>
            <p:cNvSpPr/>
            <p:nvPr/>
          </p:nvSpPr>
          <p:spPr>
            <a:xfrm>
              <a:off x="7844327" y="3426864"/>
              <a:ext cx="914400" cy="8382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5" name="34 CuadroTexto"/>
            <p:cNvSpPr txBox="1"/>
            <p:nvPr/>
          </p:nvSpPr>
          <p:spPr>
            <a:xfrm>
              <a:off x="7852873" y="3435410"/>
              <a:ext cx="905854" cy="246221"/>
            </a:xfrm>
            <a:prstGeom prst="rect">
              <a:avLst/>
            </a:prstGeom>
            <a:solidFill>
              <a:schemeClr val="tx1">
                <a:lumMod val="50000"/>
                <a:lumOff val="50000"/>
              </a:schemeClr>
            </a:solidFill>
          </p:spPr>
          <p:txBody>
            <a:bodyPr wrap="square" rtlCol="0">
              <a:spAutoFit/>
            </a:bodyPr>
            <a:lstStyle/>
            <a:p>
              <a:r>
                <a:rPr lang="en-US" sz="1000" dirty="0" smtClean="0">
                  <a:solidFill>
                    <a:prstClr val="black"/>
                  </a:solidFill>
                </a:rPr>
                <a:t>Page 8  (8K)</a:t>
              </a:r>
              <a:endParaRPr lang="en-US" sz="1000" dirty="0">
                <a:solidFill>
                  <a:prstClr val="black"/>
                </a:solidFill>
              </a:endParaRPr>
            </a:p>
          </p:txBody>
        </p:sp>
        <p:sp>
          <p:nvSpPr>
            <p:cNvPr id="36" name="35 CuadroTexto"/>
            <p:cNvSpPr txBox="1"/>
            <p:nvPr/>
          </p:nvSpPr>
          <p:spPr>
            <a:xfrm>
              <a:off x="7844327" y="3854320"/>
              <a:ext cx="914400" cy="246221"/>
            </a:xfrm>
            <a:prstGeom prst="rect">
              <a:avLst/>
            </a:prstGeom>
            <a:noFill/>
          </p:spPr>
          <p:txBody>
            <a:bodyPr wrap="square" rtlCol="0">
              <a:spAutoFit/>
            </a:bodyPr>
            <a:lstStyle/>
            <a:p>
              <a:pPr marL="171450" indent="-171450" algn="ctr">
                <a:buFont typeface="Wingdings" pitchFamily="2" charset="2"/>
                <a:buChar char="v"/>
              </a:pPr>
              <a:r>
                <a:rPr lang="en-US" sz="1000" dirty="0" smtClean="0">
                  <a:solidFill>
                    <a:prstClr val="black"/>
                  </a:solidFill>
                </a:rPr>
                <a:t>Employees</a:t>
              </a:r>
              <a:endParaRPr lang="en-US" sz="1000" dirty="0">
                <a:solidFill>
                  <a:prstClr val="black"/>
                </a:solidFill>
              </a:endParaRPr>
            </a:p>
          </p:txBody>
        </p:sp>
      </p:grpSp>
      <p:sp>
        <p:nvSpPr>
          <p:cNvPr id="38" name="37 CuadroTexto"/>
          <p:cNvSpPr txBox="1"/>
          <p:nvPr/>
        </p:nvSpPr>
        <p:spPr>
          <a:xfrm>
            <a:off x="385273" y="2966687"/>
            <a:ext cx="8373454" cy="307777"/>
          </a:xfrm>
          <a:prstGeom prst="rect">
            <a:avLst/>
          </a:prstGeom>
          <a:noFill/>
        </p:spPr>
        <p:txBody>
          <a:bodyPr wrap="square" rtlCol="0">
            <a:spAutoFit/>
          </a:bodyPr>
          <a:lstStyle/>
          <a:p>
            <a:pPr algn="ctr"/>
            <a:r>
              <a:rPr lang="en-US" sz="1400" b="1" dirty="0" smtClean="0">
                <a:solidFill>
                  <a:prstClr val="black"/>
                </a:solidFill>
              </a:rPr>
              <a:t>1 Extent = 64 Kilobytes</a:t>
            </a:r>
            <a:endParaRPr lang="en-US" sz="1400" dirty="0">
              <a:solidFill>
                <a:prstClr val="black"/>
              </a:solidFill>
            </a:endParaRPr>
          </a:p>
        </p:txBody>
      </p:sp>
      <p:cxnSp>
        <p:nvCxnSpPr>
          <p:cNvPr id="40" name="39 Conector recto de flecha"/>
          <p:cNvCxnSpPr/>
          <p:nvPr/>
        </p:nvCxnSpPr>
        <p:spPr>
          <a:xfrm flipH="1">
            <a:off x="385273" y="3122064"/>
            <a:ext cx="3272327"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41 Conector recto de flecha"/>
          <p:cNvCxnSpPr/>
          <p:nvPr/>
        </p:nvCxnSpPr>
        <p:spPr>
          <a:xfrm>
            <a:off x="5558327" y="3120575"/>
            <a:ext cx="3200400" cy="148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43 CuadroTexto"/>
          <p:cNvSpPr txBox="1"/>
          <p:nvPr/>
        </p:nvSpPr>
        <p:spPr>
          <a:xfrm>
            <a:off x="385273" y="2658910"/>
            <a:ext cx="8373454" cy="307777"/>
          </a:xfrm>
          <a:prstGeom prst="rect">
            <a:avLst/>
          </a:prstGeom>
          <a:noFill/>
        </p:spPr>
        <p:txBody>
          <a:bodyPr wrap="square" rtlCol="0">
            <a:spAutoFit/>
          </a:bodyPr>
          <a:lstStyle/>
          <a:p>
            <a:pPr algn="ctr"/>
            <a:r>
              <a:rPr lang="en-US" sz="1400" b="1" dirty="0" smtClean="0">
                <a:solidFill>
                  <a:prstClr val="black"/>
                </a:solidFill>
              </a:rPr>
              <a:t>The Extent is “</a:t>
            </a:r>
            <a:r>
              <a:rPr lang="en-US" sz="1400" b="1" dirty="0" smtClean="0">
                <a:solidFill>
                  <a:srgbClr val="0000FF"/>
                </a:solidFill>
                <a:effectLst>
                  <a:outerShdw blurRad="38100" dist="38100" dir="2700000" algn="tl">
                    <a:srgbClr val="000000">
                      <a:alpha val="43137"/>
                    </a:srgbClr>
                  </a:outerShdw>
                </a:effectLst>
              </a:rPr>
              <a:t>shared</a:t>
            </a:r>
            <a:r>
              <a:rPr lang="en-US" sz="1400" b="1" dirty="0" smtClean="0">
                <a:solidFill>
                  <a:prstClr val="black"/>
                </a:solidFill>
              </a:rPr>
              <a:t>” by different objects</a:t>
            </a:r>
            <a:endParaRPr lang="en-US" sz="1400" dirty="0">
              <a:solidFill>
                <a:prstClr val="black"/>
              </a:solidFill>
            </a:endParaRPr>
          </a:p>
        </p:txBody>
      </p:sp>
      <p:sp>
        <p:nvSpPr>
          <p:cNvPr id="47" name="46 CuadroTexto"/>
          <p:cNvSpPr txBox="1"/>
          <p:nvPr/>
        </p:nvSpPr>
        <p:spPr>
          <a:xfrm>
            <a:off x="0" y="2170888"/>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Pictorial View of a Mixed Extent</a:t>
            </a:r>
            <a:endParaRPr lang="en-US" sz="1400" dirty="0">
              <a:solidFill>
                <a:prstClr val="black"/>
              </a:solidFill>
            </a:endParaRPr>
          </a:p>
        </p:txBody>
      </p:sp>
      <p:grpSp>
        <p:nvGrpSpPr>
          <p:cNvPr id="37" name="36 Grupo"/>
          <p:cNvGrpSpPr/>
          <p:nvPr/>
        </p:nvGrpSpPr>
        <p:grpSpPr>
          <a:xfrm>
            <a:off x="9525" y="6574392"/>
            <a:ext cx="9134399" cy="277000"/>
            <a:chOff x="9525" y="6574392"/>
            <a:chExt cx="9134399" cy="277000"/>
          </a:xfrm>
        </p:grpSpPr>
        <p:sp>
          <p:nvSpPr>
            <p:cNvPr id="39" name="38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41" name="40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45" name="44 Grupo"/>
          <p:cNvGrpSpPr/>
          <p:nvPr/>
        </p:nvGrpSpPr>
        <p:grpSpPr>
          <a:xfrm>
            <a:off x="0" y="9525"/>
            <a:ext cx="9153525" cy="408388"/>
            <a:chOff x="0" y="9525"/>
            <a:chExt cx="9153525" cy="408388"/>
          </a:xfrm>
        </p:grpSpPr>
        <p:sp>
          <p:nvSpPr>
            <p:cNvPr id="46" name="45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Storage Internals  |  Mixed Extents</a:t>
              </a:r>
              <a:endParaRPr lang="en-US" b="1" i="1" dirty="0">
                <a:solidFill>
                  <a:schemeClr val="bg1"/>
                </a:solidFill>
              </a:endParaRPr>
            </a:p>
          </p:txBody>
        </p:sp>
        <p:pic>
          <p:nvPicPr>
            <p:cNvPr id="48" name="47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9" name="48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0" name="49 CuadroTexto"/>
          <p:cNvSpPr txBox="1"/>
          <p:nvPr/>
        </p:nvSpPr>
        <p:spPr>
          <a:xfrm>
            <a:off x="7543800" y="6019800"/>
            <a:ext cx="1600200" cy="369332"/>
          </a:xfrm>
          <a:prstGeom prst="rect">
            <a:avLst/>
          </a:prstGeom>
          <a:solidFill>
            <a:schemeClr val="accent3">
              <a:lumMod val="75000"/>
            </a:schemeClr>
          </a:solidFill>
        </p:spPr>
        <p:txBody>
          <a:bodyPr wrap="square" rtlCol="0">
            <a:spAutoFit/>
          </a:bodyPr>
          <a:lstStyle/>
          <a:p>
            <a:pPr algn="r"/>
            <a:r>
              <a:rPr lang="en-US" dirty="0" smtClean="0">
                <a:solidFill>
                  <a:prstClr val="white"/>
                </a:solidFill>
              </a:rPr>
              <a:t>Hands On </a:t>
            </a:r>
            <a:r>
              <a:rPr lang="en-US" dirty="0" smtClean="0">
                <a:solidFill>
                  <a:prstClr val="white"/>
                </a:solidFill>
                <a:sym typeface="Wingdings" pitchFamily="2" charset="2"/>
              </a:rPr>
              <a:t></a:t>
            </a:r>
            <a:endParaRPr lang="en-US" dirty="0">
              <a:solidFill>
                <a:prstClr val="white"/>
              </a:solidFill>
            </a:endParaRPr>
          </a:p>
        </p:txBody>
      </p:sp>
    </p:spTree>
    <p:extLst>
      <p:ext uri="{BB962C8B-B14F-4D97-AF65-F5344CB8AC3E}">
        <p14:creationId xmlns:p14="http://schemas.microsoft.com/office/powerpoint/2010/main" val="186831387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548679"/>
            <a:ext cx="5112568" cy="5931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 name="4 Grupo"/>
          <p:cNvGrpSpPr/>
          <p:nvPr/>
        </p:nvGrpSpPr>
        <p:grpSpPr>
          <a:xfrm>
            <a:off x="0" y="9525"/>
            <a:ext cx="9153525" cy="408388"/>
            <a:chOff x="0" y="9525"/>
            <a:chExt cx="9153525" cy="408388"/>
          </a:xfrm>
        </p:grpSpPr>
        <p:sp>
          <p:nvSpPr>
            <p:cNvPr id="6" name="5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Storage Internals  |  Extents</a:t>
              </a:r>
              <a:endParaRPr lang="en-US" b="1" i="1" dirty="0">
                <a:solidFill>
                  <a:schemeClr val="bg1"/>
                </a:solidFill>
              </a:endParaRPr>
            </a:p>
          </p:txBody>
        </p:sp>
        <p:pic>
          <p:nvPicPr>
            <p:cNvPr id="7" name="6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 name="8 Grupo"/>
          <p:cNvGrpSpPr/>
          <p:nvPr/>
        </p:nvGrpSpPr>
        <p:grpSpPr>
          <a:xfrm>
            <a:off x="9525" y="6574392"/>
            <a:ext cx="9134399" cy="277000"/>
            <a:chOff x="9525" y="6574392"/>
            <a:chExt cx="9134399" cy="277000"/>
          </a:xfrm>
        </p:grpSpPr>
        <p:sp>
          <p:nvSpPr>
            <p:cNvPr id="10" name="9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1" name="10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205732861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275086"/>
            <a:ext cx="9143999" cy="5582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4184" y="1600200"/>
            <a:ext cx="1219200" cy="1295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 name="6 Rectángulo"/>
          <p:cNvSpPr/>
          <p:nvPr/>
        </p:nvSpPr>
        <p:spPr>
          <a:xfrm>
            <a:off x="34184" y="2904146"/>
            <a:ext cx="1219200" cy="1269762"/>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7 Rectángulo"/>
          <p:cNvSpPr/>
          <p:nvPr/>
        </p:nvSpPr>
        <p:spPr>
          <a:xfrm>
            <a:off x="37745" y="4173908"/>
            <a:ext cx="1219200" cy="129540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2 CuadroTexto"/>
          <p:cNvSpPr txBox="1"/>
          <p:nvPr/>
        </p:nvSpPr>
        <p:spPr>
          <a:xfrm>
            <a:off x="76200" y="486028"/>
            <a:ext cx="838200" cy="276999"/>
          </a:xfrm>
          <a:prstGeom prst="rect">
            <a:avLst/>
          </a:prstGeom>
          <a:noFill/>
        </p:spPr>
        <p:txBody>
          <a:bodyPr wrap="square" rtlCol="0">
            <a:spAutoFit/>
          </a:bodyPr>
          <a:lstStyle/>
          <a:p>
            <a:r>
              <a:rPr lang="en-US" sz="1200" dirty="0" smtClean="0">
                <a:solidFill>
                  <a:prstClr val="black"/>
                </a:solidFill>
              </a:rPr>
              <a:t>Extent #1</a:t>
            </a:r>
            <a:endParaRPr lang="en-US" sz="1200" dirty="0">
              <a:solidFill>
                <a:prstClr val="black"/>
              </a:solidFill>
            </a:endParaRPr>
          </a:p>
        </p:txBody>
      </p:sp>
      <p:sp>
        <p:nvSpPr>
          <p:cNvPr id="10" name="9 CuadroTexto"/>
          <p:cNvSpPr txBox="1"/>
          <p:nvPr/>
        </p:nvSpPr>
        <p:spPr>
          <a:xfrm>
            <a:off x="1215639" y="510474"/>
            <a:ext cx="838200" cy="276999"/>
          </a:xfrm>
          <a:prstGeom prst="rect">
            <a:avLst/>
          </a:prstGeom>
          <a:noFill/>
        </p:spPr>
        <p:txBody>
          <a:bodyPr wrap="square" rtlCol="0">
            <a:spAutoFit/>
          </a:bodyPr>
          <a:lstStyle/>
          <a:p>
            <a:r>
              <a:rPr lang="en-US" sz="1200" dirty="0" smtClean="0">
                <a:solidFill>
                  <a:prstClr val="black"/>
                </a:solidFill>
              </a:rPr>
              <a:t>Extent #2</a:t>
            </a:r>
            <a:endParaRPr lang="en-US" sz="1200" dirty="0">
              <a:solidFill>
                <a:prstClr val="black"/>
              </a:solidFill>
            </a:endParaRPr>
          </a:p>
        </p:txBody>
      </p:sp>
      <p:sp>
        <p:nvSpPr>
          <p:cNvPr id="11" name="10 CuadroTexto"/>
          <p:cNvSpPr txBox="1"/>
          <p:nvPr/>
        </p:nvSpPr>
        <p:spPr>
          <a:xfrm>
            <a:off x="2133600" y="486026"/>
            <a:ext cx="2819400" cy="276999"/>
          </a:xfrm>
          <a:prstGeom prst="rect">
            <a:avLst/>
          </a:prstGeom>
          <a:noFill/>
        </p:spPr>
        <p:txBody>
          <a:bodyPr wrap="square" rtlCol="0">
            <a:spAutoFit/>
          </a:bodyPr>
          <a:lstStyle/>
          <a:p>
            <a:r>
              <a:rPr lang="en-US" sz="1200" b="1" dirty="0" smtClean="0">
                <a:solidFill>
                  <a:prstClr val="black"/>
                </a:solidFill>
              </a:rPr>
              <a:t>The Extent is occupied by 1 object ONLY</a:t>
            </a:r>
            <a:endParaRPr lang="en-US" sz="1200" b="1" dirty="0">
              <a:solidFill>
                <a:prstClr val="black"/>
              </a:solidFill>
            </a:endParaRPr>
          </a:p>
        </p:txBody>
      </p:sp>
      <p:cxnSp>
        <p:nvCxnSpPr>
          <p:cNvPr id="6" name="5 Conector recto de flecha"/>
          <p:cNvCxnSpPr>
            <a:stCxn id="3" idx="2"/>
          </p:cNvCxnSpPr>
          <p:nvPr/>
        </p:nvCxnSpPr>
        <p:spPr>
          <a:xfrm>
            <a:off x="495300" y="763027"/>
            <a:ext cx="0" cy="837173"/>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2" name="21 Rectángulo"/>
          <p:cNvSpPr/>
          <p:nvPr/>
        </p:nvSpPr>
        <p:spPr>
          <a:xfrm>
            <a:off x="2057400" y="1447800"/>
            <a:ext cx="609600" cy="5410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24" name="23 Conector recto"/>
          <p:cNvCxnSpPr/>
          <p:nvPr/>
        </p:nvCxnSpPr>
        <p:spPr>
          <a:xfrm>
            <a:off x="1524000" y="787473"/>
            <a:ext cx="0" cy="2412927"/>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6" name="25 Conector recto de flecha"/>
          <p:cNvCxnSpPr/>
          <p:nvPr/>
        </p:nvCxnSpPr>
        <p:spPr>
          <a:xfrm flipH="1">
            <a:off x="1256946" y="3200400"/>
            <a:ext cx="267054" cy="0"/>
          </a:xfrm>
          <a:prstGeom prst="straightConnector1">
            <a:avLst/>
          </a:prstGeom>
          <a:ln w="254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27" name="26 Flecha abajo"/>
          <p:cNvSpPr/>
          <p:nvPr/>
        </p:nvSpPr>
        <p:spPr>
          <a:xfrm>
            <a:off x="2190216" y="796496"/>
            <a:ext cx="228600" cy="584127"/>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15" name="14 Grupo"/>
          <p:cNvGrpSpPr/>
          <p:nvPr/>
        </p:nvGrpSpPr>
        <p:grpSpPr>
          <a:xfrm>
            <a:off x="0" y="9525"/>
            <a:ext cx="9153525" cy="408388"/>
            <a:chOff x="0" y="9525"/>
            <a:chExt cx="9153525" cy="408388"/>
          </a:xfrm>
        </p:grpSpPr>
        <p:sp>
          <p:nvSpPr>
            <p:cNvPr id="16" name="15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Storage Internals  |  Uniform Extents</a:t>
              </a:r>
              <a:endParaRPr lang="en-US" b="1" i="1" dirty="0">
                <a:solidFill>
                  <a:schemeClr val="bg1"/>
                </a:solidFill>
              </a:endParaRPr>
            </a:p>
          </p:txBody>
        </p:sp>
        <p:pic>
          <p:nvPicPr>
            <p:cNvPr id="17" name="16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1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18 Grupo"/>
          <p:cNvGrpSpPr/>
          <p:nvPr/>
        </p:nvGrpSpPr>
        <p:grpSpPr>
          <a:xfrm>
            <a:off x="9525" y="6574392"/>
            <a:ext cx="9134399" cy="277000"/>
            <a:chOff x="9525" y="6574392"/>
            <a:chExt cx="9134399" cy="277000"/>
          </a:xfrm>
        </p:grpSpPr>
        <p:sp>
          <p:nvSpPr>
            <p:cNvPr id="20" name="19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1" name="20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11879906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5" y="1219200"/>
            <a:ext cx="9144000" cy="5207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14 CuadroTexto"/>
          <p:cNvSpPr txBox="1"/>
          <p:nvPr/>
        </p:nvSpPr>
        <p:spPr>
          <a:xfrm>
            <a:off x="1425" y="624526"/>
            <a:ext cx="2667000" cy="276999"/>
          </a:xfrm>
          <a:prstGeom prst="rect">
            <a:avLst/>
          </a:prstGeom>
          <a:noFill/>
        </p:spPr>
        <p:txBody>
          <a:bodyPr wrap="square" rtlCol="0">
            <a:spAutoFit/>
          </a:bodyPr>
          <a:lstStyle/>
          <a:p>
            <a:r>
              <a:rPr lang="en-US" sz="1200" b="1" dirty="0" smtClean="0">
                <a:solidFill>
                  <a:prstClr val="black"/>
                </a:solidFill>
              </a:rPr>
              <a:t>The Extent is shared by these 2 tables</a:t>
            </a:r>
            <a:endParaRPr lang="en-US" sz="1200" b="1" dirty="0">
              <a:solidFill>
                <a:prstClr val="black"/>
              </a:solidFill>
            </a:endParaRPr>
          </a:p>
        </p:txBody>
      </p:sp>
      <p:sp>
        <p:nvSpPr>
          <p:cNvPr id="5" name="4 Flecha abajo"/>
          <p:cNvSpPr/>
          <p:nvPr/>
        </p:nvSpPr>
        <p:spPr>
          <a:xfrm>
            <a:off x="762000" y="901524"/>
            <a:ext cx="228600" cy="622475"/>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8 Rectángulo"/>
          <p:cNvSpPr/>
          <p:nvPr/>
        </p:nvSpPr>
        <p:spPr>
          <a:xfrm>
            <a:off x="2057400" y="2311638"/>
            <a:ext cx="611025" cy="152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7" name="16 Rectángulo"/>
          <p:cNvSpPr/>
          <p:nvPr/>
        </p:nvSpPr>
        <p:spPr>
          <a:xfrm>
            <a:off x="2057400" y="2777384"/>
            <a:ext cx="611025" cy="152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13" name="12 Conector recto de flecha"/>
          <p:cNvCxnSpPr>
            <a:stCxn id="17" idx="1"/>
          </p:cNvCxnSpPr>
          <p:nvPr/>
        </p:nvCxnSpPr>
        <p:spPr>
          <a:xfrm flipH="1" flipV="1">
            <a:off x="876300" y="1905000"/>
            <a:ext cx="1181100" cy="94858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18 Conector recto de flecha"/>
          <p:cNvCxnSpPr/>
          <p:nvPr/>
        </p:nvCxnSpPr>
        <p:spPr>
          <a:xfrm flipH="1" flipV="1">
            <a:off x="1828800" y="1676400"/>
            <a:ext cx="685800" cy="2849"/>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20 Conector recto"/>
          <p:cNvCxnSpPr/>
          <p:nvPr/>
        </p:nvCxnSpPr>
        <p:spPr>
          <a:xfrm>
            <a:off x="2514600" y="1679249"/>
            <a:ext cx="0" cy="63523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6613" y="533400"/>
            <a:ext cx="3948812"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2" name="11 Grupo"/>
          <p:cNvGrpSpPr/>
          <p:nvPr/>
        </p:nvGrpSpPr>
        <p:grpSpPr>
          <a:xfrm>
            <a:off x="0" y="9525"/>
            <a:ext cx="9153525" cy="408388"/>
            <a:chOff x="0" y="9525"/>
            <a:chExt cx="9153525" cy="408388"/>
          </a:xfrm>
        </p:grpSpPr>
        <p:sp>
          <p:nvSpPr>
            <p:cNvPr id="14" name="13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Storage Internals  |  Mixed Extents</a:t>
              </a:r>
              <a:endParaRPr lang="en-US" b="1" i="1" dirty="0">
                <a:solidFill>
                  <a:schemeClr val="bg1"/>
                </a:solidFill>
              </a:endParaRPr>
            </a:p>
          </p:txBody>
        </p:sp>
        <p:pic>
          <p:nvPicPr>
            <p:cNvPr id="16" name="15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1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 name="19 Grupo"/>
          <p:cNvGrpSpPr/>
          <p:nvPr/>
        </p:nvGrpSpPr>
        <p:grpSpPr>
          <a:xfrm>
            <a:off x="9525" y="6574392"/>
            <a:ext cx="9134399" cy="277000"/>
            <a:chOff x="9525" y="6574392"/>
            <a:chExt cx="9134399" cy="277000"/>
          </a:xfrm>
        </p:grpSpPr>
        <p:sp>
          <p:nvSpPr>
            <p:cNvPr id="22" name="2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3" name="2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97602121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3" y="533398"/>
            <a:ext cx="2668424" cy="1100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61" y="1809751"/>
            <a:ext cx="53086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15 CuadroTexto"/>
          <p:cNvSpPr txBox="1"/>
          <p:nvPr/>
        </p:nvSpPr>
        <p:spPr>
          <a:xfrm>
            <a:off x="6858000" y="1787092"/>
            <a:ext cx="1447800" cy="307777"/>
          </a:xfrm>
          <a:prstGeom prst="rect">
            <a:avLst/>
          </a:prstGeom>
          <a:noFill/>
        </p:spPr>
        <p:txBody>
          <a:bodyPr wrap="square" rtlCol="0">
            <a:spAutoFit/>
          </a:bodyPr>
          <a:lstStyle/>
          <a:p>
            <a:r>
              <a:rPr lang="en-US" sz="1400" dirty="0" smtClean="0">
                <a:solidFill>
                  <a:prstClr val="black"/>
                </a:solidFill>
              </a:rPr>
              <a:t>Mixed Extents</a:t>
            </a:r>
            <a:endParaRPr lang="en-US" sz="1400" dirty="0">
              <a:solidFill>
                <a:prstClr val="black"/>
              </a:solidFill>
            </a:endParaRPr>
          </a:p>
        </p:txBody>
      </p:sp>
      <p:sp>
        <p:nvSpPr>
          <p:cNvPr id="18" name="17 CuadroTexto"/>
          <p:cNvSpPr txBox="1"/>
          <p:nvPr/>
        </p:nvSpPr>
        <p:spPr>
          <a:xfrm>
            <a:off x="6143358" y="3834141"/>
            <a:ext cx="2772042" cy="523220"/>
          </a:xfrm>
          <a:prstGeom prst="rect">
            <a:avLst/>
          </a:prstGeom>
          <a:noFill/>
        </p:spPr>
        <p:txBody>
          <a:bodyPr wrap="square" rtlCol="0">
            <a:spAutoFit/>
          </a:bodyPr>
          <a:lstStyle/>
          <a:p>
            <a:r>
              <a:rPr lang="en-US" sz="1400" dirty="0" smtClean="0">
                <a:solidFill>
                  <a:prstClr val="black"/>
                </a:solidFill>
              </a:rPr>
              <a:t>Records that can be physically deleted</a:t>
            </a:r>
            <a:endParaRPr lang="en-US" sz="1400" dirty="0">
              <a:solidFill>
                <a:prstClr val="black"/>
              </a:solidFill>
            </a:endParaRPr>
          </a:p>
        </p:txBody>
      </p:sp>
      <p:sp>
        <p:nvSpPr>
          <p:cNvPr id="2" name="1 Rectángulo"/>
          <p:cNvSpPr/>
          <p:nvPr/>
        </p:nvSpPr>
        <p:spPr>
          <a:xfrm>
            <a:off x="3505200" y="5848350"/>
            <a:ext cx="685800" cy="152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2 Rectángulo"/>
          <p:cNvSpPr/>
          <p:nvPr/>
        </p:nvSpPr>
        <p:spPr>
          <a:xfrm>
            <a:off x="4724400" y="2647950"/>
            <a:ext cx="640461" cy="144780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7" name="6 Conector recto de flecha"/>
          <p:cNvCxnSpPr>
            <a:stCxn id="16" idx="1"/>
          </p:cNvCxnSpPr>
          <p:nvPr/>
        </p:nvCxnSpPr>
        <p:spPr>
          <a:xfrm flipH="1">
            <a:off x="5364861" y="1940981"/>
            <a:ext cx="1493139" cy="82589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9 Conector recto de flecha"/>
          <p:cNvCxnSpPr/>
          <p:nvPr/>
        </p:nvCxnSpPr>
        <p:spPr>
          <a:xfrm flipH="1">
            <a:off x="4191000" y="4324350"/>
            <a:ext cx="2057400" cy="15240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1" name="10 Grupo"/>
          <p:cNvGrpSpPr/>
          <p:nvPr/>
        </p:nvGrpSpPr>
        <p:grpSpPr>
          <a:xfrm>
            <a:off x="9525" y="6574392"/>
            <a:ext cx="9134399" cy="277000"/>
            <a:chOff x="9525" y="6574392"/>
            <a:chExt cx="9134399" cy="277000"/>
          </a:xfrm>
        </p:grpSpPr>
        <p:sp>
          <p:nvSpPr>
            <p:cNvPr id="12" name="1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3" name="1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4" name="13 Grupo"/>
          <p:cNvGrpSpPr/>
          <p:nvPr/>
        </p:nvGrpSpPr>
        <p:grpSpPr>
          <a:xfrm>
            <a:off x="0" y="9525"/>
            <a:ext cx="9153525" cy="408388"/>
            <a:chOff x="0" y="9525"/>
            <a:chExt cx="9153525" cy="408388"/>
          </a:xfrm>
        </p:grpSpPr>
        <p:sp>
          <p:nvSpPr>
            <p:cNvPr id="15" name="14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Storage Internals  |  Listing Extents</a:t>
              </a:r>
              <a:endParaRPr lang="en-US" b="1" i="1" dirty="0">
                <a:solidFill>
                  <a:schemeClr val="bg1"/>
                </a:solidFill>
              </a:endParaRPr>
            </a:p>
          </p:txBody>
        </p:sp>
        <p:pic>
          <p:nvPicPr>
            <p:cNvPr id="17" name="16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9" name="18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3746546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0" y="609600"/>
            <a:ext cx="9144000" cy="1169551"/>
          </a:xfrm>
          <a:prstGeom prst="rect">
            <a:avLst/>
          </a:prstGeom>
          <a:noFill/>
        </p:spPr>
        <p:txBody>
          <a:bodyPr wrap="square" rtlCol="0">
            <a:spAutoFit/>
          </a:bodyPr>
          <a:lstStyle/>
          <a:p>
            <a:r>
              <a:rPr lang="en-US" sz="1400" dirty="0" smtClean="0">
                <a:solidFill>
                  <a:prstClr val="black"/>
                </a:solidFill>
              </a:rPr>
              <a:t>Fragmentation can be defined as any condition that leads to store data non-contiguously on disk</a:t>
            </a:r>
          </a:p>
          <a:p>
            <a:endParaRPr lang="en-US" sz="1400" dirty="0" smtClean="0">
              <a:solidFill>
                <a:prstClr val="black"/>
              </a:solidFill>
            </a:endParaRPr>
          </a:p>
          <a:p>
            <a:r>
              <a:rPr lang="en-US" sz="1400" dirty="0">
                <a:solidFill>
                  <a:prstClr val="black"/>
                </a:solidFill>
              </a:rPr>
              <a:t>Optimal performance of SELECT queries occurs when the data pages of tables are </a:t>
            </a:r>
            <a:r>
              <a:rPr lang="en-US" sz="1400" dirty="0" smtClean="0">
                <a:solidFill>
                  <a:prstClr val="black"/>
                </a:solidFill>
              </a:rPr>
              <a:t>contiguous </a:t>
            </a:r>
            <a:r>
              <a:rPr lang="en-US" sz="1400" dirty="0">
                <a:solidFill>
                  <a:prstClr val="black"/>
                </a:solidFill>
              </a:rPr>
              <a:t>and pages are fully packed as </a:t>
            </a:r>
            <a:r>
              <a:rPr lang="en-US" sz="1400" dirty="0" smtClean="0">
                <a:solidFill>
                  <a:prstClr val="black"/>
                </a:solidFill>
              </a:rPr>
              <a:t>possible.</a:t>
            </a:r>
          </a:p>
          <a:p>
            <a:r>
              <a:rPr lang="en-US" sz="1400" dirty="0">
                <a:solidFill>
                  <a:prstClr val="black"/>
                </a:solidFill>
              </a:rPr>
              <a:t>Fragmentation breaks this rule and reduce the performance of the </a:t>
            </a:r>
            <a:r>
              <a:rPr lang="en-US" sz="1400" dirty="0" smtClean="0">
                <a:solidFill>
                  <a:prstClr val="black"/>
                </a:solidFill>
              </a:rPr>
              <a:t>queries.</a:t>
            </a:r>
            <a:endParaRPr lang="en-US" sz="1400" dirty="0">
              <a:solidFill>
                <a:prstClr val="black"/>
              </a:solidFill>
            </a:endParaRPr>
          </a:p>
        </p:txBody>
      </p:sp>
      <p:sp>
        <p:nvSpPr>
          <p:cNvPr id="7" name="6 CuadroTexto"/>
          <p:cNvSpPr txBox="1"/>
          <p:nvPr/>
        </p:nvSpPr>
        <p:spPr>
          <a:xfrm>
            <a:off x="-21364" y="2524780"/>
            <a:ext cx="9144000" cy="2893100"/>
          </a:xfrm>
          <a:prstGeom prst="rect">
            <a:avLst/>
          </a:prstGeom>
          <a:noFill/>
        </p:spPr>
        <p:txBody>
          <a:bodyPr wrap="square" rtlCol="0">
            <a:spAutoFit/>
          </a:bodyPr>
          <a:lstStyle/>
          <a:p>
            <a:r>
              <a:rPr lang="en-US" sz="1400" b="1" dirty="0" smtClean="0">
                <a:solidFill>
                  <a:prstClr val="black"/>
                </a:solidFill>
              </a:rPr>
              <a:t>Physical  Disk Fragmentation</a:t>
            </a:r>
          </a:p>
          <a:p>
            <a:r>
              <a:rPr lang="en-US" sz="1400" dirty="0" smtClean="0">
                <a:solidFill>
                  <a:prstClr val="black"/>
                </a:solidFill>
              </a:rPr>
              <a:t>This </a:t>
            </a:r>
            <a:r>
              <a:rPr lang="en-US" sz="1400" dirty="0">
                <a:solidFill>
                  <a:prstClr val="black"/>
                </a:solidFill>
              </a:rPr>
              <a:t>occurs when the file system is not able allocate contiguous space for </a:t>
            </a:r>
            <a:r>
              <a:rPr lang="en-US" sz="1400" dirty="0" smtClean="0">
                <a:solidFill>
                  <a:prstClr val="black"/>
                </a:solidFill>
              </a:rPr>
              <a:t>a file. </a:t>
            </a:r>
          </a:p>
          <a:p>
            <a:r>
              <a:rPr lang="en-US" sz="1400" dirty="0" smtClean="0">
                <a:solidFill>
                  <a:prstClr val="black"/>
                </a:solidFill>
              </a:rPr>
              <a:t>As </a:t>
            </a:r>
            <a:r>
              <a:rPr lang="en-US" sz="1400" dirty="0">
                <a:solidFill>
                  <a:prstClr val="black"/>
                </a:solidFill>
              </a:rPr>
              <a:t>a result, </a:t>
            </a:r>
            <a:r>
              <a:rPr lang="en-US" sz="1400" dirty="0" smtClean="0">
                <a:solidFill>
                  <a:prstClr val="black"/>
                </a:solidFill>
              </a:rPr>
              <a:t>the disk </a:t>
            </a:r>
            <a:r>
              <a:rPr lang="en-US" sz="1400" dirty="0">
                <a:solidFill>
                  <a:prstClr val="black"/>
                </a:solidFill>
              </a:rPr>
              <a:t>head has to move back and forth to </a:t>
            </a:r>
            <a:r>
              <a:rPr lang="en-US" sz="1400" dirty="0" smtClean="0">
                <a:solidFill>
                  <a:prstClr val="black"/>
                </a:solidFill>
              </a:rPr>
              <a:t>seek and read </a:t>
            </a:r>
            <a:r>
              <a:rPr lang="en-US" sz="1400" dirty="0">
                <a:solidFill>
                  <a:prstClr val="black"/>
                </a:solidFill>
              </a:rPr>
              <a:t>from the database </a:t>
            </a:r>
            <a:r>
              <a:rPr lang="en-US" sz="1400" dirty="0" smtClean="0">
                <a:solidFill>
                  <a:prstClr val="black"/>
                </a:solidFill>
              </a:rPr>
              <a:t>files.</a:t>
            </a:r>
          </a:p>
          <a:p>
            <a:endParaRPr lang="en-US" sz="1400" dirty="0">
              <a:solidFill>
                <a:prstClr val="black"/>
              </a:solidFill>
            </a:endParaRPr>
          </a:p>
          <a:p>
            <a:pPr marL="285750" indent="-285750">
              <a:buFont typeface="Wingdings" pitchFamily="2" charset="2"/>
              <a:buChar char="Ø"/>
            </a:pPr>
            <a:r>
              <a:rPr lang="en-US" sz="1400" dirty="0">
                <a:solidFill>
                  <a:prstClr val="black"/>
                </a:solidFill>
              </a:rPr>
              <a:t>Placing </a:t>
            </a:r>
            <a:r>
              <a:rPr lang="en-US" sz="1400" dirty="0" smtClean="0">
                <a:solidFill>
                  <a:prstClr val="black"/>
                </a:solidFill>
              </a:rPr>
              <a:t>your</a:t>
            </a:r>
            <a:r>
              <a:rPr lang="en-US" sz="1400" dirty="0">
                <a:solidFill>
                  <a:prstClr val="black"/>
                </a:solidFill>
              </a:rPr>
              <a:t> database </a:t>
            </a:r>
            <a:r>
              <a:rPr lang="en-US" sz="1400" dirty="0" smtClean="0">
                <a:solidFill>
                  <a:prstClr val="black"/>
                </a:solidFill>
              </a:rPr>
              <a:t>files </a:t>
            </a:r>
            <a:r>
              <a:rPr lang="en-US" sz="1400" dirty="0">
                <a:solidFill>
                  <a:prstClr val="black"/>
                </a:solidFill>
              </a:rPr>
              <a:t>in the same disk where other </a:t>
            </a:r>
            <a:r>
              <a:rPr lang="en-US" sz="1400" dirty="0" smtClean="0">
                <a:solidFill>
                  <a:prstClr val="black"/>
                </a:solidFill>
              </a:rPr>
              <a:t>files are kept (e.g. </a:t>
            </a:r>
            <a:r>
              <a:rPr lang="en-US" sz="1400" dirty="0">
                <a:solidFill>
                  <a:prstClr val="black"/>
                </a:solidFill>
              </a:rPr>
              <a:t>OS </a:t>
            </a:r>
            <a:r>
              <a:rPr lang="en-US" sz="1400" dirty="0" smtClean="0">
                <a:solidFill>
                  <a:prstClr val="black"/>
                </a:solidFill>
              </a:rPr>
              <a:t>files, application </a:t>
            </a:r>
            <a:r>
              <a:rPr lang="en-US" sz="1400" dirty="0">
                <a:solidFill>
                  <a:prstClr val="black"/>
                </a:solidFill>
              </a:rPr>
              <a:t>files</a:t>
            </a:r>
            <a:r>
              <a:rPr lang="en-US" sz="1400" dirty="0" smtClean="0">
                <a:solidFill>
                  <a:prstClr val="black"/>
                </a:solidFill>
              </a:rPr>
              <a:t>).</a:t>
            </a:r>
            <a:endParaRPr lang="en-US" sz="1400" dirty="0">
              <a:solidFill>
                <a:prstClr val="black"/>
              </a:solidFill>
            </a:endParaRPr>
          </a:p>
          <a:p>
            <a:pPr marL="285750" indent="-285750">
              <a:buFont typeface="Wingdings" pitchFamily="2" charset="2"/>
              <a:buChar char="Ø"/>
            </a:pPr>
            <a:r>
              <a:rPr lang="en-US" sz="1400" dirty="0">
                <a:solidFill>
                  <a:prstClr val="black"/>
                </a:solidFill>
              </a:rPr>
              <a:t>Frequent growth of the database file in smaller chunks</a:t>
            </a:r>
            <a:r>
              <a:rPr lang="en-US" sz="1400" dirty="0" smtClean="0">
                <a:solidFill>
                  <a:prstClr val="black"/>
                </a:solidFill>
              </a:rPr>
              <a:t>.</a:t>
            </a:r>
          </a:p>
          <a:p>
            <a:pPr marL="285750" indent="-285750">
              <a:buFont typeface="Wingdings" pitchFamily="2" charset="2"/>
              <a:buChar char="Ø"/>
            </a:pPr>
            <a:endParaRPr lang="en-US" sz="1400" dirty="0" smtClean="0">
              <a:solidFill>
                <a:prstClr val="black"/>
              </a:solidFill>
            </a:endParaRPr>
          </a:p>
          <a:p>
            <a:pPr marL="285750" indent="-285750">
              <a:buFont typeface="Wingdings" pitchFamily="2" charset="2"/>
              <a:buChar char="Ø"/>
            </a:pPr>
            <a:endParaRPr lang="en-US" sz="1400" dirty="0">
              <a:solidFill>
                <a:prstClr val="black"/>
              </a:solidFill>
            </a:endParaRPr>
          </a:p>
          <a:p>
            <a:r>
              <a:rPr lang="en-US" sz="1400" b="1" dirty="0" smtClean="0">
                <a:solidFill>
                  <a:prstClr val="black"/>
                </a:solidFill>
              </a:rPr>
              <a:t>How to avoid logical fragmentation?</a:t>
            </a:r>
            <a:endParaRPr lang="en-US" sz="1400" b="1" dirty="0">
              <a:solidFill>
                <a:prstClr val="black"/>
              </a:solidFill>
            </a:endParaRPr>
          </a:p>
          <a:p>
            <a:pPr marL="285750" indent="-285750">
              <a:buFont typeface="Wingdings" pitchFamily="2" charset="2"/>
              <a:buChar char="ü"/>
            </a:pPr>
            <a:r>
              <a:rPr lang="en-US" sz="1400" dirty="0">
                <a:solidFill>
                  <a:prstClr val="black"/>
                </a:solidFill>
              </a:rPr>
              <a:t>Keep the database files in a separate </a:t>
            </a:r>
            <a:r>
              <a:rPr lang="en-US" sz="1400" dirty="0" smtClean="0">
                <a:solidFill>
                  <a:prstClr val="black"/>
                </a:solidFill>
              </a:rPr>
              <a:t>disk, </a:t>
            </a:r>
            <a:r>
              <a:rPr lang="en-US" sz="1400" dirty="0">
                <a:solidFill>
                  <a:prstClr val="black"/>
                </a:solidFill>
              </a:rPr>
              <a:t>isolated from other application files and log files.</a:t>
            </a:r>
          </a:p>
          <a:p>
            <a:pPr marL="285750" indent="-285750">
              <a:buFont typeface="Wingdings" pitchFamily="2" charset="2"/>
              <a:buChar char="ü"/>
            </a:pPr>
            <a:r>
              <a:rPr lang="en-US" sz="1400" dirty="0">
                <a:solidFill>
                  <a:prstClr val="black"/>
                </a:solidFill>
              </a:rPr>
              <a:t>While creating </a:t>
            </a:r>
            <a:r>
              <a:rPr lang="en-US" sz="1400" dirty="0" smtClean="0">
                <a:solidFill>
                  <a:prstClr val="black"/>
                </a:solidFill>
              </a:rPr>
              <a:t>a new database, estimate </a:t>
            </a:r>
            <a:r>
              <a:rPr lang="en-US" sz="1400" dirty="0">
                <a:solidFill>
                  <a:prstClr val="black"/>
                </a:solidFill>
              </a:rPr>
              <a:t>the size </a:t>
            </a:r>
            <a:r>
              <a:rPr lang="en-US" sz="1400" dirty="0" smtClean="0">
                <a:solidFill>
                  <a:prstClr val="black"/>
                </a:solidFill>
              </a:rPr>
              <a:t>of the </a:t>
            </a:r>
            <a:r>
              <a:rPr lang="en-US" sz="1400" dirty="0">
                <a:solidFill>
                  <a:prstClr val="black"/>
                </a:solidFill>
              </a:rPr>
              <a:t>database file and allocate enough space </a:t>
            </a:r>
            <a:endParaRPr lang="en-US" sz="1400" dirty="0" smtClean="0">
              <a:solidFill>
                <a:prstClr val="black"/>
              </a:solidFill>
            </a:endParaRPr>
          </a:p>
          <a:p>
            <a:r>
              <a:rPr lang="en-US" sz="1400" dirty="0">
                <a:solidFill>
                  <a:prstClr val="black"/>
                </a:solidFill>
              </a:rPr>
              <a:t> </a:t>
            </a:r>
            <a:r>
              <a:rPr lang="en-US" sz="1400" dirty="0" smtClean="0">
                <a:solidFill>
                  <a:prstClr val="black"/>
                </a:solidFill>
              </a:rPr>
              <a:t>      to </a:t>
            </a:r>
            <a:r>
              <a:rPr lang="en-US" sz="1400" dirty="0">
                <a:solidFill>
                  <a:prstClr val="black"/>
                </a:solidFill>
              </a:rPr>
              <a:t>avoid the frequent growth of data files.</a:t>
            </a:r>
          </a:p>
          <a:p>
            <a:pPr marL="285750" indent="-285750">
              <a:buFont typeface="Wingdings" pitchFamily="2" charset="2"/>
              <a:buChar char="ü"/>
            </a:pPr>
            <a:r>
              <a:rPr lang="en-US" sz="1400" dirty="0">
                <a:solidFill>
                  <a:prstClr val="black"/>
                </a:solidFill>
              </a:rPr>
              <a:t>Specify the database growth option to allocate larger chunks rather than small chunks frequently</a:t>
            </a:r>
            <a:r>
              <a:rPr lang="en-US" sz="1400" dirty="0" smtClean="0">
                <a:solidFill>
                  <a:prstClr val="black"/>
                </a:solidFill>
              </a:rPr>
              <a:t>.</a:t>
            </a:r>
            <a:endParaRPr lang="en-US" sz="1400" dirty="0">
              <a:solidFill>
                <a:prstClr val="black"/>
              </a:solidFill>
            </a:endParaRPr>
          </a:p>
        </p:txBody>
      </p:sp>
      <p:grpSp>
        <p:nvGrpSpPr>
          <p:cNvPr id="6" name="5 Grupo"/>
          <p:cNvGrpSpPr/>
          <p:nvPr/>
        </p:nvGrpSpPr>
        <p:grpSpPr>
          <a:xfrm>
            <a:off x="0" y="9525"/>
            <a:ext cx="9153525" cy="408388"/>
            <a:chOff x="0" y="9525"/>
            <a:chExt cx="9153525" cy="408388"/>
          </a:xfrm>
        </p:grpSpPr>
        <p:sp>
          <p:nvSpPr>
            <p:cNvPr id="8" name="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Fragmentation</a:t>
              </a:r>
              <a:endParaRPr lang="en-US" b="1" i="1" dirty="0">
                <a:solidFill>
                  <a:schemeClr val="bg1"/>
                </a:solidFill>
              </a:endParaRPr>
            </a:p>
          </p:txBody>
        </p:sp>
        <p:pic>
          <p:nvPicPr>
            <p:cNvPr id="9" name="8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9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10 Grupo"/>
          <p:cNvGrpSpPr/>
          <p:nvPr/>
        </p:nvGrpSpPr>
        <p:grpSpPr>
          <a:xfrm>
            <a:off x="9525" y="6574392"/>
            <a:ext cx="9134399" cy="277000"/>
            <a:chOff x="9525" y="6574392"/>
            <a:chExt cx="9134399" cy="277000"/>
          </a:xfrm>
        </p:grpSpPr>
        <p:sp>
          <p:nvSpPr>
            <p:cNvPr id="12" name="1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3" name="1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2816535322"/>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899592" y="692696"/>
            <a:ext cx="6866930" cy="58477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pPr algn="ctr"/>
            <a:r>
              <a:rPr lang="en-US" sz="1600" b="1" dirty="0" smtClean="0">
                <a:solidFill>
                  <a:prstClr val="black"/>
                </a:solidFill>
              </a:rPr>
              <a:t>Fragmentation occurs when there is non-contiguous unused space </a:t>
            </a:r>
          </a:p>
          <a:p>
            <a:pPr algn="ctr"/>
            <a:r>
              <a:rPr lang="en-US" sz="1600" b="1" dirty="0" smtClean="0">
                <a:solidFill>
                  <a:prstClr val="black"/>
                </a:solidFill>
              </a:rPr>
              <a:t>in the index page</a:t>
            </a:r>
          </a:p>
        </p:txBody>
      </p:sp>
      <p:grpSp>
        <p:nvGrpSpPr>
          <p:cNvPr id="2" name="1 Grupo"/>
          <p:cNvGrpSpPr/>
          <p:nvPr/>
        </p:nvGrpSpPr>
        <p:grpSpPr>
          <a:xfrm>
            <a:off x="1153252" y="2182224"/>
            <a:ext cx="2517611" cy="1596882"/>
            <a:chOff x="68204" y="914400"/>
            <a:chExt cx="3436996" cy="2134035"/>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04" y="915112"/>
              <a:ext cx="1401544" cy="2133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1698" y="914400"/>
              <a:ext cx="1403502" cy="2133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19 CuadroTexto"/>
            <p:cNvSpPr txBox="1"/>
            <p:nvPr/>
          </p:nvSpPr>
          <p:spPr>
            <a:xfrm>
              <a:off x="1447800" y="1827172"/>
              <a:ext cx="685800" cy="307777"/>
            </a:xfrm>
            <a:prstGeom prst="rect">
              <a:avLst/>
            </a:prstGeom>
            <a:noFill/>
          </p:spPr>
          <p:txBody>
            <a:bodyPr wrap="square" rtlCol="0">
              <a:spAutoFit/>
            </a:bodyPr>
            <a:lstStyle/>
            <a:p>
              <a:pPr algn="ctr"/>
              <a:r>
                <a:rPr lang="en-US" sz="1400" b="1" dirty="0" smtClean="0">
                  <a:solidFill>
                    <a:prstClr val="black"/>
                  </a:solidFill>
                </a:rPr>
                <a:t>vs.</a:t>
              </a:r>
            </a:p>
          </p:txBody>
        </p:sp>
      </p:gr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3863" y="2182757"/>
            <a:ext cx="1039125" cy="1600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 name="31 CuadroTexto"/>
          <p:cNvSpPr txBox="1"/>
          <p:nvPr/>
        </p:nvSpPr>
        <p:spPr>
          <a:xfrm>
            <a:off x="3747063" y="1748057"/>
            <a:ext cx="2204102" cy="276999"/>
          </a:xfrm>
          <a:prstGeom prst="rect">
            <a:avLst/>
          </a:prstGeom>
          <a:noFill/>
        </p:spPr>
        <p:txBody>
          <a:bodyPr wrap="square" rtlCol="0">
            <a:spAutoFit/>
          </a:bodyPr>
          <a:lstStyle/>
          <a:p>
            <a:pPr algn="ctr"/>
            <a:r>
              <a:rPr lang="en-US" sz="1200" i="1" dirty="0" smtClean="0">
                <a:solidFill>
                  <a:prstClr val="black"/>
                </a:solidFill>
              </a:rPr>
              <a:t>(Actually, it looks more like this)</a:t>
            </a:r>
          </a:p>
        </p:txBody>
      </p:sp>
      <p:sp>
        <p:nvSpPr>
          <p:cNvPr id="3" name="2 Flecha derecha"/>
          <p:cNvSpPr/>
          <p:nvPr/>
        </p:nvSpPr>
        <p:spPr>
          <a:xfrm>
            <a:off x="3786587" y="2182223"/>
            <a:ext cx="8382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1" name="20 Flecha curvada hacia abajo"/>
          <p:cNvSpPr/>
          <p:nvPr/>
        </p:nvSpPr>
        <p:spPr>
          <a:xfrm>
            <a:off x="1461063" y="1748057"/>
            <a:ext cx="1905000" cy="43416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black"/>
              </a:solidFill>
            </a:endParaRPr>
          </a:p>
        </p:txBody>
      </p:sp>
      <p:sp>
        <p:nvSpPr>
          <p:cNvPr id="35" name="34 CuadroTexto"/>
          <p:cNvSpPr txBox="1"/>
          <p:nvPr/>
        </p:nvSpPr>
        <p:spPr>
          <a:xfrm>
            <a:off x="6094052" y="2703427"/>
            <a:ext cx="2716536" cy="461665"/>
          </a:xfrm>
          <a:prstGeom prst="rect">
            <a:avLst/>
          </a:prstGeom>
          <a:noFill/>
        </p:spPr>
        <p:txBody>
          <a:bodyPr wrap="square" rtlCol="0">
            <a:spAutoFit/>
          </a:bodyPr>
          <a:lstStyle/>
          <a:p>
            <a:r>
              <a:rPr lang="en-US" sz="1200" dirty="0" smtClean="0">
                <a:solidFill>
                  <a:prstClr val="black"/>
                </a:solidFill>
              </a:rPr>
              <a:t>The table records are physically stored in contiguous pages (chunks of 8KB)</a:t>
            </a:r>
          </a:p>
        </p:txBody>
      </p:sp>
      <p:cxnSp>
        <p:nvCxnSpPr>
          <p:cNvPr id="33" name="32 Conector recto de flecha"/>
          <p:cNvCxnSpPr/>
          <p:nvPr/>
        </p:nvCxnSpPr>
        <p:spPr>
          <a:xfrm>
            <a:off x="6027365" y="2391238"/>
            <a:ext cx="0" cy="1086044"/>
          </a:xfrm>
          <a:prstGeom prst="straightConnector1">
            <a:avLst/>
          </a:prstGeom>
          <a:ln w="254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35 Conector recto"/>
          <p:cNvCxnSpPr/>
          <p:nvPr/>
        </p:nvCxnSpPr>
        <p:spPr>
          <a:xfrm>
            <a:off x="5852988" y="2391238"/>
            <a:ext cx="479177"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1" name="40 Conector recto"/>
          <p:cNvCxnSpPr/>
          <p:nvPr/>
        </p:nvCxnSpPr>
        <p:spPr>
          <a:xfrm>
            <a:off x="5840783" y="3511466"/>
            <a:ext cx="479177"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6" name="15 CuadroTexto"/>
          <p:cNvSpPr txBox="1"/>
          <p:nvPr/>
        </p:nvSpPr>
        <p:spPr>
          <a:xfrm>
            <a:off x="1135890" y="4365104"/>
            <a:ext cx="4704893" cy="738664"/>
          </a:xfrm>
          <a:prstGeom prst="rect">
            <a:avLst/>
          </a:prstGeom>
          <a:noFill/>
        </p:spPr>
        <p:txBody>
          <a:bodyPr wrap="square" rtlCol="0">
            <a:spAutoFit/>
          </a:bodyPr>
          <a:lstStyle/>
          <a:p>
            <a:r>
              <a:rPr lang="en-US" sz="1400" b="1" dirty="0" smtClean="0">
                <a:solidFill>
                  <a:prstClr val="black"/>
                </a:solidFill>
              </a:rPr>
              <a:t>There are 2 types of index level fragmentation:</a:t>
            </a:r>
          </a:p>
          <a:p>
            <a:pPr marL="285750" indent="-285750">
              <a:buFont typeface="Wingdings" pitchFamily="2" charset="2"/>
              <a:buChar char="Ø"/>
            </a:pPr>
            <a:r>
              <a:rPr lang="en-US" sz="1400" dirty="0">
                <a:solidFill>
                  <a:prstClr val="black"/>
                </a:solidFill>
              </a:rPr>
              <a:t>Internal Fragmentation</a:t>
            </a:r>
          </a:p>
          <a:p>
            <a:pPr marL="285750" indent="-285750">
              <a:buFont typeface="Wingdings" pitchFamily="2" charset="2"/>
              <a:buChar char="Ø"/>
            </a:pPr>
            <a:r>
              <a:rPr lang="en-US" sz="1400" dirty="0">
                <a:solidFill>
                  <a:prstClr val="black"/>
                </a:solidFill>
              </a:rPr>
              <a:t>External </a:t>
            </a:r>
            <a:r>
              <a:rPr lang="en-US" sz="1400" dirty="0" smtClean="0">
                <a:solidFill>
                  <a:prstClr val="black"/>
                </a:solidFill>
              </a:rPr>
              <a:t>Fragmentation</a:t>
            </a:r>
            <a:endParaRPr lang="en-US" sz="1400" dirty="0">
              <a:solidFill>
                <a:prstClr val="black"/>
              </a:solidFill>
            </a:endParaRPr>
          </a:p>
        </p:txBody>
      </p:sp>
      <p:grpSp>
        <p:nvGrpSpPr>
          <p:cNvPr id="17" name="16 Grupo"/>
          <p:cNvGrpSpPr/>
          <p:nvPr/>
        </p:nvGrpSpPr>
        <p:grpSpPr>
          <a:xfrm>
            <a:off x="0" y="9525"/>
            <a:ext cx="9153525" cy="408388"/>
            <a:chOff x="0" y="9525"/>
            <a:chExt cx="9153525" cy="408388"/>
          </a:xfrm>
        </p:grpSpPr>
        <p:sp>
          <p:nvSpPr>
            <p:cNvPr id="18" name="1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Index and Heap Level Fragmentation</a:t>
              </a:r>
              <a:endParaRPr lang="en-US" b="1" i="1" dirty="0">
                <a:solidFill>
                  <a:schemeClr val="bg1"/>
                </a:solidFill>
              </a:endParaRPr>
            </a:p>
          </p:txBody>
        </p:sp>
        <p:pic>
          <p:nvPicPr>
            <p:cNvPr id="19" name="18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2" name="21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 name="22 Grupo"/>
          <p:cNvGrpSpPr/>
          <p:nvPr/>
        </p:nvGrpSpPr>
        <p:grpSpPr>
          <a:xfrm>
            <a:off x="9525" y="6574392"/>
            <a:ext cx="9134399" cy="277000"/>
            <a:chOff x="9525" y="6574392"/>
            <a:chExt cx="9134399" cy="277000"/>
          </a:xfrm>
        </p:grpSpPr>
        <p:sp>
          <p:nvSpPr>
            <p:cNvPr id="24" name="23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5" name="24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189532184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CuadroTexto"/>
          <p:cNvSpPr txBox="1"/>
          <p:nvPr/>
        </p:nvSpPr>
        <p:spPr>
          <a:xfrm>
            <a:off x="0" y="890904"/>
            <a:ext cx="9144000" cy="1384995"/>
          </a:xfrm>
          <a:prstGeom prst="rect">
            <a:avLst/>
          </a:prstGeom>
          <a:noFill/>
        </p:spPr>
        <p:txBody>
          <a:bodyPr wrap="square" rtlCol="0">
            <a:spAutoFit/>
          </a:bodyPr>
          <a:lstStyle/>
          <a:p>
            <a:pPr marL="285750" indent="-285750">
              <a:buFont typeface="Wingdings" pitchFamily="2" charset="2"/>
              <a:buChar char="Ø"/>
            </a:pPr>
            <a:r>
              <a:rPr lang="en-US" sz="1400" dirty="0" smtClean="0">
                <a:solidFill>
                  <a:prstClr val="black"/>
                </a:solidFill>
              </a:rPr>
              <a:t>When </a:t>
            </a:r>
            <a:r>
              <a:rPr lang="en-US" sz="1400" dirty="0">
                <a:solidFill>
                  <a:prstClr val="black"/>
                </a:solidFill>
              </a:rPr>
              <a:t>records are stored non-contiguously inside the page, then it is called internal fragmentation. </a:t>
            </a: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In other terms, Internal fragmentation occurs when there is </a:t>
            </a:r>
            <a:r>
              <a:rPr lang="en-US" sz="1400" b="1" dirty="0" smtClean="0">
                <a:solidFill>
                  <a:prstClr val="black"/>
                </a:solidFill>
              </a:rPr>
              <a:t>empty space in the index page</a:t>
            </a: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A page that is 100% full has no internal fragmentation.</a:t>
            </a:r>
          </a:p>
          <a:p>
            <a:pPr marL="285750" indent="-285750">
              <a:buFont typeface="Wingdings" pitchFamily="2" charset="2"/>
              <a:buChar char="Ø"/>
            </a:pPr>
            <a:r>
              <a:rPr lang="en-US" sz="1400" dirty="0" smtClean="0">
                <a:solidFill>
                  <a:prstClr val="black"/>
                </a:solidFill>
              </a:rPr>
              <a:t>Internal fragmentation is measured in average page fullness of the index (known as Page density). </a:t>
            </a:r>
          </a:p>
          <a:p>
            <a:pPr marL="285750" indent="-285750">
              <a:buFont typeface="Wingdings" pitchFamily="2" charset="2"/>
              <a:buChar char="Ø"/>
            </a:pPr>
            <a:r>
              <a:rPr lang="en-US" sz="1400" dirty="0" smtClean="0">
                <a:solidFill>
                  <a:prstClr val="black"/>
                </a:solidFill>
              </a:rPr>
              <a:t>Internal </a:t>
            </a:r>
            <a:r>
              <a:rPr lang="en-US" sz="1400" dirty="0">
                <a:solidFill>
                  <a:prstClr val="black"/>
                </a:solidFill>
              </a:rPr>
              <a:t>fragmentation is normally reported as a percentage of fullness in bytes, not in records. </a:t>
            </a: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Any DML statement produces fragmentation (INSERT / UPDATE / DELETE)</a:t>
            </a:r>
          </a:p>
        </p:txBody>
      </p:sp>
      <p:grpSp>
        <p:nvGrpSpPr>
          <p:cNvPr id="70" name="69 Grupo"/>
          <p:cNvGrpSpPr/>
          <p:nvPr/>
        </p:nvGrpSpPr>
        <p:grpSpPr>
          <a:xfrm>
            <a:off x="5181600" y="2514600"/>
            <a:ext cx="1068224" cy="1844932"/>
            <a:chOff x="304800" y="3789593"/>
            <a:chExt cx="1068224" cy="1844932"/>
          </a:xfrm>
        </p:grpSpPr>
        <p:grpSp>
          <p:nvGrpSpPr>
            <p:cNvPr id="21" name="20 Grupo"/>
            <p:cNvGrpSpPr/>
            <p:nvPr/>
          </p:nvGrpSpPr>
          <p:grpSpPr>
            <a:xfrm>
              <a:off x="304800" y="4657503"/>
              <a:ext cx="1066800" cy="266250"/>
              <a:chOff x="306224" y="4876800"/>
              <a:chExt cx="1066800" cy="266250"/>
            </a:xfrm>
          </p:grpSpPr>
          <p:sp>
            <p:nvSpPr>
              <p:cNvPr id="11" name="10 Rectángulo"/>
              <p:cNvSpPr/>
              <p:nvPr/>
            </p:nvSpPr>
            <p:spPr>
              <a:xfrm>
                <a:off x="306224" y="4876800"/>
                <a:ext cx="1066800" cy="266250"/>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2 CuadroTexto"/>
              <p:cNvSpPr txBox="1"/>
              <p:nvPr/>
            </p:nvSpPr>
            <p:spPr>
              <a:xfrm>
                <a:off x="382424" y="4896829"/>
                <a:ext cx="914400" cy="246221"/>
              </a:xfrm>
              <a:prstGeom prst="rect">
                <a:avLst/>
              </a:prstGeom>
              <a:noFill/>
            </p:spPr>
            <p:txBody>
              <a:bodyPr wrap="square" rtlCol="0">
                <a:spAutoFit/>
              </a:bodyPr>
              <a:lstStyle/>
              <a:p>
                <a:r>
                  <a:rPr lang="en-US" sz="1000" dirty="0" smtClean="0">
                    <a:solidFill>
                      <a:prstClr val="black"/>
                    </a:solidFill>
                  </a:rPr>
                  <a:t>Unused space</a:t>
                </a:r>
                <a:endParaRPr lang="en-US" sz="1000" dirty="0">
                  <a:solidFill>
                    <a:prstClr val="black"/>
                  </a:solidFill>
                </a:endParaRPr>
              </a:p>
            </p:txBody>
          </p:sp>
        </p:grpSp>
        <p:grpSp>
          <p:nvGrpSpPr>
            <p:cNvPr id="20" name="19 Grupo"/>
            <p:cNvGrpSpPr/>
            <p:nvPr/>
          </p:nvGrpSpPr>
          <p:grpSpPr>
            <a:xfrm>
              <a:off x="304800" y="4919621"/>
              <a:ext cx="1066800" cy="457200"/>
              <a:chOff x="6553200" y="5438685"/>
              <a:chExt cx="1066800" cy="457200"/>
            </a:xfrm>
          </p:grpSpPr>
          <p:sp>
            <p:nvSpPr>
              <p:cNvPr id="12" name="11 Rectángulo"/>
              <p:cNvSpPr/>
              <p:nvPr/>
            </p:nvSpPr>
            <p:spPr>
              <a:xfrm>
                <a:off x="6553200" y="5438685"/>
                <a:ext cx="1066800" cy="4572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3" name="12 CuadroTexto"/>
              <p:cNvSpPr txBox="1"/>
              <p:nvPr/>
            </p:nvSpPr>
            <p:spPr>
              <a:xfrm>
                <a:off x="6629400" y="5544174"/>
                <a:ext cx="914400" cy="246221"/>
              </a:xfrm>
              <a:prstGeom prst="rect">
                <a:avLst/>
              </a:prstGeom>
              <a:noFill/>
            </p:spPr>
            <p:txBody>
              <a:bodyPr wrap="square" rtlCol="0">
                <a:spAutoFit/>
              </a:bodyPr>
              <a:lstStyle/>
              <a:p>
                <a:pPr algn="ctr"/>
                <a:r>
                  <a:rPr lang="en-US" sz="1000" dirty="0" smtClean="0">
                    <a:solidFill>
                      <a:prstClr val="black"/>
                    </a:solidFill>
                  </a:rPr>
                  <a:t>Data</a:t>
                </a:r>
                <a:endParaRPr lang="en-US" sz="1000" dirty="0">
                  <a:solidFill>
                    <a:prstClr val="black"/>
                  </a:solidFill>
                </a:endParaRPr>
              </a:p>
            </p:txBody>
          </p:sp>
        </p:grpSp>
        <p:grpSp>
          <p:nvGrpSpPr>
            <p:cNvPr id="19" name="18 Grupo"/>
            <p:cNvGrpSpPr/>
            <p:nvPr/>
          </p:nvGrpSpPr>
          <p:grpSpPr>
            <a:xfrm>
              <a:off x="306224" y="4035432"/>
              <a:ext cx="1066800" cy="624555"/>
              <a:chOff x="3560036" y="3678818"/>
              <a:chExt cx="1066800" cy="624555"/>
            </a:xfrm>
          </p:grpSpPr>
          <p:sp>
            <p:nvSpPr>
              <p:cNvPr id="2" name="1 Rectángulo"/>
              <p:cNvSpPr/>
              <p:nvPr/>
            </p:nvSpPr>
            <p:spPr>
              <a:xfrm>
                <a:off x="3560036" y="3678818"/>
                <a:ext cx="1066800" cy="62455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4" name="13 CuadroTexto"/>
              <p:cNvSpPr txBox="1"/>
              <p:nvPr/>
            </p:nvSpPr>
            <p:spPr>
              <a:xfrm>
                <a:off x="3636236" y="3867984"/>
                <a:ext cx="914400" cy="246221"/>
              </a:xfrm>
              <a:prstGeom prst="rect">
                <a:avLst/>
              </a:prstGeom>
              <a:noFill/>
            </p:spPr>
            <p:txBody>
              <a:bodyPr wrap="square" rtlCol="0">
                <a:spAutoFit/>
              </a:bodyPr>
              <a:lstStyle/>
              <a:p>
                <a:pPr algn="ctr"/>
                <a:r>
                  <a:rPr lang="en-US" sz="1000" dirty="0" smtClean="0">
                    <a:solidFill>
                      <a:prstClr val="black"/>
                    </a:solidFill>
                  </a:rPr>
                  <a:t>Data</a:t>
                </a:r>
                <a:endParaRPr lang="en-US" sz="1000" dirty="0">
                  <a:solidFill>
                    <a:prstClr val="black"/>
                  </a:solidFill>
                </a:endParaRPr>
              </a:p>
            </p:txBody>
          </p:sp>
        </p:grpSp>
        <p:grpSp>
          <p:nvGrpSpPr>
            <p:cNvPr id="17" name="16 Grupo"/>
            <p:cNvGrpSpPr/>
            <p:nvPr/>
          </p:nvGrpSpPr>
          <p:grpSpPr>
            <a:xfrm>
              <a:off x="306224" y="3789593"/>
              <a:ext cx="1066800" cy="246221"/>
              <a:chOff x="3810000" y="5355270"/>
              <a:chExt cx="1066800" cy="246221"/>
            </a:xfrm>
          </p:grpSpPr>
          <p:sp>
            <p:nvSpPr>
              <p:cNvPr id="15" name="14 Rectángulo"/>
              <p:cNvSpPr/>
              <p:nvPr/>
            </p:nvSpPr>
            <p:spPr>
              <a:xfrm>
                <a:off x="3810000" y="5360348"/>
                <a:ext cx="1066800" cy="2286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 name="15 CuadroTexto"/>
              <p:cNvSpPr txBox="1"/>
              <p:nvPr/>
            </p:nvSpPr>
            <p:spPr>
              <a:xfrm>
                <a:off x="3886200" y="5355270"/>
                <a:ext cx="914400" cy="246221"/>
              </a:xfrm>
              <a:prstGeom prst="rect">
                <a:avLst/>
              </a:prstGeom>
              <a:noFill/>
            </p:spPr>
            <p:txBody>
              <a:bodyPr wrap="square" rtlCol="0">
                <a:spAutoFit/>
              </a:bodyPr>
              <a:lstStyle/>
              <a:p>
                <a:pPr algn="ctr"/>
                <a:r>
                  <a:rPr lang="en-US" sz="1000" dirty="0" smtClean="0">
                    <a:solidFill>
                      <a:prstClr val="white"/>
                    </a:solidFill>
                  </a:rPr>
                  <a:t>Page 50</a:t>
                </a:r>
                <a:endParaRPr lang="en-US" sz="1000" dirty="0">
                  <a:solidFill>
                    <a:prstClr val="white"/>
                  </a:solidFill>
                </a:endParaRPr>
              </a:p>
            </p:txBody>
          </p:sp>
        </p:grpSp>
        <p:grpSp>
          <p:nvGrpSpPr>
            <p:cNvPr id="22" name="21 Grupo"/>
            <p:cNvGrpSpPr/>
            <p:nvPr/>
          </p:nvGrpSpPr>
          <p:grpSpPr>
            <a:xfrm>
              <a:off x="306224" y="5368275"/>
              <a:ext cx="1066800" cy="266250"/>
              <a:chOff x="306224" y="4876800"/>
              <a:chExt cx="1066800" cy="266250"/>
            </a:xfrm>
          </p:grpSpPr>
          <p:sp>
            <p:nvSpPr>
              <p:cNvPr id="23" name="22 Rectángulo"/>
              <p:cNvSpPr/>
              <p:nvPr/>
            </p:nvSpPr>
            <p:spPr>
              <a:xfrm>
                <a:off x="306224" y="4876800"/>
                <a:ext cx="1066800" cy="266250"/>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4" name="23 CuadroTexto"/>
              <p:cNvSpPr txBox="1"/>
              <p:nvPr/>
            </p:nvSpPr>
            <p:spPr>
              <a:xfrm>
                <a:off x="382424" y="4896829"/>
                <a:ext cx="914400" cy="246221"/>
              </a:xfrm>
              <a:prstGeom prst="rect">
                <a:avLst/>
              </a:prstGeom>
              <a:noFill/>
            </p:spPr>
            <p:txBody>
              <a:bodyPr wrap="square" rtlCol="0">
                <a:spAutoFit/>
              </a:bodyPr>
              <a:lstStyle/>
              <a:p>
                <a:r>
                  <a:rPr lang="en-US" sz="1000" dirty="0" smtClean="0">
                    <a:solidFill>
                      <a:prstClr val="black"/>
                    </a:solidFill>
                  </a:rPr>
                  <a:t>Unused space</a:t>
                </a:r>
                <a:endParaRPr lang="en-US" sz="1000" dirty="0">
                  <a:solidFill>
                    <a:prstClr val="black"/>
                  </a:solidFill>
                </a:endParaRPr>
              </a:p>
            </p:txBody>
          </p:sp>
        </p:grpSp>
      </p:grpSp>
      <p:grpSp>
        <p:nvGrpSpPr>
          <p:cNvPr id="60" name="59 Grupo"/>
          <p:cNvGrpSpPr/>
          <p:nvPr/>
        </p:nvGrpSpPr>
        <p:grpSpPr>
          <a:xfrm>
            <a:off x="6352730" y="2514600"/>
            <a:ext cx="1068224" cy="1844932"/>
            <a:chOff x="2284576" y="3789593"/>
            <a:chExt cx="1068224" cy="1844932"/>
          </a:xfrm>
        </p:grpSpPr>
        <p:grpSp>
          <p:nvGrpSpPr>
            <p:cNvPr id="25" name="24 Grupo"/>
            <p:cNvGrpSpPr/>
            <p:nvPr/>
          </p:nvGrpSpPr>
          <p:grpSpPr>
            <a:xfrm>
              <a:off x="2284576" y="4030054"/>
              <a:ext cx="1066800" cy="266250"/>
              <a:chOff x="306224" y="4876800"/>
              <a:chExt cx="1066800" cy="266250"/>
            </a:xfrm>
          </p:grpSpPr>
          <p:sp>
            <p:nvSpPr>
              <p:cNvPr id="26" name="25 Rectángulo"/>
              <p:cNvSpPr/>
              <p:nvPr/>
            </p:nvSpPr>
            <p:spPr>
              <a:xfrm>
                <a:off x="306224" y="4876800"/>
                <a:ext cx="1066800" cy="266250"/>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7" name="26 CuadroTexto"/>
              <p:cNvSpPr txBox="1"/>
              <p:nvPr/>
            </p:nvSpPr>
            <p:spPr>
              <a:xfrm>
                <a:off x="382424" y="4896829"/>
                <a:ext cx="914400" cy="246221"/>
              </a:xfrm>
              <a:prstGeom prst="rect">
                <a:avLst/>
              </a:prstGeom>
              <a:noFill/>
            </p:spPr>
            <p:txBody>
              <a:bodyPr wrap="square" rtlCol="0">
                <a:spAutoFit/>
              </a:bodyPr>
              <a:lstStyle/>
              <a:p>
                <a:r>
                  <a:rPr lang="en-US" sz="1000" dirty="0" smtClean="0">
                    <a:solidFill>
                      <a:prstClr val="black"/>
                    </a:solidFill>
                  </a:rPr>
                  <a:t>Unused space</a:t>
                </a:r>
                <a:endParaRPr lang="en-US" sz="1000" dirty="0">
                  <a:solidFill>
                    <a:prstClr val="black"/>
                  </a:solidFill>
                </a:endParaRPr>
              </a:p>
            </p:txBody>
          </p:sp>
        </p:grpSp>
        <p:grpSp>
          <p:nvGrpSpPr>
            <p:cNvPr id="28" name="27 Grupo"/>
            <p:cNvGrpSpPr/>
            <p:nvPr/>
          </p:nvGrpSpPr>
          <p:grpSpPr>
            <a:xfrm>
              <a:off x="2284576" y="5065509"/>
              <a:ext cx="1066800" cy="569016"/>
              <a:chOff x="6553200" y="5438685"/>
              <a:chExt cx="1066800" cy="457200"/>
            </a:xfrm>
          </p:grpSpPr>
          <p:sp>
            <p:nvSpPr>
              <p:cNvPr id="29" name="28 Rectángulo"/>
              <p:cNvSpPr/>
              <p:nvPr/>
            </p:nvSpPr>
            <p:spPr>
              <a:xfrm>
                <a:off x="6553200" y="5438685"/>
                <a:ext cx="1066800" cy="4572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0" name="29 CuadroTexto"/>
              <p:cNvSpPr txBox="1"/>
              <p:nvPr/>
            </p:nvSpPr>
            <p:spPr>
              <a:xfrm>
                <a:off x="6629400" y="5544174"/>
                <a:ext cx="914400" cy="246221"/>
              </a:xfrm>
              <a:prstGeom prst="rect">
                <a:avLst/>
              </a:prstGeom>
              <a:noFill/>
            </p:spPr>
            <p:txBody>
              <a:bodyPr wrap="square" rtlCol="0">
                <a:spAutoFit/>
              </a:bodyPr>
              <a:lstStyle/>
              <a:p>
                <a:pPr algn="ctr"/>
                <a:r>
                  <a:rPr lang="en-US" sz="1000" dirty="0" smtClean="0">
                    <a:solidFill>
                      <a:prstClr val="black"/>
                    </a:solidFill>
                  </a:rPr>
                  <a:t>Data</a:t>
                </a:r>
                <a:endParaRPr lang="en-US" sz="1000" dirty="0">
                  <a:solidFill>
                    <a:prstClr val="black"/>
                  </a:solidFill>
                </a:endParaRPr>
              </a:p>
            </p:txBody>
          </p:sp>
        </p:grpSp>
        <p:grpSp>
          <p:nvGrpSpPr>
            <p:cNvPr id="31" name="30 Grupo"/>
            <p:cNvGrpSpPr/>
            <p:nvPr/>
          </p:nvGrpSpPr>
          <p:grpSpPr>
            <a:xfrm>
              <a:off x="2286000" y="4298528"/>
              <a:ext cx="1066800" cy="624555"/>
              <a:chOff x="3560036" y="3678818"/>
              <a:chExt cx="1066800" cy="624555"/>
            </a:xfrm>
          </p:grpSpPr>
          <p:sp>
            <p:nvSpPr>
              <p:cNvPr id="32" name="31 Rectángulo"/>
              <p:cNvSpPr/>
              <p:nvPr/>
            </p:nvSpPr>
            <p:spPr>
              <a:xfrm>
                <a:off x="3560036" y="3678818"/>
                <a:ext cx="1066800" cy="62455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3" name="32 CuadroTexto"/>
              <p:cNvSpPr txBox="1"/>
              <p:nvPr/>
            </p:nvSpPr>
            <p:spPr>
              <a:xfrm>
                <a:off x="3636236" y="3867984"/>
                <a:ext cx="914400" cy="246221"/>
              </a:xfrm>
              <a:prstGeom prst="rect">
                <a:avLst/>
              </a:prstGeom>
              <a:noFill/>
            </p:spPr>
            <p:txBody>
              <a:bodyPr wrap="square" rtlCol="0">
                <a:spAutoFit/>
              </a:bodyPr>
              <a:lstStyle/>
              <a:p>
                <a:pPr algn="ctr"/>
                <a:r>
                  <a:rPr lang="en-US" sz="1000" dirty="0" smtClean="0">
                    <a:solidFill>
                      <a:prstClr val="black"/>
                    </a:solidFill>
                  </a:rPr>
                  <a:t>Data</a:t>
                </a:r>
                <a:endParaRPr lang="en-US" sz="1000" dirty="0">
                  <a:solidFill>
                    <a:prstClr val="black"/>
                  </a:solidFill>
                </a:endParaRPr>
              </a:p>
            </p:txBody>
          </p:sp>
        </p:grpSp>
        <p:grpSp>
          <p:nvGrpSpPr>
            <p:cNvPr id="34" name="33 Grupo"/>
            <p:cNvGrpSpPr/>
            <p:nvPr/>
          </p:nvGrpSpPr>
          <p:grpSpPr>
            <a:xfrm>
              <a:off x="2286000" y="3789593"/>
              <a:ext cx="1066800" cy="246221"/>
              <a:chOff x="3810000" y="5355270"/>
              <a:chExt cx="1066800" cy="246221"/>
            </a:xfrm>
          </p:grpSpPr>
          <p:sp>
            <p:nvSpPr>
              <p:cNvPr id="35" name="34 Rectángulo"/>
              <p:cNvSpPr/>
              <p:nvPr/>
            </p:nvSpPr>
            <p:spPr>
              <a:xfrm>
                <a:off x="3810000" y="5360348"/>
                <a:ext cx="1066800" cy="2286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6" name="35 CuadroTexto"/>
              <p:cNvSpPr txBox="1"/>
              <p:nvPr/>
            </p:nvSpPr>
            <p:spPr>
              <a:xfrm>
                <a:off x="3886200" y="5355270"/>
                <a:ext cx="914400" cy="246221"/>
              </a:xfrm>
              <a:prstGeom prst="rect">
                <a:avLst/>
              </a:prstGeom>
              <a:noFill/>
            </p:spPr>
            <p:txBody>
              <a:bodyPr wrap="square" rtlCol="0">
                <a:spAutoFit/>
              </a:bodyPr>
              <a:lstStyle/>
              <a:p>
                <a:pPr algn="ctr"/>
                <a:r>
                  <a:rPr lang="en-US" sz="1000" dirty="0" smtClean="0">
                    <a:solidFill>
                      <a:prstClr val="white"/>
                    </a:solidFill>
                  </a:rPr>
                  <a:t>Page 51</a:t>
                </a:r>
                <a:endParaRPr lang="en-US" sz="1000" dirty="0">
                  <a:solidFill>
                    <a:prstClr val="white"/>
                  </a:solidFill>
                </a:endParaRPr>
              </a:p>
            </p:txBody>
          </p:sp>
        </p:grpSp>
        <p:grpSp>
          <p:nvGrpSpPr>
            <p:cNvPr id="37" name="36 Grupo"/>
            <p:cNvGrpSpPr/>
            <p:nvPr/>
          </p:nvGrpSpPr>
          <p:grpSpPr>
            <a:xfrm>
              <a:off x="2286000" y="4804958"/>
              <a:ext cx="1066800" cy="266250"/>
              <a:chOff x="306224" y="4876800"/>
              <a:chExt cx="1066800" cy="266250"/>
            </a:xfrm>
          </p:grpSpPr>
          <p:sp>
            <p:nvSpPr>
              <p:cNvPr id="38" name="37 Rectángulo"/>
              <p:cNvSpPr/>
              <p:nvPr/>
            </p:nvSpPr>
            <p:spPr>
              <a:xfrm>
                <a:off x="306224" y="4876800"/>
                <a:ext cx="1066800" cy="266250"/>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9" name="38 CuadroTexto"/>
              <p:cNvSpPr txBox="1"/>
              <p:nvPr/>
            </p:nvSpPr>
            <p:spPr>
              <a:xfrm>
                <a:off x="382424" y="4896829"/>
                <a:ext cx="914400" cy="246221"/>
              </a:xfrm>
              <a:prstGeom prst="rect">
                <a:avLst/>
              </a:prstGeom>
              <a:noFill/>
            </p:spPr>
            <p:txBody>
              <a:bodyPr wrap="square" rtlCol="0">
                <a:spAutoFit/>
              </a:bodyPr>
              <a:lstStyle/>
              <a:p>
                <a:r>
                  <a:rPr lang="en-US" sz="1000" dirty="0" smtClean="0">
                    <a:solidFill>
                      <a:prstClr val="black"/>
                    </a:solidFill>
                  </a:rPr>
                  <a:t>Unused space</a:t>
                </a:r>
                <a:endParaRPr lang="en-US" sz="1000" dirty="0">
                  <a:solidFill>
                    <a:prstClr val="black"/>
                  </a:solidFill>
                </a:endParaRPr>
              </a:p>
            </p:txBody>
          </p:sp>
        </p:grpSp>
      </p:grpSp>
      <p:grpSp>
        <p:nvGrpSpPr>
          <p:cNvPr id="59" name="58 Grupo"/>
          <p:cNvGrpSpPr/>
          <p:nvPr/>
        </p:nvGrpSpPr>
        <p:grpSpPr>
          <a:xfrm>
            <a:off x="7542376" y="2514600"/>
            <a:ext cx="1068224" cy="1808518"/>
            <a:chOff x="4800600" y="3829567"/>
            <a:chExt cx="1068224" cy="1808518"/>
          </a:xfrm>
        </p:grpSpPr>
        <p:grpSp>
          <p:nvGrpSpPr>
            <p:cNvPr id="41" name="40 Grupo"/>
            <p:cNvGrpSpPr/>
            <p:nvPr/>
          </p:nvGrpSpPr>
          <p:grpSpPr>
            <a:xfrm>
              <a:off x="4800600" y="4351232"/>
              <a:ext cx="1066800" cy="266250"/>
              <a:chOff x="306224" y="4876800"/>
              <a:chExt cx="1066800" cy="266250"/>
            </a:xfrm>
          </p:grpSpPr>
          <p:sp>
            <p:nvSpPr>
              <p:cNvPr id="42" name="41 Rectángulo"/>
              <p:cNvSpPr/>
              <p:nvPr/>
            </p:nvSpPr>
            <p:spPr>
              <a:xfrm>
                <a:off x="306224" y="4876800"/>
                <a:ext cx="1066800" cy="266250"/>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3" name="42 CuadroTexto"/>
              <p:cNvSpPr txBox="1"/>
              <p:nvPr/>
            </p:nvSpPr>
            <p:spPr>
              <a:xfrm>
                <a:off x="382424" y="4896829"/>
                <a:ext cx="914400" cy="246221"/>
              </a:xfrm>
              <a:prstGeom prst="rect">
                <a:avLst/>
              </a:prstGeom>
              <a:noFill/>
            </p:spPr>
            <p:txBody>
              <a:bodyPr wrap="square" rtlCol="0">
                <a:spAutoFit/>
              </a:bodyPr>
              <a:lstStyle/>
              <a:p>
                <a:r>
                  <a:rPr lang="en-US" sz="1000" dirty="0" smtClean="0">
                    <a:solidFill>
                      <a:prstClr val="black"/>
                    </a:solidFill>
                  </a:rPr>
                  <a:t>Unused space</a:t>
                </a:r>
                <a:endParaRPr lang="en-US" sz="1000" dirty="0">
                  <a:solidFill>
                    <a:prstClr val="black"/>
                  </a:solidFill>
                </a:endParaRPr>
              </a:p>
            </p:txBody>
          </p:sp>
        </p:grpSp>
        <p:sp>
          <p:nvSpPr>
            <p:cNvPr id="48" name="47 Rectángulo"/>
            <p:cNvSpPr/>
            <p:nvPr/>
          </p:nvSpPr>
          <p:spPr>
            <a:xfrm>
              <a:off x="4802024" y="4038601"/>
              <a:ext cx="1066800" cy="312276"/>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9" name="48 CuadroTexto"/>
            <p:cNvSpPr txBox="1"/>
            <p:nvPr/>
          </p:nvSpPr>
          <p:spPr>
            <a:xfrm>
              <a:off x="4878224" y="4091030"/>
              <a:ext cx="914400" cy="246221"/>
            </a:xfrm>
            <a:prstGeom prst="rect">
              <a:avLst/>
            </a:prstGeom>
            <a:noFill/>
          </p:spPr>
          <p:txBody>
            <a:bodyPr wrap="square" rtlCol="0">
              <a:spAutoFit/>
            </a:bodyPr>
            <a:lstStyle/>
            <a:p>
              <a:pPr algn="ctr"/>
              <a:r>
                <a:rPr lang="en-US" sz="1000" dirty="0" smtClean="0">
                  <a:solidFill>
                    <a:prstClr val="black"/>
                  </a:solidFill>
                </a:rPr>
                <a:t>Data</a:t>
              </a:r>
              <a:endParaRPr lang="en-US" sz="1000" dirty="0">
                <a:solidFill>
                  <a:prstClr val="black"/>
                </a:solidFill>
              </a:endParaRPr>
            </a:p>
          </p:txBody>
        </p:sp>
        <p:grpSp>
          <p:nvGrpSpPr>
            <p:cNvPr id="50" name="49 Grupo"/>
            <p:cNvGrpSpPr/>
            <p:nvPr/>
          </p:nvGrpSpPr>
          <p:grpSpPr>
            <a:xfrm>
              <a:off x="4802024" y="3829567"/>
              <a:ext cx="1066800" cy="246221"/>
              <a:chOff x="3810000" y="5355270"/>
              <a:chExt cx="1066800" cy="246221"/>
            </a:xfrm>
          </p:grpSpPr>
          <p:sp>
            <p:nvSpPr>
              <p:cNvPr id="51" name="50 Rectángulo"/>
              <p:cNvSpPr/>
              <p:nvPr/>
            </p:nvSpPr>
            <p:spPr>
              <a:xfrm>
                <a:off x="3810000" y="5360348"/>
                <a:ext cx="1066800" cy="2286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2" name="51 CuadroTexto"/>
              <p:cNvSpPr txBox="1"/>
              <p:nvPr/>
            </p:nvSpPr>
            <p:spPr>
              <a:xfrm>
                <a:off x="3886200" y="5355270"/>
                <a:ext cx="914400" cy="246221"/>
              </a:xfrm>
              <a:prstGeom prst="rect">
                <a:avLst/>
              </a:prstGeom>
              <a:noFill/>
            </p:spPr>
            <p:txBody>
              <a:bodyPr wrap="square" rtlCol="0">
                <a:spAutoFit/>
              </a:bodyPr>
              <a:lstStyle/>
              <a:p>
                <a:pPr algn="ctr"/>
                <a:r>
                  <a:rPr lang="en-US" sz="1000" dirty="0" smtClean="0">
                    <a:solidFill>
                      <a:prstClr val="white"/>
                    </a:solidFill>
                  </a:rPr>
                  <a:t>Page 52</a:t>
                </a:r>
                <a:endParaRPr lang="en-US" sz="1000" dirty="0">
                  <a:solidFill>
                    <a:prstClr val="white"/>
                  </a:solidFill>
                </a:endParaRPr>
              </a:p>
            </p:txBody>
          </p:sp>
        </p:grpSp>
        <p:sp>
          <p:nvSpPr>
            <p:cNvPr id="57" name="56 Rectángulo"/>
            <p:cNvSpPr/>
            <p:nvPr/>
          </p:nvSpPr>
          <p:spPr>
            <a:xfrm>
              <a:off x="4800600" y="4618728"/>
              <a:ext cx="1066800" cy="101935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8" name="57 CuadroTexto"/>
            <p:cNvSpPr txBox="1"/>
            <p:nvPr/>
          </p:nvSpPr>
          <p:spPr>
            <a:xfrm>
              <a:off x="4876800" y="4671158"/>
              <a:ext cx="914400" cy="246221"/>
            </a:xfrm>
            <a:prstGeom prst="rect">
              <a:avLst/>
            </a:prstGeom>
            <a:noFill/>
          </p:spPr>
          <p:txBody>
            <a:bodyPr wrap="square" rtlCol="0">
              <a:spAutoFit/>
            </a:bodyPr>
            <a:lstStyle/>
            <a:p>
              <a:pPr algn="ctr"/>
              <a:r>
                <a:rPr lang="en-US" sz="1000" dirty="0" smtClean="0">
                  <a:solidFill>
                    <a:prstClr val="black"/>
                  </a:solidFill>
                </a:rPr>
                <a:t>Data</a:t>
              </a:r>
              <a:endParaRPr lang="en-US" sz="1000" dirty="0">
                <a:solidFill>
                  <a:prstClr val="black"/>
                </a:solidFill>
              </a:endParaRPr>
            </a:p>
          </p:txBody>
        </p:sp>
      </p:grpSp>
      <p:grpSp>
        <p:nvGrpSpPr>
          <p:cNvPr id="71" name="70 Grupo"/>
          <p:cNvGrpSpPr/>
          <p:nvPr/>
        </p:nvGrpSpPr>
        <p:grpSpPr>
          <a:xfrm>
            <a:off x="189076" y="2514600"/>
            <a:ext cx="1066800" cy="1856592"/>
            <a:chOff x="5105400" y="3777933"/>
            <a:chExt cx="1066800" cy="1856592"/>
          </a:xfrm>
        </p:grpSpPr>
        <p:grpSp>
          <p:nvGrpSpPr>
            <p:cNvPr id="61" name="60 Grupo"/>
            <p:cNvGrpSpPr/>
            <p:nvPr/>
          </p:nvGrpSpPr>
          <p:grpSpPr>
            <a:xfrm>
              <a:off x="5105400" y="4023772"/>
              <a:ext cx="1066800" cy="1610753"/>
              <a:chOff x="3560036" y="3678818"/>
              <a:chExt cx="1066800" cy="624555"/>
            </a:xfrm>
          </p:grpSpPr>
          <p:sp>
            <p:nvSpPr>
              <p:cNvPr id="62" name="61 Rectángulo"/>
              <p:cNvSpPr/>
              <p:nvPr/>
            </p:nvSpPr>
            <p:spPr>
              <a:xfrm>
                <a:off x="3560036" y="3678818"/>
                <a:ext cx="1066800" cy="62455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3" name="62 CuadroTexto"/>
              <p:cNvSpPr txBox="1"/>
              <p:nvPr/>
            </p:nvSpPr>
            <p:spPr>
              <a:xfrm>
                <a:off x="3636236" y="3867984"/>
                <a:ext cx="914400" cy="246221"/>
              </a:xfrm>
              <a:prstGeom prst="rect">
                <a:avLst/>
              </a:prstGeom>
              <a:noFill/>
            </p:spPr>
            <p:txBody>
              <a:bodyPr wrap="square" rtlCol="0">
                <a:spAutoFit/>
              </a:bodyPr>
              <a:lstStyle/>
              <a:p>
                <a:pPr algn="ctr"/>
                <a:r>
                  <a:rPr lang="en-US" sz="1000" dirty="0" smtClean="0">
                    <a:solidFill>
                      <a:prstClr val="black"/>
                    </a:solidFill>
                  </a:rPr>
                  <a:t>Data</a:t>
                </a:r>
                <a:endParaRPr lang="en-US" sz="1000" dirty="0">
                  <a:solidFill>
                    <a:prstClr val="black"/>
                  </a:solidFill>
                </a:endParaRPr>
              </a:p>
            </p:txBody>
          </p:sp>
        </p:grpSp>
        <p:grpSp>
          <p:nvGrpSpPr>
            <p:cNvPr id="64" name="63 Grupo"/>
            <p:cNvGrpSpPr/>
            <p:nvPr/>
          </p:nvGrpSpPr>
          <p:grpSpPr>
            <a:xfrm>
              <a:off x="5105400" y="3777933"/>
              <a:ext cx="1066800" cy="246221"/>
              <a:chOff x="3810000" y="5355270"/>
              <a:chExt cx="1066800" cy="246221"/>
            </a:xfrm>
          </p:grpSpPr>
          <p:sp>
            <p:nvSpPr>
              <p:cNvPr id="65" name="64 Rectángulo"/>
              <p:cNvSpPr/>
              <p:nvPr/>
            </p:nvSpPr>
            <p:spPr>
              <a:xfrm>
                <a:off x="3810000" y="5360348"/>
                <a:ext cx="1066800" cy="2286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6" name="65 CuadroTexto"/>
              <p:cNvSpPr txBox="1"/>
              <p:nvPr/>
            </p:nvSpPr>
            <p:spPr>
              <a:xfrm>
                <a:off x="3886200" y="5355270"/>
                <a:ext cx="914400" cy="246221"/>
              </a:xfrm>
              <a:prstGeom prst="rect">
                <a:avLst/>
              </a:prstGeom>
              <a:noFill/>
            </p:spPr>
            <p:txBody>
              <a:bodyPr wrap="square" rtlCol="0">
                <a:spAutoFit/>
              </a:bodyPr>
              <a:lstStyle/>
              <a:p>
                <a:pPr algn="ctr"/>
                <a:r>
                  <a:rPr lang="en-US" sz="1000" dirty="0" smtClean="0">
                    <a:solidFill>
                      <a:prstClr val="white"/>
                    </a:solidFill>
                  </a:rPr>
                  <a:t>Page 50</a:t>
                </a:r>
                <a:endParaRPr lang="en-US" sz="1000" dirty="0">
                  <a:solidFill>
                    <a:prstClr val="white"/>
                  </a:solidFill>
                </a:endParaRPr>
              </a:p>
            </p:txBody>
          </p:sp>
        </p:grpSp>
      </p:grpSp>
      <p:grpSp>
        <p:nvGrpSpPr>
          <p:cNvPr id="72" name="71 Grupo"/>
          <p:cNvGrpSpPr/>
          <p:nvPr/>
        </p:nvGrpSpPr>
        <p:grpSpPr>
          <a:xfrm>
            <a:off x="1321038" y="2514600"/>
            <a:ext cx="1066800" cy="1856592"/>
            <a:chOff x="5105400" y="3777933"/>
            <a:chExt cx="1066800" cy="1856592"/>
          </a:xfrm>
        </p:grpSpPr>
        <p:grpSp>
          <p:nvGrpSpPr>
            <p:cNvPr id="73" name="72 Grupo"/>
            <p:cNvGrpSpPr/>
            <p:nvPr/>
          </p:nvGrpSpPr>
          <p:grpSpPr>
            <a:xfrm>
              <a:off x="5105400" y="4023772"/>
              <a:ext cx="1066800" cy="1610753"/>
              <a:chOff x="3560036" y="3678818"/>
              <a:chExt cx="1066800" cy="624555"/>
            </a:xfrm>
          </p:grpSpPr>
          <p:sp>
            <p:nvSpPr>
              <p:cNvPr id="77" name="76 Rectángulo"/>
              <p:cNvSpPr/>
              <p:nvPr/>
            </p:nvSpPr>
            <p:spPr>
              <a:xfrm>
                <a:off x="3560036" y="3678818"/>
                <a:ext cx="1066800" cy="62455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8" name="77 CuadroTexto"/>
              <p:cNvSpPr txBox="1"/>
              <p:nvPr/>
            </p:nvSpPr>
            <p:spPr>
              <a:xfrm>
                <a:off x="3636236" y="3867984"/>
                <a:ext cx="914400" cy="246221"/>
              </a:xfrm>
              <a:prstGeom prst="rect">
                <a:avLst/>
              </a:prstGeom>
              <a:noFill/>
            </p:spPr>
            <p:txBody>
              <a:bodyPr wrap="square" rtlCol="0">
                <a:spAutoFit/>
              </a:bodyPr>
              <a:lstStyle/>
              <a:p>
                <a:pPr algn="ctr"/>
                <a:r>
                  <a:rPr lang="en-US" sz="1000" dirty="0" smtClean="0">
                    <a:solidFill>
                      <a:prstClr val="black"/>
                    </a:solidFill>
                  </a:rPr>
                  <a:t>Data</a:t>
                </a:r>
                <a:endParaRPr lang="en-US" sz="1000" dirty="0">
                  <a:solidFill>
                    <a:prstClr val="black"/>
                  </a:solidFill>
                </a:endParaRPr>
              </a:p>
            </p:txBody>
          </p:sp>
        </p:grpSp>
        <p:grpSp>
          <p:nvGrpSpPr>
            <p:cNvPr id="74" name="73 Grupo"/>
            <p:cNvGrpSpPr/>
            <p:nvPr/>
          </p:nvGrpSpPr>
          <p:grpSpPr>
            <a:xfrm>
              <a:off x="5105400" y="3777933"/>
              <a:ext cx="1066800" cy="246221"/>
              <a:chOff x="3810000" y="5355270"/>
              <a:chExt cx="1066800" cy="246221"/>
            </a:xfrm>
          </p:grpSpPr>
          <p:sp>
            <p:nvSpPr>
              <p:cNvPr id="75" name="74 Rectángulo"/>
              <p:cNvSpPr/>
              <p:nvPr/>
            </p:nvSpPr>
            <p:spPr>
              <a:xfrm>
                <a:off x="3810000" y="5360348"/>
                <a:ext cx="1066800" cy="2286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6" name="75 CuadroTexto"/>
              <p:cNvSpPr txBox="1"/>
              <p:nvPr/>
            </p:nvSpPr>
            <p:spPr>
              <a:xfrm>
                <a:off x="3886200" y="5355270"/>
                <a:ext cx="914400" cy="246221"/>
              </a:xfrm>
              <a:prstGeom prst="rect">
                <a:avLst/>
              </a:prstGeom>
              <a:noFill/>
            </p:spPr>
            <p:txBody>
              <a:bodyPr wrap="square" rtlCol="0">
                <a:spAutoFit/>
              </a:bodyPr>
              <a:lstStyle/>
              <a:p>
                <a:pPr algn="ctr"/>
                <a:r>
                  <a:rPr lang="en-US" sz="1000" dirty="0" smtClean="0">
                    <a:solidFill>
                      <a:prstClr val="white"/>
                    </a:solidFill>
                  </a:rPr>
                  <a:t>Page 51</a:t>
                </a:r>
                <a:endParaRPr lang="en-US" sz="1000" dirty="0">
                  <a:solidFill>
                    <a:prstClr val="white"/>
                  </a:solidFill>
                </a:endParaRPr>
              </a:p>
            </p:txBody>
          </p:sp>
        </p:grpSp>
      </p:grpSp>
      <p:grpSp>
        <p:nvGrpSpPr>
          <p:cNvPr id="79" name="78 Grupo"/>
          <p:cNvGrpSpPr/>
          <p:nvPr/>
        </p:nvGrpSpPr>
        <p:grpSpPr>
          <a:xfrm>
            <a:off x="2438400" y="2514600"/>
            <a:ext cx="1066800" cy="1856592"/>
            <a:chOff x="5105400" y="3777933"/>
            <a:chExt cx="1066800" cy="1856592"/>
          </a:xfrm>
        </p:grpSpPr>
        <p:grpSp>
          <p:nvGrpSpPr>
            <p:cNvPr id="80" name="79 Grupo"/>
            <p:cNvGrpSpPr/>
            <p:nvPr/>
          </p:nvGrpSpPr>
          <p:grpSpPr>
            <a:xfrm>
              <a:off x="5105400" y="4023772"/>
              <a:ext cx="1066800" cy="1610753"/>
              <a:chOff x="3560036" y="3678818"/>
              <a:chExt cx="1066800" cy="624555"/>
            </a:xfrm>
          </p:grpSpPr>
          <p:sp>
            <p:nvSpPr>
              <p:cNvPr id="84" name="83 Rectángulo"/>
              <p:cNvSpPr/>
              <p:nvPr/>
            </p:nvSpPr>
            <p:spPr>
              <a:xfrm>
                <a:off x="3560036" y="3678818"/>
                <a:ext cx="1066800" cy="62455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5" name="84 CuadroTexto"/>
              <p:cNvSpPr txBox="1"/>
              <p:nvPr/>
            </p:nvSpPr>
            <p:spPr>
              <a:xfrm>
                <a:off x="3636236" y="3867984"/>
                <a:ext cx="914400" cy="246221"/>
              </a:xfrm>
              <a:prstGeom prst="rect">
                <a:avLst/>
              </a:prstGeom>
              <a:noFill/>
            </p:spPr>
            <p:txBody>
              <a:bodyPr wrap="square" rtlCol="0">
                <a:spAutoFit/>
              </a:bodyPr>
              <a:lstStyle/>
              <a:p>
                <a:pPr algn="ctr"/>
                <a:r>
                  <a:rPr lang="en-US" sz="1000" dirty="0" smtClean="0">
                    <a:solidFill>
                      <a:prstClr val="black"/>
                    </a:solidFill>
                  </a:rPr>
                  <a:t>Data</a:t>
                </a:r>
                <a:endParaRPr lang="en-US" sz="1000" dirty="0">
                  <a:solidFill>
                    <a:prstClr val="black"/>
                  </a:solidFill>
                </a:endParaRPr>
              </a:p>
            </p:txBody>
          </p:sp>
        </p:grpSp>
        <p:grpSp>
          <p:nvGrpSpPr>
            <p:cNvPr id="81" name="80 Grupo"/>
            <p:cNvGrpSpPr/>
            <p:nvPr/>
          </p:nvGrpSpPr>
          <p:grpSpPr>
            <a:xfrm>
              <a:off x="5105400" y="3777933"/>
              <a:ext cx="1066800" cy="246221"/>
              <a:chOff x="3810000" y="5355270"/>
              <a:chExt cx="1066800" cy="246221"/>
            </a:xfrm>
          </p:grpSpPr>
          <p:sp>
            <p:nvSpPr>
              <p:cNvPr id="82" name="81 Rectángulo"/>
              <p:cNvSpPr/>
              <p:nvPr/>
            </p:nvSpPr>
            <p:spPr>
              <a:xfrm>
                <a:off x="3810000" y="5360348"/>
                <a:ext cx="1066800" cy="2286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3" name="82 CuadroTexto"/>
              <p:cNvSpPr txBox="1"/>
              <p:nvPr/>
            </p:nvSpPr>
            <p:spPr>
              <a:xfrm>
                <a:off x="3886200" y="5355270"/>
                <a:ext cx="914400" cy="246221"/>
              </a:xfrm>
              <a:prstGeom prst="rect">
                <a:avLst/>
              </a:prstGeom>
              <a:noFill/>
            </p:spPr>
            <p:txBody>
              <a:bodyPr wrap="square" rtlCol="0">
                <a:spAutoFit/>
              </a:bodyPr>
              <a:lstStyle/>
              <a:p>
                <a:pPr algn="ctr"/>
                <a:r>
                  <a:rPr lang="en-US" sz="1000" dirty="0" smtClean="0">
                    <a:solidFill>
                      <a:prstClr val="white"/>
                    </a:solidFill>
                  </a:rPr>
                  <a:t>Page 52</a:t>
                </a:r>
                <a:endParaRPr lang="en-US" sz="1000" dirty="0">
                  <a:solidFill>
                    <a:prstClr val="white"/>
                  </a:solidFill>
                </a:endParaRPr>
              </a:p>
            </p:txBody>
          </p:sp>
        </p:grpSp>
      </p:grpSp>
      <p:sp>
        <p:nvSpPr>
          <p:cNvPr id="86" name="85 CuadroTexto"/>
          <p:cNvSpPr txBox="1"/>
          <p:nvPr/>
        </p:nvSpPr>
        <p:spPr>
          <a:xfrm>
            <a:off x="3733800" y="2523059"/>
            <a:ext cx="753810" cy="830997"/>
          </a:xfrm>
          <a:prstGeom prst="rect">
            <a:avLst/>
          </a:prstGeom>
          <a:noFill/>
        </p:spPr>
        <p:txBody>
          <a:bodyPr wrap="square" rtlCol="0">
            <a:spAutoFit/>
          </a:bodyPr>
          <a:lstStyle/>
          <a:p>
            <a:r>
              <a:rPr lang="en-US" sz="1200" b="1" dirty="0" smtClean="0">
                <a:solidFill>
                  <a:prstClr val="black"/>
                </a:solidFill>
              </a:rPr>
              <a:t>INSERT</a:t>
            </a:r>
          </a:p>
          <a:p>
            <a:r>
              <a:rPr lang="en-US" sz="1200" b="1" dirty="0" smtClean="0">
                <a:solidFill>
                  <a:prstClr val="black"/>
                </a:solidFill>
              </a:rPr>
              <a:t>UPDATE</a:t>
            </a:r>
          </a:p>
          <a:p>
            <a:r>
              <a:rPr lang="en-US" sz="1200" b="1" dirty="0" smtClean="0">
                <a:solidFill>
                  <a:prstClr val="black"/>
                </a:solidFill>
              </a:rPr>
              <a:t>DELETE</a:t>
            </a:r>
          </a:p>
          <a:p>
            <a:r>
              <a:rPr lang="en-US" sz="1200" b="1" dirty="0" smtClean="0">
                <a:solidFill>
                  <a:prstClr val="black"/>
                </a:solidFill>
              </a:rPr>
              <a:t>…</a:t>
            </a:r>
          </a:p>
        </p:txBody>
      </p:sp>
      <p:sp>
        <p:nvSpPr>
          <p:cNvPr id="87" name="86 CuadroTexto"/>
          <p:cNvSpPr txBox="1"/>
          <p:nvPr/>
        </p:nvSpPr>
        <p:spPr>
          <a:xfrm>
            <a:off x="3733800" y="3303761"/>
            <a:ext cx="753810" cy="1015663"/>
          </a:xfrm>
          <a:prstGeom prst="rect">
            <a:avLst/>
          </a:prstGeom>
          <a:noFill/>
        </p:spPr>
        <p:txBody>
          <a:bodyPr wrap="square" rtlCol="0">
            <a:spAutoFit/>
          </a:bodyPr>
          <a:lstStyle/>
          <a:p>
            <a:r>
              <a:rPr lang="en-US" sz="1200" b="1" dirty="0" smtClean="0">
                <a:solidFill>
                  <a:prstClr val="black"/>
                </a:solidFill>
              </a:rPr>
              <a:t>..</a:t>
            </a:r>
          </a:p>
          <a:p>
            <a:r>
              <a:rPr lang="en-US" sz="1200" b="1" dirty="0" smtClean="0">
                <a:solidFill>
                  <a:prstClr val="black"/>
                </a:solidFill>
              </a:rPr>
              <a:t>INSERT</a:t>
            </a:r>
          </a:p>
          <a:p>
            <a:r>
              <a:rPr lang="en-US" sz="1200" b="1" dirty="0" smtClean="0">
                <a:solidFill>
                  <a:prstClr val="black"/>
                </a:solidFill>
              </a:rPr>
              <a:t>UPDATE</a:t>
            </a:r>
          </a:p>
          <a:p>
            <a:r>
              <a:rPr lang="en-US" sz="1200" b="1" dirty="0" smtClean="0">
                <a:solidFill>
                  <a:prstClr val="black"/>
                </a:solidFill>
              </a:rPr>
              <a:t>DELETE</a:t>
            </a:r>
          </a:p>
          <a:p>
            <a:r>
              <a:rPr lang="en-US" sz="1200" b="1" dirty="0" smtClean="0">
                <a:solidFill>
                  <a:prstClr val="black"/>
                </a:solidFill>
              </a:rPr>
              <a:t>…</a:t>
            </a:r>
          </a:p>
        </p:txBody>
      </p:sp>
      <p:sp>
        <p:nvSpPr>
          <p:cNvPr id="88" name="87 Flecha derecha"/>
          <p:cNvSpPr/>
          <p:nvPr/>
        </p:nvSpPr>
        <p:spPr>
          <a:xfrm>
            <a:off x="4230880" y="3246152"/>
            <a:ext cx="762000" cy="233149"/>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9" name="88 CuadroTexto"/>
          <p:cNvSpPr txBox="1"/>
          <p:nvPr/>
        </p:nvSpPr>
        <p:spPr>
          <a:xfrm>
            <a:off x="-21364" y="4724400"/>
            <a:ext cx="9144000" cy="1384995"/>
          </a:xfrm>
          <a:prstGeom prst="rect">
            <a:avLst/>
          </a:prstGeom>
          <a:noFill/>
        </p:spPr>
        <p:txBody>
          <a:bodyPr wrap="square" rtlCol="0">
            <a:spAutoFit/>
          </a:bodyPr>
          <a:lstStyle/>
          <a:p>
            <a:r>
              <a:rPr lang="en-US" sz="1400" b="1" dirty="0">
                <a:solidFill>
                  <a:prstClr val="black"/>
                </a:solidFill>
              </a:rPr>
              <a:t>Internal Fragmentation will increase the I/O. </a:t>
            </a:r>
            <a:endParaRPr lang="en-US" sz="1400" b="1" dirty="0" smtClean="0">
              <a:solidFill>
                <a:prstClr val="black"/>
              </a:solidFill>
            </a:endParaRPr>
          </a:p>
          <a:p>
            <a:r>
              <a:rPr lang="en-US" sz="1400" dirty="0" smtClean="0">
                <a:solidFill>
                  <a:prstClr val="black"/>
                </a:solidFill>
              </a:rPr>
              <a:t>When </a:t>
            </a:r>
            <a:r>
              <a:rPr lang="en-US" sz="1400" dirty="0">
                <a:solidFill>
                  <a:prstClr val="black"/>
                </a:solidFill>
              </a:rPr>
              <a:t>you run queries that scan part or complete table/index, if you have internal fragmentation on that table/index, it causes additional page </a:t>
            </a:r>
            <a:r>
              <a:rPr lang="en-US" sz="1400" dirty="0" smtClean="0">
                <a:solidFill>
                  <a:prstClr val="black"/>
                </a:solidFill>
              </a:rPr>
              <a:t>reads</a:t>
            </a:r>
          </a:p>
          <a:p>
            <a:endParaRPr lang="en-US" sz="1400" dirty="0">
              <a:solidFill>
                <a:prstClr val="black"/>
              </a:solidFill>
            </a:endParaRPr>
          </a:p>
          <a:p>
            <a:r>
              <a:rPr lang="en-US" sz="1400" b="1" dirty="0">
                <a:solidFill>
                  <a:prstClr val="black"/>
                </a:solidFill>
              </a:rPr>
              <a:t>Internal Fragmentation reduce the efficiency of </a:t>
            </a:r>
            <a:r>
              <a:rPr lang="en-US" sz="1400" b="1" dirty="0" smtClean="0">
                <a:solidFill>
                  <a:prstClr val="black"/>
                </a:solidFill>
              </a:rPr>
              <a:t>buffer cache.</a:t>
            </a:r>
          </a:p>
          <a:p>
            <a:r>
              <a:rPr lang="en-US" sz="1400" dirty="0" smtClean="0">
                <a:solidFill>
                  <a:prstClr val="black"/>
                </a:solidFill>
              </a:rPr>
              <a:t>When </a:t>
            </a:r>
            <a:r>
              <a:rPr lang="en-US" sz="1400" dirty="0">
                <a:solidFill>
                  <a:prstClr val="black"/>
                </a:solidFill>
              </a:rPr>
              <a:t>indexes has internal fragmentation, it need more space to fit in the buffer.</a:t>
            </a:r>
            <a:endParaRPr lang="en-US" sz="1400" dirty="0" smtClean="0">
              <a:solidFill>
                <a:prstClr val="black"/>
              </a:solidFill>
            </a:endParaRPr>
          </a:p>
        </p:txBody>
      </p:sp>
      <p:sp>
        <p:nvSpPr>
          <p:cNvPr id="90" name="89 CuadroTexto"/>
          <p:cNvSpPr txBox="1"/>
          <p:nvPr/>
        </p:nvSpPr>
        <p:spPr>
          <a:xfrm>
            <a:off x="0" y="583127"/>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a:solidFill>
                  <a:prstClr val="black"/>
                </a:solidFill>
              </a:rPr>
              <a:t>Internal </a:t>
            </a:r>
            <a:r>
              <a:rPr lang="en-US" sz="1400" b="1" dirty="0" smtClean="0">
                <a:solidFill>
                  <a:prstClr val="black"/>
                </a:solidFill>
              </a:rPr>
              <a:t>Fragmentation</a:t>
            </a:r>
            <a:endParaRPr lang="en-US" sz="1400" dirty="0">
              <a:solidFill>
                <a:prstClr val="black"/>
              </a:solidFill>
            </a:endParaRPr>
          </a:p>
        </p:txBody>
      </p:sp>
      <p:grpSp>
        <p:nvGrpSpPr>
          <p:cNvPr id="91" name="90 Grupo"/>
          <p:cNvGrpSpPr/>
          <p:nvPr/>
        </p:nvGrpSpPr>
        <p:grpSpPr>
          <a:xfrm>
            <a:off x="9525" y="6574392"/>
            <a:ext cx="9134399" cy="277000"/>
            <a:chOff x="9525" y="6574392"/>
            <a:chExt cx="9134399" cy="277000"/>
          </a:xfrm>
        </p:grpSpPr>
        <p:sp>
          <p:nvSpPr>
            <p:cNvPr id="92" name="9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93" name="9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94" name="93 Grupo"/>
          <p:cNvGrpSpPr/>
          <p:nvPr/>
        </p:nvGrpSpPr>
        <p:grpSpPr>
          <a:xfrm>
            <a:off x="0" y="9525"/>
            <a:ext cx="9153525" cy="408388"/>
            <a:chOff x="0" y="9525"/>
            <a:chExt cx="9153525" cy="408388"/>
          </a:xfrm>
        </p:grpSpPr>
        <p:sp>
          <p:nvSpPr>
            <p:cNvPr id="95" name="94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Index Level Fragmentation</a:t>
              </a:r>
              <a:endParaRPr lang="en-US" b="1" i="1" dirty="0">
                <a:solidFill>
                  <a:schemeClr val="bg1"/>
                </a:solidFill>
              </a:endParaRPr>
            </a:p>
          </p:txBody>
        </p:sp>
        <p:pic>
          <p:nvPicPr>
            <p:cNvPr id="96" name="95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7" name="96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12298232"/>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CuadroTexto"/>
          <p:cNvSpPr txBox="1"/>
          <p:nvPr/>
        </p:nvSpPr>
        <p:spPr>
          <a:xfrm>
            <a:off x="0" y="915320"/>
            <a:ext cx="9144000" cy="523220"/>
          </a:xfrm>
          <a:prstGeom prst="rect">
            <a:avLst/>
          </a:prstGeom>
          <a:noFill/>
        </p:spPr>
        <p:txBody>
          <a:bodyPr wrap="square" rtlCol="0">
            <a:spAutoFit/>
          </a:bodyPr>
          <a:lstStyle/>
          <a:p>
            <a:pPr marL="285750" indent="-285750">
              <a:buFont typeface="Wingdings" pitchFamily="2" charset="2"/>
              <a:buChar char="Ø"/>
            </a:pPr>
            <a:r>
              <a:rPr lang="en-US" sz="1400" dirty="0" smtClean="0">
                <a:solidFill>
                  <a:prstClr val="black"/>
                </a:solidFill>
              </a:rPr>
              <a:t>External </a:t>
            </a:r>
            <a:r>
              <a:rPr lang="en-US" sz="1400" dirty="0">
                <a:solidFill>
                  <a:prstClr val="black"/>
                </a:solidFill>
              </a:rPr>
              <a:t>Fragmentation happens when the logical order of the pages does not match the physical order of the </a:t>
            </a:r>
            <a:r>
              <a:rPr lang="en-US" sz="1400" dirty="0" smtClean="0">
                <a:solidFill>
                  <a:prstClr val="black"/>
                </a:solidFill>
              </a:rPr>
              <a:t>pages</a:t>
            </a:r>
          </a:p>
          <a:p>
            <a:pPr marL="285750" indent="-285750">
              <a:buFont typeface="Wingdings" pitchFamily="2" charset="2"/>
              <a:buChar char="Ø"/>
            </a:pPr>
            <a:r>
              <a:rPr lang="en-US" sz="1400" dirty="0">
                <a:solidFill>
                  <a:prstClr val="black"/>
                </a:solidFill>
              </a:rPr>
              <a:t>It is  measured as the </a:t>
            </a:r>
            <a:r>
              <a:rPr lang="en-US" sz="1400" b="1" dirty="0">
                <a:solidFill>
                  <a:prstClr val="black"/>
                </a:solidFill>
              </a:rPr>
              <a:t>percentage of out-of-order pages</a:t>
            </a:r>
            <a:r>
              <a:rPr lang="en-US" sz="1400" dirty="0">
                <a:solidFill>
                  <a:prstClr val="black"/>
                </a:solidFill>
              </a:rPr>
              <a:t> in the leaf pages of an </a:t>
            </a:r>
            <a:r>
              <a:rPr lang="en-US" sz="1400" dirty="0" smtClean="0">
                <a:solidFill>
                  <a:prstClr val="black"/>
                </a:solidFill>
              </a:rPr>
              <a:t>index</a:t>
            </a:r>
          </a:p>
        </p:txBody>
      </p:sp>
      <p:grpSp>
        <p:nvGrpSpPr>
          <p:cNvPr id="9" name="8 Grupo"/>
          <p:cNvGrpSpPr/>
          <p:nvPr/>
        </p:nvGrpSpPr>
        <p:grpSpPr>
          <a:xfrm>
            <a:off x="152400" y="2601739"/>
            <a:ext cx="4038600" cy="827261"/>
            <a:chOff x="457200" y="2601739"/>
            <a:chExt cx="4038600" cy="827261"/>
          </a:xfrm>
        </p:grpSpPr>
        <p:sp>
          <p:nvSpPr>
            <p:cNvPr id="5" name="4 CuadroTexto"/>
            <p:cNvSpPr txBox="1"/>
            <p:nvPr/>
          </p:nvSpPr>
          <p:spPr>
            <a:xfrm>
              <a:off x="657670" y="3030194"/>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a:t>
              </a:r>
              <a:endParaRPr lang="en-US" sz="1200" dirty="0">
                <a:solidFill>
                  <a:prstClr val="black"/>
                </a:solidFill>
              </a:endParaRPr>
            </a:p>
          </p:txBody>
        </p:sp>
        <p:sp>
          <p:nvSpPr>
            <p:cNvPr id="90" name="89 CuadroTexto"/>
            <p:cNvSpPr txBox="1"/>
            <p:nvPr/>
          </p:nvSpPr>
          <p:spPr>
            <a:xfrm>
              <a:off x="1305513" y="3030194"/>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2</a:t>
              </a:r>
              <a:endParaRPr lang="en-US" sz="1200" dirty="0">
                <a:solidFill>
                  <a:prstClr val="black"/>
                </a:solidFill>
              </a:endParaRPr>
            </a:p>
          </p:txBody>
        </p:sp>
        <p:sp>
          <p:nvSpPr>
            <p:cNvPr id="92" name="91 CuadroTexto"/>
            <p:cNvSpPr txBox="1"/>
            <p:nvPr/>
          </p:nvSpPr>
          <p:spPr>
            <a:xfrm>
              <a:off x="1953356" y="3030194"/>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a:solidFill>
                    <a:prstClr val="black"/>
                  </a:solidFill>
                </a:rPr>
                <a:t>4</a:t>
              </a:r>
            </a:p>
          </p:txBody>
        </p:sp>
        <p:sp>
          <p:nvSpPr>
            <p:cNvPr id="93" name="92 CuadroTexto"/>
            <p:cNvSpPr txBox="1"/>
            <p:nvPr/>
          </p:nvSpPr>
          <p:spPr>
            <a:xfrm>
              <a:off x="2601199" y="3030194"/>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5</a:t>
              </a:r>
              <a:endParaRPr lang="en-US" sz="1200" dirty="0">
                <a:solidFill>
                  <a:prstClr val="black"/>
                </a:solidFill>
              </a:endParaRPr>
            </a:p>
          </p:txBody>
        </p:sp>
        <p:sp>
          <p:nvSpPr>
            <p:cNvPr id="94" name="93 CuadroTexto"/>
            <p:cNvSpPr txBox="1"/>
            <p:nvPr/>
          </p:nvSpPr>
          <p:spPr>
            <a:xfrm>
              <a:off x="3249042" y="3030194"/>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a:solidFill>
                    <a:prstClr val="black"/>
                  </a:solidFill>
                </a:rPr>
                <a:t>6</a:t>
              </a:r>
            </a:p>
          </p:txBody>
        </p:sp>
        <p:sp>
          <p:nvSpPr>
            <p:cNvPr id="95" name="94 CuadroTexto"/>
            <p:cNvSpPr txBox="1"/>
            <p:nvPr/>
          </p:nvSpPr>
          <p:spPr>
            <a:xfrm>
              <a:off x="3896883" y="3030194"/>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a:solidFill>
                    <a:prstClr val="black"/>
                  </a:solidFill>
                </a:rPr>
                <a:t>7</a:t>
              </a:r>
            </a:p>
          </p:txBody>
        </p:sp>
        <p:sp>
          <p:nvSpPr>
            <p:cNvPr id="7" name="6 CuadroTexto"/>
            <p:cNvSpPr txBox="1"/>
            <p:nvPr/>
          </p:nvSpPr>
          <p:spPr>
            <a:xfrm>
              <a:off x="457200" y="2601739"/>
              <a:ext cx="4038600" cy="276999"/>
            </a:xfrm>
            <a:prstGeom prst="rect">
              <a:avLst/>
            </a:prstGeom>
            <a:solidFill>
              <a:schemeClr val="bg1">
                <a:lumMod val="75000"/>
              </a:schemeClr>
            </a:solidFill>
            <a:ln>
              <a:solidFill>
                <a:schemeClr val="tx1"/>
              </a:solidFill>
            </a:ln>
          </p:spPr>
          <p:txBody>
            <a:bodyPr wrap="square" rtlCol="0">
              <a:spAutoFit/>
            </a:bodyPr>
            <a:lstStyle/>
            <a:p>
              <a:r>
                <a:rPr lang="en-US" sz="1200" dirty="0" smtClean="0">
                  <a:solidFill>
                    <a:prstClr val="black"/>
                  </a:solidFill>
                </a:rPr>
                <a:t>Page 1          </a:t>
              </a:r>
              <a:r>
                <a:rPr lang="en-US" sz="1200" dirty="0" err="1" smtClean="0">
                  <a:solidFill>
                    <a:prstClr val="black"/>
                  </a:solidFill>
                </a:rPr>
                <a:t>Prev</a:t>
              </a:r>
              <a:r>
                <a:rPr lang="en-US" sz="1200" dirty="0" smtClean="0">
                  <a:solidFill>
                    <a:prstClr val="black"/>
                  </a:solidFill>
                </a:rPr>
                <a:t> Page: NULL            Next Page: 2</a:t>
              </a:r>
              <a:endParaRPr lang="en-US" sz="1200" dirty="0">
                <a:solidFill>
                  <a:prstClr val="black"/>
                </a:solidFill>
              </a:endParaRPr>
            </a:p>
          </p:txBody>
        </p:sp>
        <p:sp>
          <p:nvSpPr>
            <p:cNvPr id="8" name="7 Rectángulo"/>
            <p:cNvSpPr/>
            <p:nvPr/>
          </p:nvSpPr>
          <p:spPr>
            <a:xfrm>
              <a:off x="457200" y="2878738"/>
              <a:ext cx="4038600" cy="55026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10" name="9 Grupo"/>
          <p:cNvGrpSpPr/>
          <p:nvPr/>
        </p:nvGrpSpPr>
        <p:grpSpPr>
          <a:xfrm>
            <a:off x="152400" y="3728970"/>
            <a:ext cx="4038601" cy="843030"/>
            <a:chOff x="457200" y="3728970"/>
            <a:chExt cx="4038601" cy="843030"/>
          </a:xfrm>
        </p:grpSpPr>
        <p:sp>
          <p:nvSpPr>
            <p:cNvPr id="96" name="95 CuadroTexto"/>
            <p:cNvSpPr txBox="1"/>
            <p:nvPr/>
          </p:nvSpPr>
          <p:spPr>
            <a:xfrm>
              <a:off x="657670" y="4150433"/>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a:solidFill>
                    <a:prstClr val="black"/>
                  </a:solidFill>
                </a:rPr>
                <a:t>8</a:t>
              </a:r>
            </a:p>
          </p:txBody>
        </p:sp>
        <p:sp>
          <p:nvSpPr>
            <p:cNvPr id="97" name="96 CuadroTexto"/>
            <p:cNvSpPr txBox="1"/>
            <p:nvPr/>
          </p:nvSpPr>
          <p:spPr>
            <a:xfrm>
              <a:off x="1303376" y="4150433"/>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9</a:t>
              </a:r>
              <a:endParaRPr lang="en-US" sz="1200" dirty="0">
                <a:solidFill>
                  <a:prstClr val="black"/>
                </a:solidFill>
              </a:endParaRPr>
            </a:p>
          </p:txBody>
        </p:sp>
        <p:sp>
          <p:nvSpPr>
            <p:cNvPr id="98" name="97 CuadroTexto"/>
            <p:cNvSpPr txBox="1"/>
            <p:nvPr/>
          </p:nvSpPr>
          <p:spPr>
            <a:xfrm>
              <a:off x="1949082" y="4150433"/>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10</a:t>
              </a:r>
              <a:endParaRPr lang="en-US" sz="1200" dirty="0">
                <a:solidFill>
                  <a:prstClr val="black"/>
                </a:solidFill>
              </a:endParaRPr>
            </a:p>
          </p:txBody>
        </p:sp>
        <p:sp>
          <p:nvSpPr>
            <p:cNvPr id="99" name="98 CuadroTexto"/>
            <p:cNvSpPr txBox="1"/>
            <p:nvPr/>
          </p:nvSpPr>
          <p:spPr>
            <a:xfrm>
              <a:off x="2594788" y="4150433"/>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11</a:t>
              </a:r>
              <a:endParaRPr lang="en-US" sz="1200" dirty="0">
                <a:solidFill>
                  <a:prstClr val="black"/>
                </a:solidFill>
              </a:endParaRPr>
            </a:p>
          </p:txBody>
        </p:sp>
        <p:sp>
          <p:nvSpPr>
            <p:cNvPr id="100" name="99 CuadroTexto"/>
            <p:cNvSpPr txBox="1"/>
            <p:nvPr/>
          </p:nvSpPr>
          <p:spPr>
            <a:xfrm>
              <a:off x="3240494" y="4150433"/>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12</a:t>
              </a:r>
              <a:endParaRPr lang="en-US" sz="1200" dirty="0">
                <a:solidFill>
                  <a:prstClr val="black"/>
                </a:solidFill>
              </a:endParaRPr>
            </a:p>
          </p:txBody>
        </p:sp>
        <p:sp>
          <p:nvSpPr>
            <p:cNvPr id="101" name="100 CuadroTexto"/>
            <p:cNvSpPr txBox="1"/>
            <p:nvPr/>
          </p:nvSpPr>
          <p:spPr>
            <a:xfrm>
              <a:off x="3886200" y="4150433"/>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13</a:t>
              </a:r>
              <a:endParaRPr lang="en-US" sz="1200" dirty="0">
                <a:solidFill>
                  <a:prstClr val="black"/>
                </a:solidFill>
              </a:endParaRPr>
            </a:p>
          </p:txBody>
        </p:sp>
        <p:sp>
          <p:nvSpPr>
            <p:cNvPr id="108" name="107 Rectángulo"/>
            <p:cNvSpPr/>
            <p:nvPr/>
          </p:nvSpPr>
          <p:spPr>
            <a:xfrm>
              <a:off x="457200" y="4005969"/>
              <a:ext cx="4038600" cy="566031"/>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0" name="109 CuadroTexto"/>
            <p:cNvSpPr txBox="1"/>
            <p:nvPr/>
          </p:nvSpPr>
          <p:spPr>
            <a:xfrm>
              <a:off x="457201" y="3728970"/>
              <a:ext cx="4038600" cy="276999"/>
            </a:xfrm>
            <a:prstGeom prst="rect">
              <a:avLst/>
            </a:prstGeom>
            <a:solidFill>
              <a:schemeClr val="bg1">
                <a:lumMod val="75000"/>
              </a:schemeClr>
            </a:solidFill>
            <a:ln>
              <a:solidFill>
                <a:schemeClr val="tx1"/>
              </a:solidFill>
            </a:ln>
          </p:spPr>
          <p:txBody>
            <a:bodyPr wrap="square" rtlCol="0">
              <a:spAutoFit/>
            </a:bodyPr>
            <a:lstStyle/>
            <a:p>
              <a:r>
                <a:rPr lang="en-US" sz="1200" dirty="0" smtClean="0">
                  <a:solidFill>
                    <a:prstClr val="black"/>
                  </a:solidFill>
                </a:rPr>
                <a:t>Page 2          </a:t>
              </a:r>
              <a:r>
                <a:rPr lang="en-US" sz="1200" dirty="0" err="1" smtClean="0">
                  <a:solidFill>
                    <a:prstClr val="black"/>
                  </a:solidFill>
                </a:rPr>
                <a:t>Prev</a:t>
              </a:r>
              <a:r>
                <a:rPr lang="en-US" sz="1200" dirty="0" smtClean="0">
                  <a:solidFill>
                    <a:prstClr val="black"/>
                  </a:solidFill>
                </a:rPr>
                <a:t> Page: 1            Next Page: 3</a:t>
              </a:r>
              <a:endParaRPr lang="en-US" sz="1200" dirty="0">
                <a:solidFill>
                  <a:prstClr val="black"/>
                </a:solidFill>
              </a:endParaRPr>
            </a:p>
          </p:txBody>
        </p:sp>
      </p:grpSp>
      <p:grpSp>
        <p:nvGrpSpPr>
          <p:cNvPr id="18" name="17 Grupo"/>
          <p:cNvGrpSpPr/>
          <p:nvPr/>
        </p:nvGrpSpPr>
        <p:grpSpPr>
          <a:xfrm>
            <a:off x="152401" y="4876800"/>
            <a:ext cx="4038600" cy="842975"/>
            <a:chOff x="457201" y="4876800"/>
            <a:chExt cx="4038600" cy="842975"/>
          </a:xfrm>
        </p:grpSpPr>
        <p:sp>
          <p:nvSpPr>
            <p:cNvPr id="102" name="101 CuadroTexto"/>
            <p:cNvSpPr txBox="1"/>
            <p:nvPr/>
          </p:nvSpPr>
          <p:spPr>
            <a:xfrm>
              <a:off x="657670" y="5289717"/>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14</a:t>
              </a:r>
              <a:endParaRPr lang="en-US" sz="1200" dirty="0">
                <a:solidFill>
                  <a:prstClr val="black"/>
                </a:solidFill>
              </a:endParaRPr>
            </a:p>
          </p:txBody>
        </p:sp>
        <p:sp>
          <p:nvSpPr>
            <p:cNvPr id="103" name="102 CuadroTexto"/>
            <p:cNvSpPr txBox="1"/>
            <p:nvPr/>
          </p:nvSpPr>
          <p:spPr>
            <a:xfrm>
              <a:off x="1303376" y="5289716"/>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15</a:t>
              </a:r>
              <a:endParaRPr lang="en-US" sz="1200" dirty="0">
                <a:solidFill>
                  <a:prstClr val="black"/>
                </a:solidFill>
              </a:endParaRPr>
            </a:p>
          </p:txBody>
        </p:sp>
        <p:sp>
          <p:nvSpPr>
            <p:cNvPr id="104" name="103 CuadroTexto"/>
            <p:cNvSpPr txBox="1"/>
            <p:nvPr/>
          </p:nvSpPr>
          <p:spPr>
            <a:xfrm>
              <a:off x="1953356" y="5289715"/>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16</a:t>
              </a:r>
              <a:endParaRPr lang="en-US" sz="1200" dirty="0">
                <a:solidFill>
                  <a:prstClr val="black"/>
                </a:solidFill>
              </a:endParaRPr>
            </a:p>
          </p:txBody>
        </p:sp>
        <p:sp>
          <p:nvSpPr>
            <p:cNvPr id="111" name="110 CuadroTexto"/>
            <p:cNvSpPr txBox="1"/>
            <p:nvPr/>
          </p:nvSpPr>
          <p:spPr>
            <a:xfrm>
              <a:off x="457201" y="4876800"/>
              <a:ext cx="4038600" cy="276999"/>
            </a:xfrm>
            <a:prstGeom prst="rect">
              <a:avLst/>
            </a:prstGeom>
            <a:solidFill>
              <a:schemeClr val="bg1">
                <a:lumMod val="75000"/>
              </a:schemeClr>
            </a:solidFill>
            <a:ln>
              <a:solidFill>
                <a:schemeClr val="tx1"/>
              </a:solidFill>
            </a:ln>
          </p:spPr>
          <p:txBody>
            <a:bodyPr wrap="square" rtlCol="0">
              <a:spAutoFit/>
            </a:bodyPr>
            <a:lstStyle/>
            <a:p>
              <a:r>
                <a:rPr lang="en-US" sz="1200" dirty="0" smtClean="0">
                  <a:solidFill>
                    <a:prstClr val="black"/>
                  </a:solidFill>
                </a:rPr>
                <a:t>Page 3          </a:t>
              </a:r>
              <a:r>
                <a:rPr lang="en-US" sz="1200" dirty="0" err="1" smtClean="0">
                  <a:solidFill>
                    <a:prstClr val="black"/>
                  </a:solidFill>
                </a:rPr>
                <a:t>Prev</a:t>
              </a:r>
              <a:r>
                <a:rPr lang="en-US" sz="1200" dirty="0" smtClean="0">
                  <a:solidFill>
                    <a:prstClr val="black"/>
                  </a:solidFill>
                </a:rPr>
                <a:t> Page: 2           Next Page: NULL</a:t>
              </a:r>
              <a:endParaRPr lang="en-US" sz="1200" dirty="0">
                <a:solidFill>
                  <a:prstClr val="black"/>
                </a:solidFill>
              </a:endParaRPr>
            </a:p>
          </p:txBody>
        </p:sp>
        <p:sp>
          <p:nvSpPr>
            <p:cNvPr id="112" name="111 Rectángulo"/>
            <p:cNvSpPr/>
            <p:nvPr/>
          </p:nvSpPr>
          <p:spPr>
            <a:xfrm>
              <a:off x="457201" y="5153744"/>
              <a:ext cx="4038600" cy="566031"/>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44" name="43 Grupo"/>
          <p:cNvGrpSpPr/>
          <p:nvPr/>
        </p:nvGrpSpPr>
        <p:grpSpPr>
          <a:xfrm>
            <a:off x="104579" y="1543172"/>
            <a:ext cx="4751818" cy="316563"/>
            <a:chOff x="4267200" y="1737960"/>
            <a:chExt cx="4751818" cy="316563"/>
          </a:xfrm>
        </p:grpSpPr>
        <p:sp>
          <p:nvSpPr>
            <p:cNvPr id="91" name="90 CuadroTexto"/>
            <p:cNvSpPr txBox="1"/>
            <p:nvPr/>
          </p:nvSpPr>
          <p:spPr>
            <a:xfrm>
              <a:off x="7237572" y="1777524"/>
              <a:ext cx="305514"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a:solidFill>
                    <a:prstClr val="black"/>
                  </a:solidFill>
                </a:rPr>
                <a:t>3</a:t>
              </a:r>
            </a:p>
          </p:txBody>
        </p:sp>
        <p:sp>
          <p:nvSpPr>
            <p:cNvPr id="113" name="112 CuadroTexto"/>
            <p:cNvSpPr txBox="1"/>
            <p:nvPr/>
          </p:nvSpPr>
          <p:spPr>
            <a:xfrm>
              <a:off x="4267200" y="1737960"/>
              <a:ext cx="4751818" cy="276999"/>
            </a:xfrm>
            <a:prstGeom prst="rect">
              <a:avLst/>
            </a:prstGeom>
            <a:noFill/>
          </p:spPr>
          <p:txBody>
            <a:bodyPr wrap="square" rtlCol="0">
              <a:spAutoFit/>
            </a:bodyPr>
            <a:lstStyle/>
            <a:p>
              <a:r>
                <a:rPr lang="en-US" sz="1200" dirty="0" smtClean="0">
                  <a:solidFill>
                    <a:srgbClr val="0000FF"/>
                  </a:solidFill>
                </a:rPr>
                <a:t>Insert Into </a:t>
              </a:r>
              <a:r>
                <a:rPr lang="en-US" sz="1200" dirty="0" err="1" smtClean="0">
                  <a:solidFill>
                    <a:srgbClr val="0000FF"/>
                  </a:solidFill>
                </a:rPr>
                <a:t>MyTable</a:t>
              </a:r>
              <a:r>
                <a:rPr lang="en-US" sz="1200" dirty="0" smtClean="0">
                  <a:solidFill>
                    <a:srgbClr val="0000FF"/>
                  </a:solidFill>
                </a:rPr>
                <a:t> (</a:t>
              </a:r>
              <a:r>
                <a:rPr lang="en-US" sz="1200" dirty="0" err="1" smtClean="0">
                  <a:solidFill>
                    <a:srgbClr val="0000FF"/>
                  </a:solidFill>
                </a:rPr>
                <a:t>PkCol</a:t>
              </a:r>
              <a:r>
                <a:rPr lang="en-US" sz="1200" dirty="0" smtClean="0">
                  <a:solidFill>
                    <a:srgbClr val="0000FF"/>
                  </a:solidFill>
                </a:rPr>
                <a:t>, </a:t>
              </a:r>
              <a:r>
                <a:rPr lang="en-US" sz="1200" dirty="0" err="1" smtClean="0">
                  <a:solidFill>
                    <a:srgbClr val="0000FF"/>
                  </a:solidFill>
                </a:rPr>
                <a:t>OtherCols</a:t>
              </a:r>
              <a:r>
                <a:rPr lang="en-US" sz="1200" dirty="0" smtClean="0">
                  <a:solidFill>
                    <a:srgbClr val="0000FF"/>
                  </a:solidFill>
                </a:rPr>
                <a:t>) Values </a:t>
              </a:r>
              <a:r>
                <a:rPr lang="en-US" sz="1200" dirty="0" smtClean="0">
                  <a:solidFill>
                    <a:prstClr val="black"/>
                  </a:solidFill>
                </a:rPr>
                <a:t>(</a:t>
              </a:r>
              <a:r>
                <a:rPr lang="en-US" sz="1200" dirty="0" smtClean="0">
                  <a:solidFill>
                    <a:srgbClr val="0000FF"/>
                  </a:solidFill>
                </a:rPr>
                <a:t>          , ‘Not enough space’)</a:t>
              </a:r>
            </a:p>
          </p:txBody>
        </p:sp>
      </p:grpSp>
      <p:grpSp>
        <p:nvGrpSpPr>
          <p:cNvPr id="144" name="143 Grupo"/>
          <p:cNvGrpSpPr/>
          <p:nvPr/>
        </p:nvGrpSpPr>
        <p:grpSpPr>
          <a:xfrm>
            <a:off x="4876799" y="2273934"/>
            <a:ext cx="4038600" cy="827261"/>
            <a:chOff x="457200" y="2601739"/>
            <a:chExt cx="4038600" cy="827261"/>
          </a:xfrm>
        </p:grpSpPr>
        <p:sp>
          <p:nvSpPr>
            <p:cNvPr id="145" name="144 CuadroTexto"/>
            <p:cNvSpPr txBox="1"/>
            <p:nvPr/>
          </p:nvSpPr>
          <p:spPr>
            <a:xfrm>
              <a:off x="657670" y="3030194"/>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a:t>
              </a:r>
              <a:endParaRPr lang="en-US" sz="1200" dirty="0">
                <a:solidFill>
                  <a:prstClr val="black"/>
                </a:solidFill>
              </a:endParaRPr>
            </a:p>
          </p:txBody>
        </p:sp>
        <p:sp>
          <p:nvSpPr>
            <p:cNvPr id="146" name="145 CuadroTexto"/>
            <p:cNvSpPr txBox="1"/>
            <p:nvPr/>
          </p:nvSpPr>
          <p:spPr>
            <a:xfrm>
              <a:off x="1305513" y="3030194"/>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2</a:t>
              </a:r>
              <a:endParaRPr lang="en-US" sz="1200" dirty="0">
                <a:solidFill>
                  <a:prstClr val="black"/>
                </a:solidFill>
              </a:endParaRPr>
            </a:p>
          </p:txBody>
        </p:sp>
        <p:sp>
          <p:nvSpPr>
            <p:cNvPr id="147" name="146 CuadroTexto"/>
            <p:cNvSpPr txBox="1"/>
            <p:nvPr/>
          </p:nvSpPr>
          <p:spPr>
            <a:xfrm>
              <a:off x="1953356" y="3030194"/>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3</a:t>
              </a:r>
              <a:endParaRPr lang="en-US" sz="1200" dirty="0">
                <a:solidFill>
                  <a:prstClr val="black"/>
                </a:solidFill>
              </a:endParaRPr>
            </a:p>
          </p:txBody>
        </p:sp>
        <p:sp>
          <p:nvSpPr>
            <p:cNvPr id="151" name="150 CuadroTexto"/>
            <p:cNvSpPr txBox="1"/>
            <p:nvPr/>
          </p:nvSpPr>
          <p:spPr>
            <a:xfrm>
              <a:off x="457200" y="2601739"/>
              <a:ext cx="4038600" cy="276999"/>
            </a:xfrm>
            <a:prstGeom prst="rect">
              <a:avLst/>
            </a:prstGeom>
            <a:solidFill>
              <a:schemeClr val="bg1">
                <a:lumMod val="75000"/>
              </a:schemeClr>
            </a:solidFill>
            <a:ln>
              <a:solidFill>
                <a:schemeClr val="tx1"/>
              </a:solidFill>
            </a:ln>
          </p:spPr>
          <p:txBody>
            <a:bodyPr wrap="square" rtlCol="0">
              <a:spAutoFit/>
            </a:bodyPr>
            <a:lstStyle/>
            <a:p>
              <a:r>
                <a:rPr lang="en-US" sz="1200" dirty="0" smtClean="0">
                  <a:solidFill>
                    <a:prstClr val="black"/>
                  </a:solidFill>
                </a:rPr>
                <a:t>Page 1          </a:t>
              </a:r>
              <a:r>
                <a:rPr lang="en-US" sz="1200" dirty="0" err="1" smtClean="0">
                  <a:solidFill>
                    <a:prstClr val="black"/>
                  </a:solidFill>
                </a:rPr>
                <a:t>Prev</a:t>
              </a:r>
              <a:r>
                <a:rPr lang="en-US" sz="1200" dirty="0" smtClean="0">
                  <a:solidFill>
                    <a:prstClr val="black"/>
                  </a:solidFill>
                </a:rPr>
                <a:t> Page: NULL            </a:t>
              </a:r>
              <a:r>
                <a:rPr lang="en-US" sz="1200" b="1" dirty="0" smtClean="0">
                  <a:solidFill>
                    <a:prstClr val="black"/>
                  </a:solidFill>
                </a:rPr>
                <a:t>Next Page: 4</a:t>
              </a:r>
              <a:endParaRPr lang="en-US" sz="1200" b="1" dirty="0">
                <a:solidFill>
                  <a:prstClr val="black"/>
                </a:solidFill>
              </a:endParaRPr>
            </a:p>
          </p:txBody>
        </p:sp>
        <p:sp>
          <p:nvSpPr>
            <p:cNvPr id="152" name="151 Rectángulo"/>
            <p:cNvSpPr/>
            <p:nvPr/>
          </p:nvSpPr>
          <p:spPr>
            <a:xfrm>
              <a:off x="457200" y="2878738"/>
              <a:ext cx="4038600" cy="55026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153" name="152 Grupo"/>
          <p:cNvGrpSpPr/>
          <p:nvPr/>
        </p:nvGrpSpPr>
        <p:grpSpPr>
          <a:xfrm>
            <a:off x="4876799" y="3401165"/>
            <a:ext cx="4038601" cy="843030"/>
            <a:chOff x="457200" y="3728970"/>
            <a:chExt cx="4038601" cy="843030"/>
          </a:xfrm>
        </p:grpSpPr>
        <p:sp>
          <p:nvSpPr>
            <p:cNvPr id="154" name="153 CuadroTexto"/>
            <p:cNvSpPr txBox="1"/>
            <p:nvPr/>
          </p:nvSpPr>
          <p:spPr>
            <a:xfrm>
              <a:off x="657670" y="4150433"/>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a:solidFill>
                    <a:prstClr val="black"/>
                  </a:solidFill>
                </a:rPr>
                <a:t>8</a:t>
              </a:r>
            </a:p>
          </p:txBody>
        </p:sp>
        <p:sp>
          <p:nvSpPr>
            <p:cNvPr id="155" name="154 CuadroTexto"/>
            <p:cNvSpPr txBox="1"/>
            <p:nvPr/>
          </p:nvSpPr>
          <p:spPr>
            <a:xfrm>
              <a:off x="1303376" y="4150433"/>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9</a:t>
              </a:r>
              <a:endParaRPr lang="en-US" sz="1200" dirty="0">
                <a:solidFill>
                  <a:prstClr val="black"/>
                </a:solidFill>
              </a:endParaRPr>
            </a:p>
          </p:txBody>
        </p:sp>
        <p:sp>
          <p:nvSpPr>
            <p:cNvPr id="156" name="155 CuadroTexto"/>
            <p:cNvSpPr txBox="1"/>
            <p:nvPr/>
          </p:nvSpPr>
          <p:spPr>
            <a:xfrm>
              <a:off x="1949082" y="4150433"/>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10</a:t>
              </a:r>
              <a:endParaRPr lang="en-US" sz="1200" dirty="0">
                <a:solidFill>
                  <a:prstClr val="black"/>
                </a:solidFill>
              </a:endParaRPr>
            </a:p>
          </p:txBody>
        </p:sp>
        <p:sp>
          <p:nvSpPr>
            <p:cNvPr id="157" name="156 CuadroTexto"/>
            <p:cNvSpPr txBox="1"/>
            <p:nvPr/>
          </p:nvSpPr>
          <p:spPr>
            <a:xfrm>
              <a:off x="2594788" y="4150433"/>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11</a:t>
              </a:r>
              <a:endParaRPr lang="en-US" sz="1200" dirty="0">
                <a:solidFill>
                  <a:prstClr val="black"/>
                </a:solidFill>
              </a:endParaRPr>
            </a:p>
          </p:txBody>
        </p:sp>
        <p:sp>
          <p:nvSpPr>
            <p:cNvPr id="158" name="157 CuadroTexto"/>
            <p:cNvSpPr txBox="1"/>
            <p:nvPr/>
          </p:nvSpPr>
          <p:spPr>
            <a:xfrm>
              <a:off x="3240494" y="4150433"/>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12</a:t>
              </a:r>
              <a:endParaRPr lang="en-US" sz="1200" dirty="0">
                <a:solidFill>
                  <a:prstClr val="black"/>
                </a:solidFill>
              </a:endParaRPr>
            </a:p>
          </p:txBody>
        </p:sp>
        <p:sp>
          <p:nvSpPr>
            <p:cNvPr id="159" name="158 CuadroTexto"/>
            <p:cNvSpPr txBox="1"/>
            <p:nvPr/>
          </p:nvSpPr>
          <p:spPr>
            <a:xfrm>
              <a:off x="3886200" y="4150433"/>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13</a:t>
              </a:r>
              <a:endParaRPr lang="en-US" sz="1200" dirty="0">
                <a:solidFill>
                  <a:prstClr val="black"/>
                </a:solidFill>
              </a:endParaRPr>
            </a:p>
          </p:txBody>
        </p:sp>
        <p:sp>
          <p:nvSpPr>
            <p:cNvPr id="160" name="159 Rectángulo"/>
            <p:cNvSpPr/>
            <p:nvPr/>
          </p:nvSpPr>
          <p:spPr>
            <a:xfrm>
              <a:off x="457200" y="4005969"/>
              <a:ext cx="4038600" cy="566031"/>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1" name="160 CuadroTexto"/>
            <p:cNvSpPr txBox="1"/>
            <p:nvPr/>
          </p:nvSpPr>
          <p:spPr>
            <a:xfrm>
              <a:off x="457201" y="3728970"/>
              <a:ext cx="4038600" cy="276999"/>
            </a:xfrm>
            <a:prstGeom prst="rect">
              <a:avLst/>
            </a:prstGeom>
            <a:solidFill>
              <a:schemeClr val="bg1">
                <a:lumMod val="75000"/>
              </a:schemeClr>
            </a:solidFill>
            <a:ln>
              <a:solidFill>
                <a:schemeClr val="tx1"/>
              </a:solidFill>
            </a:ln>
          </p:spPr>
          <p:txBody>
            <a:bodyPr wrap="square" rtlCol="0">
              <a:spAutoFit/>
            </a:bodyPr>
            <a:lstStyle/>
            <a:p>
              <a:r>
                <a:rPr lang="en-US" sz="1200" dirty="0" smtClean="0">
                  <a:solidFill>
                    <a:prstClr val="black"/>
                  </a:solidFill>
                </a:rPr>
                <a:t>Page 2          </a:t>
              </a:r>
              <a:r>
                <a:rPr lang="en-US" sz="1200" b="1" dirty="0" err="1" smtClean="0">
                  <a:solidFill>
                    <a:prstClr val="black"/>
                  </a:solidFill>
                </a:rPr>
                <a:t>Prev</a:t>
              </a:r>
              <a:r>
                <a:rPr lang="en-US" sz="1200" b="1" dirty="0" smtClean="0">
                  <a:solidFill>
                    <a:prstClr val="black"/>
                  </a:solidFill>
                </a:rPr>
                <a:t> Page: 4</a:t>
              </a:r>
              <a:r>
                <a:rPr lang="en-US" sz="1200" dirty="0" smtClean="0">
                  <a:solidFill>
                    <a:prstClr val="black"/>
                  </a:solidFill>
                </a:rPr>
                <a:t>            Next Page: 3</a:t>
              </a:r>
              <a:endParaRPr lang="en-US" sz="1200" dirty="0">
                <a:solidFill>
                  <a:prstClr val="black"/>
                </a:solidFill>
              </a:endParaRPr>
            </a:p>
          </p:txBody>
        </p:sp>
      </p:grpSp>
      <p:grpSp>
        <p:nvGrpSpPr>
          <p:cNvPr id="162" name="161 Grupo"/>
          <p:cNvGrpSpPr/>
          <p:nvPr/>
        </p:nvGrpSpPr>
        <p:grpSpPr>
          <a:xfrm>
            <a:off x="4876800" y="4548995"/>
            <a:ext cx="4038600" cy="842975"/>
            <a:chOff x="457201" y="4876800"/>
            <a:chExt cx="4038600" cy="842975"/>
          </a:xfrm>
        </p:grpSpPr>
        <p:sp>
          <p:nvSpPr>
            <p:cNvPr id="163" name="162 CuadroTexto"/>
            <p:cNvSpPr txBox="1"/>
            <p:nvPr/>
          </p:nvSpPr>
          <p:spPr>
            <a:xfrm>
              <a:off x="657670" y="5289717"/>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14</a:t>
              </a:r>
              <a:endParaRPr lang="en-US" sz="1200" dirty="0">
                <a:solidFill>
                  <a:prstClr val="black"/>
                </a:solidFill>
              </a:endParaRPr>
            </a:p>
          </p:txBody>
        </p:sp>
        <p:sp>
          <p:nvSpPr>
            <p:cNvPr id="164" name="163 CuadroTexto"/>
            <p:cNvSpPr txBox="1"/>
            <p:nvPr/>
          </p:nvSpPr>
          <p:spPr>
            <a:xfrm>
              <a:off x="1303376" y="5289716"/>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15</a:t>
              </a:r>
              <a:endParaRPr lang="en-US" sz="1200" dirty="0">
                <a:solidFill>
                  <a:prstClr val="black"/>
                </a:solidFill>
              </a:endParaRPr>
            </a:p>
          </p:txBody>
        </p:sp>
        <p:sp>
          <p:nvSpPr>
            <p:cNvPr id="165" name="164 CuadroTexto"/>
            <p:cNvSpPr txBox="1"/>
            <p:nvPr/>
          </p:nvSpPr>
          <p:spPr>
            <a:xfrm>
              <a:off x="1953356" y="5289715"/>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16</a:t>
              </a:r>
              <a:endParaRPr lang="en-US" sz="1200" dirty="0">
                <a:solidFill>
                  <a:prstClr val="black"/>
                </a:solidFill>
              </a:endParaRPr>
            </a:p>
          </p:txBody>
        </p:sp>
        <p:sp>
          <p:nvSpPr>
            <p:cNvPr id="166" name="165 CuadroTexto"/>
            <p:cNvSpPr txBox="1"/>
            <p:nvPr/>
          </p:nvSpPr>
          <p:spPr>
            <a:xfrm>
              <a:off x="457201" y="4876800"/>
              <a:ext cx="4038600" cy="276999"/>
            </a:xfrm>
            <a:prstGeom prst="rect">
              <a:avLst/>
            </a:prstGeom>
            <a:solidFill>
              <a:schemeClr val="bg1">
                <a:lumMod val="75000"/>
              </a:schemeClr>
            </a:solidFill>
            <a:ln>
              <a:solidFill>
                <a:schemeClr val="tx1"/>
              </a:solidFill>
            </a:ln>
          </p:spPr>
          <p:txBody>
            <a:bodyPr wrap="square" rtlCol="0">
              <a:spAutoFit/>
            </a:bodyPr>
            <a:lstStyle/>
            <a:p>
              <a:r>
                <a:rPr lang="en-US" sz="1200" dirty="0" smtClean="0">
                  <a:solidFill>
                    <a:prstClr val="black"/>
                  </a:solidFill>
                </a:rPr>
                <a:t>Page 3          </a:t>
              </a:r>
              <a:r>
                <a:rPr lang="en-US" sz="1200" dirty="0" err="1" smtClean="0">
                  <a:solidFill>
                    <a:prstClr val="black"/>
                  </a:solidFill>
                </a:rPr>
                <a:t>Prev</a:t>
              </a:r>
              <a:r>
                <a:rPr lang="en-US" sz="1200" dirty="0" smtClean="0">
                  <a:solidFill>
                    <a:prstClr val="black"/>
                  </a:solidFill>
                </a:rPr>
                <a:t> Page: 2           Next Page: NULL</a:t>
              </a:r>
              <a:endParaRPr lang="en-US" sz="1200" dirty="0">
                <a:solidFill>
                  <a:prstClr val="black"/>
                </a:solidFill>
              </a:endParaRPr>
            </a:p>
          </p:txBody>
        </p:sp>
        <p:sp>
          <p:nvSpPr>
            <p:cNvPr id="167" name="166 Rectángulo"/>
            <p:cNvSpPr/>
            <p:nvPr/>
          </p:nvSpPr>
          <p:spPr>
            <a:xfrm>
              <a:off x="457201" y="5153744"/>
              <a:ext cx="4038600" cy="566031"/>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40" name="39 Grupo"/>
          <p:cNvGrpSpPr/>
          <p:nvPr/>
        </p:nvGrpSpPr>
        <p:grpSpPr>
          <a:xfrm>
            <a:off x="4887055" y="5553075"/>
            <a:ext cx="4038600" cy="827261"/>
            <a:chOff x="4887055" y="5867400"/>
            <a:chExt cx="4038600" cy="827261"/>
          </a:xfrm>
        </p:grpSpPr>
        <p:sp>
          <p:nvSpPr>
            <p:cNvPr id="171" name="170 CuadroTexto"/>
            <p:cNvSpPr txBox="1"/>
            <p:nvPr/>
          </p:nvSpPr>
          <p:spPr>
            <a:xfrm>
              <a:off x="5105400" y="6295855"/>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a:solidFill>
                    <a:prstClr val="black"/>
                  </a:solidFill>
                </a:rPr>
                <a:t>4</a:t>
              </a:r>
            </a:p>
          </p:txBody>
        </p:sp>
        <p:sp>
          <p:nvSpPr>
            <p:cNvPr id="172" name="171 CuadroTexto"/>
            <p:cNvSpPr txBox="1"/>
            <p:nvPr/>
          </p:nvSpPr>
          <p:spPr>
            <a:xfrm>
              <a:off x="5753243" y="6295855"/>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5</a:t>
              </a:r>
              <a:endParaRPr lang="en-US" sz="1200" dirty="0">
                <a:solidFill>
                  <a:prstClr val="black"/>
                </a:solidFill>
              </a:endParaRPr>
            </a:p>
          </p:txBody>
        </p:sp>
        <p:sp>
          <p:nvSpPr>
            <p:cNvPr id="173" name="172 CuadroTexto"/>
            <p:cNvSpPr txBox="1"/>
            <p:nvPr/>
          </p:nvSpPr>
          <p:spPr>
            <a:xfrm>
              <a:off x="6401086" y="6295855"/>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a:solidFill>
                    <a:prstClr val="black"/>
                  </a:solidFill>
                </a:rPr>
                <a:t>6</a:t>
              </a:r>
            </a:p>
          </p:txBody>
        </p:sp>
        <p:sp>
          <p:nvSpPr>
            <p:cNvPr id="174" name="173 CuadroTexto"/>
            <p:cNvSpPr txBox="1"/>
            <p:nvPr/>
          </p:nvSpPr>
          <p:spPr>
            <a:xfrm>
              <a:off x="7048927" y="6295855"/>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a:solidFill>
                    <a:prstClr val="black"/>
                  </a:solidFill>
                </a:rPr>
                <a:t>7</a:t>
              </a:r>
            </a:p>
          </p:txBody>
        </p:sp>
        <p:sp>
          <p:nvSpPr>
            <p:cNvPr id="175" name="174 CuadroTexto"/>
            <p:cNvSpPr txBox="1"/>
            <p:nvPr/>
          </p:nvSpPr>
          <p:spPr>
            <a:xfrm>
              <a:off x="4887055" y="5867400"/>
              <a:ext cx="4038600" cy="276999"/>
            </a:xfrm>
            <a:prstGeom prst="rect">
              <a:avLst/>
            </a:prstGeom>
            <a:solidFill>
              <a:schemeClr val="bg1">
                <a:lumMod val="75000"/>
              </a:schemeClr>
            </a:solidFill>
            <a:ln>
              <a:solidFill>
                <a:schemeClr val="tx1"/>
              </a:solidFill>
            </a:ln>
          </p:spPr>
          <p:txBody>
            <a:bodyPr wrap="square" rtlCol="0">
              <a:spAutoFit/>
            </a:bodyPr>
            <a:lstStyle/>
            <a:p>
              <a:r>
                <a:rPr lang="en-US" sz="1200" dirty="0" smtClean="0">
                  <a:solidFill>
                    <a:prstClr val="black"/>
                  </a:solidFill>
                </a:rPr>
                <a:t>Page 4          </a:t>
              </a:r>
              <a:r>
                <a:rPr lang="en-US" sz="1200" dirty="0" err="1" smtClean="0">
                  <a:solidFill>
                    <a:prstClr val="black"/>
                  </a:solidFill>
                </a:rPr>
                <a:t>Prev</a:t>
              </a:r>
              <a:r>
                <a:rPr lang="en-US" sz="1200" dirty="0" smtClean="0">
                  <a:solidFill>
                    <a:prstClr val="black"/>
                  </a:solidFill>
                </a:rPr>
                <a:t> Page: 1            Next Page: 2</a:t>
              </a:r>
              <a:endParaRPr lang="en-US" sz="1200" dirty="0">
                <a:solidFill>
                  <a:prstClr val="black"/>
                </a:solidFill>
              </a:endParaRPr>
            </a:p>
          </p:txBody>
        </p:sp>
        <p:sp>
          <p:nvSpPr>
            <p:cNvPr id="176" name="175 Rectángulo"/>
            <p:cNvSpPr/>
            <p:nvPr/>
          </p:nvSpPr>
          <p:spPr>
            <a:xfrm>
              <a:off x="4887055" y="6144399"/>
              <a:ext cx="4038600" cy="55026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186" name="185 CuadroTexto"/>
          <p:cNvSpPr txBox="1"/>
          <p:nvPr/>
        </p:nvSpPr>
        <p:spPr>
          <a:xfrm>
            <a:off x="1487323" y="2158154"/>
            <a:ext cx="3380217" cy="276999"/>
          </a:xfrm>
          <a:prstGeom prst="rect">
            <a:avLst/>
          </a:prstGeom>
          <a:noFill/>
        </p:spPr>
        <p:txBody>
          <a:bodyPr wrap="square" rtlCol="0">
            <a:spAutoFit/>
          </a:bodyPr>
          <a:lstStyle/>
          <a:p>
            <a:r>
              <a:rPr lang="en-US" sz="1200" i="1" dirty="0" smtClean="0">
                <a:solidFill>
                  <a:prstClr val="black"/>
                </a:solidFill>
              </a:rPr>
              <a:t>SQL Server needs to move 4 records to a new page</a:t>
            </a:r>
          </a:p>
        </p:txBody>
      </p:sp>
      <p:sp>
        <p:nvSpPr>
          <p:cNvPr id="45" name="44 Rectángulo"/>
          <p:cNvSpPr/>
          <p:nvPr/>
        </p:nvSpPr>
        <p:spPr>
          <a:xfrm>
            <a:off x="1600200" y="2966331"/>
            <a:ext cx="2438400" cy="403382"/>
          </a:xfrm>
          <a:prstGeom prst="rect">
            <a:avLst/>
          </a:prstGeom>
          <a:noFill/>
          <a:ln w="127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47" name="46 Conector recto de flecha"/>
          <p:cNvCxnSpPr/>
          <p:nvPr/>
        </p:nvCxnSpPr>
        <p:spPr>
          <a:xfrm>
            <a:off x="1524000" y="2133599"/>
            <a:ext cx="0" cy="100679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54 Conector recto"/>
          <p:cNvCxnSpPr/>
          <p:nvPr/>
        </p:nvCxnSpPr>
        <p:spPr>
          <a:xfrm flipH="1">
            <a:off x="1524000" y="2133599"/>
            <a:ext cx="170370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8" name="67 Conector recto"/>
          <p:cNvCxnSpPr>
            <a:endCxn id="91" idx="2"/>
          </p:cNvCxnSpPr>
          <p:nvPr/>
        </p:nvCxnSpPr>
        <p:spPr>
          <a:xfrm flipV="1">
            <a:off x="3227708" y="1859735"/>
            <a:ext cx="0" cy="27386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9" name="188 Conector recto"/>
          <p:cNvCxnSpPr/>
          <p:nvPr/>
        </p:nvCxnSpPr>
        <p:spPr>
          <a:xfrm>
            <a:off x="4648200" y="2826064"/>
            <a:ext cx="0" cy="286551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1" name="190 Conector recto de flecha"/>
          <p:cNvCxnSpPr>
            <a:endCxn id="175" idx="1"/>
          </p:cNvCxnSpPr>
          <p:nvPr/>
        </p:nvCxnSpPr>
        <p:spPr>
          <a:xfrm>
            <a:off x="4648200" y="5691574"/>
            <a:ext cx="238855" cy="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3" name="192 Conector recto"/>
          <p:cNvCxnSpPr>
            <a:endCxn id="152" idx="1"/>
          </p:cNvCxnSpPr>
          <p:nvPr/>
        </p:nvCxnSpPr>
        <p:spPr>
          <a:xfrm>
            <a:off x="4648200" y="2826064"/>
            <a:ext cx="228599"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5" name="194 Conector recto"/>
          <p:cNvCxnSpPr/>
          <p:nvPr/>
        </p:nvCxnSpPr>
        <p:spPr>
          <a:xfrm flipV="1">
            <a:off x="9067800" y="3553144"/>
            <a:ext cx="0" cy="213843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7" name="196 Conector recto de flecha"/>
          <p:cNvCxnSpPr>
            <a:endCxn id="161" idx="3"/>
          </p:cNvCxnSpPr>
          <p:nvPr/>
        </p:nvCxnSpPr>
        <p:spPr>
          <a:xfrm flipH="1">
            <a:off x="8915400" y="3539664"/>
            <a:ext cx="152400" cy="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199 Conector recto"/>
          <p:cNvCxnSpPr>
            <a:endCxn id="175" idx="3"/>
          </p:cNvCxnSpPr>
          <p:nvPr/>
        </p:nvCxnSpPr>
        <p:spPr>
          <a:xfrm flipH="1">
            <a:off x="8925655" y="5691575"/>
            <a:ext cx="142145"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2" name="201 Conector recto de flecha"/>
          <p:cNvCxnSpPr/>
          <p:nvPr/>
        </p:nvCxnSpPr>
        <p:spPr>
          <a:xfrm>
            <a:off x="4953000" y="4244195"/>
            <a:ext cx="0" cy="304800"/>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3" name="202 Flecha abajo"/>
          <p:cNvSpPr/>
          <p:nvPr/>
        </p:nvSpPr>
        <p:spPr>
          <a:xfrm>
            <a:off x="245692" y="3437546"/>
            <a:ext cx="152400" cy="286490"/>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04" name="203 Flecha abajo"/>
          <p:cNvSpPr/>
          <p:nvPr/>
        </p:nvSpPr>
        <p:spPr>
          <a:xfrm>
            <a:off x="224328" y="4590310"/>
            <a:ext cx="152400" cy="286490"/>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4" name="73 CuadroTexto"/>
          <p:cNvSpPr txBox="1"/>
          <p:nvPr/>
        </p:nvSpPr>
        <p:spPr>
          <a:xfrm>
            <a:off x="0" y="583127"/>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External</a:t>
            </a:r>
            <a:r>
              <a:rPr lang="en-US" sz="1400" b="1" dirty="0">
                <a:solidFill>
                  <a:prstClr val="black"/>
                </a:solidFill>
              </a:rPr>
              <a:t> </a:t>
            </a:r>
            <a:r>
              <a:rPr lang="en-US" sz="1400" b="1" dirty="0" smtClean="0">
                <a:solidFill>
                  <a:prstClr val="black"/>
                </a:solidFill>
              </a:rPr>
              <a:t>Fragmentation</a:t>
            </a:r>
            <a:endParaRPr lang="en-US" sz="1400" dirty="0">
              <a:solidFill>
                <a:prstClr val="black"/>
              </a:solidFill>
            </a:endParaRPr>
          </a:p>
        </p:txBody>
      </p:sp>
      <p:grpSp>
        <p:nvGrpSpPr>
          <p:cNvPr id="75" name="74 Grupo"/>
          <p:cNvGrpSpPr/>
          <p:nvPr/>
        </p:nvGrpSpPr>
        <p:grpSpPr>
          <a:xfrm>
            <a:off x="0" y="9525"/>
            <a:ext cx="9153525" cy="408388"/>
            <a:chOff x="0" y="9525"/>
            <a:chExt cx="9153525" cy="408388"/>
          </a:xfrm>
        </p:grpSpPr>
        <p:sp>
          <p:nvSpPr>
            <p:cNvPr id="76" name="75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Index Level Fragmentation</a:t>
              </a:r>
              <a:endParaRPr lang="en-US" b="1" i="1" dirty="0">
                <a:solidFill>
                  <a:schemeClr val="bg1"/>
                </a:solidFill>
              </a:endParaRPr>
            </a:p>
          </p:txBody>
        </p:sp>
        <p:pic>
          <p:nvPicPr>
            <p:cNvPr id="77" name="76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8" name="7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9" name="78 Grupo"/>
          <p:cNvGrpSpPr/>
          <p:nvPr/>
        </p:nvGrpSpPr>
        <p:grpSpPr>
          <a:xfrm>
            <a:off x="9525" y="6574392"/>
            <a:ext cx="9134399" cy="277000"/>
            <a:chOff x="9525" y="6574392"/>
            <a:chExt cx="9134399" cy="277000"/>
          </a:xfrm>
        </p:grpSpPr>
        <p:sp>
          <p:nvSpPr>
            <p:cNvPr id="80" name="79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81" name="80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409295532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CuadroTexto"/>
          <p:cNvSpPr txBox="1"/>
          <p:nvPr/>
        </p:nvSpPr>
        <p:spPr>
          <a:xfrm>
            <a:off x="0" y="863600"/>
            <a:ext cx="9144000" cy="1015663"/>
          </a:xfrm>
          <a:prstGeom prst="rect">
            <a:avLst/>
          </a:prstGeom>
          <a:noFill/>
        </p:spPr>
        <p:txBody>
          <a:bodyPr wrap="square" rtlCol="0">
            <a:spAutoFit/>
          </a:bodyPr>
          <a:lstStyle/>
          <a:p>
            <a:pPr marL="285750" indent="-285750">
              <a:buFont typeface="Wingdings" pitchFamily="2" charset="2"/>
              <a:buChar char="Ø"/>
            </a:pPr>
            <a:r>
              <a:rPr lang="en-US" sz="1200" dirty="0" smtClean="0">
                <a:solidFill>
                  <a:prstClr val="black"/>
                </a:solidFill>
              </a:rPr>
              <a:t>While </a:t>
            </a:r>
            <a:r>
              <a:rPr lang="en-US" sz="1200" dirty="0">
                <a:solidFill>
                  <a:prstClr val="black"/>
                </a:solidFill>
              </a:rPr>
              <a:t>reading individual rows, external fragmentation will not affect the performance as it directly go to the page and fetch the </a:t>
            </a:r>
            <a:r>
              <a:rPr lang="en-US" sz="1200" dirty="0" smtClean="0">
                <a:solidFill>
                  <a:prstClr val="black"/>
                </a:solidFill>
              </a:rPr>
              <a:t>data</a:t>
            </a:r>
          </a:p>
          <a:p>
            <a:pPr marL="285750" indent="-285750">
              <a:buFont typeface="Wingdings" pitchFamily="2" charset="2"/>
              <a:buChar char="Ø"/>
            </a:pPr>
            <a:r>
              <a:rPr lang="en-US" sz="1200" dirty="0">
                <a:solidFill>
                  <a:prstClr val="black"/>
                </a:solidFill>
              </a:rPr>
              <a:t>Unordered scans also will not affected by the external </a:t>
            </a:r>
            <a:r>
              <a:rPr lang="en-US" sz="1200" dirty="0" smtClean="0">
                <a:solidFill>
                  <a:prstClr val="black"/>
                </a:solidFill>
              </a:rPr>
              <a:t>fragmentation, </a:t>
            </a:r>
            <a:r>
              <a:rPr lang="en-US" sz="1200" dirty="0">
                <a:solidFill>
                  <a:prstClr val="black"/>
                </a:solidFill>
              </a:rPr>
              <a:t>as it use the IAM pages to find which extents need to be fetched</a:t>
            </a:r>
            <a:r>
              <a:rPr lang="en-US" sz="1200" dirty="0" smtClean="0">
                <a:solidFill>
                  <a:prstClr val="black"/>
                </a:solidFill>
              </a:rPr>
              <a:t>.</a:t>
            </a:r>
          </a:p>
          <a:p>
            <a:pPr marL="285750" indent="-285750">
              <a:buFont typeface="Wingdings" pitchFamily="2" charset="2"/>
              <a:buChar char="Ø"/>
            </a:pPr>
            <a:endParaRPr lang="en-US" sz="1200" dirty="0" smtClean="0">
              <a:solidFill>
                <a:prstClr val="black"/>
              </a:solidFill>
            </a:endParaRPr>
          </a:p>
          <a:p>
            <a:pPr marL="285750" indent="-285750">
              <a:buFont typeface="Wingdings" pitchFamily="2" charset="2"/>
              <a:buChar char="Ø"/>
            </a:pPr>
            <a:r>
              <a:rPr lang="en-US" sz="1200" dirty="0">
                <a:solidFill>
                  <a:prstClr val="black"/>
                </a:solidFill>
              </a:rPr>
              <a:t>The </a:t>
            </a:r>
            <a:r>
              <a:rPr lang="en-US" sz="1200" b="1" dirty="0">
                <a:solidFill>
                  <a:srgbClr val="0000FF"/>
                </a:solidFill>
              </a:rPr>
              <a:t>degradation of the performance</a:t>
            </a:r>
            <a:r>
              <a:rPr lang="en-US" sz="1200" dirty="0">
                <a:solidFill>
                  <a:prstClr val="black"/>
                </a:solidFill>
              </a:rPr>
              <a:t> is because the disk drive's heads have to jump around on the physical </a:t>
            </a:r>
            <a:r>
              <a:rPr lang="en-US" sz="1200" dirty="0" smtClean="0">
                <a:solidFill>
                  <a:prstClr val="black"/>
                </a:solidFill>
              </a:rPr>
              <a:t>disk (seek + read), </a:t>
            </a:r>
            <a:r>
              <a:rPr lang="en-US" sz="1200" dirty="0">
                <a:solidFill>
                  <a:prstClr val="black"/>
                </a:solidFill>
              </a:rPr>
              <a:t>rather than performing just contiguous read operations</a:t>
            </a:r>
            <a:endParaRPr lang="en-US" sz="1200" dirty="0" smtClean="0">
              <a:solidFill>
                <a:prstClr val="black"/>
              </a:solidFill>
            </a:endParaRPr>
          </a:p>
        </p:txBody>
      </p:sp>
      <p:grpSp>
        <p:nvGrpSpPr>
          <p:cNvPr id="2" name="1 Grupo"/>
          <p:cNvGrpSpPr/>
          <p:nvPr/>
        </p:nvGrpSpPr>
        <p:grpSpPr>
          <a:xfrm>
            <a:off x="208927" y="2256298"/>
            <a:ext cx="4419600" cy="4106402"/>
            <a:chOff x="123202" y="2141998"/>
            <a:chExt cx="4419600" cy="4106402"/>
          </a:xfrm>
        </p:grpSpPr>
        <p:grpSp>
          <p:nvGrpSpPr>
            <p:cNvPr id="144" name="143 Grupo"/>
            <p:cNvGrpSpPr/>
            <p:nvPr/>
          </p:nvGrpSpPr>
          <p:grpSpPr>
            <a:xfrm>
              <a:off x="351801" y="2141998"/>
              <a:ext cx="4038600" cy="827261"/>
              <a:chOff x="457200" y="2601739"/>
              <a:chExt cx="4038600" cy="827261"/>
            </a:xfrm>
          </p:grpSpPr>
          <p:sp>
            <p:nvSpPr>
              <p:cNvPr id="145" name="144 CuadroTexto"/>
              <p:cNvSpPr txBox="1"/>
              <p:nvPr/>
            </p:nvSpPr>
            <p:spPr>
              <a:xfrm>
                <a:off x="657670" y="3030194"/>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a:t>
                </a:r>
                <a:endParaRPr lang="en-US" sz="1200" dirty="0">
                  <a:solidFill>
                    <a:prstClr val="black"/>
                  </a:solidFill>
                </a:endParaRPr>
              </a:p>
            </p:txBody>
          </p:sp>
          <p:sp>
            <p:nvSpPr>
              <p:cNvPr id="146" name="145 CuadroTexto"/>
              <p:cNvSpPr txBox="1"/>
              <p:nvPr/>
            </p:nvSpPr>
            <p:spPr>
              <a:xfrm>
                <a:off x="1305513" y="3030194"/>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2</a:t>
                </a:r>
                <a:endParaRPr lang="en-US" sz="1200" dirty="0">
                  <a:solidFill>
                    <a:prstClr val="black"/>
                  </a:solidFill>
                </a:endParaRPr>
              </a:p>
            </p:txBody>
          </p:sp>
          <p:sp>
            <p:nvSpPr>
              <p:cNvPr id="147" name="146 CuadroTexto"/>
              <p:cNvSpPr txBox="1"/>
              <p:nvPr/>
            </p:nvSpPr>
            <p:spPr>
              <a:xfrm>
                <a:off x="1953356" y="3030194"/>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3</a:t>
                </a:r>
                <a:endParaRPr lang="en-US" sz="1200" dirty="0">
                  <a:solidFill>
                    <a:prstClr val="black"/>
                  </a:solidFill>
                </a:endParaRPr>
              </a:p>
            </p:txBody>
          </p:sp>
          <p:sp>
            <p:nvSpPr>
              <p:cNvPr id="151" name="150 CuadroTexto"/>
              <p:cNvSpPr txBox="1"/>
              <p:nvPr/>
            </p:nvSpPr>
            <p:spPr>
              <a:xfrm>
                <a:off x="457200" y="2601739"/>
                <a:ext cx="4038600" cy="276999"/>
              </a:xfrm>
              <a:prstGeom prst="rect">
                <a:avLst/>
              </a:prstGeom>
              <a:solidFill>
                <a:schemeClr val="bg1">
                  <a:lumMod val="75000"/>
                </a:schemeClr>
              </a:solidFill>
              <a:ln>
                <a:solidFill>
                  <a:schemeClr val="tx1"/>
                </a:solidFill>
              </a:ln>
            </p:spPr>
            <p:txBody>
              <a:bodyPr wrap="square" rtlCol="0">
                <a:spAutoFit/>
              </a:bodyPr>
              <a:lstStyle/>
              <a:p>
                <a:r>
                  <a:rPr lang="en-US" sz="1200" dirty="0" smtClean="0">
                    <a:solidFill>
                      <a:prstClr val="black"/>
                    </a:solidFill>
                  </a:rPr>
                  <a:t>Page 1          </a:t>
                </a:r>
                <a:r>
                  <a:rPr lang="en-US" sz="1200" dirty="0" err="1" smtClean="0">
                    <a:solidFill>
                      <a:prstClr val="black"/>
                    </a:solidFill>
                  </a:rPr>
                  <a:t>Prev</a:t>
                </a:r>
                <a:r>
                  <a:rPr lang="en-US" sz="1200" dirty="0" smtClean="0">
                    <a:solidFill>
                      <a:prstClr val="black"/>
                    </a:solidFill>
                  </a:rPr>
                  <a:t> Page: NULL            </a:t>
                </a:r>
                <a:r>
                  <a:rPr lang="en-US" sz="1200" b="1" dirty="0" smtClean="0">
                    <a:solidFill>
                      <a:prstClr val="black"/>
                    </a:solidFill>
                  </a:rPr>
                  <a:t>Next Page: 4</a:t>
                </a:r>
                <a:endParaRPr lang="en-US" sz="1200" b="1" dirty="0">
                  <a:solidFill>
                    <a:prstClr val="black"/>
                  </a:solidFill>
                </a:endParaRPr>
              </a:p>
            </p:txBody>
          </p:sp>
          <p:sp>
            <p:nvSpPr>
              <p:cNvPr id="152" name="151 Rectángulo"/>
              <p:cNvSpPr/>
              <p:nvPr/>
            </p:nvSpPr>
            <p:spPr>
              <a:xfrm>
                <a:off x="457200" y="2878738"/>
                <a:ext cx="4038600" cy="55026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153" name="152 Grupo"/>
            <p:cNvGrpSpPr/>
            <p:nvPr/>
          </p:nvGrpSpPr>
          <p:grpSpPr>
            <a:xfrm>
              <a:off x="351801" y="3269229"/>
              <a:ext cx="4038601" cy="843030"/>
              <a:chOff x="457200" y="3728970"/>
              <a:chExt cx="4038601" cy="843030"/>
            </a:xfrm>
          </p:grpSpPr>
          <p:sp>
            <p:nvSpPr>
              <p:cNvPr id="154" name="153 CuadroTexto"/>
              <p:cNvSpPr txBox="1"/>
              <p:nvPr/>
            </p:nvSpPr>
            <p:spPr>
              <a:xfrm>
                <a:off x="657670" y="4150433"/>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a:solidFill>
                      <a:prstClr val="black"/>
                    </a:solidFill>
                  </a:rPr>
                  <a:t>8</a:t>
                </a:r>
              </a:p>
            </p:txBody>
          </p:sp>
          <p:sp>
            <p:nvSpPr>
              <p:cNvPr id="155" name="154 CuadroTexto"/>
              <p:cNvSpPr txBox="1"/>
              <p:nvPr/>
            </p:nvSpPr>
            <p:spPr>
              <a:xfrm>
                <a:off x="1303376" y="4150433"/>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9</a:t>
                </a:r>
                <a:endParaRPr lang="en-US" sz="1200" dirty="0">
                  <a:solidFill>
                    <a:prstClr val="black"/>
                  </a:solidFill>
                </a:endParaRPr>
              </a:p>
            </p:txBody>
          </p:sp>
          <p:sp>
            <p:nvSpPr>
              <p:cNvPr id="156" name="155 CuadroTexto"/>
              <p:cNvSpPr txBox="1"/>
              <p:nvPr/>
            </p:nvSpPr>
            <p:spPr>
              <a:xfrm>
                <a:off x="1949082" y="4150433"/>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10</a:t>
                </a:r>
                <a:endParaRPr lang="en-US" sz="1200" dirty="0">
                  <a:solidFill>
                    <a:prstClr val="black"/>
                  </a:solidFill>
                </a:endParaRPr>
              </a:p>
            </p:txBody>
          </p:sp>
          <p:sp>
            <p:nvSpPr>
              <p:cNvPr id="157" name="156 CuadroTexto"/>
              <p:cNvSpPr txBox="1"/>
              <p:nvPr/>
            </p:nvSpPr>
            <p:spPr>
              <a:xfrm>
                <a:off x="2594788" y="4150433"/>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11</a:t>
                </a:r>
                <a:endParaRPr lang="en-US" sz="1200" dirty="0">
                  <a:solidFill>
                    <a:prstClr val="black"/>
                  </a:solidFill>
                </a:endParaRPr>
              </a:p>
            </p:txBody>
          </p:sp>
          <p:sp>
            <p:nvSpPr>
              <p:cNvPr id="158" name="157 CuadroTexto"/>
              <p:cNvSpPr txBox="1"/>
              <p:nvPr/>
            </p:nvSpPr>
            <p:spPr>
              <a:xfrm>
                <a:off x="3240494" y="4150433"/>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12</a:t>
                </a:r>
                <a:endParaRPr lang="en-US" sz="1200" dirty="0">
                  <a:solidFill>
                    <a:prstClr val="black"/>
                  </a:solidFill>
                </a:endParaRPr>
              </a:p>
            </p:txBody>
          </p:sp>
          <p:sp>
            <p:nvSpPr>
              <p:cNvPr id="159" name="158 CuadroTexto"/>
              <p:cNvSpPr txBox="1"/>
              <p:nvPr/>
            </p:nvSpPr>
            <p:spPr>
              <a:xfrm>
                <a:off x="3886200" y="4150433"/>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13</a:t>
                </a:r>
                <a:endParaRPr lang="en-US" sz="1200" dirty="0">
                  <a:solidFill>
                    <a:prstClr val="black"/>
                  </a:solidFill>
                </a:endParaRPr>
              </a:p>
            </p:txBody>
          </p:sp>
          <p:sp>
            <p:nvSpPr>
              <p:cNvPr id="160" name="159 Rectángulo"/>
              <p:cNvSpPr/>
              <p:nvPr/>
            </p:nvSpPr>
            <p:spPr>
              <a:xfrm>
                <a:off x="457200" y="4005969"/>
                <a:ext cx="4038600" cy="566031"/>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1" name="160 CuadroTexto"/>
              <p:cNvSpPr txBox="1"/>
              <p:nvPr/>
            </p:nvSpPr>
            <p:spPr>
              <a:xfrm>
                <a:off x="457201" y="3728970"/>
                <a:ext cx="4038600" cy="276999"/>
              </a:xfrm>
              <a:prstGeom prst="rect">
                <a:avLst/>
              </a:prstGeom>
              <a:solidFill>
                <a:schemeClr val="bg1">
                  <a:lumMod val="75000"/>
                </a:schemeClr>
              </a:solidFill>
              <a:ln>
                <a:solidFill>
                  <a:schemeClr val="tx1"/>
                </a:solidFill>
              </a:ln>
            </p:spPr>
            <p:txBody>
              <a:bodyPr wrap="square" rtlCol="0">
                <a:spAutoFit/>
              </a:bodyPr>
              <a:lstStyle/>
              <a:p>
                <a:r>
                  <a:rPr lang="en-US" sz="1200" dirty="0" smtClean="0">
                    <a:solidFill>
                      <a:prstClr val="black"/>
                    </a:solidFill>
                  </a:rPr>
                  <a:t>Page 2          </a:t>
                </a:r>
                <a:r>
                  <a:rPr lang="en-US" sz="1200" b="1" dirty="0" err="1" smtClean="0">
                    <a:solidFill>
                      <a:prstClr val="black"/>
                    </a:solidFill>
                  </a:rPr>
                  <a:t>Prev</a:t>
                </a:r>
                <a:r>
                  <a:rPr lang="en-US" sz="1200" b="1" dirty="0" smtClean="0">
                    <a:solidFill>
                      <a:prstClr val="black"/>
                    </a:solidFill>
                  </a:rPr>
                  <a:t> Page: 4</a:t>
                </a:r>
                <a:r>
                  <a:rPr lang="en-US" sz="1200" dirty="0" smtClean="0">
                    <a:solidFill>
                      <a:prstClr val="black"/>
                    </a:solidFill>
                  </a:rPr>
                  <a:t>            Next Page: 3</a:t>
                </a:r>
                <a:endParaRPr lang="en-US" sz="1200" dirty="0">
                  <a:solidFill>
                    <a:prstClr val="black"/>
                  </a:solidFill>
                </a:endParaRPr>
              </a:p>
            </p:txBody>
          </p:sp>
        </p:grpSp>
        <p:grpSp>
          <p:nvGrpSpPr>
            <p:cNvPr id="162" name="161 Grupo"/>
            <p:cNvGrpSpPr/>
            <p:nvPr/>
          </p:nvGrpSpPr>
          <p:grpSpPr>
            <a:xfrm>
              <a:off x="351802" y="4417059"/>
              <a:ext cx="4038600" cy="842975"/>
              <a:chOff x="457201" y="4876800"/>
              <a:chExt cx="4038600" cy="842975"/>
            </a:xfrm>
          </p:grpSpPr>
          <p:sp>
            <p:nvSpPr>
              <p:cNvPr id="163" name="162 CuadroTexto"/>
              <p:cNvSpPr txBox="1"/>
              <p:nvPr/>
            </p:nvSpPr>
            <p:spPr>
              <a:xfrm>
                <a:off x="657670" y="5289717"/>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14</a:t>
                </a:r>
                <a:endParaRPr lang="en-US" sz="1200" dirty="0">
                  <a:solidFill>
                    <a:prstClr val="black"/>
                  </a:solidFill>
                </a:endParaRPr>
              </a:p>
            </p:txBody>
          </p:sp>
          <p:sp>
            <p:nvSpPr>
              <p:cNvPr id="164" name="163 CuadroTexto"/>
              <p:cNvSpPr txBox="1"/>
              <p:nvPr/>
            </p:nvSpPr>
            <p:spPr>
              <a:xfrm>
                <a:off x="1303376" y="5289716"/>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15</a:t>
                </a:r>
                <a:endParaRPr lang="en-US" sz="1200" dirty="0">
                  <a:solidFill>
                    <a:prstClr val="black"/>
                  </a:solidFill>
                </a:endParaRPr>
              </a:p>
            </p:txBody>
          </p:sp>
          <p:sp>
            <p:nvSpPr>
              <p:cNvPr id="165" name="164 CuadroTexto"/>
              <p:cNvSpPr txBox="1"/>
              <p:nvPr/>
            </p:nvSpPr>
            <p:spPr>
              <a:xfrm>
                <a:off x="1953356" y="5289715"/>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16</a:t>
                </a:r>
                <a:endParaRPr lang="en-US" sz="1200" dirty="0">
                  <a:solidFill>
                    <a:prstClr val="black"/>
                  </a:solidFill>
                </a:endParaRPr>
              </a:p>
            </p:txBody>
          </p:sp>
          <p:sp>
            <p:nvSpPr>
              <p:cNvPr id="166" name="165 CuadroTexto"/>
              <p:cNvSpPr txBox="1"/>
              <p:nvPr/>
            </p:nvSpPr>
            <p:spPr>
              <a:xfrm>
                <a:off x="457201" y="4876800"/>
                <a:ext cx="4038600" cy="276999"/>
              </a:xfrm>
              <a:prstGeom prst="rect">
                <a:avLst/>
              </a:prstGeom>
              <a:solidFill>
                <a:schemeClr val="bg1">
                  <a:lumMod val="75000"/>
                </a:schemeClr>
              </a:solidFill>
              <a:ln>
                <a:solidFill>
                  <a:schemeClr val="tx1"/>
                </a:solidFill>
              </a:ln>
            </p:spPr>
            <p:txBody>
              <a:bodyPr wrap="square" rtlCol="0">
                <a:spAutoFit/>
              </a:bodyPr>
              <a:lstStyle/>
              <a:p>
                <a:r>
                  <a:rPr lang="en-US" sz="1200" dirty="0" smtClean="0">
                    <a:solidFill>
                      <a:prstClr val="black"/>
                    </a:solidFill>
                  </a:rPr>
                  <a:t>Page 3          </a:t>
                </a:r>
                <a:r>
                  <a:rPr lang="en-US" sz="1200" dirty="0" err="1" smtClean="0">
                    <a:solidFill>
                      <a:prstClr val="black"/>
                    </a:solidFill>
                  </a:rPr>
                  <a:t>Prev</a:t>
                </a:r>
                <a:r>
                  <a:rPr lang="en-US" sz="1200" dirty="0" smtClean="0">
                    <a:solidFill>
                      <a:prstClr val="black"/>
                    </a:solidFill>
                  </a:rPr>
                  <a:t> Page: 2           Next Page: NULL</a:t>
                </a:r>
                <a:endParaRPr lang="en-US" sz="1200" dirty="0">
                  <a:solidFill>
                    <a:prstClr val="black"/>
                  </a:solidFill>
                </a:endParaRPr>
              </a:p>
            </p:txBody>
          </p:sp>
          <p:sp>
            <p:nvSpPr>
              <p:cNvPr id="167" name="166 Rectángulo"/>
              <p:cNvSpPr/>
              <p:nvPr/>
            </p:nvSpPr>
            <p:spPr>
              <a:xfrm>
                <a:off x="457201" y="5153744"/>
                <a:ext cx="4038600" cy="566031"/>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40" name="39 Grupo"/>
            <p:cNvGrpSpPr/>
            <p:nvPr/>
          </p:nvGrpSpPr>
          <p:grpSpPr>
            <a:xfrm>
              <a:off x="362057" y="5421139"/>
              <a:ext cx="4038600" cy="827261"/>
              <a:chOff x="4887055" y="5867400"/>
              <a:chExt cx="4038600" cy="827261"/>
            </a:xfrm>
          </p:grpSpPr>
          <p:sp>
            <p:nvSpPr>
              <p:cNvPr id="171" name="170 CuadroTexto"/>
              <p:cNvSpPr txBox="1"/>
              <p:nvPr/>
            </p:nvSpPr>
            <p:spPr>
              <a:xfrm>
                <a:off x="5105400" y="6295855"/>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a:solidFill>
                      <a:prstClr val="black"/>
                    </a:solidFill>
                  </a:rPr>
                  <a:t>4</a:t>
                </a:r>
              </a:p>
            </p:txBody>
          </p:sp>
          <p:sp>
            <p:nvSpPr>
              <p:cNvPr id="172" name="171 CuadroTexto"/>
              <p:cNvSpPr txBox="1"/>
              <p:nvPr/>
            </p:nvSpPr>
            <p:spPr>
              <a:xfrm>
                <a:off x="5753243" y="6295855"/>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smtClean="0">
                    <a:solidFill>
                      <a:prstClr val="black"/>
                    </a:solidFill>
                  </a:rPr>
                  <a:t>5</a:t>
                </a:r>
                <a:endParaRPr lang="en-US" sz="1200" dirty="0">
                  <a:solidFill>
                    <a:prstClr val="black"/>
                  </a:solidFill>
                </a:endParaRPr>
              </a:p>
            </p:txBody>
          </p:sp>
          <p:sp>
            <p:nvSpPr>
              <p:cNvPr id="173" name="172 CuadroTexto"/>
              <p:cNvSpPr txBox="1"/>
              <p:nvPr/>
            </p:nvSpPr>
            <p:spPr>
              <a:xfrm>
                <a:off x="6401086" y="6295855"/>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a:solidFill>
                      <a:prstClr val="black"/>
                    </a:solidFill>
                  </a:rPr>
                  <a:t>6</a:t>
                </a:r>
              </a:p>
            </p:txBody>
          </p:sp>
          <p:sp>
            <p:nvSpPr>
              <p:cNvPr id="174" name="173 CuadroTexto"/>
              <p:cNvSpPr txBox="1"/>
              <p:nvPr/>
            </p:nvSpPr>
            <p:spPr>
              <a:xfrm>
                <a:off x="7048927" y="6295855"/>
                <a:ext cx="381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3175">
                <a:solidFill>
                  <a:schemeClr val="tx1"/>
                </a:solidFill>
              </a:ln>
            </p:spPr>
            <p:txBody>
              <a:bodyPr wrap="square" rtlCol="0">
                <a:spAutoFit/>
              </a:bodyPr>
              <a:lstStyle/>
              <a:p>
                <a:pPr algn="ctr"/>
                <a:r>
                  <a:rPr lang="en-US" sz="1200" dirty="0">
                    <a:solidFill>
                      <a:prstClr val="black"/>
                    </a:solidFill>
                  </a:rPr>
                  <a:t>7</a:t>
                </a:r>
              </a:p>
            </p:txBody>
          </p:sp>
          <p:sp>
            <p:nvSpPr>
              <p:cNvPr id="175" name="174 CuadroTexto"/>
              <p:cNvSpPr txBox="1"/>
              <p:nvPr/>
            </p:nvSpPr>
            <p:spPr>
              <a:xfrm>
                <a:off x="4887055" y="5867400"/>
                <a:ext cx="4038600" cy="276999"/>
              </a:xfrm>
              <a:prstGeom prst="rect">
                <a:avLst/>
              </a:prstGeom>
              <a:solidFill>
                <a:schemeClr val="bg1">
                  <a:lumMod val="75000"/>
                </a:schemeClr>
              </a:solidFill>
              <a:ln>
                <a:solidFill>
                  <a:schemeClr val="tx1"/>
                </a:solidFill>
              </a:ln>
            </p:spPr>
            <p:txBody>
              <a:bodyPr wrap="square" rtlCol="0">
                <a:spAutoFit/>
              </a:bodyPr>
              <a:lstStyle/>
              <a:p>
                <a:r>
                  <a:rPr lang="en-US" sz="1200" dirty="0" smtClean="0">
                    <a:solidFill>
                      <a:prstClr val="black"/>
                    </a:solidFill>
                  </a:rPr>
                  <a:t>Page 4          </a:t>
                </a:r>
                <a:r>
                  <a:rPr lang="en-US" sz="1200" dirty="0" err="1" smtClean="0">
                    <a:solidFill>
                      <a:prstClr val="black"/>
                    </a:solidFill>
                  </a:rPr>
                  <a:t>Prev</a:t>
                </a:r>
                <a:r>
                  <a:rPr lang="en-US" sz="1200" dirty="0" smtClean="0">
                    <a:solidFill>
                      <a:prstClr val="black"/>
                    </a:solidFill>
                  </a:rPr>
                  <a:t> Page: 1            Next Page: 2</a:t>
                </a:r>
                <a:endParaRPr lang="en-US" sz="1200" dirty="0">
                  <a:solidFill>
                    <a:prstClr val="black"/>
                  </a:solidFill>
                </a:endParaRPr>
              </a:p>
            </p:txBody>
          </p:sp>
          <p:sp>
            <p:nvSpPr>
              <p:cNvPr id="176" name="175 Rectángulo"/>
              <p:cNvSpPr/>
              <p:nvPr/>
            </p:nvSpPr>
            <p:spPr>
              <a:xfrm>
                <a:off x="4887055" y="6144399"/>
                <a:ext cx="4038600" cy="55026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cxnSp>
          <p:nvCxnSpPr>
            <p:cNvPr id="189" name="188 Conector recto"/>
            <p:cNvCxnSpPr/>
            <p:nvPr/>
          </p:nvCxnSpPr>
          <p:spPr>
            <a:xfrm>
              <a:off x="123202" y="2694128"/>
              <a:ext cx="0" cy="286551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1" name="190 Conector recto de flecha"/>
            <p:cNvCxnSpPr>
              <a:endCxn id="175" idx="1"/>
            </p:cNvCxnSpPr>
            <p:nvPr/>
          </p:nvCxnSpPr>
          <p:spPr>
            <a:xfrm>
              <a:off x="123202" y="5559638"/>
              <a:ext cx="238855" cy="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3" name="192 Conector recto"/>
            <p:cNvCxnSpPr>
              <a:endCxn id="152" idx="1"/>
            </p:cNvCxnSpPr>
            <p:nvPr/>
          </p:nvCxnSpPr>
          <p:spPr>
            <a:xfrm>
              <a:off x="123202" y="2694128"/>
              <a:ext cx="228599"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5" name="194 Conector recto"/>
            <p:cNvCxnSpPr/>
            <p:nvPr/>
          </p:nvCxnSpPr>
          <p:spPr>
            <a:xfrm flipV="1">
              <a:off x="4542802" y="3421208"/>
              <a:ext cx="0" cy="213843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7" name="196 Conector recto de flecha"/>
            <p:cNvCxnSpPr>
              <a:endCxn id="161" idx="3"/>
            </p:cNvCxnSpPr>
            <p:nvPr/>
          </p:nvCxnSpPr>
          <p:spPr>
            <a:xfrm flipH="1">
              <a:off x="4390402" y="3407728"/>
              <a:ext cx="152400" cy="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199 Conector recto"/>
            <p:cNvCxnSpPr>
              <a:endCxn id="175" idx="3"/>
            </p:cNvCxnSpPr>
            <p:nvPr/>
          </p:nvCxnSpPr>
          <p:spPr>
            <a:xfrm flipH="1">
              <a:off x="4400657" y="5559639"/>
              <a:ext cx="142145"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2" name="201 Conector recto de flecha"/>
            <p:cNvCxnSpPr/>
            <p:nvPr/>
          </p:nvCxnSpPr>
          <p:spPr>
            <a:xfrm>
              <a:off x="428002" y="4112259"/>
              <a:ext cx="0" cy="304800"/>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 name="2 CuadroTexto"/>
          <p:cNvSpPr txBox="1"/>
          <p:nvPr/>
        </p:nvSpPr>
        <p:spPr>
          <a:xfrm>
            <a:off x="5237743" y="2800350"/>
            <a:ext cx="3610981" cy="646331"/>
          </a:xfrm>
          <a:prstGeom prst="rect">
            <a:avLst/>
          </a:prstGeom>
          <a:noFill/>
        </p:spPr>
        <p:txBody>
          <a:bodyPr wrap="square" rtlCol="0">
            <a:spAutoFit/>
          </a:bodyPr>
          <a:lstStyle/>
          <a:p>
            <a:r>
              <a:rPr lang="en-US" sz="1200" dirty="0">
                <a:solidFill>
                  <a:prstClr val="black"/>
                </a:solidFill>
              </a:rPr>
              <a:t>When the extents of a table are not physically stored contiguously on disk, switching from one extent to another causes higher disk rotations</a:t>
            </a:r>
          </a:p>
        </p:txBody>
      </p:sp>
      <p:pic>
        <p:nvPicPr>
          <p:cNvPr id="7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7744" y="3692318"/>
            <a:ext cx="3474927" cy="230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2" name="41 CuadroTexto"/>
          <p:cNvSpPr txBox="1"/>
          <p:nvPr/>
        </p:nvSpPr>
        <p:spPr>
          <a:xfrm>
            <a:off x="0" y="506927"/>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External</a:t>
            </a:r>
            <a:r>
              <a:rPr lang="en-US" sz="1400" b="1" dirty="0">
                <a:solidFill>
                  <a:prstClr val="black"/>
                </a:solidFill>
              </a:rPr>
              <a:t> </a:t>
            </a:r>
            <a:r>
              <a:rPr lang="en-US" sz="1400" b="1" dirty="0" smtClean="0">
                <a:solidFill>
                  <a:prstClr val="black"/>
                </a:solidFill>
              </a:rPr>
              <a:t>Fragmentation</a:t>
            </a:r>
            <a:endParaRPr lang="en-US" sz="1400" dirty="0">
              <a:solidFill>
                <a:prstClr val="black"/>
              </a:solidFill>
            </a:endParaRPr>
          </a:p>
        </p:txBody>
      </p:sp>
      <p:grpSp>
        <p:nvGrpSpPr>
          <p:cNvPr id="43" name="42 Grupo"/>
          <p:cNvGrpSpPr/>
          <p:nvPr/>
        </p:nvGrpSpPr>
        <p:grpSpPr>
          <a:xfrm>
            <a:off x="0" y="9525"/>
            <a:ext cx="9153525" cy="408388"/>
            <a:chOff x="0" y="9525"/>
            <a:chExt cx="9153525" cy="408388"/>
          </a:xfrm>
        </p:grpSpPr>
        <p:sp>
          <p:nvSpPr>
            <p:cNvPr id="44" name="43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Index Level Fragmentation</a:t>
              </a:r>
              <a:endParaRPr lang="en-US" b="1" i="1" dirty="0">
                <a:solidFill>
                  <a:schemeClr val="bg1"/>
                </a:solidFill>
              </a:endParaRPr>
            </a:p>
          </p:txBody>
        </p:sp>
        <p:pic>
          <p:nvPicPr>
            <p:cNvPr id="45" name="44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6" name="45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7" name="46 Grupo"/>
          <p:cNvGrpSpPr/>
          <p:nvPr/>
        </p:nvGrpSpPr>
        <p:grpSpPr>
          <a:xfrm>
            <a:off x="9525" y="6574392"/>
            <a:ext cx="9134399" cy="277000"/>
            <a:chOff x="9525" y="6574392"/>
            <a:chExt cx="9134399" cy="277000"/>
          </a:xfrm>
        </p:grpSpPr>
        <p:sp>
          <p:nvSpPr>
            <p:cNvPr id="48" name="47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49" name="48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876900994"/>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0009" y="1639074"/>
            <a:ext cx="3057525"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 name="43 CuadroTexto"/>
          <p:cNvSpPr txBox="1"/>
          <p:nvPr/>
        </p:nvSpPr>
        <p:spPr>
          <a:xfrm>
            <a:off x="6000661" y="1362075"/>
            <a:ext cx="3057525" cy="276999"/>
          </a:xfrm>
          <a:prstGeom prst="rect">
            <a:avLst/>
          </a:prstGeom>
          <a:noFill/>
        </p:spPr>
        <p:txBody>
          <a:bodyPr wrap="square" rtlCol="0">
            <a:spAutoFit/>
          </a:bodyPr>
          <a:lstStyle/>
          <a:p>
            <a:pPr algn="ctr"/>
            <a:r>
              <a:rPr lang="en-US" sz="1200" dirty="0" smtClean="0">
                <a:solidFill>
                  <a:prstClr val="black"/>
                </a:solidFill>
              </a:rPr>
              <a:t>Size of the NTFS Allocation Units</a:t>
            </a:r>
          </a:p>
        </p:txBody>
      </p:sp>
      <p:grpSp>
        <p:nvGrpSpPr>
          <p:cNvPr id="2075" name="2074 Grupo"/>
          <p:cNvGrpSpPr/>
          <p:nvPr/>
        </p:nvGrpSpPr>
        <p:grpSpPr>
          <a:xfrm>
            <a:off x="59108" y="594378"/>
            <a:ext cx="5105400" cy="2105827"/>
            <a:chOff x="183822" y="3802799"/>
            <a:chExt cx="5105400" cy="2105827"/>
          </a:xfrm>
        </p:grpSpPr>
        <p:sp>
          <p:nvSpPr>
            <p:cNvPr id="24" name="23 Rectángulo"/>
            <p:cNvSpPr/>
            <p:nvPr/>
          </p:nvSpPr>
          <p:spPr>
            <a:xfrm>
              <a:off x="192369" y="3802799"/>
              <a:ext cx="5079763" cy="3810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5" name="24 Rectángulo"/>
            <p:cNvSpPr/>
            <p:nvPr/>
          </p:nvSpPr>
          <p:spPr>
            <a:xfrm>
              <a:off x="192369" y="4180950"/>
              <a:ext cx="1276350" cy="3810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7" name="26 CuadroTexto"/>
            <p:cNvSpPr txBox="1"/>
            <p:nvPr/>
          </p:nvSpPr>
          <p:spPr>
            <a:xfrm>
              <a:off x="188095" y="3854799"/>
              <a:ext cx="5101127" cy="276999"/>
            </a:xfrm>
            <a:prstGeom prst="rect">
              <a:avLst/>
            </a:prstGeom>
            <a:noFill/>
          </p:spPr>
          <p:txBody>
            <a:bodyPr wrap="square" rtlCol="0">
              <a:spAutoFit/>
            </a:bodyPr>
            <a:lstStyle/>
            <a:p>
              <a:pPr algn="ctr"/>
              <a:r>
                <a:rPr lang="en-US" sz="1200" dirty="0" smtClean="0">
                  <a:solidFill>
                    <a:prstClr val="black"/>
                  </a:solidFill>
                </a:rPr>
                <a:t>SQL Server Page (8,192 bytes)</a:t>
              </a:r>
            </a:p>
          </p:txBody>
        </p:sp>
        <p:sp>
          <p:nvSpPr>
            <p:cNvPr id="28" name="27 CuadroTexto"/>
            <p:cNvSpPr txBox="1"/>
            <p:nvPr/>
          </p:nvSpPr>
          <p:spPr>
            <a:xfrm>
              <a:off x="183822" y="4232226"/>
              <a:ext cx="1254985" cy="276999"/>
            </a:xfrm>
            <a:prstGeom prst="rect">
              <a:avLst/>
            </a:prstGeom>
            <a:noFill/>
          </p:spPr>
          <p:txBody>
            <a:bodyPr wrap="square" rtlCol="0">
              <a:spAutoFit/>
            </a:bodyPr>
            <a:lstStyle/>
            <a:p>
              <a:pPr algn="ctr"/>
              <a:r>
                <a:rPr lang="en-US" sz="1200" dirty="0" smtClean="0">
                  <a:solidFill>
                    <a:prstClr val="black"/>
                  </a:solidFill>
                </a:rPr>
                <a:t>NTFS Cluster</a:t>
              </a:r>
            </a:p>
          </p:txBody>
        </p:sp>
        <p:sp>
          <p:nvSpPr>
            <p:cNvPr id="30" name="29 Rectángulo"/>
            <p:cNvSpPr/>
            <p:nvPr/>
          </p:nvSpPr>
          <p:spPr>
            <a:xfrm>
              <a:off x="1468719" y="4183798"/>
              <a:ext cx="1276350" cy="37815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30 CuadroTexto"/>
            <p:cNvSpPr txBox="1"/>
            <p:nvPr/>
          </p:nvSpPr>
          <p:spPr>
            <a:xfrm>
              <a:off x="1460172" y="4228310"/>
              <a:ext cx="1250713" cy="276999"/>
            </a:xfrm>
            <a:prstGeom prst="rect">
              <a:avLst/>
            </a:prstGeom>
            <a:noFill/>
          </p:spPr>
          <p:txBody>
            <a:bodyPr wrap="square" rtlCol="0">
              <a:spAutoFit/>
            </a:bodyPr>
            <a:lstStyle/>
            <a:p>
              <a:pPr algn="ctr"/>
              <a:r>
                <a:rPr lang="en-US" sz="1200" dirty="0" smtClean="0">
                  <a:solidFill>
                    <a:prstClr val="black"/>
                  </a:solidFill>
                </a:rPr>
                <a:t>NTFS Cluster</a:t>
              </a:r>
            </a:p>
          </p:txBody>
        </p:sp>
        <p:sp>
          <p:nvSpPr>
            <p:cNvPr id="34" name="33 Rectángulo"/>
            <p:cNvSpPr/>
            <p:nvPr/>
          </p:nvSpPr>
          <p:spPr>
            <a:xfrm>
              <a:off x="2736879" y="4184156"/>
              <a:ext cx="1276350" cy="3810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7" name="36 CuadroTexto"/>
            <p:cNvSpPr txBox="1"/>
            <p:nvPr/>
          </p:nvSpPr>
          <p:spPr>
            <a:xfrm>
              <a:off x="2728332" y="4235432"/>
              <a:ext cx="1254630" cy="276999"/>
            </a:xfrm>
            <a:prstGeom prst="rect">
              <a:avLst/>
            </a:prstGeom>
            <a:noFill/>
          </p:spPr>
          <p:txBody>
            <a:bodyPr wrap="square" rtlCol="0">
              <a:spAutoFit/>
            </a:bodyPr>
            <a:lstStyle/>
            <a:p>
              <a:pPr algn="ctr"/>
              <a:r>
                <a:rPr lang="en-US" sz="1200" dirty="0" smtClean="0">
                  <a:solidFill>
                    <a:prstClr val="black"/>
                  </a:solidFill>
                </a:rPr>
                <a:t>NTFS Cluster</a:t>
              </a:r>
            </a:p>
          </p:txBody>
        </p:sp>
        <p:sp>
          <p:nvSpPr>
            <p:cNvPr id="39" name="38 Rectángulo"/>
            <p:cNvSpPr/>
            <p:nvPr/>
          </p:nvSpPr>
          <p:spPr>
            <a:xfrm>
              <a:off x="4013229" y="4183799"/>
              <a:ext cx="1258903" cy="378151"/>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0" name="39 CuadroTexto"/>
            <p:cNvSpPr txBox="1"/>
            <p:nvPr/>
          </p:nvSpPr>
          <p:spPr>
            <a:xfrm>
              <a:off x="4004682" y="4222970"/>
              <a:ext cx="1250358" cy="276999"/>
            </a:xfrm>
            <a:prstGeom prst="rect">
              <a:avLst/>
            </a:prstGeom>
            <a:noFill/>
          </p:spPr>
          <p:txBody>
            <a:bodyPr wrap="square" rtlCol="0">
              <a:spAutoFit/>
            </a:bodyPr>
            <a:lstStyle/>
            <a:p>
              <a:pPr algn="ctr"/>
              <a:r>
                <a:rPr lang="en-US" sz="1200" dirty="0" smtClean="0">
                  <a:solidFill>
                    <a:prstClr val="black"/>
                  </a:solidFill>
                </a:rPr>
                <a:t>NTFS Cluster</a:t>
              </a:r>
            </a:p>
          </p:txBody>
        </p:sp>
        <p:grpSp>
          <p:nvGrpSpPr>
            <p:cNvPr id="9" name="8 Grupo"/>
            <p:cNvGrpSpPr/>
            <p:nvPr/>
          </p:nvGrpSpPr>
          <p:grpSpPr>
            <a:xfrm>
              <a:off x="629314" y="5451426"/>
              <a:ext cx="738989" cy="248964"/>
              <a:chOff x="240484" y="2895600"/>
              <a:chExt cx="738989" cy="248964"/>
            </a:xfrm>
          </p:grpSpPr>
          <p:sp>
            <p:nvSpPr>
              <p:cNvPr id="87" name="86 Rectángulo"/>
              <p:cNvSpPr/>
              <p:nvPr/>
            </p:nvSpPr>
            <p:spPr>
              <a:xfrm>
                <a:off x="291760" y="2907992"/>
                <a:ext cx="618945" cy="23657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8" name="87 CuadroTexto"/>
              <p:cNvSpPr txBox="1"/>
              <p:nvPr/>
            </p:nvSpPr>
            <p:spPr>
              <a:xfrm>
                <a:off x="240484" y="2895600"/>
                <a:ext cx="738989" cy="246221"/>
              </a:xfrm>
              <a:prstGeom prst="rect">
                <a:avLst/>
              </a:prstGeom>
              <a:noFill/>
            </p:spPr>
            <p:txBody>
              <a:bodyPr wrap="square" rtlCol="0">
                <a:spAutoFit/>
              </a:bodyPr>
              <a:lstStyle/>
              <a:p>
                <a:pPr algn="ctr"/>
                <a:r>
                  <a:rPr lang="en-US" sz="1000" dirty="0" smtClean="0">
                    <a:solidFill>
                      <a:prstClr val="black"/>
                    </a:solidFill>
                  </a:rPr>
                  <a:t>Sector 80</a:t>
                </a:r>
              </a:p>
            </p:txBody>
          </p:sp>
        </p:grpSp>
        <p:grpSp>
          <p:nvGrpSpPr>
            <p:cNvPr id="89" name="88 Grupo"/>
            <p:cNvGrpSpPr/>
            <p:nvPr/>
          </p:nvGrpSpPr>
          <p:grpSpPr>
            <a:xfrm>
              <a:off x="1368303" y="5451426"/>
              <a:ext cx="738989" cy="248964"/>
              <a:chOff x="240484" y="2895600"/>
              <a:chExt cx="738989" cy="248964"/>
            </a:xfrm>
          </p:grpSpPr>
          <p:sp>
            <p:nvSpPr>
              <p:cNvPr id="90" name="89 Rectángulo"/>
              <p:cNvSpPr/>
              <p:nvPr/>
            </p:nvSpPr>
            <p:spPr>
              <a:xfrm>
                <a:off x="291760" y="2907992"/>
                <a:ext cx="618945" cy="23657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1" name="90 CuadroTexto"/>
              <p:cNvSpPr txBox="1"/>
              <p:nvPr/>
            </p:nvSpPr>
            <p:spPr>
              <a:xfrm>
                <a:off x="240484" y="2895600"/>
                <a:ext cx="738989" cy="246221"/>
              </a:xfrm>
              <a:prstGeom prst="rect">
                <a:avLst/>
              </a:prstGeom>
              <a:noFill/>
            </p:spPr>
            <p:txBody>
              <a:bodyPr wrap="square" rtlCol="0">
                <a:spAutoFit/>
              </a:bodyPr>
              <a:lstStyle/>
              <a:p>
                <a:pPr algn="ctr"/>
                <a:r>
                  <a:rPr lang="en-US" sz="1000" dirty="0" smtClean="0">
                    <a:solidFill>
                      <a:prstClr val="black"/>
                    </a:solidFill>
                  </a:rPr>
                  <a:t>Sector 81</a:t>
                </a:r>
              </a:p>
            </p:txBody>
          </p:sp>
        </p:grpSp>
        <p:grpSp>
          <p:nvGrpSpPr>
            <p:cNvPr id="92" name="91 Grupo"/>
            <p:cNvGrpSpPr/>
            <p:nvPr/>
          </p:nvGrpSpPr>
          <p:grpSpPr>
            <a:xfrm>
              <a:off x="2107292" y="5451426"/>
              <a:ext cx="738989" cy="248964"/>
              <a:chOff x="240484" y="2895600"/>
              <a:chExt cx="738989" cy="248964"/>
            </a:xfrm>
          </p:grpSpPr>
          <p:sp>
            <p:nvSpPr>
              <p:cNvPr id="93" name="92 Rectángulo"/>
              <p:cNvSpPr/>
              <p:nvPr/>
            </p:nvSpPr>
            <p:spPr>
              <a:xfrm>
                <a:off x="291760" y="2907992"/>
                <a:ext cx="618945" cy="23657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4" name="93 CuadroTexto"/>
              <p:cNvSpPr txBox="1"/>
              <p:nvPr/>
            </p:nvSpPr>
            <p:spPr>
              <a:xfrm>
                <a:off x="240484" y="2895600"/>
                <a:ext cx="738989" cy="246221"/>
              </a:xfrm>
              <a:prstGeom prst="rect">
                <a:avLst/>
              </a:prstGeom>
              <a:noFill/>
            </p:spPr>
            <p:txBody>
              <a:bodyPr wrap="square" rtlCol="0">
                <a:spAutoFit/>
              </a:bodyPr>
              <a:lstStyle/>
              <a:p>
                <a:pPr algn="ctr"/>
                <a:r>
                  <a:rPr lang="en-US" sz="1000" dirty="0" smtClean="0">
                    <a:solidFill>
                      <a:prstClr val="black"/>
                    </a:solidFill>
                  </a:rPr>
                  <a:t>Sector 82</a:t>
                </a:r>
              </a:p>
            </p:txBody>
          </p:sp>
        </p:grpSp>
        <p:grpSp>
          <p:nvGrpSpPr>
            <p:cNvPr id="95" name="94 Grupo"/>
            <p:cNvGrpSpPr/>
            <p:nvPr/>
          </p:nvGrpSpPr>
          <p:grpSpPr>
            <a:xfrm>
              <a:off x="2873833" y="5451426"/>
              <a:ext cx="738989" cy="248964"/>
              <a:chOff x="240484" y="2895600"/>
              <a:chExt cx="738989" cy="248964"/>
            </a:xfrm>
          </p:grpSpPr>
          <p:sp>
            <p:nvSpPr>
              <p:cNvPr id="96" name="95 Rectángulo"/>
              <p:cNvSpPr/>
              <p:nvPr/>
            </p:nvSpPr>
            <p:spPr>
              <a:xfrm>
                <a:off x="291760" y="2907992"/>
                <a:ext cx="618945" cy="23657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7" name="96 CuadroTexto"/>
              <p:cNvSpPr txBox="1"/>
              <p:nvPr/>
            </p:nvSpPr>
            <p:spPr>
              <a:xfrm>
                <a:off x="240484" y="2895600"/>
                <a:ext cx="738989" cy="246221"/>
              </a:xfrm>
              <a:prstGeom prst="rect">
                <a:avLst/>
              </a:prstGeom>
              <a:noFill/>
            </p:spPr>
            <p:txBody>
              <a:bodyPr wrap="square" rtlCol="0">
                <a:spAutoFit/>
              </a:bodyPr>
              <a:lstStyle/>
              <a:p>
                <a:pPr algn="ctr"/>
                <a:r>
                  <a:rPr lang="en-US" sz="1000" dirty="0" smtClean="0">
                    <a:solidFill>
                      <a:prstClr val="black"/>
                    </a:solidFill>
                  </a:rPr>
                  <a:t>…</a:t>
                </a:r>
              </a:p>
            </p:txBody>
          </p:sp>
        </p:grpSp>
        <p:cxnSp>
          <p:nvCxnSpPr>
            <p:cNvPr id="13" name="12 Conector recto"/>
            <p:cNvCxnSpPr/>
            <p:nvPr/>
          </p:nvCxnSpPr>
          <p:spPr>
            <a:xfrm>
              <a:off x="990062" y="5146626"/>
              <a:ext cx="2253265" cy="0"/>
            </a:xfrm>
            <a:prstGeom prst="line">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5" name="14 Conector recto de flecha"/>
            <p:cNvCxnSpPr>
              <a:endCxn id="97" idx="0"/>
            </p:cNvCxnSpPr>
            <p:nvPr/>
          </p:nvCxnSpPr>
          <p:spPr>
            <a:xfrm>
              <a:off x="3243327" y="5146626"/>
              <a:ext cx="1" cy="3048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16 Conector recto de flecha"/>
            <p:cNvCxnSpPr>
              <a:endCxn id="93" idx="0"/>
            </p:cNvCxnSpPr>
            <p:nvPr/>
          </p:nvCxnSpPr>
          <p:spPr>
            <a:xfrm flipH="1">
              <a:off x="2468041" y="5146626"/>
              <a:ext cx="8745" cy="31719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18 Conector recto de flecha"/>
            <p:cNvCxnSpPr>
              <a:endCxn id="90" idx="0"/>
            </p:cNvCxnSpPr>
            <p:nvPr/>
          </p:nvCxnSpPr>
          <p:spPr>
            <a:xfrm flipH="1">
              <a:off x="1729052" y="5146626"/>
              <a:ext cx="8745" cy="31719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22 Conector recto de flecha"/>
            <p:cNvCxnSpPr>
              <a:endCxn id="88" idx="0"/>
            </p:cNvCxnSpPr>
            <p:nvPr/>
          </p:nvCxnSpPr>
          <p:spPr>
            <a:xfrm>
              <a:off x="998808" y="5146626"/>
              <a:ext cx="1" cy="3048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55" name="2054 Conector recto"/>
            <p:cNvCxnSpPr>
              <a:stCxn id="30" idx="2"/>
            </p:cNvCxnSpPr>
            <p:nvPr/>
          </p:nvCxnSpPr>
          <p:spPr>
            <a:xfrm>
              <a:off x="2106894" y="4561950"/>
              <a:ext cx="9800" cy="584676"/>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10" name="109 CuadroTexto"/>
            <p:cNvSpPr txBox="1"/>
            <p:nvPr/>
          </p:nvSpPr>
          <p:spPr>
            <a:xfrm>
              <a:off x="3689022" y="5468424"/>
              <a:ext cx="998077" cy="276999"/>
            </a:xfrm>
            <a:prstGeom prst="rect">
              <a:avLst/>
            </a:prstGeom>
            <a:noFill/>
          </p:spPr>
          <p:txBody>
            <a:bodyPr wrap="square" rtlCol="0">
              <a:spAutoFit/>
            </a:bodyPr>
            <a:lstStyle/>
            <a:p>
              <a:pPr algn="ctr"/>
              <a:r>
                <a:rPr lang="en-US" sz="1200" b="1" dirty="0" smtClean="0">
                  <a:solidFill>
                    <a:prstClr val="black"/>
                  </a:solidFill>
                </a:rPr>
                <a:t>Disk sectors</a:t>
              </a:r>
            </a:p>
          </p:txBody>
        </p:sp>
        <p:sp>
          <p:nvSpPr>
            <p:cNvPr id="2056" name="2055 Rectángulo"/>
            <p:cNvSpPr/>
            <p:nvPr/>
          </p:nvSpPr>
          <p:spPr>
            <a:xfrm>
              <a:off x="564821" y="5305222"/>
              <a:ext cx="3124201" cy="603404"/>
            </a:xfrm>
            <a:prstGeom prst="rect">
              <a:avLst/>
            </a:prstGeom>
            <a:no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45" name="144 CuadroTexto"/>
            <p:cNvSpPr txBox="1"/>
            <p:nvPr/>
          </p:nvSpPr>
          <p:spPr>
            <a:xfrm>
              <a:off x="497968" y="4605036"/>
              <a:ext cx="457199" cy="246221"/>
            </a:xfrm>
            <a:prstGeom prst="rect">
              <a:avLst/>
            </a:prstGeom>
            <a:noFill/>
          </p:spPr>
          <p:txBody>
            <a:bodyPr wrap="square" rtlCol="0">
              <a:spAutoFit/>
            </a:bodyPr>
            <a:lstStyle/>
            <a:p>
              <a:pPr algn="ctr"/>
              <a:r>
                <a:rPr lang="en-US" sz="1000" dirty="0" smtClean="0">
                  <a:solidFill>
                    <a:prstClr val="black"/>
                  </a:solidFill>
                </a:rPr>
                <a:t>2 KB</a:t>
              </a:r>
            </a:p>
          </p:txBody>
        </p:sp>
        <p:sp>
          <p:nvSpPr>
            <p:cNvPr id="146" name="145 CuadroTexto"/>
            <p:cNvSpPr txBox="1"/>
            <p:nvPr/>
          </p:nvSpPr>
          <p:spPr>
            <a:xfrm>
              <a:off x="1711646" y="4605036"/>
              <a:ext cx="457199" cy="246221"/>
            </a:xfrm>
            <a:prstGeom prst="rect">
              <a:avLst/>
            </a:prstGeom>
            <a:noFill/>
          </p:spPr>
          <p:txBody>
            <a:bodyPr wrap="square" rtlCol="0">
              <a:spAutoFit/>
            </a:bodyPr>
            <a:lstStyle/>
            <a:p>
              <a:pPr algn="ctr"/>
              <a:r>
                <a:rPr lang="en-US" sz="1000" dirty="0" smtClean="0">
                  <a:solidFill>
                    <a:prstClr val="black"/>
                  </a:solidFill>
                </a:rPr>
                <a:t>2 KB</a:t>
              </a:r>
            </a:p>
          </p:txBody>
        </p:sp>
        <p:sp>
          <p:nvSpPr>
            <p:cNvPr id="147" name="146 CuadroTexto"/>
            <p:cNvSpPr txBox="1"/>
            <p:nvPr/>
          </p:nvSpPr>
          <p:spPr>
            <a:xfrm>
              <a:off x="3155623" y="4605036"/>
              <a:ext cx="457199" cy="246221"/>
            </a:xfrm>
            <a:prstGeom prst="rect">
              <a:avLst/>
            </a:prstGeom>
            <a:noFill/>
          </p:spPr>
          <p:txBody>
            <a:bodyPr wrap="square" rtlCol="0">
              <a:spAutoFit/>
            </a:bodyPr>
            <a:lstStyle/>
            <a:p>
              <a:pPr algn="ctr"/>
              <a:r>
                <a:rPr lang="en-US" sz="1000" dirty="0" smtClean="0">
                  <a:solidFill>
                    <a:prstClr val="black"/>
                  </a:solidFill>
                </a:rPr>
                <a:t>2 KB</a:t>
              </a:r>
            </a:p>
          </p:txBody>
        </p:sp>
        <p:sp>
          <p:nvSpPr>
            <p:cNvPr id="148" name="147 CuadroTexto"/>
            <p:cNvSpPr txBox="1"/>
            <p:nvPr/>
          </p:nvSpPr>
          <p:spPr>
            <a:xfrm>
              <a:off x="4458499" y="4605036"/>
              <a:ext cx="457199" cy="246221"/>
            </a:xfrm>
            <a:prstGeom prst="rect">
              <a:avLst/>
            </a:prstGeom>
            <a:noFill/>
          </p:spPr>
          <p:txBody>
            <a:bodyPr wrap="square" rtlCol="0">
              <a:spAutoFit/>
            </a:bodyPr>
            <a:lstStyle/>
            <a:p>
              <a:pPr algn="ctr"/>
              <a:r>
                <a:rPr lang="en-US" sz="1000" dirty="0" smtClean="0">
                  <a:solidFill>
                    <a:prstClr val="black"/>
                  </a:solidFill>
                </a:rPr>
                <a:t>2 KB</a:t>
              </a:r>
            </a:p>
          </p:txBody>
        </p:sp>
      </p:grpSp>
      <p:grpSp>
        <p:nvGrpSpPr>
          <p:cNvPr id="2074" name="2073 Grupo"/>
          <p:cNvGrpSpPr/>
          <p:nvPr/>
        </p:nvGrpSpPr>
        <p:grpSpPr>
          <a:xfrm>
            <a:off x="59108" y="3386979"/>
            <a:ext cx="5101127" cy="2105827"/>
            <a:chOff x="192369" y="665148"/>
            <a:chExt cx="5101127" cy="2105827"/>
          </a:xfrm>
        </p:grpSpPr>
        <p:sp>
          <p:nvSpPr>
            <p:cNvPr id="114" name="113 Rectángulo"/>
            <p:cNvSpPr/>
            <p:nvPr/>
          </p:nvSpPr>
          <p:spPr>
            <a:xfrm>
              <a:off x="196643" y="665148"/>
              <a:ext cx="5079763" cy="3810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6" name="115 CuadroTexto"/>
            <p:cNvSpPr txBox="1"/>
            <p:nvPr/>
          </p:nvSpPr>
          <p:spPr>
            <a:xfrm>
              <a:off x="192369" y="717148"/>
              <a:ext cx="5101127" cy="276999"/>
            </a:xfrm>
            <a:prstGeom prst="rect">
              <a:avLst/>
            </a:prstGeom>
            <a:noFill/>
          </p:spPr>
          <p:txBody>
            <a:bodyPr wrap="square" rtlCol="0">
              <a:spAutoFit/>
            </a:bodyPr>
            <a:lstStyle/>
            <a:p>
              <a:pPr algn="ctr"/>
              <a:r>
                <a:rPr lang="en-US" sz="1200" dirty="0" smtClean="0">
                  <a:solidFill>
                    <a:prstClr val="black"/>
                  </a:solidFill>
                </a:rPr>
                <a:t>SQL Server Page (8,192 bytes)</a:t>
              </a:r>
            </a:p>
          </p:txBody>
        </p:sp>
        <p:sp>
          <p:nvSpPr>
            <p:cNvPr id="118" name="117 Rectángulo"/>
            <p:cNvSpPr/>
            <p:nvPr/>
          </p:nvSpPr>
          <p:spPr>
            <a:xfrm>
              <a:off x="196643" y="1046147"/>
              <a:ext cx="2552700" cy="37815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9" name="118 CuadroTexto"/>
            <p:cNvSpPr txBox="1"/>
            <p:nvPr/>
          </p:nvSpPr>
          <p:spPr>
            <a:xfrm>
              <a:off x="196644" y="1090659"/>
              <a:ext cx="2518516" cy="276999"/>
            </a:xfrm>
            <a:prstGeom prst="rect">
              <a:avLst/>
            </a:prstGeom>
            <a:noFill/>
          </p:spPr>
          <p:txBody>
            <a:bodyPr wrap="square" rtlCol="0">
              <a:spAutoFit/>
            </a:bodyPr>
            <a:lstStyle/>
            <a:p>
              <a:pPr algn="ctr"/>
              <a:r>
                <a:rPr lang="en-US" sz="1200" dirty="0" smtClean="0">
                  <a:solidFill>
                    <a:prstClr val="black"/>
                  </a:solidFill>
                </a:rPr>
                <a:t>NTFS Cluster</a:t>
              </a:r>
            </a:p>
          </p:txBody>
        </p:sp>
        <p:sp>
          <p:nvSpPr>
            <p:cNvPr id="122" name="121 Rectángulo"/>
            <p:cNvSpPr/>
            <p:nvPr/>
          </p:nvSpPr>
          <p:spPr>
            <a:xfrm>
              <a:off x="2749343" y="1049353"/>
              <a:ext cx="2527063" cy="374946"/>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3" name="122 CuadroTexto"/>
            <p:cNvSpPr txBox="1"/>
            <p:nvPr/>
          </p:nvSpPr>
          <p:spPr>
            <a:xfrm>
              <a:off x="2781787" y="1085319"/>
              <a:ext cx="2477527" cy="276999"/>
            </a:xfrm>
            <a:prstGeom prst="rect">
              <a:avLst/>
            </a:prstGeom>
            <a:noFill/>
          </p:spPr>
          <p:txBody>
            <a:bodyPr wrap="square" rtlCol="0">
              <a:spAutoFit/>
            </a:bodyPr>
            <a:lstStyle/>
            <a:p>
              <a:pPr algn="ctr"/>
              <a:r>
                <a:rPr lang="en-US" sz="1200" dirty="0" smtClean="0">
                  <a:solidFill>
                    <a:prstClr val="black"/>
                  </a:solidFill>
                </a:rPr>
                <a:t>NTFS Cluster</a:t>
              </a:r>
            </a:p>
          </p:txBody>
        </p:sp>
        <p:grpSp>
          <p:nvGrpSpPr>
            <p:cNvPr id="124" name="123 Grupo"/>
            <p:cNvGrpSpPr/>
            <p:nvPr/>
          </p:nvGrpSpPr>
          <p:grpSpPr>
            <a:xfrm>
              <a:off x="633588" y="2313775"/>
              <a:ext cx="738989" cy="248964"/>
              <a:chOff x="240484" y="2895600"/>
              <a:chExt cx="738989" cy="248964"/>
            </a:xfrm>
          </p:grpSpPr>
          <p:sp>
            <p:nvSpPr>
              <p:cNvPr id="125" name="124 Rectángulo"/>
              <p:cNvSpPr/>
              <p:nvPr/>
            </p:nvSpPr>
            <p:spPr>
              <a:xfrm>
                <a:off x="291760" y="2907992"/>
                <a:ext cx="618945" cy="23657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6" name="125 CuadroTexto"/>
              <p:cNvSpPr txBox="1"/>
              <p:nvPr/>
            </p:nvSpPr>
            <p:spPr>
              <a:xfrm>
                <a:off x="240484" y="2895600"/>
                <a:ext cx="738989" cy="246221"/>
              </a:xfrm>
              <a:prstGeom prst="rect">
                <a:avLst/>
              </a:prstGeom>
              <a:noFill/>
            </p:spPr>
            <p:txBody>
              <a:bodyPr wrap="square" rtlCol="0">
                <a:spAutoFit/>
              </a:bodyPr>
              <a:lstStyle/>
              <a:p>
                <a:pPr algn="ctr"/>
                <a:r>
                  <a:rPr lang="en-US" sz="1000" dirty="0" smtClean="0">
                    <a:solidFill>
                      <a:prstClr val="black"/>
                    </a:solidFill>
                  </a:rPr>
                  <a:t>Sector </a:t>
                </a:r>
                <a:r>
                  <a:rPr lang="en-US" sz="1000" dirty="0">
                    <a:solidFill>
                      <a:prstClr val="black"/>
                    </a:solidFill>
                  </a:rPr>
                  <a:t>8</a:t>
                </a:r>
                <a:r>
                  <a:rPr lang="en-US" sz="1000" dirty="0" smtClean="0">
                    <a:solidFill>
                      <a:prstClr val="black"/>
                    </a:solidFill>
                  </a:rPr>
                  <a:t>0</a:t>
                </a:r>
              </a:p>
            </p:txBody>
          </p:sp>
        </p:grpSp>
        <p:grpSp>
          <p:nvGrpSpPr>
            <p:cNvPr id="127" name="126 Grupo"/>
            <p:cNvGrpSpPr/>
            <p:nvPr/>
          </p:nvGrpSpPr>
          <p:grpSpPr>
            <a:xfrm>
              <a:off x="1372577" y="2313775"/>
              <a:ext cx="738989" cy="248964"/>
              <a:chOff x="240484" y="2895600"/>
              <a:chExt cx="738989" cy="248964"/>
            </a:xfrm>
          </p:grpSpPr>
          <p:sp>
            <p:nvSpPr>
              <p:cNvPr id="128" name="127 Rectángulo"/>
              <p:cNvSpPr/>
              <p:nvPr/>
            </p:nvSpPr>
            <p:spPr>
              <a:xfrm>
                <a:off x="291760" y="2907992"/>
                <a:ext cx="618945" cy="23657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9" name="128 CuadroTexto"/>
              <p:cNvSpPr txBox="1"/>
              <p:nvPr/>
            </p:nvSpPr>
            <p:spPr>
              <a:xfrm>
                <a:off x="240484" y="2895600"/>
                <a:ext cx="738989" cy="246221"/>
              </a:xfrm>
              <a:prstGeom prst="rect">
                <a:avLst/>
              </a:prstGeom>
              <a:noFill/>
            </p:spPr>
            <p:txBody>
              <a:bodyPr wrap="square" rtlCol="0">
                <a:spAutoFit/>
              </a:bodyPr>
              <a:lstStyle/>
              <a:p>
                <a:pPr algn="ctr"/>
                <a:r>
                  <a:rPr lang="en-US" sz="1000" dirty="0" smtClean="0">
                    <a:solidFill>
                      <a:prstClr val="black"/>
                    </a:solidFill>
                  </a:rPr>
                  <a:t>Sector </a:t>
                </a:r>
                <a:r>
                  <a:rPr lang="en-US" sz="1000" dirty="0">
                    <a:solidFill>
                      <a:prstClr val="black"/>
                    </a:solidFill>
                  </a:rPr>
                  <a:t>8</a:t>
                </a:r>
                <a:r>
                  <a:rPr lang="en-US" sz="1000" dirty="0" smtClean="0">
                    <a:solidFill>
                      <a:prstClr val="black"/>
                    </a:solidFill>
                  </a:rPr>
                  <a:t>1</a:t>
                </a:r>
              </a:p>
            </p:txBody>
          </p:sp>
        </p:grpSp>
        <p:grpSp>
          <p:nvGrpSpPr>
            <p:cNvPr id="130" name="129 Grupo"/>
            <p:cNvGrpSpPr/>
            <p:nvPr/>
          </p:nvGrpSpPr>
          <p:grpSpPr>
            <a:xfrm>
              <a:off x="2111566" y="2313775"/>
              <a:ext cx="738989" cy="248964"/>
              <a:chOff x="240484" y="2895600"/>
              <a:chExt cx="738989" cy="248964"/>
            </a:xfrm>
          </p:grpSpPr>
          <p:sp>
            <p:nvSpPr>
              <p:cNvPr id="131" name="130 Rectángulo"/>
              <p:cNvSpPr/>
              <p:nvPr/>
            </p:nvSpPr>
            <p:spPr>
              <a:xfrm>
                <a:off x="291760" y="2907992"/>
                <a:ext cx="618945" cy="23657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32" name="131 CuadroTexto"/>
              <p:cNvSpPr txBox="1"/>
              <p:nvPr/>
            </p:nvSpPr>
            <p:spPr>
              <a:xfrm>
                <a:off x="240484" y="2895600"/>
                <a:ext cx="738989" cy="246221"/>
              </a:xfrm>
              <a:prstGeom prst="rect">
                <a:avLst/>
              </a:prstGeom>
              <a:noFill/>
            </p:spPr>
            <p:txBody>
              <a:bodyPr wrap="square" rtlCol="0">
                <a:spAutoFit/>
              </a:bodyPr>
              <a:lstStyle/>
              <a:p>
                <a:pPr algn="ctr"/>
                <a:r>
                  <a:rPr lang="en-US" sz="1000" dirty="0" smtClean="0">
                    <a:solidFill>
                      <a:prstClr val="black"/>
                    </a:solidFill>
                  </a:rPr>
                  <a:t>Sector </a:t>
                </a:r>
                <a:r>
                  <a:rPr lang="en-US" sz="1000" dirty="0">
                    <a:solidFill>
                      <a:prstClr val="black"/>
                    </a:solidFill>
                  </a:rPr>
                  <a:t>8</a:t>
                </a:r>
                <a:r>
                  <a:rPr lang="en-US" sz="1000" dirty="0" smtClean="0">
                    <a:solidFill>
                      <a:prstClr val="black"/>
                    </a:solidFill>
                  </a:rPr>
                  <a:t>2</a:t>
                </a:r>
              </a:p>
            </p:txBody>
          </p:sp>
        </p:grpSp>
        <p:grpSp>
          <p:nvGrpSpPr>
            <p:cNvPr id="133" name="132 Grupo"/>
            <p:cNvGrpSpPr/>
            <p:nvPr/>
          </p:nvGrpSpPr>
          <p:grpSpPr>
            <a:xfrm>
              <a:off x="2878107" y="2313775"/>
              <a:ext cx="738989" cy="248964"/>
              <a:chOff x="240484" y="2895600"/>
              <a:chExt cx="738989" cy="248964"/>
            </a:xfrm>
          </p:grpSpPr>
          <p:sp>
            <p:nvSpPr>
              <p:cNvPr id="134" name="133 Rectángulo"/>
              <p:cNvSpPr/>
              <p:nvPr/>
            </p:nvSpPr>
            <p:spPr>
              <a:xfrm>
                <a:off x="291760" y="2907992"/>
                <a:ext cx="618945" cy="23657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35" name="134 CuadroTexto"/>
              <p:cNvSpPr txBox="1"/>
              <p:nvPr/>
            </p:nvSpPr>
            <p:spPr>
              <a:xfrm>
                <a:off x="240484" y="2895600"/>
                <a:ext cx="738989" cy="246221"/>
              </a:xfrm>
              <a:prstGeom prst="rect">
                <a:avLst/>
              </a:prstGeom>
              <a:noFill/>
            </p:spPr>
            <p:txBody>
              <a:bodyPr wrap="square" rtlCol="0">
                <a:spAutoFit/>
              </a:bodyPr>
              <a:lstStyle/>
              <a:p>
                <a:pPr algn="ctr"/>
                <a:r>
                  <a:rPr lang="en-US" sz="1000" dirty="0" smtClean="0">
                    <a:solidFill>
                      <a:prstClr val="black"/>
                    </a:solidFill>
                  </a:rPr>
                  <a:t>…</a:t>
                </a:r>
              </a:p>
            </p:txBody>
          </p:sp>
        </p:grpSp>
        <p:cxnSp>
          <p:nvCxnSpPr>
            <p:cNvPr id="136" name="135 Conector recto"/>
            <p:cNvCxnSpPr/>
            <p:nvPr/>
          </p:nvCxnSpPr>
          <p:spPr>
            <a:xfrm>
              <a:off x="994336" y="2008975"/>
              <a:ext cx="2253265" cy="0"/>
            </a:xfrm>
            <a:prstGeom prst="line">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37" name="136 Conector recto de flecha"/>
            <p:cNvCxnSpPr>
              <a:endCxn id="135" idx="0"/>
            </p:cNvCxnSpPr>
            <p:nvPr/>
          </p:nvCxnSpPr>
          <p:spPr>
            <a:xfrm>
              <a:off x="3247601" y="2008975"/>
              <a:ext cx="1" cy="3048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137 Conector recto de flecha"/>
            <p:cNvCxnSpPr>
              <a:endCxn id="131" idx="0"/>
            </p:cNvCxnSpPr>
            <p:nvPr/>
          </p:nvCxnSpPr>
          <p:spPr>
            <a:xfrm flipH="1">
              <a:off x="2472315" y="2008975"/>
              <a:ext cx="8745" cy="31719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138 Conector recto de flecha"/>
            <p:cNvCxnSpPr>
              <a:endCxn id="128" idx="0"/>
            </p:cNvCxnSpPr>
            <p:nvPr/>
          </p:nvCxnSpPr>
          <p:spPr>
            <a:xfrm flipH="1">
              <a:off x="1733326" y="2008975"/>
              <a:ext cx="8745" cy="31719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139 Conector recto de flecha"/>
            <p:cNvCxnSpPr>
              <a:endCxn id="126" idx="0"/>
            </p:cNvCxnSpPr>
            <p:nvPr/>
          </p:nvCxnSpPr>
          <p:spPr>
            <a:xfrm>
              <a:off x="1003082" y="2008975"/>
              <a:ext cx="1" cy="3048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140 Conector recto"/>
            <p:cNvCxnSpPr/>
            <p:nvPr/>
          </p:nvCxnSpPr>
          <p:spPr>
            <a:xfrm>
              <a:off x="2111566" y="1437212"/>
              <a:ext cx="9402" cy="57176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42" name="141 CuadroTexto"/>
            <p:cNvSpPr txBox="1"/>
            <p:nvPr/>
          </p:nvSpPr>
          <p:spPr>
            <a:xfrm>
              <a:off x="3693296" y="2330773"/>
              <a:ext cx="998077" cy="276999"/>
            </a:xfrm>
            <a:prstGeom prst="rect">
              <a:avLst/>
            </a:prstGeom>
            <a:noFill/>
          </p:spPr>
          <p:txBody>
            <a:bodyPr wrap="square" rtlCol="0">
              <a:spAutoFit/>
            </a:bodyPr>
            <a:lstStyle/>
            <a:p>
              <a:pPr algn="ctr"/>
              <a:r>
                <a:rPr lang="en-US" sz="1200" b="1" dirty="0" smtClean="0">
                  <a:solidFill>
                    <a:prstClr val="black"/>
                  </a:solidFill>
                </a:rPr>
                <a:t>Disk sectors</a:t>
              </a:r>
            </a:p>
          </p:txBody>
        </p:sp>
        <p:sp>
          <p:nvSpPr>
            <p:cNvPr id="143" name="142 Rectángulo"/>
            <p:cNvSpPr/>
            <p:nvPr/>
          </p:nvSpPr>
          <p:spPr>
            <a:xfrm>
              <a:off x="569095" y="2167571"/>
              <a:ext cx="3124201" cy="603404"/>
            </a:xfrm>
            <a:prstGeom prst="rect">
              <a:avLst/>
            </a:prstGeom>
            <a:no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49" name="148 CuadroTexto"/>
            <p:cNvSpPr txBox="1"/>
            <p:nvPr/>
          </p:nvSpPr>
          <p:spPr>
            <a:xfrm>
              <a:off x="1023090" y="1437212"/>
              <a:ext cx="457199" cy="246221"/>
            </a:xfrm>
            <a:prstGeom prst="rect">
              <a:avLst/>
            </a:prstGeom>
            <a:noFill/>
          </p:spPr>
          <p:txBody>
            <a:bodyPr wrap="square" rtlCol="0">
              <a:spAutoFit/>
            </a:bodyPr>
            <a:lstStyle/>
            <a:p>
              <a:pPr algn="ctr"/>
              <a:r>
                <a:rPr lang="en-US" sz="1000" dirty="0" smtClean="0">
                  <a:solidFill>
                    <a:prstClr val="black"/>
                  </a:solidFill>
                </a:rPr>
                <a:t>4 KB</a:t>
              </a:r>
            </a:p>
          </p:txBody>
        </p:sp>
        <p:sp>
          <p:nvSpPr>
            <p:cNvPr id="151" name="150 CuadroTexto"/>
            <p:cNvSpPr txBox="1"/>
            <p:nvPr/>
          </p:nvSpPr>
          <p:spPr>
            <a:xfrm>
              <a:off x="3776082" y="1437212"/>
              <a:ext cx="457199" cy="246221"/>
            </a:xfrm>
            <a:prstGeom prst="rect">
              <a:avLst/>
            </a:prstGeom>
            <a:noFill/>
          </p:spPr>
          <p:txBody>
            <a:bodyPr wrap="square" rtlCol="0">
              <a:spAutoFit/>
            </a:bodyPr>
            <a:lstStyle/>
            <a:p>
              <a:pPr algn="ctr"/>
              <a:r>
                <a:rPr lang="en-US" sz="1000" dirty="0" smtClean="0">
                  <a:solidFill>
                    <a:prstClr val="black"/>
                  </a:solidFill>
                </a:rPr>
                <a:t>4 KB</a:t>
              </a:r>
            </a:p>
          </p:txBody>
        </p:sp>
      </p:grpSp>
      <p:cxnSp>
        <p:nvCxnSpPr>
          <p:cNvPr id="2079" name="2078 Conector recto de flecha"/>
          <p:cNvCxnSpPr/>
          <p:nvPr/>
        </p:nvCxnSpPr>
        <p:spPr>
          <a:xfrm flipH="1">
            <a:off x="5257800" y="1153048"/>
            <a:ext cx="304800" cy="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1" name="170 Conector recto de flecha"/>
          <p:cNvCxnSpPr/>
          <p:nvPr/>
        </p:nvCxnSpPr>
        <p:spPr>
          <a:xfrm flipH="1">
            <a:off x="5257800" y="3945649"/>
            <a:ext cx="304800" cy="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9" name="98 Conector recto"/>
          <p:cNvCxnSpPr/>
          <p:nvPr/>
        </p:nvCxnSpPr>
        <p:spPr>
          <a:xfrm flipV="1">
            <a:off x="5562601" y="1153049"/>
            <a:ext cx="0" cy="133892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1" name="100 Conector recto"/>
          <p:cNvCxnSpPr/>
          <p:nvPr/>
        </p:nvCxnSpPr>
        <p:spPr>
          <a:xfrm>
            <a:off x="5556948" y="2700205"/>
            <a:ext cx="5653" cy="1256849"/>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5" name="104 Conector recto"/>
          <p:cNvCxnSpPr/>
          <p:nvPr/>
        </p:nvCxnSpPr>
        <p:spPr>
          <a:xfrm flipH="1">
            <a:off x="5562600" y="2491969"/>
            <a:ext cx="417408"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8" name="107 Conector recto"/>
          <p:cNvCxnSpPr/>
          <p:nvPr/>
        </p:nvCxnSpPr>
        <p:spPr>
          <a:xfrm>
            <a:off x="5556948" y="2700205"/>
            <a:ext cx="417408"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pic>
        <p:nvPicPr>
          <p:cNvPr id="10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4419" y="4159043"/>
            <a:ext cx="3474927" cy="230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1" name="110 Rectángulo"/>
          <p:cNvSpPr/>
          <p:nvPr/>
        </p:nvSpPr>
        <p:spPr>
          <a:xfrm>
            <a:off x="6096000" y="4943475"/>
            <a:ext cx="76200" cy="10912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5" name="184 Rectángulo"/>
          <p:cNvSpPr/>
          <p:nvPr/>
        </p:nvSpPr>
        <p:spPr>
          <a:xfrm>
            <a:off x="6068934" y="5258249"/>
            <a:ext cx="76200" cy="10912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113" name="112 Conector recto de flecha"/>
          <p:cNvCxnSpPr>
            <a:stCxn id="142" idx="3"/>
          </p:cNvCxnSpPr>
          <p:nvPr/>
        </p:nvCxnSpPr>
        <p:spPr>
          <a:xfrm flipV="1">
            <a:off x="4558112" y="4998039"/>
            <a:ext cx="1442549" cy="19306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25" name="1024 Conector recto de flecha"/>
          <p:cNvCxnSpPr>
            <a:stCxn id="142" idx="3"/>
          </p:cNvCxnSpPr>
          <p:nvPr/>
        </p:nvCxnSpPr>
        <p:spPr>
          <a:xfrm>
            <a:off x="4558112" y="5191104"/>
            <a:ext cx="1442549" cy="13849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80" name="79 Grupo"/>
          <p:cNvGrpSpPr/>
          <p:nvPr/>
        </p:nvGrpSpPr>
        <p:grpSpPr>
          <a:xfrm>
            <a:off x="0" y="9525"/>
            <a:ext cx="9153525" cy="408388"/>
            <a:chOff x="0" y="9525"/>
            <a:chExt cx="9153525" cy="408388"/>
          </a:xfrm>
        </p:grpSpPr>
        <p:sp>
          <p:nvSpPr>
            <p:cNvPr id="81" name="80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SQL Pages </a:t>
              </a:r>
              <a:r>
                <a:rPr lang="en-US" b="1" dirty="0" smtClean="0">
                  <a:solidFill>
                    <a:schemeClr val="bg1"/>
                  </a:solidFill>
                  <a:sym typeface="Wingdings" pitchFamily="2" charset="2"/>
                </a:rPr>
                <a:t></a:t>
              </a:r>
              <a:r>
                <a:rPr lang="en-US" b="1" dirty="0" smtClean="0">
                  <a:solidFill>
                    <a:schemeClr val="bg1"/>
                  </a:solidFill>
                </a:rPr>
                <a:t> NTFS Clusters  </a:t>
              </a:r>
              <a:r>
                <a:rPr lang="en-US" b="1" dirty="0" smtClean="0">
                  <a:solidFill>
                    <a:schemeClr val="bg1"/>
                  </a:solidFill>
                  <a:sym typeface="Wingdings" pitchFamily="2" charset="2"/>
                </a:rPr>
                <a:t></a:t>
              </a:r>
              <a:r>
                <a:rPr lang="en-US" b="1" dirty="0" smtClean="0">
                  <a:solidFill>
                    <a:schemeClr val="bg1"/>
                  </a:solidFill>
                </a:rPr>
                <a:t> Disk Sectors</a:t>
              </a:r>
              <a:endParaRPr lang="en-US" b="1" i="1" dirty="0">
                <a:solidFill>
                  <a:schemeClr val="bg1"/>
                </a:solidFill>
              </a:endParaRPr>
            </a:p>
          </p:txBody>
        </p:sp>
        <p:pic>
          <p:nvPicPr>
            <p:cNvPr id="82" name="81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3" name="82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4" name="83 Grupo"/>
          <p:cNvGrpSpPr/>
          <p:nvPr/>
        </p:nvGrpSpPr>
        <p:grpSpPr>
          <a:xfrm>
            <a:off x="9525" y="6574392"/>
            <a:ext cx="9134399" cy="277000"/>
            <a:chOff x="9525" y="6574392"/>
            <a:chExt cx="9134399" cy="277000"/>
          </a:xfrm>
        </p:grpSpPr>
        <p:sp>
          <p:nvSpPr>
            <p:cNvPr id="85" name="84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86" name="85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1989470567"/>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79 CuadroTexto"/>
          <p:cNvSpPr txBox="1"/>
          <p:nvPr/>
        </p:nvSpPr>
        <p:spPr>
          <a:xfrm>
            <a:off x="0" y="990600"/>
            <a:ext cx="9144000" cy="1077218"/>
          </a:xfrm>
          <a:prstGeom prst="rect">
            <a:avLst/>
          </a:prstGeom>
          <a:noFill/>
        </p:spPr>
        <p:txBody>
          <a:bodyPr wrap="square" rtlCol="0">
            <a:spAutoFit/>
          </a:bodyPr>
          <a:lstStyle/>
          <a:p>
            <a:pPr marL="171450" indent="-171450">
              <a:buFont typeface="Wingdings" pitchFamily="2" charset="2"/>
              <a:buChar char="Ø"/>
            </a:pPr>
            <a:r>
              <a:rPr lang="en-US" sz="1400" b="1" dirty="0" smtClean="0">
                <a:solidFill>
                  <a:prstClr val="black"/>
                </a:solidFill>
              </a:rPr>
              <a:t>To measure </a:t>
            </a:r>
            <a:r>
              <a:rPr lang="en-US" sz="1400" b="1" dirty="0" smtClean="0">
                <a:solidFill>
                  <a:srgbClr val="FF0000"/>
                </a:solidFill>
              </a:rPr>
              <a:t>External </a:t>
            </a:r>
            <a:r>
              <a:rPr lang="en-US" sz="1400" b="1" dirty="0" smtClean="0">
                <a:solidFill>
                  <a:prstClr val="black"/>
                </a:solidFill>
              </a:rPr>
              <a:t>Fragmentation </a:t>
            </a:r>
            <a:r>
              <a:rPr lang="en-US" sz="1400" b="1" dirty="0" smtClean="0">
                <a:solidFill>
                  <a:prstClr val="black"/>
                </a:solidFill>
                <a:sym typeface="Wingdings" pitchFamily="2" charset="2"/>
              </a:rPr>
              <a:t></a:t>
            </a:r>
            <a:r>
              <a:rPr lang="en-US" sz="1400" b="1" dirty="0">
                <a:solidFill>
                  <a:prstClr val="black"/>
                </a:solidFill>
              </a:rPr>
              <a:t> see </a:t>
            </a:r>
            <a:r>
              <a:rPr lang="en-US" sz="1400" b="1" dirty="0" smtClean="0">
                <a:solidFill>
                  <a:prstClr val="black"/>
                </a:solidFill>
              </a:rPr>
              <a:t> </a:t>
            </a:r>
            <a:r>
              <a:rPr lang="en-US" sz="1400" b="1" dirty="0" err="1" smtClean="0">
                <a:solidFill>
                  <a:prstClr val="black"/>
                </a:solidFill>
              </a:rPr>
              <a:t>avg_fragmentation_in_percent</a:t>
            </a:r>
            <a:r>
              <a:rPr lang="en-US" sz="1400" b="1" dirty="0" smtClean="0">
                <a:solidFill>
                  <a:prstClr val="black"/>
                </a:solidFill>
              </a:rPr>
              <a:t>  </a:t>
            </a:r>
            <a:endParaRPr lang="en-US" sz="1400" b="1" dirty="0">
              <a:solidFill>
                <a:prstClr val="black"/>
              </a:solidFill>
            </a:endParaRPr>
          </a:p>
          <a:p>
            <a:r>
              <a:rPr lang="en-US" sz="1200" dirty="0" smtClean="0">
                <a:solidFill>
                  <a:prstClr val="black"/>
                </a:solidFill>
              </a:rPr>
              <a:t>     The </a:t>
            </a:r>
            <a:r>
              <a:rPr lang="en-US" sz="1200" b="1" i="1" dirty="0">
                <a:solidFill>
                  <a:srgbClr val="FF0000"/>
                </a:solidFill>
              </a:rPr>
              <a:t>lower</a:t>
            </a:r>
            <a:r>
              <a:rPr lang="en-US" sz="1200" dirty="0">
                <a:solidFill>
                  <a:prstClr val="black"/>
                </a:solidFill>
              </a:rPr>
              <a:t> this </a:t>
            </a:r>
            <a:r>
              <a:rPr lang="en-US" sz="1200" dirty="0" smtClean="0">
                <a:solidFill>
                  <a:prstClr val="black"/>
                </a:solidFill>
              </a:rPr>
              <a:t>value is, </a:t>
            </a:r>
            <a:r>
              <a:rPr lang="en-US" sz="1200" dirty="0">
                <a:solidFill>
                  <a:prstClr val="black"/>
                </a:solidFill>
              </a:rPr>
              <a:t>the </a:t>
            </a:r>
            <a:r>
              <a:rPr lang="en-US" sz="1200" dirty="0" smtClean="0">
                <a:solidFill>
                  <a:prstClr val="black"/>
                </a:solidFill>
              </a:rPr>
              <a:t>better</a:t>
            </a:r>
          </a:p>
          <a:p>
            <a:endParaRPr lang="en-US" sz="1200" dirty="0">
              <a:solidFill>
                <a:prstClr val="black"/>
              </a:solidFill>
            </a:endParaRPr>
          </a:p>
          <a:p>
            <a:pPr marL="171450" indent="-171450">
              <a:buFont typeface="Wingdings" pitchFamily="2" charset="2"/>
              <a:buChar char="Ø"/>
            </a:pPr>
            <a:r>
              <a:rPr lang="en-US" sz="1400" b="1" dirty="0">
                <a:solidFill>
                  <a:prstClr val="black"/>
                </a:solidFill>
              </a:rPr>
              <a:t>To measure </a:t>
            </a:r>
            <a:r>
              <a:rPr lang="en-US" sz="1400" b="1" dirty="0" smtClean="0">
                <a:solidFill>
                  <a:srgbClr val="0000FF"/>
                </a:solidFill>
              </a:rPr>
              <a:t>Internal</a:t>
            </a:r>
            <a:r>
              <a:rPr lang="en-US" sz="1400" b="1" dirty="0" smtClean="0">
                <a:solidFill>
                  <a:prstClr val="black"/>
                </a:solidFill>
              </a:rPr>
              <a:t> Fragmentation </a:t>
            </a:r>
            <a:r>
              <a:rPr lang="en-US" sz="1400" b="1" dirty="0" smtClean="0">
                <a:solidFill>
                  <a:prstClr val="black"/>
                </a:solidFill>
                <a:sym typeface="Wingdings" pitchFamily="2" charset="2"/>
              </a:rPr>
              <a:t> see </a:t>
            </a:r>
            <a:r>
              <a:rPr lang="en-US" sz="1400" b="1" dirty="0" err="1" smtClean="0">
                <a:solidFill>
                  <a:prstClr val="black"/>
                </a:solidFill>
              </a:rPr>
              <a:t>avg_page_space_used_in_percent</a:t>
            </a:r>
            <a:endParaRPr lang="en-US" sz="1400" b="1" dirty="0" smtClean="0">
              <a:solidFill>
                <a:prstClr val="black"/>
              </a:solidFill>
            </a:endParaRPr>
          </a:p>
          <a:p>
            <a:r>
              <a:rPr lang="en-US" sz="1200" dirty="0" smtClean="0">
                <a:solidFill>
                  <a:prstClr val="black"/>
                </a:solidFill>
              </a:rPr>
              <a:t>     The </a:t>
            </a:r>
            <a:r>
              <a:rPr lang="en-US" sz="1200" b="1" i="1" dirty="0" smtClean="0">
                <a:solidFill>
                  <a:srgbClr val="0000FF"/>
                </a:solidFill>
              </a:rPr>
              <a:t>higher</a:t>
            </a:r>
            <a:r>
              <a:rPr lang="en-US" sz="1200" dirty="0" smtClean="0">
                <a:solidFill>
                  <a:prstClr val="black"/>
                </a:solidFill>
              </a:rPr>
              <a:t> </a:t>
            </a:r>
            <a:r>
              <a:rPr lang="en-US" sz="1200" dirty="0">
                <a:solidFill>
                  <a:prstClr val="black"/>
                </a:solidFill>
              </a:rPr>
              <a:t>this value is, the </a:t>
            </a:r>
            <a:r>
              <a:rPr lang="en-US" sz="1200" dirty="0" smtClean="0">
                <a:solidFill>
                  <a:prstClr val="black"/>
                </a:solidFill>
              </a:rPr>
              <a:t>better</a:t>
            </a:r>
            <a:endParaRPr lang="en-US" sz="1200" dirty="0">
              <a:solidFill>
                <a:prstClr val="black"/>
              </a:solidFill>
            </a:endParaRPr>
          </a:p>
        </p:txBody>
      </p:sp>
      <p:sp>
        <p:nvSpPr>
          <p:cNvPr id="81" name="80 CuadroTexto"/>
          <p:cNvSpPr txBox="1"/>
          <p:nvPr/>
        </p:nvSpPr>
        <p:spPr>
          <a:xfrm>
            <a:off x="-21364" y="533400"/>
            <a:ext cx="9144000" cy="369332"/>
          </a:xfrm>
          <a:prstGeom prst="rect">
            <a:avLst/>
          </a:prstGeom>
          <a:noFill/>
        </p:spPr>
        <p:txBody>
          <a:bodyPr wrap="square" rtlCol="0">
            <a:spAutoFit/>
          </a:bodyPr>
          <a:lstStyle/>
          <a:p>
            <a:pPr marL="285750" indent="-285750">
              <a:buFont typeface="Wingdings" pitchFamily="2" charset="2"/>
              <a:buChar char="Ø"/>
            </a:pPr>
            <a:r>
              <a:rPr lang="en-US" sz="1400" dirty="0" smtClean="0">
                <a:solidFill>
                  <a:prstClr val="black"/>
                </a:solidFill>
              </a:rPr>
              <a:t>Fragmentation information is available </a:t>
            </a:r>
            <a:r>
              <a:rPr lang="en-US" sz="1400" dirty="0">
                <a:solidFill>
                  <a:prstClr val="black"/>
                </a:solidFill>
              </a:rPr>
              <a:t>through the view “</a:t>
            </a:r>
            <a:r>
              <a:rPr lang="en-US" b="1" dirty="0" err="1">
                <a:solidFill>
                  <a:srgbClr val="0000FF"/>
                </a:solidFill>
              </a:rPr>
              <a:t>dm_db_index_physical_stats</a:t>
            </a:r>
            <a:r>
              <a:rPr lang="en-US" sz="1400" dirty="0" smtClean="0">
                <a:solidFill>
                  <a:prstClr val="black"/>
                </a:solidFill>
              </a:rPr>
              <a:t>”</a:t>
            </a: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689022"/>
            <a:ext cx="9144000" cy="1649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7 CuadroTexto"/>
          <p:cNvSpPr txBox="1"/>
          <p:nvPr/>
        </p:nvSpPr>
        <p:spPr>
          <a:xfrm>
            <a:off x="10682" y="4817463"/>
            <a:ext cx="2427718" cy="246221"/>
          </a:xfrm>
          <a:prstGeom prst="rect">
            <a:avLst/>
          </a:prstGeom>
          <a:noFill/>
        </p:spPr>
        <p:txBody>
          <a:bodyPr wrap="square" rtlCol="0">
            <a:spAutoFit/>
          </a:bodyPr>
          <a:lstStyle/>
          <a:p>
            <a:r>
              <a:rPr lang="en-US" sz="1000" dirty="0" smtClean="0">
                <a:solidFill>
                  <a:prstClr val="black"/>
                </a:solidFill>
              </a:rPr>
              <a:t>The </a:t>
            </a:r>
            <a:r>
              <a:rPr lang="en-US" sz="1000" i="1" dirty="0" smtClean="0">
                <a:solidFill>
                  <a:prstClr val="black"/>
                </a:solidFill>
              </a:rPr>
              <a:t>Customers</a:t>
            </a:r>
            <a:r>
              <a:rPr lang="en-US" sz="1000" dirty="0" smtClean="0">
                <a:solidFill>
                  <a:prstClr val="black"/>
                </a:solidFill>
              </a:rPr>
              <a:t> Table is </a:t>
            </a:r>
            <a:r>
              <a:rPr lang="en-US" sz="1000" b="1" dirty="0" smtClean="0">
                <a:solidFill>
                  <a:prstClr val="black"/>
                </a:solidFill>
              </a:rPr>
              <a:t>heavily fragmented</a:t>
            </a:r>
          </a:p>
        </p:txBody>
      </p:sp>
      <p:sp>
        <p:nvSpPr>
          <p:cNvPr id="9" name="8 CuadroTexto"/>
          <p:cNvSpPr txBox="1"/>
          <p:nvPr/>
        </p:nvSpPr>
        <p:spPr>
          <a:xfrm>
            <a:off x="1600200" y="5586422"/>
            <a:ext cx="3352088" cy="584775"/>
          </a:xfrm>
          <a:prstGeom prst="rect">
            <a:avLst/>
          </a:prstGeom>
          <a:noFill/>
        </p:spPr>
        <p:txBody>
          <a:bodyPr wrap="square" rtlCol="0">
            <a:spAutoFit/>
          </a:bodyPr>
          <a:lstStyle/>
          <a:p>
            <a:r>
              <a:rPr lang="en-US" sz="1200" b="1" dirty="0" smtClean="0">
                <a:solidFill>
                  <a:srgbClr val="FF0000"/>
                </a:solidFill>
              </a:rPr>
              <a:t>External Fragmentation Detected!</a:t>
            </a:r>
          </a:p>
          <a:p>
            <a:pPr marL="171450" indent="-171450">
              <a:buFont typeface="Wingdings" pitchFamily="2" charset="2"/>
              <a:buChar char="ü"/>
            </a:pPr>
            <a:r>
              <a:rPr lang="en-US" sz="1000" dirty="0" smtClean="0">
                <a:solidFill>
                  <a:prstClr val="black"/>
                </a:solidFill>
              </a:rPr>
              <a:t>The leaf level of the Customers Table is fragmented.</a:t>
            </a:r>
          </a:p>
          <a:p>
            <a:pPr marL="171450" indent="-171450">
              <a:buFont typeface="Wingdings" pitchFamily="2" charset="2"/>
              <a:buChar char="ü"/>
            </a:pPr>
            <a:r>
              <a:rPr lang="en-US" sz="1000" dirty="0" smtClean="0">
                <a:solidFill>
                  <a:prstClr val="black"/>
                </a:solidFill>
              </a:rPr>
              <a:t>As you can see, the first non-leaf level is also fragmented.</a:t>
            </a:r>
          </a:p>
        </p:txBody>
      </p:sp>
      <p:sp>
        <p:nvSpPr>
          <p:cNvPr id="10" name="9 CuadroTexto"/>
          <p:cNvSpPr txBox="1"/>
          <p:nvPr/>
        </p:nvSpPr>
        <p:spPr>
          <a:xfrm>
            <a:off x="5410912" y="5572125"/>
            <a:ext cx="3352088" cy="584775"/>
          </a:xfrm>
          <a:prstGeom prst="rect">
            <a:avLst/>
          </a:prstGeom>
          <a:noFill/>
        </p:spPr>
        <p:txBody>
          <a:bodyPr wrap="square" rtlCol="0">
            <a:spAutoFit/>
          </a:bodyPr>
          <a:lstStyle/>
          <a:p>
            <a:r>
              <a:rPr lang="en-US" sz="1200" b="1" dirty="0" smtClean="0">
                <a:solidFill>
                  <a:srgbClr val="0000FF"/>
                </a:solidFill>
              </a:rPr>
              <a:t>Internal Fragmentation Detected!</a:t>
            </a:r>
          </a:p>
          <a:p>
            <a:pPr marL="171450" indent="-171450">
              <a:buFont typeface="Wingdings" pitchFamily="2" charset="2"/>
              <a:buChar char="ü"/>
            </a:pPr>
            <a:r>
              <a:rPr lang="en-US" sz="1000" dirty="0" smtClean="0">
                <a:solidFill>
                  <a:prstClr val="black"/>
                </a:solidFill>
              </a:rPr>
              <a:t>The root of the index is fragmented</a:t>
            </a:r>
          </a:p>
          <a:p>
            <a:pPr marL="171450" indent="-171450">
              <a:buFont typeface="Wingdings" pitchFamily="2" charset="2"/>
              <a:buChar char="ü"/>
            </a:pPr>
            <a:r>
              <a:rPr lang="en-US" sz="1000" dirty="0" smtClean="0">
                <a:solidFill>
                  <a:prstClr val="black"/>
                </a:solidFill>
              </a:rPr>
              <a:t>The non-leaf page below the root is also fragmented</a:t>
            </a:r>
          </a:p>
        </p:txBody>
      </p:sp>
      <p:pic>
        <p:nvPicPr>
          <p:cNvPr id="11" name="10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9496" y="5586422"/>
            <a:ext cx="470704" cy="470704"/>
          </a:xfrm>
          <a:prstGeom prst="rect">
            <a:avLst/>
          </a:prstGeom>
        </p:spPr>
      </p:pic>
      <p:pic>
        <p:nvPicPr>
          <p:cNvPr id="12" name="11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64395" y="5613772"/>
            <a:ext cx="470704" cy="470704"/>
          </a:xfrm>
          <a:prstGeom prst="rect">
            <a:avLst/>
          </a:prstGeom>
        </p:spPr>
      </p:pic>
      <p:cxnSp>
        <p:nvCxnSpPr>
          <p:cNvPr id="13" name="12 Conector recto de flecha"/>
          <p:cNvCxnSpPr/>
          <p:nvPr/>
        </p:nvCxnSpPr>
        <p:spPr>
          <a:xfrm>
            <a:off x="609600" y="3497237"/>
            <a:ext cx="0" cy="1320226"/>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p:nvPr/>
        </p:nvCxnSpPr>
        <p:spPr>
          <a:xfrm flipH="1">
            <a:off x="2987824" y="3124200"/>
            <a:ext cx="669776" cy="246222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18 Conector recto de flecha"/>
          <p:cNvCxnSpPr/>
          <p:nvPr/>
        </p:nvCxnSpPr>
        <p:spPr>
          <a:xfrm>
            <a:off x="5562600" y="3124200"/>
            <a:ext cx="809600" cy="2462222"/>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4" name="13 CuadroTexto"/>
          <p:cNvSpPr txBox="1"/>
          <p:nvPr/>
        </p:nvSpPr>
        <p:spPr>
          <a:xfrm>
            <a:off x="2642076" y="1952596"/>
            <a:ext cx="2158524" cy="400110"/>
          </a:xfrm>
          <a:prstGeom prst="rect">
            <a:avLst/>
          </a:prstGeom>
          <a:noFill/>
        </p:spPr>
        <p:txBody>
          <a:bodyPr wrap="square" rtlCol="0">
            <a:spAutoFit/>
          </a:bodyPr>
          <a:lstStyle/>
          <a:p>
            <a:r>
              <a:rPr lang="en-US" sz="1000" dirty="0">
                <a:solidFill>
                  <a:prstClr val="black"/>
                </a:solidFill>
              </a:rPr>
              <a:t>The percent of logical fragmentation </a:t>
            </a:r>
            <a:endParaRPr lang="en-US" sz="1000" dirty="0" smtClean="0">
              <a:solidFill>
                <a:prstClr val="black"/>
              </a:solidFill>
            </a:endParaRPr>
          </a:p>
          <a:p>
            <a:r>
              <a:rPr lang="en-US" sz="1000" dirty="0" smtClean="0">
                <a:solidFill>
                  <a:prstClr val="black"/>
                </a:solidFill>
              </a:rPr>
              <a:t>(</a:t>
            </a:r>
            <a:r>
              <a:rPr lang="en-US" sz="1000" dirty="0">
                <a:solidFill>
                  <a:prstClr val="black"/>
                </a:solidFill>
              </a:rPr>
              <a:t>out-of-order pages in the index</a:t>
            </a:r>
            <a:r>
              <a:rPr lang="en-US" sz="1000" dirty="0" smtClean="0">
                <a:solidFill>
                  <a:prstClr val="black"/>
                </a:solidFill>
              </a:rPr>
              <a:t>)</a:t>
            </a:r>
            <a:endParaRPr lang="en-US" sz="1000" b="1" dirty="0" smtClean="0">
              <a:solidFill>
                <a:prstClr val="black"/>
              </a:solidFill>
            </a:endParaRPr>
          </a:p>
        </p:txBody>
      </p:sp>
      <p:sp>
        <p:nvSpPr>
          <p:cNvPr id="17" name="16 Flecha abajo"/>
          <p:cNvSpPr/>
          <p:nvPr/>
        </p:nvSpPr>
        <p:spPr>
          <a:xfrm>
            <a:off x="4038600" y="2352706"/>
            <a:ext cx="152400" cy="33631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1" name="20 CuadroTexto"/>
          <p:cNvSpPr txBox="1"/>
          <p:nvPr/>
        </p:nvSpPr>
        <p:spPr>
          <a:xfrm>
            <a:off x="4833359" y="1970876"/>
            <a:ext cx="2158524" cy="400110"/>
          </a:xfrm>
          <a:prstGeom prst="rect">
            <a:avLst/>
          </a:prstGeom>
          <a:noFill/>
        </p:spPr>
        <p:txBody>
          <a:bodyPr wrap="square" rtlCol="0">
            <a:spAutoFit/>
          </a:bodyPr>
          <a:lstStyle/>
          <a:p>
            <a:r>
              <a:rPr lang="en-US" sz="1000" dirty="0">
                <a:solidFill>
                  <a:prstClr val="black"/>
                </a:solidFill>
              </a:rPr>
              <a:t>Average percentage of available data storage space used in all </a:t>
            </a:r>
            <a:r>
              <a:rPr lang="en-US" sz="1000" dirty="0" smtClean="0">
                <a:solidFill>
                  <a:prstClr val="black"/>
                </a:solidFill>
              </a:rPr>
              <a:t>pages</a:t>
            </a:r>
            <a:endParaRPr lang="en-US" sz="1000" b="1" dirty="0" smtClean="0">
              <a:solidFill>
                <a:prstClr val="black"/>
              </a:solidFill>
            </a:endParaRPr>
          </a:p>
        </p:txBody>
      </p:sp>
      <p:sp>
        <p:nvSpPr>
          <p:cNvPr id="22" name="21 Flecha abajo"/>
          <p:cNvSpPr/>
          <p:nvPr/>
        </p:nvSpPr>
        <p:spPr>
          <a:xfrm>
            <a:off x="5047347" y="2341257"/>
            <a:ext cx="152400" cy="33631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18" name="17 Grupo"/>
          <p:cNvGrpSpPr/>
          <p:nvPr/>
        </p:nvGrpSpPr>
        <p:grpSpPr>
          <a:xfrm>
            <a:off x="0" y="9525"/>
            <a:ext cx="9153525" cy="408388"/>
            <a:chOff x="0" y="9525"/>
            <a:chExt cx="9153525" cy="408388"/>
          </a:xfrm>
        </p:grpSpPr>
        <p:sp>
          <p:nvSpPr>
            <p:cNvPr id="20" name="19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How to detect Fragmentation?</a:t>
              </a:r>
              <a:endParaRPr lang="en-US" b="1" i="1" dirty="0">
                <a:solidFill>
                  <a:schemeClr val="bg1"/>
                </a:solidFill>
              </a:endParaRPr>
            </a:p>
          </p:txBody>
        </p:sp>
        <p:pic>
          <p:nvPicPr>
            <p:cNvPr id="23" name="22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4" name="23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24 Grupo"/>
          <p:cNvGrpSpPr/>
          <p:nvPr/>
        </p:nvGrpSpPr>
        <p:grpSpPr>
          <a:xfrm>
            <a:off x="9525" y="6574392"/>
            <a:ext cx="9134399" cy="277000"/>
            <a:chOff x="9525" y="6574392"/>
            <a:chExt cx="9134399" cy="277000"/>
          </a:xfrm>
        </p:grpSpPr>
        <p:sp>
          <p:nvSpPr>
            <p:cNvPr id="26" name="25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7" name="26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29974747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92936" y="972794"/>
            <a:ext cx="8915400" cy="1815882"/>
          </a:xfrm>
          <a:prstGeom prst="rect">
            <a:avLst/>
          </a:prstGeom>
          <a:noFill/>
          <a:ln>
            <a:solidFill>
              <a:schemeClr val="tx1"/>
            </a:solidFill>
          </a:ln>
        </p:spPr>
        <p:txBody>
          <a:bodyPr wrap="square" rtlCol="0">
            <a:spAutoFit/>
          </a:bodyPr>
          <a:lstStyle/>
          <a:p>
            <a:r>
              <a:rPr lang="en-US" sz="1400" b="1" dirty="0" smtClean="0">
                <a:solidFill>
                  <a:prstClr val="black"/>
                </a:solidFill>
              </a:rPr>
              <a:t>Best practice:</a:t>
            </a:r>
          </a:p>
          <a:p>
            <a:pPr marL="285750" indent="-285750">
              <a:buFont typeface="Wingdings" pitchFamily="2" charset="2"/>
              <a:buChar char="ü"/>
            </a:pPr>
            <a:r>
              <a:rPr lang="en-US" sz="1400" dirty="0" smtClean="0">
                <a:solidFill>
                  <a:prstClr val="black"/>
                </a:solidFill>
              </a:rPr>
              <a:t>Create a Clustered Index. Period. </a:t>
            </a:r>
          </a:p>
          <a:p>
            <a:endParaRPr lang="en-US" sz="1400" dirty="0">
              <a:solidFill>
                <a:prstClr val="black"/>
              </a:solidFill>
            </a:endParaRPr>
          </a:p>
          <a:p>
            <a:r>
              <a:rPr lang="en-US" sz="1400" b="1" dirty="0" smtClean="0">
                <a:solidFill>
                  <a:prstClr val="black"/>
                </a:solidFill>
              </a:rPr>
              <a:t>Bad Practice:</a:t>
            </a:r>
          </a:p>
          <a:p>
            <a:pPr marL="285750" indent="-285750">
              <a:buFont typeface="Wingdings" pitchFamily="2" charset="2"/>
              <a:buChar char="ü"/>
            </a:pPr>
            <a:r>
              <a:rPr lang="en-US" sz="1400" dirty="0" smtClean="0">
                <a:solidFill>
                  <a:prstClr val="black"/>
                </a:solidFill>
              </a:rPr>
              <a:t>Another alternative to </a:t>
            </a:r>
            <a:r>
              <a:rPr lang="en-US" sz="1400" dirty="0">
                <a:solidFill>
                  <a:prstClr val="black"/>
                </a:solidFill>
              </a:rPr>
              <a:t>reduce </a:t>
            </a:r>
            <a:r>
              <a:rPr lang="en-US" sz="1400" dirty="0" smtClean="0">
                <a:solidFill>
                  <a:prstClr val="black"/>
                </a:solidFill>
              </a:rPr>
              <a:t>fragmentation </a:t>
            </a:r>
            <a:r>
              <a:rPr lang="en-US" sz="1400" dirty="0">
                <a:solidFill>
                  <a:prstClr val="black"/>
                </a:solidFill>
              </a:rPr>
              <a:t>of a </a:t>
            </a:r>
            <a:r>
              <a:rPr lang="en-US" sz="1400" dirty="0" smtClean="0">
                <a:solidFill>
                  <a:prstClr val="black"/>
                </a:solidFill>
              </a:rPr>
              <a:t>heap is to </a:t>
            </a:r>
            <a:r>
              <a:rPr lang="en-US" sz="1400" dirty="0">
                <a:solidFill>
                  <a:prstClr val="black"/>
                </a:solidFill>
              </a:rPr>
              <a:t>create a clustered index on the </a:t>
            </a:r>
            <a:r>
              <a:rPr lang="en-US" sz="1400" dirty="0" smtClean="0">
                <a:solidFill>
                  <a:prstClr val="black"/>
                </a:solidFill>
              </a:rPr>
              <a:t>table, </a:t>
            </a:r>
            <a:r>
              <a:rPr lang="en-US" sz="1400" b="1" i="1" dirty="0">
                <a:solidFill>
                  <a:prstClr val="black"/>
                </a:solidFill>
              </a:rPr>
              <a:t>only for the purpose of de-fragmenting the Heap</a:t>
            </a:r>
            <a:r>
              <a:rPr lang="en-US" sz="1400" dirty="0">
                <a:solidFill>
                  <a:prstClr val="black"/>
                </a:solidFill>
              </a:rPr>
              <a:t>, and drop it </a:t>
            </a:r>
            <a:r>
              <a:rPr lang="en-US" sz="1400" dirty="0" smtClean="0">
                <a:solidFill>
                  <a:prstClr val="black"/>
                </a:solidFill>
              </a:rPr>
              <a:t>afterward</a:t>
            </a:r>
            <a:r>
              <a:rPr lang="en-US" sz="1400" dirty="0">
                <a:solidFill>
                  <a:prstClr val="black"/>
                </a:solidFill>
              </a:rPr>
              <a:t>s</a:t>
            </a:r>
            <a:r>
              <a:rPr lang="en-US" sz="1400" dirty="0" smtClean="0">
                <a:solidFill>
                  <a:prstClr val="black"/>
                </a:solidFill>
              </a:rPr>
              <a:t> </a:t>
            </a:r>
          </a:p>
          <a:p>
            <a:pPr marL="285750" indent="-285750">
              <a:buFont typeface="Wingdings" pitchFamily="2" charset="2"/>
              <a:buChar char="ü"/>
            </a:pPr>
            <a:r>
              <a:rPr lang="en-US" sz="1400" dirty="0" smtClean="0">
                <a:solidFill>
                  <a:prstClr val="black"/>
                </a:solidFill>
              </a:rPr>
              <a:t>Creating </a:t>
            </a:r>
            <a:r>
              <a:rPr lang="en-US" sz="1400" dirty="0">
                <a:solidFill>
                  <a:prstClr val="black"/>
                </a:solidFill>
              </a:rPr>
              <a:t>the clustered </a:t>
            </a:r>
            <a:r>
              <a:rPr lang="en-US" sz="1400" dirty="0" smtClean="0">
                <a:solidFill>
                  <a:prstClr val="black"/>
                </a:solidFill>
              </a:rPr>
              <a:t>index will rearrange </a:t>
            </a:r>
            <a:r>
              <a:rPr lang="en-US" sz="1400" dirty="0">
                <a:solidFill>
                  <a:prstClr val="black"/>
                </a:solidFill>
              </a:rPr>
              <a:t>the records in </a:t>
            </a:r>
            <a:r>
              <a:rPr lang="en-US" sz="1400" dirty="0" smtClean="0">
                <a:solidFill>
                  <a:prstClr val="black"/>
                </a:solidFill>
              </a:rPr>
              <a:t>physical order (the </a:t>
            </a:r>
            <a:r>
              <a:rPr lang="en-US" sz="1400" dirty="0">
                <a:solidFill>
                  <a:prstClr val="black"/>
                </a:solidFill>
              </a:rPr>
              <a:t>pages </a:t>
            </a:r>
            <a:r>
              <a:rPr lang="en-US" sz="1400" dirty="0" smtClean="0">
                <a:solidFill>
                  <a:prstClr val="black"/>
                </a:solidFill>
              </a:rPr>
              <a:t>will be stored contiguously </a:t>
            </a:r>
            <a:r>
              <a:rPr lang="en-US" sz="1400" dirty="0">
                <a:solidFill>
                  <a:prstClr val="black"/>
                </a:solidFill>
              </a:rPr>
              <a:t>on </a:t>
            </a:r>
            <a:r>
              <a:rPr lang="en-US" sz="1400" dirty="0" smtClean="0">
                <a:solidFill>
                  <a:prstClr val="black"/>
                </a:solidFill>
              </a:rPr>
              <a:t>disk)</a:t>
            </a:r>
          </a:p>
        </p:txBody>
      </p:sp>
      <p:sp>
        <p:nvSpPr>
          <p:cNvPr id="8" name="7 CuadroTexto"/>
          <p:cNvSpPr txBox="1"/>
          <p:nvPr/>
        </p:nvSpPr>
        <p:spPr>
          <a:xfrm>
            <a:off x="141010" y="3658097"/>
            <a:ext cx="9144000" cy="307777"/>
          </a:xfrm>
          <a:prstGeom prst="rect">
            <a:avLst/>
          </a:prstGeom>
          <a:noFill/>
        </p:spPr>
        <p:txBody>
          <a:bodyPr wrap="square" rtlCol="0">
            <a:spAutoFit/>
          </a:bodyPr>
          <a:lstStyle/>
          <a:p>
            <a:r>
              <a:rPr lang="en-US" sz="1400" dirty="0" smtClean="0">
                <a:solidFill>
                  <a:prstClr val="black"/>
                </a:solidFill>
              </a:rPr>
              <a:t>Depending </a:t>
            </a:r>
            <a:r>
              <a:rPr lang="en-US" sz="1400" dirty="0">
                <a:solidFill>
                  <a:prstClr val="black"/>
                </a:solidFill>
              </a:rPr>
              <a:t>on the percentage of </a:t>
            </a:r>
            <a:r>
              <a:rPr lang="en-US" sz="1400" dirty="0" smtClean="0">
                <a:solidFill>
                  <a:prstClr val="black"/>
                </a:solidFill>
              </a:rPr>
              <a:t>fragmentation…</a:t>
            </a:r>
            <a:endParaRPr lang="en-US" sz="1400" dirty="0">
              <a:solidFill>
                <a:prstClr val="black"/>
              </a:solidFill>
            </a:endParaRPr>
          </a:p>
        </p:txBody>
      </p:sp>
      <p:sp>
        <p:nvSpPr>
          <p:cNvPr id="12" name="11 CuadroTexto"/>
          <p:cNvSpPr txBox="1"/>
          <p:nvPr/>
        </p:nvSpPr>
        <p:spPr>
          <a:xfrm>
            <a:off x="92936" y="3334026"/>
            <a:ext cx="89154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400" b="1" dirty="0">
                <a:solidFill>
                  <a:prstClr val="black"/>
                </a:solidFill>
              </a:rPr>
              <a:t>How to reduce Fragmentation of an Index</a:t>
            </a:r>
          </a:p>
        </p:txBody>
      </p:sp>
      <p:graphicFrame>
        <p:nvGraphicFramePr>
          <p:cNvPr id="3" name="2 Tabla"/>
          <p:cNvGraphicFramePr>
            <a:graphicFrameLocks noGrp="1"/>
          </p:cNvGraphicFramePr>
          <p:nvPr>
            <p:extLst>
              <p:ext uri="{D42A27DB-BD31-4B8C-83A1-F6EECF244321}">
                <p14:modId xmlns:p14="http://schemas.microsoft.com/office/powerpoint/2010/main" val="2860818910"/>
              </p:ext>
            </p:extLst>
          </p:nvPr>
        </p:nvGraphicFramePr>
        <p:xfrm>
          <a:off x="170920" y="4057871"/>
          <a:ext cx="8744480" cy="1483360"/>
        </p:xfrm>
        <a:graphic>
          <a:graphicData uri="http://schemas.openxmlformats.org/drawingml/2006/table">
            <a:tbl>
              <a:tblPr firstRow="1" bandRow="1">
                <a:tableStyleId>{5C22544A-7EE6-4342-B048-85BDC9FD1C3A}</a:tableStyleId>
              </a:tblPr>
              <a:tblGrid>
                <a:gridCol w="3279180"/>
                <a:gridCol w="2550473"/>
                <a:gridCol w="2914827"/>
              </a:tblGrid>
              <a:tr h="370840">
                <a:tc>
                  <a:txBody>
                    <a:bodyPr/>
                    <a:lstStyle/>
                    <a:p>
                      <a:r>
                        <a:rPr lang="en-US" sz="1200" dirty="0" err="1" smtClean="0"/>
                        <a:t>avg_fragmentation_in_percent</a:t>
                      </a:r>
                      <a:endParaRPr lang="en-US" sz="1200" dirty="0"/>
                    </a:p>
                  </a:txBody>
                  <a:tcPr/>
                </a:tc>
                <a:tc>
                  <a:txBody>
                    <a:bodyPr/>
                    <a:lstStyle/>
                    <a:p>
                      <a:r>
                        <a:rPr lang="en-US" sz="1200" dirty="0" smtClean="0"/>
                        <a:t>Corrective Action</a:t>
                      </a:r>
                      <a:endParaRPr lang="en-US" sz="1200" dirty="0"/>
                    </a:p>
                  </a:txBody>
                  <a:tcPr/>
                </a:tc>
                <a:tc>
                  <a:txBody>
                    <a:bodyPr/>
                    <a:lstStyle/>
                    <a:p>
                      <a:r>
                        <a:rPr lang="en-US" sz="1200" dirty="0" smtClean="0"/>
                        <a:t>SQL Statement</a:t>
                      </a:r>
                      <a:endParaRPr lang="en-US" sz="1200" dirty="0"/>
                    </a:p>
                  </a:txBody>
                  <a:tcPr/>
                </a:tc>
              </a:tr>
              <a:tr h="370840">
                <a:tc>
                  <a:txBody>
                    <a:bodyPr/>
                    <a:lstStyle/>
                    <a:p>
                      <a:r>
                        <a:rPr lang="en-US" sz="1200" dirty="0" smtClean="0"/>
                        <a:t>Less than 5% logical fragmentation</a:t>
                      </a:r>
                      <a:endParaRPr lang="en-US" sz="1200" dirty="0"/>
                    </a:p>
                  </a:txBody>
                  <a:tcPr/>
                </a:tc>
                <a:tc>
                  <a:txBody>
                    <a:bodyPr/>
                    <a:lstStyle/>
                    <a:p>
                      <a:r>
                        <a:rPr lang="en-US" sz="1200" dirty="0" smtClean="0"/>
                        <a:t>No action required</a:t>
                      </a:r>
                      <a:endParaRPr lang="en-US" sz="1200" dirty="0"/>
                    </a:p>
                  </a:txBody>
                  <a:tcPr/>
                </a:tc>
                <a:tc>
                  <a:txBody>
                    <a:bodyPr/>
                    <a:lstStyle/>
                    <a:p>
                      <a:r>
                        <a:rPr lang="en-US" sz="1200" dirty="0" smtClean="0"/>
                        <a:t>N/A</a:t>
                      </a:r>
                      <a:endParaRPr lang="en-US" sz="1200" dirty="0"/>
                    </a:p>
                  </a:txBody>
                  <a:tcPr/>
                </a:tc>
              </a:tr>
              <a:tr h="370840">
                <a:tc>
                  <a:txBody>
                    <a:bodyPr/>
                    <a:lstStyle/>
                    <a:p>
                      <a:r>
                        <a:rPr lang="en-US" sz="1200" b="0" i="0" kern="1200" dirty="0" smtClean="0">
                          <a:solidFill>
                            <a:schemeClr val="dk1"/>
                          </a:solidFill>
                          <a:effectLst/>
                          <a:latin typeface="+mn-lt"/>
                          <a:ea typeface="+mn-ea"/>
                          <a:cs typeface="+mn-cs"/>
                        </a:rPr>
                        <a:t>between 5% and 30% logical fragmentation</a:t>
                      </a:r>
                      <a:endParaRPr lang="en-US" sz="1200" dirty="0"/>
                    </a:p>
                  </a:txBody>
                  <a:tcPr/>
                </a:tc>
                <a:tc>
                  <a:txBody>
                    <a:bodyPr/>
                    <a:lstStyle/>
                    <a:p>
                      <a:r>
                        <a:rPr lang="en-US" sz="1200" b="0" i="0" kern="1200" dirty="0" smtClean="0">
                          <a:solidFill>
                            <a:schemeClr val="dk1"/>
                          </a:solidFill>
                          <a:effectLst/>
                          <a:latin typeface="+mn-lt"/>
                          <a:ea typeface="+mn-ea"/>
                          <a:cs typeface="+mn-cs"/>
                        </a:rPr>
                        <a:t>Reorganize the index</a:t>
                      </a:r>
                      <a:endParaRPr lang="en-US" sz="1200" dirty="0"/>
                    </a:p>
                  </a:txBody>
                  <a:tcPr/>
                </a:tc>
                <a:tc>
                  <a:txBody>
                    <a:bodyPr/>
                    <a:lstStyle/>
                    <a:p>
                      <a:r>
                        <a:rPr lang="en-US" sz="1200" b="1" dirty="0" smtClean="0"/>
                        <a:t>ALTER INDEX</a:t>
                      </a:r>
                      <a:r>
                        <a:rPr lang="en-US" sz="1200" dirty="0" smtClean="0"/>
                        <a:t> </a:t>
                      </a:r>
                      <a:r>
                        <a:rPr lang="en-US" sz="1200" b="1" dirty="0" smtClean="0"/>
                        <a:t>REORGANIZE</a:t>
                      </a:r>
                      <a:endParaRPr lang="en-US" sz="1200" dirty="0"/>
                    </a:p>
                  </a:txBody>
                  <a:tcPr/>
                </a:tc>
              </a:tr>
              <a:tr h="370840">
                <a:tc>
                  <a:txBody>
                    <a:bodyPr/>
                    <a:lstStyle/>
                    <a:p>
                      <a:r>
                        <a:rPr lang="en-US" sz="1200" b="0" i="0" kern="1200" dirty="0" smtClean="0">
                          <a:solidFill>
                            <a:schemeClr val="dk1"/>
                          </a:solidFill>
                          <a:effectLst/>
                          <a:latin typeface="+mn-lt"/>
                          <a:ea typeface="+mn-ea"/>
                          <a:cs typeface="+mn-cs"/>
                        </a:rPr>
                        <a:t>more than 30% logical fragmentation</a:t>
                      </a:r>
                      <a:endParaRPr lang="en-US" sz="1200" dirty="0"/>
                    </a:p>
                  </a:txBody>
                  <a:tcPr/>
                </a:tc>
                <a:tc>
                  <a:txBody>
                    <a:bodyPr/>
                    <a:lstStyle/>
                    <a:p>
                      <a:r>
                        <a:rPr lang="en-US" sz="1200" b="0" i="0" kern="1200" dirty="0" smtClean="0">
                          <a:solidFill>
                            <a:schemeClr val="dk1"/>
                          </a:solidFill>
                          <a:effectLst/>
                          <a:latin typeface="+mn-lt"/>
                          <a:ea typeface="+mn-ea"/>
                          <a:cs typeface="+mn-cs"/>
                        </a:rPr>
                        <a:t>Rebuild the index</a:t>
                      </a:r>
                      <a:endParaRPr lang="en-US" sz="1200" dirty="0"/>
                    </a:p>
                  </a:txBody>
                  <a:tcPr/>
                </a:tc>
                <a:tc>
                  <a:txBody>
                    <a:bodyPr/>
                    <a:lstStyle/>
                    <a:p>
                      <a:r>
                        <a:rPr lang="en-US" sz="1200" b="1" dirty="0" smtClean="0"/>
                        <a:t>ALTER INDEX REBUILD</a:t>
                      </a:r>
                      <a:endParaRPr lang="en-US" sz="1200" dirty="0"/>
                    </a:p>
                  </a:txBody>
                  <a:tcPr/>
                </a:tc>
              </a:tr>
            </a:tbl>
          </a:graphicData>
        </a:graphic>
      </p:graphicFrame>
      <p:sp>
        <p:nvSpPr>
          <p:cNvPr id="15" name="14 CuadroTexto"/>
          <p:cNvSpPr txBox="1"/>
          <p:nvPr/>
        </p:nvSpPr>
        <p:spPr>
          <a:xfrm>
            <a:off x="160950" y="5710535"/>
            <a:ext cx="5355364" cy="461665"/>
          </a:xfrm>
          <a:prstGeom prst="rect">
            <a:avLst/>
          </a:prstGeom>
          <a:noFill/>
        </p:spPr>
        <p:txBody>
          <a:bodyPr wrap="square" rtlCol="0">
            <a:spAutoFit/>
          </a:bodyPr>
          <a:lstStyle/>
          <a:p>
            <a:r>
              <a:rPr lang="en-US" sz="1200" dirty="0" smtClean="0">
                <a:solidFill>
                  <a:prstClr val="black"/>
                </a:solidFill>
              </a:rPr>
              <a:t>These </a:t>
            </a:r>
            <a:r>
              <a:rPr lang="en-US" sz="1200" dirty="0">
                <a:solidFill>
                  <a:prstClr val="black"/>
                </a:solidFill>
              </a:rPr>
              <a:t>threshold </a:t>
            </a:r>
            <a:r>
              <a:rPr lang="en-US" sz="1200" dirty="0" smtClean="0">
                <a:solidFill>
                  <a:prstClr val="black"/>
                </a:solidFill>
              </a:rPr>
              <a:t>values (5% - 30%) are made up. </a:t>
            </a:r>
            <a:r>
              <a:rPr lang="en-US" sz="1200" dirty="0">
                <a:solidFill>
                  <a:prstClr val="black"/>
                </a:solidFill>
              </a:rPr>
              <a:t>They can and will vary for </a:t>
            </a:r>
            <a:r>
              <a:rPr lang="en-US" sz="1200" dirty="0" smtClean="0">
                <a:solidFill>
                  <a:prstClr val="black"/>
                </a:solidFill>
              </a:rPr>
              <a:t>you.</a:t>
            </a:r>
          </a:p>
          <a:p>
            <a:r>
              <a:rPr lang="en-US" sz="1200" dirty="0" smtClean="0">
                <a:solidFill>
                  <a:prstClr val="black"/>
                </a:solidFill>
              </a:rPr>
              <a:t>They are more like a </a:t>
            </a:r>
            <a:r>
              <a:rPr lang="en-US" sz="1200" b="1" dirty="0" smtClean="0">
                <a:solidFill>
                  <a:prstClr val="black"/>
                </a:solidFill>
              </a:rPr>
              <a:t>guideline</a:t>
            </a:r>
            <a:r>
              <a:rPr lang="en-US" sz="1200" dirty="0" smtClean="0">
                <a:solidFill>
                  <a:prstClr val="black"/>
                </a:solidFill>
              </a:rPr>
              <a:t>, </a:t>
            </a:r>
            <a:r>
              <a:rPr lang="en-US" sz="1200" i="1" dirty="0" smtClean="0">
                <a:solidFill>
                  <a:prstClr val="black"/>
                </a:solidFill>
              </a:rPr>
              <a:t>a starting point</a:t>
            </a:r>
            <a:r>
              <a:rPr lang="en-US" sz="1200" dirty="0" smtClean="0">
                <a:solidFill>
                  <a:prstClr val="black"/>
                </a:solidFill>
              </a:rPr>
              <a:t>.</a:t>
            </a:r>
            <a:endParaRPr lang="en-US" sz="1200" dirty="0">
              <a:solidFill>
                <a:prstClr val="black"/>
              </a:solidFill>
            </a:endParaRPr>
          </a:p>
        </p:txBody>
      </p:sp>
      <p:sp>
        <p:nvSpPr>
          <p:cNvPr id="18" name="17 CuadroTexto"/>
          <p:cNvSpPr txBox="1"/>
          <p:nvPr/>
        </p:nvSpPr>
        <p:spPr>
          <a:xfrm>
            <a:off x="92936" y="665017"/>
            <a:ext cx="89154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400" b="1" dirty="0">
                <a:solidFill>
                  <a:prstClr val="black"/>
                </a:solidFill>
              </a:rPr>
              <a:t>How to reduce Fragmentation of a Heap</a:t>
            </a:r>
          </a:p>
        </p:txBody>
      </p:sp>
      <p:sp>
        <p:nvSpPr>
          <p:cNvPr id="14" name="13 Rectángulo"/>
          <p:cNvSpPr/>
          <p:nvPr/>
        </p:nvSpPr>
        <p:spPr>
          <a:xfrm>
            <a:off x="92936" y="3641803"/>
            <a:ext cx="8915400" cy="260659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10" name="9 Grupo"/>
          <p:cNvGrpSpPr/>
          <p:nvPr/>
        </p:nvGrpSpPr>
        <p:grpSpPr>
          <a:xfrm>
            <a:off x="9525" y="6574392"/>
            <a:ext cx="9134399" cy="277000"/>
            <a:chOff x="9525" y="6574392"/>
            <a:chExt cx="9134399" cy="277000"/>
          </a:xfrm>
        </p:grpSpPr>
        <p:sp>
          <p:nvSpPr>
            <p:cNvPr id="11" name="10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3" name="1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6" name="15 Grupo"/>
          <p:cNvGrpSpPr/>
          <p:nvPr/>
        </p:nvGrpSpPr>
        <p:grpSpPr>
          <a:xfrm>
            <a:off x="0" y="9525"/>
            <a:ext cx="9153525" cy="408388"/>
            <a:chOff x="0" y="9525"/>
            <a:chExt cx="9153525" cy="408388"/>
          </a:xfrm>
        </p:grpSpPr>
        <p:sp>
          <p:nvSpPr>
            <p:cNvPr id="17" name="16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How to reduce Fragmentation?</a:t>
              </a:r>
              <a:endParaRPr lang="en-US" b="1" i="1" dirty="0">
                <a:solidFill>
                  <a:schemeClr val="bg1"/>
                </a:solidFill>
              </a:endParaRPr>
            </a:p>
          </p:txBody>
        </p:sp>
        <p:pic>
          <p:nvPicPr>
            <p:cNvPr id="19" name="18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 name="19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9525022"/>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 y="5220067"/>
            <a:ext cx="3971925"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 y="5968524"/>
            <a:ext cx="6210300"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6 CuadroTexto"/>
          <p:cNvSpPr txBox="1"/>
          <p:nvPr/>
        </p:nvSpPr>
        <p:spPr>
          <a:xfrm>
            <a:off x="0" y="990600"/>
            <a:ext cx="9144000" cy="954107"/>
          </a:xfrm>
          <a:prstGeom prst="rect">
            <a:avLst/>
          </a:prstGeom>
          <a:noFill/>
        </p:spPr>
        <p:txBody>
          <a:bodyPr wrap="square" rtlCol="0">
            <a:spAutoFit/>
          </a:bodyPr>
          <a:lstStyle/>
          <a:p>
            <a:pPr marL="285750" indent="-285750">
              <a:buFont typeface="Wingdings" pitchFamily="2" charset="2"/>
              <a:buChar char="Ø"/>
            </a:pPr>
            <a:r>
              <a:rPr lang="en-US" sz="1400" dirty="0">
                <a:solidFill>
                  <a:prstClr val="black"/>
                </a:solidFill>
              </a:rPr>
              <a:t>Rebuilding an index updates the statistics, but if the statistics aren't up-to-date </a:t>
            </a:r>
            <a:endParaRPr lang="en-US" sz="1400" dirty="0" smtClean="0">
              <a:solidFill>
                <a:prstClr val="black"/>
              </a:solidFill>
            </a:endParaRPr>
          </a:p>
          <a:p>
            <a:r>
              <a:rPr lang="en-US" sz="1400" dirty="0">
                <a:solidFill>
                  <a:prstClr val="black"/>
                </a:solidFill>
              </a:rPr>
              <a:t> </a:t>
            </a:r>
            <a:r>
              <a:rPr lang="en-US" sz="1400" dirty="0" smtClean="0">
                <a:solidFill>
                  <a:prstClr val="black"/>
                </a:solidFill>
              </a:rPr>
              <a:t>      then </a:t>
            </a:r>
            <a:r>
              <a:rPr lang="en-US" sz="1400" dirty="0">
                <a:solidFill>
                  <a:prstClr val="black"/>
                </a:solidFill>
              </a:rPr>
              <a:t>the index rebuild might parallelize badly</a:t>
            </a:r>
          </a:p>
          <a:p>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Therefore, you should </a:t>
            </a:r>
            <a:r>
              <a:rPr lang="en-US" sz="1400" b="1" dirty="0" smtClean="0">
                <a:solidFill>
                  <a:prstClr val="black"/>
                </a:solidFill>
              </a:rPr>
              <a:t>Update the Database statistics first</a:t>
            </a:r>
            <a:r>
              <a:rPr lang="en-US" sz="1400" dirty="0" smtClean="0">
                <a:solidFill>
                  <a:prstClr val="black"/>
                </a:solidFill>
              </a:rPr>
              <a:t>, and then rebuild/reorganize the indexes.</a:t>
            </a:r>
          </a:p>
        </p:txBody>
      </p:sp>
      <p:sp>
        <p:nvSpPr>
          <p:cNvPr id="11" name="10 CuadroTexto"/>
          <p:cNvSpPr txBox="1"/>
          <p:nvPr/>
        </p:nvSpPr>
        <p:spPr>
          <a:xfrm>
            <a:off x="0" y="609600"/>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a:solidFill>
                  <a:prstClr val="black"/>
                </a:solidFill>
              </a:rPr>
              <a:t>Index rebuilds depend on stats, which are updated by index </a:t>
            </a:r>
            <a:r>
              <a:rPr lang="en-US" sz="1400" b="1" dirty="0" smtClean="0">
                <a:solidFill>
                  <a:prstClr val="black"/>
                </a:solidFill>
              </a:rPr>
              <a:t>rebuilds   (huh?!?!?!)</a:t>
            </a:r>
            <a:endParaRPr lang="en-US" sz="1400" b="1" dirty="0">
              <a:solidFill>
                <a:prstClr val="black"/>
              </a:solidFill>
            </a:endParaRPr>
          </a:p>
        </p:txBody>
      </p:sp>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1944707"/>
            <a:ext cx="1562100"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0940" y="2415883"/>
            <a:ext cx="3866260" cy="2356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12 CuadroTexto"/>
          <p:cNvSpPr txBox="1"/>
          <p:nvPr/>
        </p:nvSpPr>
        <p:spPr>
          <a:xfrm>
            <a:off x="7543800" y="6019800"/>
            <a:ext cx="1600200" cy="369332"/>
          </a:xfrm>
          <a:prstGeom prst="rect">
            <a:avLst/>
          </a:prstGeom>
          <a:solidFill>
            <a:schemeClr val="accent3">
              <a:lumMod val="75000"/>
            </a:schemeClr>
          </a:solidFill>
        </p:spPr>
        <p:txBody>
          <a:bodyPr wrap="square" rtlCol="0">
            <a:spAutoFit/>
          </a:bodyPr>
          <a:lstStyle/>
          <a:p>
            <a:pPr algn="r"/>
            <a:r>
              <a:rPr lang="en-US" dirty="0" smtClean="0">
                <a:solidFill>
                  <a:prstClr val="white"/>
                </a:solidFill>
              </a:rPr>
              <a:t>Hands On </a:t>
            </a:r>
            <a:r>
              <a:rPr lang="en-US" dirty="0" smtClean="0">
                <a:solidFill>
                  <a:prstClr val="white"/>
                </a:solidFill>
                <a:sym typeface="Wingdings" pitchFamily="2" charset="2"/>
              </a:rPr>
              <a:t></a:t>
            </a:r>
            <a:endParaRPr lang="en-US" dirty="0">
              <a:solidFill>
                <a:prstClr val="white"/>
              </a:solidFill>
            </a:endParaRPr>
          </a:p>
        </p:txBody>
      </p:sp>
      <p:sp>
        <p:nvSpPr>
          <p:cNvPr id="16" name="15 CuadroTexto"/>
          <p:cNvSpPr txBox="1"/>
          <p:nvPr/>
        </p:nvSpPr>
        <p:spPr>
          <a:xfrm>
            <a:off x="342899" y="4981789"/>
            <a:ext cx="2514601" cy="276999"/>
          </a:xfrm>
          <a:prstGeom prst="rect">
            <a:avLst/>
          </a:prstGeom>
          <a:noFill/>
        </p:spPr>
        <p:txBody>
          <a:bodyPr wrap="square" rtlCol="0">
            <a:spAutoFit/>
          </a:bodyPr>
          <a:lstStyle/>
          <a:p>
            <a:r>
              <a:rPr lang="en-US" sz="1200" dirty="0" smtClean="0">
                <a:solidFill>
                  <a:prstClr val="black"/>
                </a:solidFill>
              </a:rPr>
              <a:t>Option #1: Reorganize the index</a:t>
            </a:r>
          </a:p>
        </p:txBody>
      </p:sp>
      <p:sp>
        <p:nvSpPr>
          <p:cNvPr id="17" name="16 CuadroTexto"/>
          <p:cNvSpPr txBox="1"/>
          <p:nvPr/>
        </p:nvSpPr>
        <p:spPr>
          <a:xfrm>
            <a:off x="325097" y="5721548"/>
            <a:ext cx="2351874" cy="276999"/>
          </a:xfrm>
          <a:prstGeom prst="rect">
            <a:avLst/>
          </a:prstGeom>
          <a:noFill/>
        </p:spPr>
        <p:txBody>
          <a:bodyPr wrap="square" rtlCol="0">
            <a:spAutoFit/>
          </a:bodyPr>
          <a:lstStyle/>
          <a:p>
            <a:r>
              <a:rPr lang="en-US" sz="1200" dirty="0" smtClean="0">
                <a:solidFill>
                  <a:prstClr val="black"/>
                </a:solidFill>
              </a:rPr>
              <a:t>Option #2: Rebuild the index</a:t>
            </a:r>
          </a:p>
        </p:txBody>
      </p:sp>
      <p:grpSp>
        <p:nvGrpSpPr>
          <p:cNvPr id="12" name="11 Grupo"/>
          <p:cNvGrpSpPr/>
          <p:nvPr/>
        </p:nvGrpSpPr>
        <p:grpSpPr>
          <a:xfrm>
            <a:off x="0" y="9525"/>
            <a:ext cx="9153525" cy="408388"/>
            <a:chOff x="0" y="9525"/>
            <a:chExt cx="9153525" cy="408388"/>
          </a:xfrm>
        </p:grpSpPr>
        <p:sp>
          <p:nvSpPr>
            <p:cNvPr id="14" name="13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How to reduce Fragmentation?</a:t>
              </a:r>
              <a:endParaRPr lang="en-US" b="1" i="1" dirty="0">
                <a:solidFill>
                  <a:schemeClr val="bg1"/>
                </a:solidFill>
              </a:endParaRPr>
            </a:p>
          </p:txBody>
        </p:sp>
        <p:pic>
          <p:nvPicPr>
            <p:cNvPr id="15" name="14 Imagen"/>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1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18 Grupo"/>
          <p:cNvGrpSpPr/>
          <p:nvPr/>
        </p:nvGrpSpPr>
        <p:grpSpPr>
          <a:xfrm>
            <a:off x="9525" y="6574392"/>
            <a:ext cx="9134399" cy="277000"/>
            <a:chOff x="9525" y="6574392"/>
            <a:chExt cx="9134399" cy="277000"/>
          </a:xfrm>
        </p:grpSpPr>
        <p:sp>
          <p:nvSpPr>
            <p:cNvPr id="20" name="19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1" name="20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14134152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CuadroTexto"/>
          <p:cNvSpPr txBox="1"/>
          <p:nvPr/>
        </p:nvSpPr>
        <p:spPr>
          <a:xfrm>
            <a:off x="0" y="762000"/>
            <a:ext cx="9144000" cy="2031325"/>
          </a:xfrm>
          <a:prstGeom prst="rect">
            <a:avLst/>
          </a:prstGeom>
          <a:noFill/>
        </p:spPr>
        <p:txBody>
          <a:bodyPr wrap="square" rtlCol="0">
            <a:spAutoFit/>
          </a:bodyPr>
          <a:lstStyle/>
          <a:p>
            <a:pPr marL="285750" indent="-285750">
              <a:buFont typeface="Wingdings" pitchFamily="2" charset="2"/>
              <a:buChar char="Ø"/>
            </a:pPr>
            <a:r>
              <a:rPr lang="en-US" sz="1400" dirty="0">
                <a:solidFill>
                  <a:prstClr val="black"/>
                </a:solidFill>
              </a:rPr>
              <a:t>Historically, </a:t>
            </a:r>
            <a:r>
              <a:rPr lang="en-US" sz="1400" dirty="0" smtClean="0">
                <a:solidFill>
                  <a:prstClr val="black"/>
                </a:solidFill>
              </a:rPr>
              <a:t>the </a:t>
            </a:r>
            <a:r>
              <a:rPr lang="en-US" sz="1400" b="1" dirty="0" smtClean="0">
                <a:solidFill>
                  <a:prstClr val="black"/>
                </a:solidFill>
              </a:rPr>
              <a:t>x86</a:t>
            </a:r>
            <a:r>
              <a:rPr lang="en-US" sz="1400" dirty="0" smtClean="0">
                <a:solidFill>
                  <a:prstClr val="black"/>
                </a:solidFill>
              </a:rPr>
              <a:t> family of microprocessors was conceived to deal with a single “core” in mind.</a:t>
            </a:r>
          </a:p>
          <a:p>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Following Moore’s Law, </a:t>
            </a:r>
            <a:r>
              <a:rPr lang="en-US" sz="1400" dirty="0">
                <a:solidFill>
                  <a:prstClr val="black"/>
                </a:solidFill>
              </a:rPr>
              <a:t>transistor density </a:t>
            </a:r>
            <a:r>
              <a:rPr lang="en-US" sz="1400" dirty="0" smtClean="0">
                <a:solidFill>
                  <a:prstClr val="black"/>
                </a:solidFill>
              </a:rPr>
              <a:t>(</a:t>
            </a:r>
            <a:r>
              <a:rPr lang="en-US" sz="1400" i="1" dirty="0" smtClean="0">
                <a:solidFill>
                  <a:prstClr val="black"/>
                </a:solidFill>
              </a:rPr>
              <a:t>or </a:t>
            </a:r>
            <a:r>
              <a:rPr lang="en-US" sz="1400" i="1" dirty="0">
                <a:solidFill>
                  <a:prstClr val="black"/>
                </a:solidFill>
              </a:rPr>
              <a:t>the number of transistors which can be placed on an integrated </a:t>
            </a:r>
            <a:r>
              <a:rPr lang="en-US" sz="1400" i="1" dirty="0" smtClean="0">
                <a:solidFill>
                  <a:prstClr val="black"/>
                </a:solidFill>
              </a:rPr>
              <a:t>circuit</a:t>
            </a:r>
            <a:r>
              <a:rPr lang="en-US" sz="1400" dirty="0" smtClean="0">
                <a:solidFill>
                  <a:prstClr val="black"/>
                </a:solidFill>
              </a:rPr>
              <a:t>) </a:t>
            </a:r>
            <a:r>
              <a:rPr lang="en-US" sz="1400" dirty="0">
                <a:solidFill>
                  <a:prstClr val="black"/>
                </a:solidFill>
              </a:rPr>
              <a:t>have consistently doubled every 2 years since the development of the first general purpose single chip CPU in 1971. </a:t>
            </a:r>
            <a:endParaRPr lang="en-US" sz="1400" dirty="0" smtClean="0">
              <a:solidFill>
                <a:prstClr val="black"/>
              </a:solidFill>
            </a:endParaRPr>
          </a:p>
          <a:p>
            <a:endParaRPr lang="en-US" sz="1400" dirty="0">
              <a:solidFill>
                <a:prstClr val="black"/>
              </a:solidFill>
            </a:endParaRPr>
          </a:p>
          <a:p>
            <a:pPr marL="285750" indent="-285750">
              <a:buFont typeface="Wingdings" pitchFamily="2" charset="2"/>
              <a:buChar char="Ø"/>
            </a:pPr>
            <a:r>
              <a:rPr lang="en-US" sz="1400" dirty="0" smtClean="0">
                <a:solidFill>
                  <a:prstClr val="black"/>
                </a:solidFill>
              </a:rPr>
              <a:t>By 2013 we use parallel CPUs and multiple cores.</a:t>
            </a:r>
          </a:p>
          <a:p>
            <a:pPr marL="285750" indent="-285750">
              <a:buFont typeface="Wingdings" pitchFamily="2" charset="2"/>
              <a:buChar char="Ø"/>
            </a:pPr>
            <a:endParaRPr lang="en-US" sz="1400" dirty="0" smtClean="0">
              <a:solidFill>
                <a:prstClr val="black"/>
              </a:solidFill>
            </a:endParaRPr>
          </a:p>
          <a:p>
            <a:pPr marL="285750" indent="-285750">
              <a:buFont typeface="Wingdings" pitchFamily="2" charset="2"/>
              <a:buChar char="Ø"/>
            </a:pPr>
            <a:r>
              <a:rPr lang="en-US" sz="1400" dirty="0">
                <a:solidFill>
                  <a:prstClr val="black"/>
                </a:solidFill>
              </a:rPr>
              <a:t>Intel Nehalem CPU architecture accommodates up to 8 cores per CPU, which when used in an 8 socket system can then be doubled to </a:t>
            </a:r>
            <a:r>
              <a:rPr lang="en-US" sz="1400" b="1" dirty="0">
                <a:solidFill>
                  <a:prstClr val="black"/>
                </a:solidFill>
              </a:rPr>
              <a:t>128 logical processors</a:t>
            </a:r>
            <a:r>
              <a:rPr lang="en-US" sz="1400" dirty="0">
                <a:solidFill>
                  <a:prstClr val="black"/>
                </a:solidFill>
              </a:rPr>
              <a:t> through the use of </a:t>
            </a:r>
            <a:r>
              <a:rPr lang="en-US" sz="1400" i="1" dirty="0">
                <a:solidFill>
                  <a:prstClr val="black"/>
                </a:solidFill>
              </a:rPr>
              <a:t>hyper-threading technology</a:t>
            </a:r>
            <a:r>
              <a:rPr lang="en-US" sz="1400" dirty="0" smtClean="0">
                <a:solidFill>
                  <a:prstClr val="black"/>
                </a:solidFill>
              </a:rPr>
              <a:t>.</a:t>
            </a:r>
          </a:p>
        </p:txBody>
      </p:sp>
      <p:sp>
        <p:nvSpPr>
          <p:cNvPr id="7" name="6 CuadroTexto"/>
          <p:cNvSpPr txBox="1"/>
          <p:nvPr/>
        </p:nvSpPr>
        <p:spPr>
          <a:xfrm>
            <a:off x="1398340" y="3068960"/>
            <a:ext cx="6336704" cy="738664"/>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pPr algn="ctr"/>
            <a:r>
              <a:rPr lang="en-US" sz="1400" dirty="0" smtClean="0">
                <a:solidFill>
                  <a:prstClr val="black"/>
                </a:solidFill>
              </a:rPr>
              <a:t>As </a:t>
            </a:r>
            <a:r>
              <a:rPr lang="en-US" sz="1400" dirty="0">
                <a:solidFill>
                  <a:prstClr val="black"/>
                </a:solidFill>
              </a:rPr>
              <a:t>the number of logical processors on x86 compatible computers increases </a:t>
            </a:r>
            <a:r>
              <a:rPr lang="en-US" sz="1400" dirty="0" smtClean="0">
                <a:solidFill>
                  <a:prstClr val="black"/>
                </a:solidFill>
              </a:rPr>
              <a:t> </a:t>
            </a:r>
            <a:r>
              <a:rPr lang="en-US" sz="1400" dirty="0" smtClean="0">
                <a:solidFill>
                  <a:prstClr val="black"/>
                </a:solidFill>
                <a:sym typeface="Wingdings" pitchFamily="2" charset="2"/>
              </a:rPr>
              <a:t></a:t>
            </a:r>
            <a:endParaRPr lang="en-US" sz="1400" dirty="0" smtClean="0">
              <a:solidFill>
                <a:prstClr val="black"/>
              </a:solidFill>
            </a:endParaRPr>
          </a:p>
          <a:p>
            <a:pPr algn="ctr"/>
            <a:r>
              <a:rPr lang="en-US" sz="1400" dirty="0" smtClean="0">
                <a:solidFill>
                  <a:prstClr val="black"/>
                </a:solidFill>
              </a:rPr>
              <a:t>so </a:t>
            </a:r>
            <a:r>
              <a:rPr lang="en-US" sz="1400" dirty="0">
                <a:solidFill>
                  <a:prstClr val="black"/>
                </a:solidFill>
              </a:rPr>
              <a:t>too does the possibility that concurrency related issues may occur </a:t>
            </a:r>
            <a:r>
              <a:rPr lang="en-US" sz="1400" dirty="0" smtClean="0">
                <a:solidFill>
                  <a:prstClr val="black"/>
                </a:solidFill>
              </a:rPr>
              <a:t>  </a:t>
            </a:r>
            <a:r>
              <a:rPr lang="en-US" sz="1400" dirty="0" smtClean="0">
                <a:solidFill>
                  <a:prstClr val="black"/>
                </a:solidFill>
                <a:sym typeface="Wingdings" pitchFamily="2" charset="2"/>
              </a:rPr>
              <a:t></a:t>
            </a:r>
            <a:endParaRPr lang="en-US" sz="1400" dirty="0" smtClean="0">
              <a:solidFill>
                <a:prstClr val="black"/>
              </a:solidFill>
            </a:endParaRPr>
          </a:p>
          <a:p>
            <a:pPr algn="ctr"/>
            <a:r>
              <a:rPr lang="en-US" sz="1400" dirty="0" smtClean="0">
                <a:solidFill>
                  <a:prstClr val="black"/>
                </a:solidFill>
              </a:rPr>
              <a:t>when </a:t>
            </a:r>
            <a:r>
              <a:rPr lang="en-US" sz="1400" dirty="0">
                <a:solidFill>
                  <a:prstClr val="black"/>
                </a:solidFill>
              </a:rPr>
              <a:t>logical processors compete for resources</a:t>
            </a:r>
            <a:endParaRPr lang="en-US" sz="1400" dirty="0" smtClean="0">
              <a:solidFill>
                <a:prstClr val="black"/>
              </a:solidFill>
            </a:endParaRPr>
          </a:p>
        </p:txBody>
      </p:sp>
      <p:grpSp>
        <p:nvGrpSpPr>
          <p:cNvPr id="8" name="7 Grupo"/>
          <p:cNvGrpSpPr/>
          <p:nvPr/>
        </p:nvGrpSpPr>
        <p:grpSpPr>
          <a:xfrm>
            <a:off x="0" y="9525"/>
            <a:ext cx="9153525" cy="408388"/>
            <a:chOff x="0" y="9525"/>
            <a:chExt cx="9153525" cy="408388"/>
          </a:xfrm>
        </p:grpSpPr>
        <p:sp>
          <p:nvSpPr>
            <p:cNvPr id="9" name="8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Locking and Blocking</a:t>
              </a:r>
              <a:endParaRPr lang="en-US" b="1" i="1" dirty="0">
                <a:solidFill>
                  <a:schemeClr val="bg1"/>
                </a:solidFill>
              </a:endParaRPr>
            </a:p>
          </p:txBody>
        </p:sp>
        <p:pic>
          <p:nvPicPr>
            <p:cNvPr id="10" name="9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10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11 Grupo"/>
          <p:cNvGrpSpPr/>
          <p:nvPr/>
        </p:nvGrpSpPr>
        <p:grpSpPr>
          <a:xfrm>
            <a:off x="9525" y="6574392"/>
            <a:ext cx="9134399" cy="277000"/>
            <a:chOff x="9525" y="6574392"/>
            <a:chExt cx="9134399" cy="277000"/>
          </a:xfrm>
        </p:grpSpPr>
        <p:sp>
          <p:nvSpPr>
            <p:cNvPr id="13" name="12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4" name="13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
        <p:nvSpPr>
          <p:cNvPr id="15" name="14 CuadroTexto"/>
          <p:cNvSpPr txBox="1"/>
          <p:nvPr/>
        </p:nvSpPr>
        <p:spPr>
          <a:xfrm>
            <a:off x="395536" y="4410671"/>
            <a:ext cx="1512168"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pPr algn="ctr"/>
            <a:r>
              <a:rPr lang="en-US" sz="1400" b="1" dirty="0" smtClean="0">
                <a:solidFill>
                  <a:prstClr val="black"/>
                </a:solidFill>
              </a:rPr>
              <a:t>More processors</a:t>
            </a:r>
          </a:p>
        </p:txBody>
      </p:sp>
      <p:sp>
        <p:nvSpPr>
          <p:cNvPr id="16" name="15 CuadroTexto"/>
          <p:cNvSpPr txBox="1"/>
          <p:nvPr/>
        </p:nvSpPr>
        <p:spPr>
          <a:xfrm>
            <a:off x="2843808" y="4410671"/>
            <a:ext cx="1728192" cy="52322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pPr algn="ctr"/>
            <a:r>
              <a:rPr lang="en-US" sz="1400" b="1" dirty="0">
                <a:solidFill>
                  <a:prstClr val="black"/>
                </a:solidFill>
              </a:rPr>
              <a:t>More parallelism </a:t>
            </a:r>
            <a:r>
              <a:rPr lang="en-US" sz="1400" b="1" dirty="0" smtClean="0">
                <a:solidFill>
                  <a:prstClr val="black"/>
                </a:solidFill>
              </a:rPr>
              <a:t>and concurrency</a:t>
            </a:r>
          </a:p>
        </p:txBody>
      </p:sp>
      <p:sp>
        <p:nvSpPr>
          <p:cNvPr id="17" name="16 CuadroTexto"/>
          <p:cNvSpPr txBox="1"/>
          <p:nvPr/>
        </p:nvSpPr>
        <p:spPr>
          <a:xfrm>
            <a:off x="5436096" y="4410671"/>
            <a:ext cx="1728192" cy="52322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pPr algn="ctr"/>
            <a:r>
              <a:rPr lang="en-US" sz="1400" b="1" dirty="0" smtClean="0">
                <a:solidFill>
                  <a:prstClr val="black"/>
                </a:solidFill>
              </a:rPr>
              <a:t>Competing for the same resource</a:t>
            </a:r>
          </a:p>
        </p:txBody>
      </p:sp>
      <p:sp>
        <p:nvSpPr>
          <p:cNvPr id="2" name="1 Flecha derecha"/>
          <p:cNvSpPr/>
          <p:nvPr/>
        </p:nvSpPr>
        <p:spPr>
          <a:xfrm>
            <a:off x="2051720" y="4516934"/>
            <a:ext cx="648072" cy="10772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17 Flecha derecha"/>
          <p:cNvSpPr/>
          <p:nvPr/>
        </p:nvSpPr>
        <p:spPr>
          <a:xfrm>
            <a:off x="4680806" y="4516934"/>
            <a:ext cx="648072" cy="10772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18 Image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8285" y="5270884"/>
            <a:ext cx="584413" cy="504056"/>
          </a:xfrm>
          <a:prstGeom prst="rect">
            <a:avLst/>
          </a:prstGeom>
        </p:spPr>
      </p:pic>
      <p:pic>
        <p:nvPicPr>
          <p:cNvPr id="20" name="19 Image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9947" y="5789151"/>
            <a:ext cx="584413" cy="504056"/>
          </a:xfrm>
          <a:prstGeom prst="rect">
            <a:avLst/>
          </a:prstGeom>
        </p:spPr>
      </p:pic>
      <p:pic>
        <p:nvPicPr>
          <p:cNvPr id="21" name="20 Image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6261" y="5495131"/>
            <a:ext cx="584413" cy="504056"/>
          </a:xfrm>
          <a:prstGeom prst="rect">
            <a:avLst/>
          </a:prstGeom>
        </p:spPr>
      </p:pic>
      <p:cxnSp>
        <p:nvCxnSpPr>
          <p:cNvPr id="5" name="4 Conector recto de flecha"/>
          <p:cNvCxnSpPr/>
          <p:nvPr/>
        </p:nvCxnSpPr>
        <p:spPr>
          <a:xfrm>
            <a:off x="953314" y="5102840"/>
            <a:ext cx="4698806" cy="2854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 name="2 Image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5536" y="4847059"/>
            <a:ext cx="584413" cy="504056"/>
          </a:xfrm>
          <a:prstGeom prst="rect">
            <a:avLst/>
          </a:prstGeom>
        </p:spPr>
      </p:pic>
      <p:cxnSp>
        <p:nvCxnSpPr>
          <p:cNvPr id="23" name="22 Conector recto de flecha"/>
          <p:cNvCxnSpPr>
            <a:stCxn id="21" idx="3"/>
          </p:cNvCxnSpPr>
          <p:nvPr/>
        </p:nvCxnSpPr>
        <p:spPr>
          <a:xfrm>
            <a:off x="710674" y="5747159"/>
            <a:ext cx="4941446"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24 Conector recto de flecha"/>
          <p:cNvCxnSpPr>
            <a:stCxn id="19" idx="3"/>
          </p:cNvCxnSpPr>
          <p:nvPr/>
        </p:nvCxnSpPr>
        <p:spPr>
          <a:xfrm>
            <a:off x="1422698" y="5522912"/>
            <a:ext cx="4229422"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26 Conector recto de flecha"/>
          <p:cNvCxnSpPr/>
          <p:nvPr/>
        </p:nvCxnSpPr>
        <p:spPr>
          <a:xfrm>
            <a:off x="1691680" y="6041179"/>
            <a:ext cx="3960440"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27 CuadroTexto"/>
          <p:cNvSpPr txBox="1"/>
          <p:nvPr/>
        </p:nvSpPr>
        <p:spPr>
          <a:xfrm>
            <a:off x="1284758" y="4885159"/>
            <a:ext cx="699145" cy="246221"/>
          </a:xfrm>
          <a:prstGeom prst="rect">
            <a:avLst/>
          </a:prstGeom>
          <a:noFill/>
        </p:spPr>
        <p:txBody>
          <a:bodyPr wrap="square" rtlCol="0">
            <a:spAutoFit/>
          </a:bodyPr>
          <a:lstStyle/>
          <a:p>
            <a:r>
              <a:rPr lang="en-US" sz="1000" b="1" dirty="0" smtClean="0"/>
              <a:t>Threads</a:t>
            </a:r>
            <a:endParaRPr lang="en-US" sz="1000" b="1" dirty="0"/>
          </a:p>
        </p:txBody>
      </p:sp>
      <p:sp>
        <p:nvSpPr>
          <p:cNvPr id="29" name="28 CuadroTexto"/>
          <p:cNvSpPr txBox="1"/>
          <p:nvPr/>
        </p:nvSpPr>
        <p:spPr>
          <a:xfrm>
            <a:off x="1993812" y="5308984"/>
            <a:ext cx="656471" cy="246221"/>
          </a:xfrm>
          <a:prstGeom prst="rect">
            <a:avLst/>
          </a:prstGeom>
          <a:noFill/>
        </p:spPr>
        <p:txBody>
          <a:bodyPr wrap="square" rtlCol="0">
            <a:spAutoFit/>
          </a:bodyPr>
          <a:lstStyle/>
          <a:p>
            <a:r>
              <a:rPr lang="en-US" sz="1000" b="1" dirty="0" smtClean="0"/>
              <a:t>Threads</a:t>
            </a:r>
            <a:endParaRPr lang="en-US" sz="1000" b="1" dirty="0"/>
          </a:p>
        </p:txBody>
      </p:sp>
      <p:sp>
        <p:nvSpPr>
          <p:cNvPr id="30" name="29 CuadroTexto"/>
          <p:cNvSpPr txBox="1"/>
          <p:nvPr/>
        </p:nvSpPr>
        <p:spPr>
          <a:xfrm>
            <a:off x="2667077" y="5709694"/>
            <a:ext cx="651840" cy="246221"/>
          </a:xfrm>
          <a:prstGeom prst="rect">
            <a:avLst/>
          </a:prstGeom>
          <a:noFill/>
        </p:spPr>
        <p:txBody>
          <a:bodyPr wrap="square" rtlCol="0">
            <a:spAutoFit/>
          </a:bodyPr>
          <a:lstStyle/>
          <a:p>
            <a:r>
              <a:rPr lang="en-US" sz="1000" b="1" dirty="0" smtClean="0"/>
              <a:t>Threads</a:t>
            </a:r>
            <a:endParaRPr lang="en-US" sz="1000" b="1" dirty="0"/>
          </a:p>
        </p:txBody>
      </p:sp>
      <p:sp>
        <p:nvSpPr>
          <p:cNvPr id="31" name="30 CuadroTexto"/>
          <p:cNvSpPr txBox="1"/>
          <p:nvPr/>
        </p:nvSpPr>
        <p:spPr>
          <a:xfrm>
            <a:off x="3463704" y="6016163"/>
            <a:ext cx="676248" cy="246221"/>
          </a:xfrm>
          <a:prstGeom prst="rect">
            <a:avLst/>
          </a:prstGeom>
          <a:noFill/>
        </p:spPr>
        <p:txBody>
          <a:bodyPr wrap="square" rtlCol="0">
            <a:spAutoFit/>
          </a:bodyPr>
          <a:lstStyle/>
          <a:p>
            <a:r>
              <a:rPr lang="en-US" sz="1000" b="1" dirty="0" smtClean="0"/>
              <a:t>Threads</a:t>
            </a:r>
            <a:endParaRPr lang="en-US" sz="1000" b="1" dirty="0"/>
          </a:p>
        </p:txBody>
      </p:sp>
      <p:pic>
        <p:nvPicPr>
          <p:cNvPr id="32" name="31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18373" y="5056622"/>
            <a:ext cx="1085875" cy="1085875"/>
          </a:xfrm>
          <a:prstGeom prst="rect">
            <a:avLst/>
          </a:prstGeom>
        </p:spPr>
      </p:pic>
    </p:spTree>
    <p:extLst>
      <p:ext uri="{BB962C8B-B14F-4D97-AF65-F5344CB8AC3E}">
        <p14:creationId xmlns:p14="http://schemas.microsoft.com/office/powerpoint/2010/main" val="3431787337"/>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0" y="557891"/>
            <a:ext cx="9144000" cy="1169551"/>
          </a:xfrm>
          <a:prstGeom prst="rect">
            <a:avLst/>
          </a:prstGeom>
          <a:noFill/>
        </p:spPr>
        <p:txBody>
          <a:bodyPr wrap="square" rtlCol="0">
            <a:spAutoFit/>
          </a:bodyPr>
          <a:lstStyle/>
          <a:p>
            <a:r>
              <a:rPr lang="en-US" sz="1400" b="1" dirty="0" smtClean="0">
                <a:solidFill>
                  <a:prstClr val="black"/>
                </a:solidFill>
              </a:rPr>
              <a:t>What is a Spinlock?</a:t>
            </a:r>
          </a:p>
          <a:p>
            <a:pPr marL="285750" indent="-285750">
              <a:buFont typeface="Wingdings" pitchFamily="2" charset="2"/>
              <a:buChar char="Ø"/>
            </a:pPr>
            <a:r>
              <a:rPr lang="en-US" sz="1400" dirty="0">
                <a:solidFill>
                  <a:prstClr val="black"/>
                </a:solidFill>
              </a:rPr>
              <a:t>Spinlocks are lightweight synchronization primitives which are used to protect access to data </a:t>
            </a:r>
            <a:r>
              <a:rPr lang="en-US" sz="1400" dirty="0" smtClean="0">
                <a:solidFill>
                  <a:prstClr val="black"/>
                </a:solidFill>
              </a:rPr>
              <a:t>structures in the engine. </a:t>
            </a:r>
          </a:p>
          <a:p>
            <a:pPr marL="285750" indent="-285750">
              <a:buFont typeface="Wingdings" pitchFamily="2" charset="2"/>
              <a:buChar char="Ø"/>
            </a:pPr>
            <a:r>
              <a:rPr lang="en-US" sz="1400" dirty="0" smtClean="0">
                <a:solidFill>
                  <a:prstClr val="black"/>
                </a:solidFill>
              </a:rPr>
              <a:t>When </a:t>
            </a:r>
            <a:r>
              <a:rPr lang="en-US" sz="1400" dirty="0">
                <a:solidFill>
                  <a:prstClr val="black"/>
                </a:solidFill>
              </a:rPr>
              <a:t>a thread attempting to acquire a spinlock is unable to obtain access it executes in a loop </a:t>
            </a:r>
            <a:r>
              <a:rPr lang="en-US" sz="1400" dirty="0" smtClean="0">
                <a:solidFill>
                  <a:prstClr val="black"/>
                </a:solidFill>
              </a:rPr>
              <a:t>periodically </a:t>
            </a:r>
            <a:r>
              <a:rPr lang="en-US" sz="1400" dirty="0">
                <a:solidFill>
                  <a:prstClr val="black"/>
                </a:solidFill>
              </a:rPr>
              <a:t>checking to determine if the resource is available instead of immediately yielding </a:t>
            </a: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SQL Server utilizes spinlocks to protect access to some of its internal data structures</a:t>
            </a:r>
            <a:endParaRPr lang="en-US" sz="1400" dirty="0">
              <a:solidFill>
                <a:prstClr val="black"/>
              </a:solidFill>
            </a:endParaRPr>
          </a:p>
        </p:txBody>
      </p:sp>
      <p:sp>
        <p:nvSpPr>
          <p:cNvPr id="7" name="6 CuadroTexto"/>
          <p:cNvSpPr txBox="1"/>
          <p:nvPr/>
        </p:nvSpPr>
        <p:spPr>
          <a:xfrm>
            <a:off x="-2849" y="2114550"/>
            <a:ext cx="9144000" cy="954107"/>
          </a:xfrm>
          <a:prstGeom prst="rect">
            <a:avLst/>
          </a:prstGeom>
          <a:noFill/>
        </p:spPr>
        <p:txBody>
          <a:bodyPr wrap="square" rtlCol="0">
            <a:spAutoFit/>
          </a:bodyPr>
          <a:lstStyle/>
          <a:p>
            <a:r>
              <a:rPr lang="en-US" sz="1400" b="1" dirty="0" smtClean="0">
                <a:solidFill>
                  <a:prstClr val="black"/>
                </a:solidFill>
              </a:rPr>
              <a:t>What is a Back off?</a:t>
            </a:r>
          </a:p>
          <a:p>
            <a:pPr marL="285750" indent="-285750">
              <a:buFont typeface="Wingdings" pitchFamily="2" charset="2"/>
              <a:buChar char="Ø"/>
            </a:pPr>
            <a:r>
              <a:rPr lang="en-US" sz="1400" dirty="0">
                <a:solidFill>
                  <a:prstClr val="black"/>
                </a:solidFill>
              </a:rPr>
              <a:t>After some period of </a:t>
            </a:r>
            <a:r>
              <a:rPr lang="en-US" sz="1400" dirty="0" smtClean="0">
                <a:solidFill>
                  <a:prstClr val="black"/>
                </a:solidFill>
              </a:rPr>
              <a:t>time, </a:t>
            </a:r>
            <a:r>
              <a:rPr lang="en-US" sz="1400" dirty="0">
                <a:solidFill>
                  <a:prstClr val="black"/>
                </a:solidFill>
              </a:rPr>
              <a:t>a thread waiting on a spinlock will yield before it is able to acquire the resource in order to allow other threads running on the same CPU to </a:t>
            </a:r>
            <a:r>
              <a:rPr lang="en-US" sz="1400" dirty="0" smtClean="0">
                <a:solidFill>
                  <a:prstClr val="black"/>
                </a:solidFill>
              </a:rPr>
              <a:t>execute.</a:t>
            </a:r>
          </a:p>
          <a:p>
            <a:r>
              <a:rPr lang="en-US" sz="1400" dirty="0" smtClean="0">
                <a:solidFill>
                  <a:prstClr val="black"/>
                </a:solidFill>
              </a:rPr>
              <a:t>       This </a:t>
            </a:r>
            <a:r>
              <a:rPr lang="en-US" sz="1400" dirty="0">
                <a:solidFill>
                  <a:prstClr val="black"/>
                </a:solidFill>
              </a:rPr>
              <a:t>is known as </a:t>
            </a:r>
            <a:r>
              <a:rPr lang="en-US" sz="1400" dirty="0" smtClean="0">
                <a:solidFill>
                  <a:prstClr val="black"/>
                </a:solidFill>
              </a:rPr>
              <a:t>a </a:t>
            </a:r>
            <a:r>
              <a:rPr lang="en-US" sz="1400" b="1" dirty="0" smtClean="0">
                <a:solidFill>
                  <a:prstClr val="black"/>
                </a:solidFill>
              </a:rPr>
              <a:t>thread back-off</a:t>
            </a:r>
          </a:p>
        </p:txBody>
      </p:sp>
      <p:sp>
        <p:nvSpPr>
          <p:cNvPr id="15" name="14 CuadroTexto"/>
          <p:cNvSpPr txBox="1"/>
          <p:nvPr/>
        </p:nvSpPr>
        <p:spPr>
          <a:xfrm>
            <a:off x="-2849" y="3254573"/>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How it works</a:t>
            </a:r>
          </a:p>
        </p:txBody>
      </p:sp>
      <p:grpSp>
        <p:nvGrpSpPr>
          <p:cNvPr id="6" name="5 Grupo"/>
          <p:cNvGrpSpPr/>
          <p:nvPr/>
        </p:nvGrpSpPr>
        <p:grpSpPr>
          <a:xfrm>
            <a:off x="302662" y="3758959"/>
            <a:ext cx="8627226" cy="2724936"/>
            <a:chOff x="302662" y="3854209"/>
            <a:chExt cx="8627226" cy="2724936"/>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5304" y="4793361"/>
              <a:ext cx="282656" cy="285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CuadroTexto"/>
            <p:cNvSpPr txBox="1"/>
            <p:nvPr/>
          </p:nvSpPr>
          <p:spPr>
            <a:xfrm>
              <a:off x="302663" y="4428610"/>
              <a:ext cx="840337"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200" dirty="0" smtClean="0">
                  <a:solidFill>
                    <a:prstClr val="black"/>
                  </a:solidFill>
                </a:rPr>
                <a:t>Thread #1</a:t>
              </a:r>
              <a:endParaRPr lang="en-US" sz="1200" dirty="0">
                <a:solidFill>
                  <a:prstClr val="black"/>
                </a:solidFill>
              </a:endParaRPr>
            </a:p>
          </p:txBody>
        </p:sp>
        <p:sp>
          <p:nvSpPr>
            <p:cNvPr id="8" name="7 CuadroTexto"/>
            <p:cNvSpPr txBox="1"/>
            <p:nvPr/>
          </p:nvSpPr>
          <p:spPr>
            <a:xfrm>
              <a:off x="328300" y="5687780"/>
              <a:ext cx="8147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200" dirty="0" smtClean="0">
                  <a:solidFill>
                    <a:prstClr val="black"/>
                  </a:solidFill>
                </a:rPr>
                <a:t>Thread #2</a:t>
              </a:r>
              <a:endParaRPr lang="en-US" sz="1200" dirty="0">
                <a:solidFill>
                  <a:prstClr val="black"/>
                </a:solidFill>
              </a:endParaRPr>
            </a:p>
          </p:txBody>
        </p:sp>
        <p:sp>
          <p:nvSpPr>
            <p:cNvPr id="9" name="8 CuadroTexto"/>
            <p:cNvSpPr txBox="1"/>
            <p:nvPr/>
          </p:nvSpPr>
          <p:spPr>
            <a:xfrm>
              <a:off x="4267200" y="4428610"/>
              <a:ext cx="14478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200" dirty="0" smtClean="0">
                  <a:solidFill>
                    <a:prstClr val="black"/>
                  </a:solidFill>
                </a:rPr>
                <a:t>Data structure</a:t>
              </a:r>
              <a:endParaRPr lang="en-US" sz="1200" dirty="0">
                <a:solidFill>
                  <a:prstClr val="black"/>
                </a:solidFill>
              </a:endParaRPr>
            </a:p>
          </p:txBody>
        </p:sp>
        <p:sp>
          <p:nvSpPr>
            <p:cNvPr id="10" name="9 CuadroTexto"/>
            <p:cNvSpPr txBox="1"/>
            <p:nvPr/>
          </p:nvSpPr>
          <p:spPr>
            <a:xfrm>
              <a:off x="302662" y="3854209"/>
              <a:ext cx="2288138" cy="492443"/>
            </a:xfrm>
            <a:prstGeom prst="rect">
              <a:avLst/>
            </a:prstGeom>
            <a:noFill/>
          </p:spPr>
          <p:txBody>
            <a:bodyPr wrap="square" rtlCol="0">
              <a:spAutoFit/>
            </a:bodyPr>
            <a:lstStyle/>
            <a:p>
              <a:r>
                <a:rPr lang="en-US" sz="1400" b="1" dirty="0" smtClean="0">
                  <a:solidFill>
                    <a:prstClr val="black"/>
                  </a:solidFill>
                </a:rPr>
                <a:t>1.</a:t>
              </a:r>
              <a:r>
                <a:rPr lang="en-US" sz="1200" b="1" dirty="0" smtClean="0">
                  <a:solidFill>
                    <a:prstClr val="black"/>
                  </a:solidFill>
                </a:rPr>
                <a:t> </a:t>
              </a:r>
              <a:r>
                <a:rPr lang="en-US" sz="1200" dirty="0" smtClean="0">
                  <a:solidFill>
                    <a:prstClr val="black"/>
                  </a:solidFill>
                </a:rPr>
                <a:t>Thread #1 acquires a spinlock on a given data structure</a:t>
              </a:r>
              <a:endParaRPr lang="en-US" sz="1200" dirty="0">
                <a:solidFill>
                  <a:prstClr val="black"/>
                </a:solidFill>
              </a:endParaRPr>
            </a:p>
          </p:txBody>
        </p:sp>
        <p:sp>
          <p:nvSpPr>
            <p:cNvPr id="3" name="2 Flecha derecha"/>
            <p:cNvSpPr/>
            <p:nvPr/>
          </p:nvSpPr>
          <p:spPr>
            <a:xfrm>
              <a:off x="1298960" y="4490529"/>
              <a:ext cx="2815840" cy="13849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 name="10 CuadroTexto"/>
            <p:cNvSpPr txBox="1"/>
            <p:nvPr/>
          </p:nvSpPr>
          <p:spPr>
            <a:xfrm>
              <a:off x="302663" y="5007419"/>
              <a:ext cx="1922804" cy="677108"/>
            </a:xfrm>
            <a:prstGeom prst="rect">
              <a:avLst/>
            </a:prstGeom>
            <a:noFill/>
          </p:spPr>
          <p:txBody>
            <a:bodyPr wrap="square" rtlCol="0">
              <a:spAutoFit/>
            </a:bodyPr>
            <a:lstStyle/>
            <a:p>
              <a:r>
                <a:rPr lang="en-US" sz="1400" b="1" dirty="0">
                  <a:solidFill>
                    <a:prstClr val="black"/>
                  </a:solidFill>
                </a:rPr>
                <a:t>2</a:t>
              </a:r>
              <a:r>
                <a:rPr lang="en-US" sz="1400" b="1" dirty="0" smtClean="0">
                  <a:solidFill>
                    <a:prstClr val="black"/>
                  </a:solidFill>
                </a:rPr>
                <a:t>.</a:t>
              </a:r>
              <a:r>
                <a:rPr lang="en-US" sz="1200" b="1" dirty="0" smtClean="0">
                  <a:solidFill>
                    <a:prstClr val="black"/>
                  </a:solidFill>
                </a:rPr>
                <a:t> </a:t>
              </a:r>
              <a:r>
                <a:rPr lang="en-US" sz="1200" dirty="0" smtClean="0">
                  <a:solidFill>
                    <a:prstClr val="black"/>
                  </a:solidFill>
                </a:rPr>
                <a:t>Thread #2 attempts to acquire a spinlock on the same data structure</a:t>
              </a:r>
              <a:endParaRPr lang="en-US" sz="1200" dirty="0">
                <a:solidFill>
                  <a:prstClr val="black"/>
                </a:solidFill>
              </a:endParaRPr>
            </a:p>
          </p:txBody>
        </p:sp>
        <p:sp>
          <p:nvSpPr>
            <p:cNvPr id="14" name="13 CuadroTexto"/>
            <p:cNvSpPr txBox="1"/>
            <p:nvPr/>
          </p:nvSpPr>
          <p:spPr>
            <a:xfrm>
              <a:off x="5196088" y="5486100"/>
              <a:ext cx="3733800" cy="677108"/>
            </a:xfrm>
            <a:prstGeom prst="rect">
              <a:avLst/>
            </a:prstGeom>
            <a:noFill/>
          </p:spPr>
          <p:txBody>
            <a:bodyPr wrap="square" rtlCol="0">
              <a:spAutoFit/>
            </a:bodyPr>
            <a:lstStyle/>
            <a:p>
              <a:r>
                <a:rPr lang="en-US" sz="1400" b="1" dirty="0" smtClean="0">
                  <a:solidFill>
                    <a:prstClr val="black"/>
                  </a:solidFill>
                </a:rPr>
                <a:t>4.</a:t>
              </a:r>
              <a:r>
                <a:rPr lang="en-US" sz="1200" b="1" dirty="0" smtClean="0">
                  <a:solidFill>
                    <a:prstClr val="black"/>
                  </a:solidFill>
                </a:rPr>
                <a:t> </a:t>
              </a:r>
              <a:r>
                <a:rPr lang="en-US" sz="1200" dirty="0" smtClean="0">
                  <a:solidFill>
                    <a:prstClr val="black"/>
                  </a:solidFill>
                </a:rPr>
                <a:t>Rather than yielding immediately, </a:t>
              </a:r>
            </a:p>
            <a:p>
              <a:r>
                <a:rPr lang="en-US" sz="1200" dirty="0" smtClean="0">
                  <a:solidFill>
                    <a:prstClr val="black"/>
                  </a:solidFill>
                </a:rPr>
                <a:t>Thread #2 will “spin” </a:t>
              </a:r>
              <a:r>
                <a:rPr lang="en-US" sz="1200" dirty="0">
                  <a:solidFill>
                    <a:prstClr val="black"/>
                  </a:solidFill>
                </a:rPr>
                <a:t>(execute a loop) for a period of </a:t>
              </a:r>
              <a:r>
                <a:rPr lang="en-US" sz="1200" dirty="0" smtClean="0">
                  <a:solidFill>
                    <a:prstClr val="black"/>
                  </a:solidFill>
                </a:rPr>
                <a:t>time, checking if the resource is available.</a:t>
              </a:r>
              <a:endParaRPr lang="en-US" sz="1200" dirty="0">
                <a:solidFill>
                  <a:prstClr val="black"/>
                </a:solidFill>
              </a:endParaRPr>
            </a:p>
          </p:txBody>
        </p:sp>
        <p:sp>
          <p:nvSpPr>
            <p:cNvPr id="16" name="15 CuadroTexto"/>
            <p:cNvSpPr txBox="1"/>
            <p:nvPr/>
          </p:nvSpPr>
          <p:spPr>
            <a:xfrm>
              <a:off x="4740067" y="4793362"/>
              <a:ext cx="1922804" cy="492443"/>
            </a:xfrm>
            <a:prstGeom prst="rect">
              <a:avLst/>
            </a:prstGeom>
            <a:noFill/>
          </p:spPr>
          <p:txBody>
            <a:bodyPr wrap="square" rtlCol="0">
              <a:spAutoFit/>
            </a:bodyPr>
            <a:lstStyle/>
            <a:p>
              <a:r>
                <a:rPr lang="en-US" sz="1400" b="1" dirty="0" smtClean="0">
                  <a:solidFill>
                    <a:prstClr val="black"/>
                  </a:solidFill>
                </a:rPr>
                <a:t>3.</a:t>
              </a:r>
              <a:r>
                <a:rPr lang="en-US" sz="1200" b="1" dirty="0" smtClean="0">
                  <a:solidFill>
                    <a:prstClr val="black"/>
                  </a:solidFill>
                </a:rPr>
                <a:t> </a:t>
              </a:r>
              <a:r>
                <a:rPr lang="en-US" sz="1200" dirty="0" smtClean="0">
                  <a:solidFill>
                    <a:prstClr val="black"/>
                  </a:solidFill>
                </a:rPr>
                <a:t>The data structure is locked by Thread #1</a:t>
              </a:r>
              <a:endParaRPr lang="en-US" sz="1200" dirty="0">
                <a:solidFill>
                  <a:prstClr val="black"/>
                </a:solidFill>
              </a:endParaRPr>
            </a:p>
          </p:txBody>
        </p:sp>
        <p:cxnSp>
          <p:nvCxnSpPr>
            <p:cNvPr id="18" name="17 Conector recto"/>
            <p:cNvCxnSpPr/>
            <p:nvPr/>
          </p:nvCxnSpPr>
          <p:spPr>
            <a:xfrm>
              <a:off x="1371600" y="5826279"/>
              <a:ext cx="3200400" cy="0"/>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0" name="19 Conector recto de flecha"/>
            <p:cNvCxnSpPr/>
            <p:nvPr/>
          </p:nvCxnSpPr>
          <p:spPr>
            <a:xfrm flipH="1" flipV="1">
              <a:off x="4569151" y="5145918"/>
              <a:ext cx="2851" cy="680364"/>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35052" y="5523284"/>
              <a:ext cx="351066" cy="285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 name="27 CuadroTexto"/>
            <p:cNvSpPr txBox="1"/>
            <p:nvPr/>
          </p:nvSpPr>
          <p:spPr>
            <a:xfrm>
              <a:off x="5196088" y="6263350"/>
              <a:ext cx="3733800" cy="307777"/>
            </a:xfrm>
            <a:prstGeom prst="rect">
              <a:avLst/>
            </a:prstGeom>
            <a:noFill/>
          </p:spPr>
          <p:txBody>
            <a:bodyPr wrap="square" rtlCol="0">
              <a:spAutoFit/>
            </a:bodyPr>
            <a:lstStyle/>
            <a:p>
              <a:r>
                <a:rPr lang="en-US" sz="1400" b="1" dirty="0" smtClean="0">
                  <a:solidFill>
                    <a:prstClr val="black"/>
                  </a:solidFill>
                </a:rPr>
                <a:t>5.</a:t>
              </a:r>
              <a:r>
                <a:rPr lang="en-US" sz="1200" b="1" dirty="0" smtClean="0">
                  <a:solidFill>
                    <a:prstClr val="black"/>
                  </a:solidFill>
                </a:rPr>
                <a:t> </a:t>
              </a:r>
              <a:r>
                <a:rPr lang="en-US" sz="1200" dirty="0" smtClean="0">
                  <a:solidFill>
                    <a:prstClr val="black"/>
                  </a:solidFill>
                </a:rPr>
                <a:t>If the spin limit is reached the thread will “back off”</a:t>
              </a:r>
              <a:endParaRPr lang="en-US" sz="1200" dirty="0">
                <a:solidFill>
                  <a:prstClr val="black"/>
                </a:solidFill>
              </a:endParaRPr>
            </a:p>
          </p:txBody>
        </p:sp>
        <p:pic>
          <p:nvPicPr>
            <p:cNvPr id="1028"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65311" y="6263350"/>
              <a:ext cx="320807" cy="315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1" name="20 Grupo"/>
          <p:cNvGrpSpPr/>
          <p:nvPr/>
        </p:nvGrpSpPr>
        <p:grpSpPr>
          <a:xfrm>
            <a:off x="0" y="9525"/>
            <a:ext cx="9153525" cy="408388"/>
            <a:chOff x="0" y="9525"/>
            <a:chExt cx="9153525" cy="408388"/>
          </a:xfrm>
        </p:grpSpPr>
        <p:sp>
          <p:nvSpPr>
            <p:cNvPr id="22" name="21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Locking |   Spinlock Contention</a:t>
              </a:r>
              <a:endParaRPr lang="en-US" b="1" i="1" dirty="0">
                <a:solidFill>
                  <a:schemeClr val="bg1"/>
                </a:solidFill>
              </a:endParaRPr>
            </a:p>
          </p:txBody>
        </p:sp>
        <p:pic>
          <p:nvPicPr>
            <p:cNvPr id="23" name="22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4" name="23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24 Grupo"/>
          <p:cNvGrpSpPr/>
          <p:nvPr/>
        </p:nvGrpSpPr>
        <p:grpSpPr>
          <a:xfrm>
            <a:off x="9525" y="6574392"/>
            <a:ext cx="9134399" cy="277000"/>
            <a:chOff x="9525" y="6574392"/>
            <a:chExt cx="9134399" cy="277000"/>
          </a:xfrm>
        </p:grpSpPr>
        <p:sp>
          <p:nvSpPr>
            <p:cNvPr id="26" name="25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7" name="26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205923120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0" y="567416"/>
            <a:ext cx="9144000" cy="738664"/>
          </a:xfrm>
          <a:prstGeom prst="rect">
            <a:avLst/>
          </a:prstGeom>
          <a:noFill/>
        </p:spPr>
        <p:txBody>
          <a:bodyPr wrap="square" rtlCol="0">
            <a:spAutoFit/>
          </a:bodyPr>
          <a:lstStyle/>
          <a:p>
            <a:pPr marL="285750" indent="-285750">
              <a:buFont typeface="Wingdings" pitchFamily="2" charset="2"/>
              <a:buChar char="Ø"/>
            </a:pPr>
            <a:r>
              <a:rPr lang="en-US" sz="1400" dirty="0">
                <a:solidFill>
                  <a:prstClr val="black"/>
                </a:solidFill>
              </a:rPr>
              <a:t>On any busy high concurrency system it is normal to see active contention on frequently accessed structures that are protected by </a:t>
            </a:r>
            <a:r>
              <a:rPr lang="en-US" sz="1400" dirty="0" smtClean="0">
                <a:solidFill>
                  <a:prstClr val="black"/>
                </a:solidFill>
              </a:rPr>
              <a:t>spinlocks.</a:t>
            </a:r>
          </a:p>
          <a:p>
            <a:pPr marL="285750" indent="-285750">
              <a:buFont typeface="Wingdings" pitchFamily="2" charset="2"/>
              <a:buChar char="Ø"/>
            </a:pPr>
            <a:r>
              <a:rPr lang="en-US" sz="1400" dirty="0" smtClean="0">
                <a:solidFill>
                  <a:prstClr val="black"/>
                </a:solidFill>
              </a:rPr>
              <a:t>This becomes an issue when </a:t>
            </a:r>
            <a:r>
              <a:rPr lang="en-US" sz="1400" dirty="0">
                <a:solidFill>
                  <a:prstClr val="black"/>
                </a:solidFill>
              </a:rPr>
              <a:t>the contention is such that it introduces significant CPU overhead </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33525"/>
            <a:ext cx="462546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22 CuadroTexto"/>
          <p:cNvSpPr txBox="1"/>
          <p:nvPr/>
        </p:nvSpPr>
        <p:spPr>
          <a:xfrm>
            <a:off x="76200" y="5343525"/>
            <a:ext cx="2895600" cy="1200329"/>
          </a:xfrm>
          <a:prstGeom prst="rect">
            <a:avLst/>
          </a:prstGeom>
          <a:noFill/>
        </p:spPr>
        <p:txBody>
          <a:bodyPr wrap="square" rtlCol="0">
            <a:spAutoFit/>
          </a:bodyPr>
          <a:lstStyle/>
          <a:p>
            <a:r>
              <a:rPr lang="en-US" sz="1200" b="1" dirty="0" smtClean="0">
                <a:solidFill>
                  <a:prstClr val="black"/>
                </a:solidFill>
              </a:rPr>
              <a:t>Collisions</a:t>
            </a:r>
          </a:p>
          <a:p>
            <a:r>
              <a:rPr lang="en-US" sz="1200" dirty="0" smtClean="0">
                <a:solidFill>
                  <a:prstClr val="black"/>
                </a:solidFill>
              </a:rPr>
              <a:t>This </a:t>
            </a:r>
            <a:r>
              <a:rPr lang="en-US" sz="1200" dirty="0">
                <a:solidFill>
                  <a:prstClr val="black"/>
                </a:solidFill>
              </a:rPr>
              <a:t>value is incremented each time a thread attempts to access a resource which is protected by a spinlock and is </a:t>
            </a:r>
            <a:r>
              <a:rPr lang="en-US" sz="1200" b="1" dirty="0" smtClean="0">
                <a:solidFill>
                  <a:srgbClr val="0000FF"/>
                </a:solidFill>
              </a:rPr>
              <a:t>blocked</a:t>
            </a:r>
            <a:r>
              <a:rPr lang="en-US" sz="1200" dirty="0" smtClean="0">
                <a:solidFill>
                  <a:srgbClr val="0000FF"/>
                </a:solidFill>
              </a:rPr>
              <a:t> </a:t>
            </a:r>
            <a:r>
              <a:rPr lang="en-US" sz="1200" dirty="0">
                <a:solidFill>
                  <a:prstClr val="black"/>
                </a:solidFill>
              </a:rPr>
              <a:t>because another thread currently holds the </a:t>
            </a:r>
            <a:r>
              <a:rPr lang="en-US" sz="1200" dirty="0" smtClean="0">
                <a:solidFill>
                  <a:prstClr val="black"/>
                </a:solidFill>
              </a:rPr>
              <a:t>spinlock</a:t>
            </a:r>
            <a:endParaRPr lang="en-US" sz="1200" dirty="0">
              <a:solidFill>
                <a:prstClr val="black"/>
              </a:solidFill>
            </a:endParaRPr>
          </a:p>
        </p:txBody>
      </p:sp>
      <p:sp>
        <p:nvSpPr>
          <p:cNvPr id="24" name="23 CuadroTexto"/>
          <p:cNvSpPr txBox="1"/>
          <p:nvPr/>
        </p:nvSpPr>
        <p:spPr>
          <a:xfrm>
            <a:off x="3419740" y="5139849"/>
            <a:ext cx="3962400" cy="1015663"/>
          </a:xfrm>
          <a:prstGeom prst="rect">
            <a:avLst/>
          </a:prstGeom>
          <a:noFill/>
        </p:spPr>
        <p:txBody>
          <a:bodyPr wrap="square" rtlCol="0">
            <a:spAutoFit/>
          </a:bodyPr>
          <a:lstStyle/>
          <a:p>
            <a:r>
              <a:rPr lang="en-US" sz="1200" b="1" dirty="0" smtClean="0">
                <a:solidFill>
                  <a:prstClr val="black"/>
                </a:solidFill>
              </a:rPr>
              <a:t>Spins</a:t>
            </a:r>
          </a:p>
          <a:p>
            <a:r>
              <a:rPr lang="en-US" sz="1200" dirty="0">
                <a:solidFill>
                  <a:prstClr val="black"/>
                </a:solidFill>
              </a:rPr>
              <a:t>This value is incremented for each time a thread executes a loop while waiting for a spinlock to become available. </a:t>
            </a:r>
            <a:endParaRPr lang="en-US" sz="1200" dirty="0" smtClean="0">
              <a:solidFill>
                <a:prstClr val="black"/>
              </a:solidFill>
            </a:endParaRPr>
          </a:p>
          <a:p>
            <a:r>
              <a:rPr lang="en-US" sz="1200" dirty="0" smtClean="0">
                <a:solidFill>
                  <a:prstClr val="black"/>
                </a:solidFill>
              </a:rPr>
              <a:t>This </a:t>
            </a:r>
            <a:r>
              <a:rPr lang="en-US" sz="1200" dirty="0">
                <a:solidFill>
                  <a:prstClr val="black"/>
                </a:solidFill>
              </a:rPr>
              <a:t>is a measure of the </a:t>
            </a:r>
            <a:r>
              <a:rPr lang="en-US" sz="1200" b="1" dirty="0">
                <a:solidFill>
                  <a:srgbClr val="0000FF"/>
                </a:solidFill>
              </a:rPr>
              <a:t>amount of work</a:t>
            </a:r>
            <a:r>
              <a:rPr lang="en-US" sz="1200" dirty="0">
                <a:solidFill>
                  <a:prstClr val="black"/>
                </a:solidFill>
              </a:rPr>
              <a:t> a thread does while it is trying to acquire a </a:t>
            </a:r>
            <a:r>
              <a:rPr lang="en-US" sz="1200" dirty="0" smtClean="0">
                <a:solidFill>
                  <a:prstClr val="black"/>
                </a:solidFill>
              </a:rPr>
              <a:t>resource</a:t>
            </a:r>
            <a:endParaRPr lang="en-US" sz="1200" dirty="0">
              <a:solidFill>
                <a:prstClr val="black"/>
              </a:solidFill>
            </a:endParaRPr>
          </a:p>
        </p:txBody>
      </p:sp>
      <p:sp>
        <p:nvSpPr>
          <p:cNvPr id="25" name="24 CuadroTexto"/>
          <p:cNvSpPr txBox="1"/>
          <p:nvPr/>
        </p:nvSpPr>
        <p:spPr>
          <a:xfrm>
            <a:off x="5806155" y="4581525"/>
            <a:ext cx="1905000" cy="461665"/>
          </a:xfrm>
          <a:prstGeom prst="rect">
            <a:avLst/>
          </a:prstGeom>
          <a:noFill/>
        </p:spPr>
        <p:txBody>
          <a:bodyPr wrap="square" rtlCol="0">
            <a:spAutoFit/>
          </a:bodyPr>
          <a:lstStyle/>
          <a:p>
            <a:r>
              <a:rPr lang="en-US" sz="1200" b="1" dirty="0" smtClean="0">
                <a:solidFill>
                  <a:prstClr val="black"/>
                </a:solidFill>
              </a:rPr>
              <a:t>Spins per Collision</a:t>
            </a:r>
          </a:p>
          <a:p>
            <a:r>
              <a:rPr lang="en-US" sz="1200" dirty="0">
                <a:solidFill>
                  <a:prstClr val="black"/>
                </a:solidFill>
              </a:rPr>
              <a:t>Ratio of spins per collision. </a:t>
            </a:r>
          </a:p>
        </p:txBody>
      </p:sp>
      <p:sp>
        <p:nvSpPr>
          <p:cNvPr id="26" name="25 CuadroTexto"/>
          <p:cNvSpPr txBox="1"/>
          <p:nvPr/>
        </p:nvSpPr>
        <p:spPr>
          <a:xfrm>
            <a:off x="5814701" y="3580433"/>
            <a:ext cx="2895600" cy="830997"/>
          </a:xfrm>
          <a:prstGeom prst="rect">
            <a:avLst/>
          </a:prstGeom>
          <a:noFill/>
        </p:spPr>
        <p:txBody>
          <a:bodyPr wrap="square" rtlCol="0">
            <a:spAutoFit/>
          </a:bodyPr>
          <a:lstStyle/>
          <a:p>
            <a:r>
              <a:rPr lang="en-US" sz="1200" b="1" dirty="0" smtClean="0">
                <a:solidFill>
                  <a:prstClr val="black"/>
                </a:solidFill>
              </a:rPr>
              <a:t>Sleep Time</a:t>
            </a:r>
          </a:p>
          <a:p>
            <a:r>
              <a:rPr lang="en-US" sz="1200" dirty="0" smtClean="0">
                <a:solidFill>
                  <a:prstClr val="black"/>
                </a:solidFill>
              </a:rPr>
              <a:t>This is </a:t>
            </a:r>
            <a:r>
              <a:rPr lang="en-US" sz="1200" dirty="0">
                <a:solidFill>
                  <a:prstClr val="black"/>
                </a:solidFill>
              </a:rPr>
              <a:t>an aggregate of how much time is spent sleeping between spin cycles when a </a:t>
            </a:r>
            <a:r>
              <a:rPr lang="en-US" sz="1200" dirty="0" smtClean="0">
                <a:solidFill>
                  <a:prstClr val="black"/>
                </a:solidFill>
              </a:rPr>
              <a:t>back off </a:t>
            </a:r>
            <a:r>
              <a:rPr lang="en-US" sz="1200" dirty="0">
                <a:solidFill>
                  <a:prstClr val="black"/>
                </a:solidFill>
              </a:rPr>
              <a:t>occurs.</a:t>
            </a:r>
          </a:p>
        </p:txBody>
      </p:sp>
      <p:sp>
        <p:nvSpPr>
          <p:cNvPr id="27" name="26 CuadroTexto"/>
          <p:cNvSpPr txBox="1"/>
          <p:nvPr/>
        </p:nvSpPr>
        <p:spPr>
          <a:xfrm>
            <a:off x="5791200" y="2371725"/>
            <a:ext cx="2895600" cy="1015663"/>
          </a:xfrm>
          <a:prstGeom prst="rect">
            <a:avLst/>
          </a:prstGeom>
          <a:noFill/>
        </p:spPr>
        <p:txBody>
          <a:bodyPr wrap="square" rtlCol="0">
            <a:spAutoFit/>
          </a:bodyPr>
          <a:lstStyle/>
          <a:p>
            <a:r>
              <a:rPr lang="en-US" sz="1200" b="1" dirty="0" smtClean="0">
                <a:solidFill>
                  <a:prstClr val="black"/>
                </a:solidFill>
              </a:rPr>
              <a:t>Back offs</a:t>
            </a:r>
            <a:endParaRPr lang="en-US" sz="1200" b="1" dirty="0">
              <a:solidFill>
                <a:prstClr val="black"/>
              </a:solidFill>
            </a:endParaRPr>
          </a:p>
          <a:p>
            <a:r>
              <a:rPr lang="en-US" sz="1200" dirty="0" smtClean="0">
                <a:solidFill>
                  <a:prstClr val="black"/>
                </a:solidFill>
              </a:rPr>
              <a:t>Occurs </a:t>
            </a:r>
            <a:r>
              <a:rPr lang="en-US" sz="1200" dirty="0">
                <a:solidFill>
                  <a:prstClr val="black"/>
                </a:solidFill>
              </a:rPr>
              <a:t>when a “spinning” thread that is attempting to access a held resource has determined that it needs to </a:t>
            </a:r>
            <a:r>
              <a:rPr lang="en-US" sz="1200" b="1" dirty="0">
                <a:solidFill>
                  <a:srgbClr val="0000FF"/>
                </a:solidFill>
              </a:rPr>
              <a:t>allow</a:t>
            </a:r>
            <a:r>
              <a:rPr lang="en-US" sz="1200" dirty="0">
                <a:solidFill>
                  <a:srgbClr val="0000FF"/>
                </a:solidFill>
              </a:rPr>
              <a:t> </a:t>
            </a:r>
            <a:r>
              <a:rPr lang="en-US" sz="1200" dirty="0">
                <a:solidFill>
                  <a:prstClr val="black"/>
                </a:solidFill>
              </a:rPr>
              <a:t>other threads on the same CPU to </a:t>
            </a:r>
            <a:r>
              <a:rPr lang="en-US" sz="1200" dirty="0" smtClean="0">
                <a:solidFill>
                  <a:prstClr val="black"/>
                </a:solidFill>
              </a:rPr>
              <a:t>execute</a:t>
            </a:r>
            <a:endParaRPr lang="en-US" sz="1200" dirty="0">
              <a:solidFill>
                <a:prstClr val="black"/>
              </a:solidFill>
            </a:endParaRPr>
          </a:p>
        </p:txBody>
      </p:sp>
      <p:cxnSp>
        <p:nvCxnSpPr>
          <p:cNvPr id="19" name="18 Conector recto de flecha"/>
          <p:cNvCxnSpPr/>
          <p:nvPr/>
        </p:nvCxnSpPr>
        <p:spPr>
          <a:xfrm flipH="1">
            <a:off x="762000" y="2879556"/>
            <a:ext cx="1066800" cy="246396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30" name="1029 Conector recto de flecha"/>
          <p:cNvCxnSpPr/>
          <p:nvPr/>
        </p:nvCxnSpPr>
        <p:spPr>
          <a:xfrm>
            <a:off x="3200400" y="2879556"/>
            <a:ext cx="2590800" cy="177816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32" name="1031 Conector recto de flecha"/>
          <p:cNvCxnSpPr/>
          <p:nvPr/>
        </p:nvCxnSpPr>
        <p:spPr>
          <a:xfrm>
            <a:off x="3886200" y="2879556"/>
            <a:ext cx="1919955" cy="88908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34" name="1033 Conector recto de flecha"/>
          <p:cNvCxnSpPr/>
          <p:nvPr/>
        </p:nvCxnSpPr>
        <p:spPr>
          <a:xfrm>
            <a:off x="4473060" y="2792605"/>
            <a:ext cx="1241940"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39" name="1038 Conector recto"/>
          <p:cNvCxnSpPr/>
          <p:nvPr/>
        </p:nvCxnSpPr>
        <p:spPr>
          <a:xfrm>
            <a:off x="2616438" y="2879556"/>
            <a:ext cx="0" cy="2387769"/>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41" name="1040 Conector recto de flecha"/>
          <p:cNvCxnSpPr/>
          <p:nvPr/>
        </p:nvCxnSpPr>
        <p:spPr>
          <a:xfrm>
            <a:off x="2616438" y="5267325"/>
            <a:ext cx="812562"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2" name="21 Grupo"/>
          <p:cNvGrpSpPr/>
          <p:nvPr/>
        </p:nvGrpSpPr>
        <p:grpSpPr>
          <a:xfrm>
            <a:off x="9525" y="6574392"/>
            <a:ext cx="9134399" cy="277000"/>
            <a:chOff x="9525" y="6574392"/>
            <a:chExt cx="9134399" cy="277000"/>
          </a:xfrm>
        </p:grpSpPr>
        <p:sp>
          <p:nvSpPr>
            <p:cNvPr id="28" name="27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9" name="28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30" name="29 Grupo"/>
          <p:cNvGrpSpPr/>
          <p:nvPr/>
        </p:nvGrpSpPr>
        <p:grpSpPr>
          <a:xfrm>
            <a:off x="0" y="9525"/>
            <a:ext cx="9153525" cy="408388"/>
            <a:chOff x="0" y="9525"/>
            <a:chExt cx="9153525" cy="408388"/>
          </a:xfrm>
        </p:grpSpPr>
        <p:sp>
          <p:nvSpPr>
            <p:cNvPr id="31" name="30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Locking |   Spinlock Contention</a:t>
              </a:r>
              <a:endParaRPr lang="en-US" b="1" i="1" dirty="0">
                <a:solidFill>
                  <a:schemeClr val="bg1"/>
                </a:solidFill>
              </a:endParaRPr>
            </a:p>
          </p:txBody>
        </p:sp>
        <p:pic>
          <p:nvPicPr>
            <p:cNvPr id="32" name="31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3" name="32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20188481"/>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26 CuadroTexto"/>
          <p:cNvSpPr txBox="1"/>
          <p:nvPr/>
        </p:nvSpPr>
        <p:spPr>
          <a:xfrm>
            <a:off x="109669" y="931451"/>
            <a:ext cx="2125767" cy="646331"/>
          </a:xfrm>
          <a:prstGeom prst="rect">
            <a:avLst/>
          </a:prstGeom>
          <a:noFill/>
        </p:spPr>
        <p:txBody>
          <a:bodyPr wrap="square" rtlCol="0">
            <a:spAutoFit/>
          </a:bodyPr>
          <a:lstStyle/>
          <a:p>
            <a:pPr marL="171450" indent="-171450">
              <a:buFont typeface="Wingdings" pitchFamily="2" charset="2"/>
              <a:buChar char="§"/>
            </a:pPr>
            <a:r>
              <a:rPr lang="en-US" sz="1200" dirty="0" smtClean="0">
                <a:solidFill>
                  <a:prstClr val="black"/>
                </a:solidFill>
              </a:rPr>
              <a:t>Attempt to acquire a lock</a:t>
            </a:r>
          </a:p>
          <a:p>
            <a:pPr marL="171450" indent="-171450">
              <a:buFont typeface="Wingdings" pitchFamily="2" charset="2"/>
              <a:buChar char="§"/>
            </a:pPr>
            <a:r>
              <a:rPr lang="en-US" sz="1200" dirty="0" smtClean="0">
                <a:solidFill>
                  <a:prstClr val="black"/>
                </a:solidFill>
              </a:rPr>
              <a:t>If the lock attempt fails then…</a:t>
            </a:r>
            <a:endParaRPr lang="en-US" sz="1200" dirty="0">
              <a:solidFill>
                <a:prstClr val="black"/>
              </a:solidFill>
            </a:endParaRPr>
          </a:p>
        </p:txBody>
      </p:sp>
      <p:grpSp>
        <p:nvGrpSpPr>
          <p:cNvPr id="1028" name="1027 Grupo"/>
          <p:cNvGrpSpPr/>
          <p:nvPr/>
        </p:nvGrpSpPr>
        <p:grpSpPr>
          <a:xfrm>
            <a:off x="103972" y="2063969"/>
            <a:ext cx="2971800" cy="2215129"/>
            <a:chOff x="103972" y="2235419"/>
            <a:chExt cx="2971800" cy="2215129"/>
          </a:xfrm>
        </p:grpSpPr>
        <p:sp>
          <p:nvSpPr>
            <p:cNvPr id="21" name="20 CuadroTexto"/>
            <p:cNvSpPr txBox="1"/>
            <p:nvPr/>
          </p:nvSpPr>
          <p:spPr>
            <a:xfrm>
              <a:off x="103972" y="2235419"/>
              <a:ext cx="29718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b="1" dirty="0" smtClean="0">
                  <a:solidFill>
                    <a:prstClr val="black"/>
                  </a:solidFill>
                </a:rPr>
                <a:t>Collision</a:t>
              </a:r>
              <a:endParaRPr lang="en-US" sz="1200" b="1" dirty="0">
                <a:solidFill>
                  <a:prstClr val="black"/>
                </a:solidFill>
              </a:endParaRPr>
            </a:p>
          </p:txBody>
        </p:sp>
        <p:sp>
          <p:nvSpPr>
            <p:cNvPr id="22" name="21 CuadroTexto"/>
            <p:cNvSpPr txBox="1"/>
            <p:nvPr/>
          </p:nvSpPr>
          <p:spPr>
            <a:xfrm>
              <a:off x="103972" y="2511556"/>
              <a:ext cx="2971800" cy="1938992"/>
            </a:xfrm>
            <a:prstGeom prst="rect">
              <a:avLst/>
            </a:prstGeom>
            <a:noFill/>
            <a:ln>
              <a:solidFill>
                <a:schemeClr val="tx1"/>
              </a:solidFill>
            </a:ln>
          </p:spPr>
          <p:txBody>
            <a:bodyPr wrap="square" rtlCol="0">
              <a:spAutoFit/>
            </a:bodyPr>
            <a:lstStyle/>
            <a:p>
              <a:pPr marL="171450" indent="-171450">
                <a:buFont typeface="Wingdings" pitchFamily="2" charset="2"/>
                <a:buChar char="§"/>
              </a:pPr>
              <a:r>
                <a:rPr lang="en-US" sz="1200" dirty="0" smtClean="0">
                  <a:solidFill>
                    <a:prstClr val="black"/>
                  </a:solidFill>
                </a:rPr>
                <a:t>Increment the Performance Monitor collisions counter</a:t>
              </a:r>
            </a:p>
            <a:p>
              <a:pPr marL="171450" indent="-171450">
                <a:buFont typeface="Wingdings" pitchFamily="2" charset="2"/>
                <a:buChar char="§"/>
              </a:pPr>
              <a:endParaRPr lang="en-US" sz="1200" dirty="0" smtClean="0">
                <a:solidFill>
                  <a:prstClr val="black"/>
                </a:solidFill>
              </a:endParaRPr>
            </a:p>
            <a:p>
              <a:pPr marL="171450" indent="-171450">
                <a:buFont typeface="Wingdings" pitchFamily="2" charset="2"/>
                <a:buChar char="§"/>
              </a:pPr>
              <a:r>
                <a:rPr lang="en-US" sz="1200" dirty="0" smtClean="0">
                  <a:solidFill>
                    <a:prstClr val="black"/>
                  </a:solidFill>
                </a:rPr>
                <a:t>Execute the </a:t>
              </a:r>
              <a:r>
                <a:rPr lang="en-US" sz="1200" dirty="0">
                  <a:solidFill>
                    <a:prstClr val="black"/>
                  </a:solidFill>
                </a:rPr>
                <a:t>spin </a:t>
              </a:r>
              <a:r>
                <a:rPr lang="en-US" sz="1200" dirty="0" smtClean="0">
                  <a:solidFill>
                    <a:prstClr val="black"/>
                  </a:solidFill>
                </a:rPr>
                <a:t>algorithm</a:t>
              </a:r>
            </a:p>
            <a:p>
              <a:pPr marL="171450" indent="-171450">
                <a:buFont typeface="Wingdings" pitchFamily="2" charset="2"/>
                <a:buChar char="§"/>
              </a:pPr>
              <a:endParaRPr lang="en-US" sz="1200" dirty="0" smtClean="0">
                <a:solidFill>
                  <a:prstClr val="black"/>
                </a:solidFill>
              </a:endParaRPr>
            </a:p>
            <a:p>
              <a:pPr marL="171450" indent="-171450">
                <a:buFont typeface="Wingdings" pitchFamily="2" charset="2"/>
                <a:buChar char="§"/>
              </a:pPr>
              <a:r>
                <a:rPr lang="en-US" sz="1200" dirty="0">
                  <a:solidFill>
                    <a:prstClr val="black"/>
                  </a:solidFill>
                </a:rPr>
                <a:t>If the Spinlock is no longer owned by a thread then attempt to acquire a lock</a:t>
              </a:r>
            </a:p>
            <a:p>
              <a:endParaRPr lang="en-US" sz="1200" dirty="0">
                <a:solidFill>
                  <a:prstClr val="black"/>
                </a:solidFill>
              </a:endParaRPr>
            </a:p>
            <a:p>
              <a:pPr marL="171450" indent="-171450">
                <a:buFont typeface="Wingdings" pitchFamily="2" charset="2"/>
                <a:buChar char="§"/>
              </a:pPr>
              <a:r>
                <a:rPr lang="en-US" sz="1200" dirty="0">
                  <a:solidFill>
                    <a:prstClr val="black"/>
                  </a:solidFill>
                </a:rPr>
                <a:t>If unable to </a:t>
              </a:r>
              <a:r>
                <a:rPr lang="en-US" sz="1200" dirty="0" smtClean="0">
                  <a:solidFill>
                    <a:prstClr val="black"/>
                  </a:solidFill>
                </a:rPr>
                <a:t>acquire a lock </a:t>
              </a:r>
              <a:r>
                <a:rPr lang="en-US" sz="1200" dirty="0">
                  <a:solidFill>
                    <a:prstClr val="black"/>
                  </a:solidFill>
                </a:rPr>
                <a:t>then repeat Spin </a:t>
              </a:r>
              <a:r>
                <a:rPr lang="en-US" sz="1200" dirty="0" smtClean="0">
                  <a:solidFill>
                    <a:prstClr val="black"/>
                  </a:solidFill>
                </a:rPr>
                <a:t>Algorithm</a:t>
              </a:r>
              <a:endParaRPr lang="en-US" sz="1200" dirty="0">
                <a:solidFill>
                  <a:prstClr val="black"/>
                </a:solidFill>
              </a:endParaRPr>
            </a:p>
          </p:txBody>
        </p:sp>
      </p:grpSp>
      <p:grpSp>
        <p:nvGrpSpPr>
          <p:cNvPr id="20" name="19 Grupo"/>
          <p:cNvGrpSpPr/>
          <p:nvPr/>
        </p:nvGrpSpPr>
        <p:grpSpPr>
          <a:xfrm>
            <a:off x="4495800" y="1086087"/>
            <a:ext cx="3105150" cy="3138905"/>
            <a:chOff x="4872349" y="939573"/>
            <a:chExt cx="3105150" cy="3138905"/>
          </a:xfrm>
        </p:grpSpPr>
        <p:sp>
          <p:nvSpPr>
            <p:cNvPr id="28" name="27 CuadroTexto"/>
            <p:cNvSpPr txBox="1"/>
            <p:nvPr/>
          </p:nvSpPr>
          <p:spPr>
            <a:xfrm>
              <a:off x="4872349" y="1216156"/>
              <a:ext cx="3105150" cy="2862322"/>
            </a:xfrm>
            <a:prstGeom prst="rect">
              <a:avLst/>
            </a:prstGeom>
            <a:noFill/>
            <a:ln>
              <a:solidFill>
                <a:schemeClr val="tx1"/>
              </a:solidFill>
            </a:ln>
          </p:spPr>
          <p:txBody>
            <a:bodyPr wrap="square" rtlCol="0">
              <a:spAutoFit/>
            </a:bodyPr>
            <a:lstStyle/>
            <a:p>
              <a:r>
                <a:rPr lang="en-US" sz="1200" dirty="0" smtClean="0">
                  <a:solidFill>
                    <a:prstClr val="black"/>
                  </a:solidFill>
                </a:rPr>
                <a:t>1. Determine how long to “spin”</a:t>
              </a:r>
            </a:p>
            <a:p>
              <a:r>
                <a:rPr lang="en-US" sz="1200" dirty="0" smtClean="0">
                  <a:solidFill>
                    <a:prstClr val="black"/>
                  </a:solidFill>
                </a:rPr>
                <a:t>Either a constant or exponentially increasing value</a:t>
              </a:r>
            </a:p>
            <a:p>
              <a:endParaRPr lang="en-US" sz="1200" dirty="0">
                <a:solidFill>
                  <a:prstClr val="black"/>
                </a:solidFill>
              </a:endParaRPr>
            </a:p>
            <a:p>
              <a:r>
                <a:rPr lang="en-US" sz="1200" dirty="0">
                  <a:solidFill>
                    <a:prstClr val="black"/>
                  </a:solidFill>
                </a:rPr>
                <a:t>2. Spin for the specified length of time</a:t>
              </a:r>
            </a:p>
            <a:p>
              <a:r>
                <a:rPr lang="en-US" sz="1200" dirty="0">
                  <a:solidFill>
                    <a:prstClr val="black"/>
                  </a:solidFill>
                </a:rPr>
                <a:t>Each loop increments the “Spins” counter</a:t>
              </a:r>
            </a:p>
            <a:p>
              <a:endParaRPr lang="en-US" sz="1200" dirty="0" smtClean="0">
                <a:solidFill>
                  <a:prstClr val="black"/>
                </a:solidFill>
              </a:endParaRPr>
            </a:p>
            <a:p>
              <a:r>
                <a:rPr lang="en-US" sz="1200" dirty="0">
                  <a:solidFill>
                    <a:prstClr val="black"/>
                  </a:solidFill>
                </a:rPr>
                <a:t>3. Check for lock ownership </a:t>
              </a:r>
            </a:p>
            <a:p>
              <a:r>
                <a:rPr lang="en-US" sz="1200" dirty="0">
                  <a:solidFill>
                    <a:prstClr val="black"/>
                  </a:solidFill>
                </a:rPr>
                <a:t>(not to confuse with “</a:t>
              </a:r>
              <a:r>
                <a:rPr lang="en-US" sz="1200" i="1" dirty="0">
                  <a:solidFill>
                    <a:prstClr val="black"/>
                  </a:solidFill>
                </a:rPr>
                <a:t>the attempt to acquire</a:t>
              </a:r>
              <a:r>
                <a:rPr lang="en-US" sz="1200" dirty="0" smtClean="0">
                  <a:solidFill>
                    <a:prstClr val="black"/>
                  </a:solidFill>
                </a:rPr>
                <a:t>”)</a:t>
              </a:r>
            </a:p>
            <a:p>
              <a:endParaRPr lang="en-US" sz="1200" dirty="0">
                <a:solidFill>
                  <a:prstClr val="black"/>
                </a:solidFill>
              </a:endParaRPr>
            </a:p>
            <a:p>
              <a:r>
                <a:rPr lang="en-US" sz="1200" dirty="0" smtClean="0">
                  <a:solidFill>
                    <a:prstClr val="black"/>
                  </a:solidFill>
                </a:rPr>
                <a:t>4. If </a:t>
              </a:r>
              <a:r>
                <a:rPr lang="en-US" sz="1200" dirty="0">
                  <a:solidFill>
                    <a:prstClr val="black"/>
                  </a:solidFill>
                </a:rPr>
                <a:t>the Spinlock is no longer owned by a </a:t>
              </a:r>
              <a:r>
                <a:rPr lang="en-US" sz="1200" dirty="0" smtClean="0">
                  <a:solidFill>
                    <a:prstClr val="black"/>
                  </a:solidFill>
                </a:rPr>
                <a:t>thread then stop spinning</a:t>
              </a:r>
            </a:p>
            <a:p>
              <a:endParaRPr lang="en-US" sz="1200" dirty="0">
                <a:solidFill>
                  <a:prstClr val="black"/>
                </a:solidFill>
              </a:endParaRPr>
            </a:p>
            <a:p>
              <a:r>
                <a:rPr lang="en-US" sz="1200" dirty="0" smtClean="0">
                  <a:solidFill>
                    <a:prstClr val="black"/>
                  </a:solidFill>
                </a:rPr>
                <a:t>5. If the spin limit reached then stop spinning and execute the back off</a:t>
              </a:r>
              <a:endParaRPr lang="en-US" sz="1200" dirty="0">
                <a:solidFill>
                  <a:prstClr val="black"/>
                </a:solidFill>
              </a:endParaRPr>
            </a:p>
          </p:txBody>
        </p:sp>
        <p:sp>
          <p:nvSpPr>
            <p:cNvPr id="32" name="31 CuadroTexto"/>
            <p:cNvSpPr txBox="1"/>
            <p:nvPr/>
          </p:nvSpPr>
          <p:spPr>
            <a:xfrm>
              <a:off x="4872349" y="939573"/>
              <a:ext cx="310515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b="1" dirty="0" smtClean="0">
                  <a:solidFill>
                    <a:prstClr val="black"/>
                  </a:solidFill>
                </a:rPr>
                <a:t>Spin Algorithm</a:t>
              </a:r>
              <a:endParaRPr lang="en-US" sz="1200" b="1" dirty="0">
                <a:solidFill>
                  <a:prstClr val="black"/>
                </a:solidFill>
              </a:endParaRPr>
            </a:p>
          </p:txBody>
        </p:sp>
      </p:grpSp>
      <p:grpSp>
        <p:nvGrpSpPr>
          <p:cNvPr id="11" name="10 Grupo"/>
          <p:cNvGrpSpPr/>
          <p:nvPr/>
        </p:nvGrpSpPr>
        <p:grpSpPr>
          <a:xfrm>
            <a:off x="3938275" y="1450154"/>
            <a:ext cx="486693" cy="269907"/>
            <a:chOff x="5676900" y="4992978"/>
            <a:chExt cx="969592" cy="450692"/>
          </a:xfrm>
        </p:grpSpPr>
        <p:sp>
          <p:nvSpPr>
            <p:cNvPr id="9" name="8 Flecha curvada hacia la izquierda"/>
            <p:cNvSpPr/>
            <p:nvPr/>
          </p:nvSpPr>
          <p:spPr>
            <a:xfrm rot="10630116">
              <a:off x="5676900" y="4992978"/>
              <a:ext cx="419100" cy="417222"/>
            </a:xfrm>
            <a:prstGeom prst="curvedLeftArrow">
              <a:avLst/>
            </a:prstGeom>
            <a:ln>
              <a:head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black"/>
                </a:solidFill>
              </a:endParaRPr>
            </a:p>
          </p:txBody>
        </p:sp>
        <p:sp>
          <p:nvSpPr>
            <p:cNvPr id="10" name="9 Flecha curvada hacia la izquierda"/>
            <p:cNvSpPr/>
            <p:nvPr/>
          </p:nvSpPr>
          <p:spPr>
            <a:xfrm>
              <a:off x="6189292" y="5006254"/>
              <a:ext cx="457200" cy="437416"/>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black"/>
                </a:solidFill>
              </a:endParaRPr>
            </a:p>
          </p:txBody>
        </p:sp>
      </p:grpSp>
      <p:grpSp>
        <p:nvGrpSpPr>
          <p:cNvPr id="39" name="38 Grupo"/>
          <p:cNvGrpSpPr/>
          <p:nvPr/>
        </p:nvGrpSpPr>
        <p:grpSpPr>
          <a:xfrm>
            <a:off x="4495800" y="4670283"/>
            <a:ext cx="3505200" cy="729682"/>
            <a:chOff x="4495800" y="4624545"/>
            <a:chExt cx="3505200" cy="729682"/>
          </a:xfrm>
        </p:grpSpPr>
        <p:sp>
          <p:nvSpPr>
            <p:cNvPr id="37" name="36 CuadroTexto"/>
            <p:cNvSpPr txBox="1"/>
            <p:nvPr/>
          </p:nvSpPr>
          <p:spPr>
            <a:xfrm>
              <a:off x="4495800" y="4892562"/>
              <a:ext cx="3505200" cy="461665"/>
            </a:xfrm>
            <a:prstGeom prst="rect">
              <a:avLst/>
            </a:prstGeom>
            <a:noFill/>
            <a:ln>
              <a:solidFill>
                <a:schemeClr val="tx1"/>
              </a:solidFill>
            </a:ln>
          </p:spPr>
          <p:txBody>
            <a:bodyPr wrap="square" rtlCol="0">
              <a:spAutoFit/>
            </a:bodyPr>
            <a:lstStyle/>
            <a:p>
              <a:pPr marL="171450" indent="-171450">
                <a:buFont typeface="Wingdings" pitchFamily="2" charset="2"/>
                <a:buChar char="§"/>
              </a:pPr>
              <a:r>
                <a:rPr lang="en-US" sz="1200" dirty="0" smtClean="0">
                  <a:solidFill>
                    <a:prstClr val="black"/>
                  </a:solidFill>
                </a:rPr>
                <a:t>If spin limit reached then initiate back off (sleep)</a:t>
              </a:r>
            </a:p>
            <a:p>
              <a:pPr marL="171450" indent="-171450">
                <a:buFont typeface="Wingdings" pitchFamily="2" charset="2"/>
                <a:buChar char="§"/>
              </a:pPr>
              <a:r>
                <a:rPr lang="en-US" sz="1200" dirty="0" smtClean="0">
                  <a:solidFill>
                    <a:prstClr val="black"/>
                  </a:solidFill>
                </a:rPr>
                <a:t>Repeat the Spin Logic after the back off interval</a:t>
              </a:r>
              <a:endParaRPr lang="en-US" sz="1200" dirty="0">
                <a:solidFill>
                  <a:prstClr val="black"/>
                </a:solidFill>
              </a:endParaRPr>
            </a:p>
          </p:txBody>
        </p:sp>
        <p:sp>
          <p:nvSpPr>
            <p:cNvPr id="38" name="37 CuadroTexto"/>
            <p:cNvSpPr txBox="1"/>
            <p:nvPr/>
          </p:nvSpPr>
          <p:spPr>
            <a:xfrm>
              <a:off x="4495800" y="4624545"/>
              <a:ext cx="35052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b="1" dirty="0">
                  <a:solidFill>
                    <a:prstClr val="black"/>
                  </a:solidFill>
                </a:rPr>
                <a:t>Back Off Algorithm</a:t>
              </a:r>
            </a:p>
          </p:txBody>
        </p:sp>
      </p:grpSp>
      <p:sp>
        <p:nvSpPr>
          <p:cNvPr id="50" name="49 CuadroTexto"/>
          <p:cNvSpPr txBox="1"/>
          <p:nvPr/>
        </p:nvSpPr>
        <p:spPr>
          <a:xfrm>
            <a:off x="-2849" y="514350"/>
            <a:ext cx="9144000" cy="338554"/>
          </a:xfrm>
          <a:prstGeom prst="rect">
            <a:avLst/>
          </a:prstGeom>
          <a:noFill/>
        </p:spPr>
        <p:txBody>
          <a:bodyPr wrap="square" rtlCol="0">
            <a:spAutoFit/>
          </a:bodyPr>
          <a:lstStyle/>
          <a:p>
            <a:r>
              <a:rPr lang="en-US" sz="1600" b="1" dirty="0" smtClean="0">
                <a:solidFill>
                  <a:prstClr val="black"/>
                </a:solidFill>
              </a:rPr>
              <a:t>The algorithm</a:t>
            </a:r>
          </a:p>
        </p:txBody>
      </p:sp>
      <p:cxnSp>
        <p:nvCxnSpPr>
          <p:cNvPr id="46" name="45 Conector recto"/>
          <p:cNvCxnSpPr/>
          <p:nvPr/>
        </p:nvCxnSpPr>
        <p:spPr>
          <a:xfrm>
            <a:off x="2133600" y="3031927"/>
            <a:ext cx="12954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47 Conector recto"/>
          <p:cNvCxnSpPr/>
          <p:nvPr/>
        </p:nvCxnSpPr>
        <p:spPr>
          <a:xfrm flipV="1">
            <a:off x="3429000" y="1224586"/>
            <a:ext cx="0" cy="1807341"/>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50 Conector recto de flecha"/>
          <p:cNvCxnSpPr/>
          <p:nvPr/>
        </p:nvCxnSpPr>
        <p:spPr>
          <a:xfrm>
            <a:off x="3429000" y="1224586"/>
            <a:ext cx="1018551"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52 Conector recto de flecha"/>
          <p:cNvCxnSpPr/>
          <p:nvPr/>
        </p:nvCxnSpPr>
        <p:spPr>
          <a:xfrm flipH="1">
            <a:off x="2819400" y="3489127"/>
            <a:ext cx="1676400"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54 Conector recto"/>
          <p:cNvCxnSpPr/>
          <p:nvPr/>
        </p:nvCxnSpPr>
        <p:spPr>
          <a:xfrm flipH="1">
            <a:off x="4114800" y="3870127"/>
            <a:ext cx="381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56 Conector recto"/>
          <p:cNvCxnSpPr/>
          <p:nvPr/>
        </p:nvCxnSpPr>
        <p:spPr>
          <a:xfrm>
            <a:off x="4114800" y="3870127"/>
            <a:ext cx="0" cy="93865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58 Conector recto de flecha"/>
          <p:cNvCxnSpPr>
            <a:endCxn id="38" idx="1"/>
          </p:cNvCxnSpPr>
          <p:nvPr/>
        </p:nvCxnSpPr>
        <p:spPr>
          <a:xfrm>
            <a:off x="4114800" y="4808782"/>
            <a:ext cx="381000"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60 Conector recto"/>
          <p:cNvCxnSpPr/>
          <p:nvPr/>
        </p:nvCxnSpPr>
        <p:spPr>
          <a:xfrm>
            <a:off x="7848600" y="5241727"/>
            <a:ext cx="4572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3" name="62 Conector recto"/>
          <p:cNvCxnSpPr/>
          <p:nvPr/>
        </p:nvCxnSpPr>
        <p:spPr>
          <a:xfrm flipV="1">
            <a:off x="8305800" y="1224586"/>
            <a:ext cx="0" cy="4017141"/>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25" name="1024 Conector recto de flecha"/>
          <p:cNvCxnSpPr/>
          <p:nvPr/>
        </p:nvCxnSpPr>
        <p:spPr>
          <a:xfrm flipH="1">
            <a:off x="7696200" y="1224586"/>
            <a:ext cx="609600"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27" name="1026 Conector recto de flecha"/>
          <p:cNvCxnSpPr/>
          <p:nvPr/>
        </p:nvCxnSpPr>
        <p:spPr>
          <a:xfrm>
            <a:off x="533400" y="1575085"/>
            <a:ext cx="0" cy="39004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87" y="4533372"/>
            <a:ext cx="4020271" cy="1900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5" name="34 Grupo"/>
          <p:cNvGrpSpPr/>
          <p:nvPr/>
        </p:nvGrpSpPr>
        <p:grpSpPr>
          <a:xfrm>
            <a:off x="9525" y="6574392"/>
            <a:ext cx="9134399" cy="277000"/>
            <a:chOff x="9525" y="6574392"/>
            <a:chExt cx="9134399" cy="277000"/>
          </a:xfrm>
        </p:grpSpPr>
        <p:sp>
          <p:nvSpPr>
            <p:cNvPr id="36" name="35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40" name="39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41" name="40 Grupo"/>
          <p:cNvGrpSpPr/>
          <p:nvPr/>
        </p:nvGrpSpPr>
        <p:grpSpPr>
          <a:xfrm>
            <a:off x="0" y="9525"/>
            <a:ext cx="9153525" cy="408388"/>
            <a:chOff x="0" y="9525"/>
            <a:chExt cx="9153525" cy="408388"/>
          </a:xfrm>
        </p:grpSpPr>
        <p:sp>
          <p:nvSpPr>
            <p:cNvPr id="42" name="41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Locking |   Spinlock Contention</a:t>
              </a:r>
              <a:endParaRPr lang="en-US" b="1" i="1" dirty="0">
                <a:solidFill>
                  <a:schemeClr val="bg1"/>
                </a:solidFill>
              </a:endParaRPr>
            </a:p>
          </p:txBody>
        </p:sp>
        <p:pic>
          <p:nvPicPr>
            <p:cNvPr id="43" name="42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4" name="43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74120950"/>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0" y="1219200"/>
            <a:ext cx="9144000" cy="1384995"/>
          </a:xfrm>
          <a:prstGeom prst="rect">
            <a:avLst/>
          </a:prstGeom>
          <a:noFill/>
        </p:spPr>
        <p:txBody>
          <a:bodyPr wrap="square" rtlCol="0">
            <a:spAutoFit/>
          </a:bodyPr>
          <a:lstStyle/>
          <a:p>
            <a:pPr marL="285750" indent="-285750">
              <a:buFont typeface="Wingdings" pitchFamily="2" charset="2"/>
              <a:buChar char="Ø"/>
            </a:pPr>
            <a:r>
              <a:rPr lang="en-US" sz="1200" dirty="0" smtClean="0">
                <a:solidFill>
                  <a:prstClr val="black"/>
                </a:solidFill>
              </a:rPr>
              <a:t>The </a:t>
            </a:r>
            <a:r>
              <a:rPr lang="en-US" sz="1200" dirty="0">
                <a:solidFill>
                  <a:prstClr val="black"/>
                </a:solidFill>
              </a:rPr>
              <a:t>symptom primarily associated with spinlock contention is </a:t>
            </a:r>
            <a:r>
              <a:rPr lang="en-US" sz="1200" b="1" dirty="0">
                <a:solidFill>
                  <a:prstClr val="black"/>
                </a:solidFill>
              </a:rPr>
              <a:t>high CPU </a:t>
            </a:r>
            <a:r>
              <a:rPr lang="en-US" sz="1200" b="1" dirty="0" smtClean="0">
                <a:solidFill>
                  <a:prstClr val="black"/>
                </a:solidFill>
              </a:rPr>
              <a:t>consumption</a:t>
            </a:r>
            <a:r>
              <a:rPr lang="en-US" sz="1200" dirty="0" smtClean="0">
                <a:solidFill>
                  <a:prstClr val="black"/>
                </a:solidFill>
              </a:rPr>
              <a:t>, </a:t>
            </a:r>
            <a:r>
              <a:rPr lang="en-US" sz="1200" dirty="0">
                <a:solidFill>
                  <a:prstClr val="black"/>
                </a:solidFill>
              </a:rPr>
              <a:t>as a result of the large number of spins and many threads attempting to acquire the same spinlock. </a:t>
            </a:r>
            <a:endParaRPr lang="en-US" sz="1200" dirty="0" smtClean="0">
              <a:solidFill>
                <a:prstClr val="black"/>
              </a:solidFill>
            </a:endParaRPr>
          </a:p>
          <a:p>
            <a:r>
              <a:rPr lang="en-US" sz="1200" dirty="0" smtClean="0">
                <a:solidFill>
                  <a:prstClr val="black"/>
                </a:solidFill>
              </a:rPr>
              <a:t>        In </a:t>
            </a:r>
            <a:r>
              <a:rPr lang="en-US" sz="1200" dirty="0">
                <a:solidFill>
                  <a:prstClr val="black"/>
                </a:solidFill>
              </a:rPr>
              <a:t>heavy CPU scenarios one may also observe high signal waits on SOS_SCHEDULER_YEILD  </a:t>
            </a:r>
            <a:r>
              <a:rPr lang="en-US" sz="1200" dirty="0" smtClean="0">
                <a:solidFill>
                  <a:prstClr val="black"/>
                </a:solidFill>
              </a:rPr>
              <a:t>(</a:t>
            </a:r>
            <a:r>
              <a:rPr lang="en-US" sz="1200" dirty="0">
                <a:solidFill>
                  <a:prstClr val="black"/>
                </a:solidFill>
              </a:rPr>
              <a:t>reported by the DMV </a:t>
            </a:r>
            <a:r>
              <a:rPr lang="en-US" sz="1200" i="1" dirty="0" err="1">
                <a:solidFill>
                  <a:prstClr val="black"/>
                </a:solidFill>
              </a:rPr>
              <a:t>sys.dm_os_wait_stats</a:t>
            </a:r>
            <a:r>
              <a:rPr lang="en-US" sz="1200" dirty="0" smtClean="0">
                <a:solidFill>
                  <a:prstClr val="black"/>
                </a:solidFill>
              </a:rPr>
              <a:t>).</a:t>
            </a:r>
          </a:p>
          <a:p>
            <a:pPr marL="285750" indent="-285750">
              <a:buFont typeface="Wingdings" pitchFamily="2" charset="2"/>
              <a:buChar char="Ø"/>
            </a:pPr>
            <a:endParaRPr lang="en-US" sz="1200" dirty="0">
              <a:solidFill>
                <a:prstClr val="black"/>
              </a:solidFill>
            </a:endParaRPr>
          </a:p>
          <a:p>
            <a:pPr marL="285750" indent="-285750">
              <a:buFont typeface="Wingdings" pitchFamily="2" charset="2"/>
              <a:buChar char="Ø"/>
            </a:pPr>
            <a:r>
              <a:rPr lang="en-US" sz="1200" dirty="0">
                <a:solidFill>
                  <a:prstClr val="black"/>
                </a:solidFill>
              </a:rPr>
              <a:t>The system is experiencing very high </a:t>
            </a:r>
            <a:r>
              <a:rPr lang="en-US" sz="1200" dirty="0" smtClean="0">
                <a:solidFill>
                  <a:prstClr val="black"/>
                </a:solidFill>
              </a:rPr>
              <a:t>concurrency</a:t>
            </a:r>
          </a:p>
          <a:p>
            <a:pPr marL="285750" indent="-285750">
              <a:buFont typeface="Wingdings" pitchFamily="2" charset="2"/>
              <a:buChar char="Ø"/>
            </a:pPr>
            <a:endParaRPr lang="en-US" sz="1200" dirty="0">
              <a:solidFill>
                <a:prstClr val="black"/>
              </a:solidFill>
            </a:endParaRPr>
          </a:p>
          <a:p>
            <a:pPr marL="285750" indent="-285750">
              <a:buFont typeface="Wingdings" pitchFamily="2" charset="2"/>
              <a:buChar char="Ø"/>
            </a:pPr>
            <a:r>
              <a:rPr lang="en-US" sz="1200" dirty="0">
                <a:solidFill>
                  <a:prstClr val="black"/>
                </a:solidFill>
              </a:rPr>
              <a:t>The CPU usage and spins are increased disproportionate to throughput</a:t>
            </a:r>
          </a:p>
        </p:txBody>
      </p:sp>
      <p:sp>
        <p:nvSpPr>
          <p:cNvPr id="6" name="5 CuadroTexto"/>
          <p:cNvSpPr txBox="1"/>
          <p:nvPr/>
        </p:nvSpPr>
        <p:spPr>
          <a:xfrm>
            <a:off x="0" y="685800"/>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a:solidFill>
                  <a:prstClr val="black"/>
                </a:solidFill>
              </a:rPr>
              <a:t>Typical </a:t>
            </a:r>
            <a:r>
              <a:rPr lang="en-US" sz="1400" b="1" dirty="0" smtClean="0">
                <a:solidFill>
                  <a:prstClr val="black"/>
                </a:solidFill>
              </a:rPr>
              <a:t>Symptoms</a:t>
            </a:r>
            <a:endParaRPr lang="en-US" sz="1400" b="1" dirty="0">
              <a:solidFill>
                <a:prstClr val="black"/>
              </a:solidFill>
            </a:endParaRPr>
          </a:p>
        </p:txBody>
      </p:sp>
      <p:sp>
        <p:nvSpPr>
          <p:cNvPr id="7" name="6 CuadroTexto"/>
          <p:cNvSpPr txBox="1"/>
          <p:nvPr/>
        </p:nvSpPr>
        <p:spPr>
          <a:xfrm>
            <a:off x="0" y="2921167"/>
            <a:ext cx="9144000" cy="1200329"/>
          </a:xfrm>
          <a:prstGeom prst="rect">
            <a:avLst/>
          </a:prstGeom>
          <a:noFill/>
        </p:spPr>
        <p:txBody>
          <a:bodyPr wrap="square" rtlCol="0">
            <a:spAutoFit/>
          </a:bodyPr>
          <a:lstStyle/>
          <a:p>
            <a:r>
              <a:rPr lang="en-US" sz="1200" dirty="0">
                <a:solidFill>
                  <a:prstClr val="black"/>
                </a:solidFill>
              </a:rPr>
              <a:t>Some of the more common causes for increased CPU consumption </a:t>
            </a:r>
            <a:r>
              <a:rPr lang="en-US" sz="1200" dirty="0" smtClean="0">
                <a:solidFill>
                  <a:prstClr val="black"/>
                </a:solidFill>
              </a:rPr>
              <a:t>include:</a:t>
            </a:r>
          </a:p>
          <a:p>
            <a:endParaRPr lang="en-US" sz="1200" dirty="0" smtClean="0">
              <a:solidFill>
                <a:prstClr val="black"/>
              </a:solidFill>
            </a:endParaRPr>
          </a:p>
          <a:p>
            <a:pPr marL="171450" indent="-171450">
              <a:buFont typeface="Wingdings" pitchFamily="2" charset="2"/>
              <a:buChar char="Ø"/>
            </a:pPr>
            <a:r>
              <a:rPr lang="en-US" sz="1200" dirty="0">
                <a:solidFill>
                  <a:prstClr val="black"/>
                </a:solidFill>
              </a:rPr>
              <a:t>Queries which become more expensive over time due to growth of the underlying data resulting in the need </a:t>
            </a:r>
            <a:endParaRPr lang="en-US" sz="1200" dirty="0" smtClean="0">
              <a:solidFill>
                <a:prstClr val="black"/>
              </a:solidFill>
            </a:endParaRPr>
          </a:p>
          <a:p>
            <a:r>
              <a:rPr lang="en-US" sz="1200" dirty="0">
                <a:solidFill>
                  <a:prstClr val="black"/>
                </a:solidFill>
              </a:rPr>
              <a:t> </a:t>
            </a:r>
            <a:r>
              <a:rPr lang="en-US" sz="1200" dirty="0" smtClean="0">
                <a:solidFill>
                  <a:prstClr val="black"/>
                </a:solidFill>
              </a:rPr>
              <a:t>    to </a:t>
            </a:r>
            <a:r>
              <a:rPr lang="en-US" sz="1200" dirty="0">
                <a:solidFill>
                  <a:prstClr val="black"/>
                </a:solidFill>
              </a:rPr>
              <a:t>perform additional logical reads of memory resident data </a:t>
            </a:r>
            <a:endParaRPr lang="en-US" sz="1200" dirty="0" smtClean="0">
              <a:solidFill>
                <a:prstClr val="black"/>
              </a:solidFill>
            </a:endParaRPr>
          </a:p>
          <a:p>
            <a:pPr marL="171450" indent="-171450">
              <a:buFont typeface="Wingdings" pitchFamily="2" charset="2"/>
              <a:buChar char="Ø"/>
            </a:pPr>
            <a:endParaRPr lang="en-US" sz="1200" dirty="0" smtClean="0">
              <a:solidFill>
                <a:prstClr val="black"/>
              </a:solidFill>
            </a:endParaRPr>
          </a:p>
          <a:p>
            <a:pPr marL="171450" indent="-171450">
              <a:buFont typeface="Wingdings" pitchFamily="2" charset="2"/>
              <a:buChar char="Ø"/>
            </a:pPr>
            <a:r>
              <a:rPr lang="en-US" sz="1200" dirty="0">
                <a:solidFill>
                  <a:prstClr val="black"/>
                </a:solidFill>
              </a:rPr>
              <a:t>Changes in query plans resulting in suboptimal execution </a:t>
            </a:r>
          </a:p>
        </p:txBody>
      </p:sp>
      <p:sp>
        <p:nvSpPr>
          <p:cNvPr id="8" name="7 CuadroTexto"/>
          <p:cNvSpPr txBox="1"/>
          <p:nvPr/>
        </p:nvSpPr>
        <p:spPr>
          <a:xfrm>
            <a:off x="7543800" y="6019800"/>
            <a:ext cx="1600200" cy="369332"/>
          </a:xfrm>
          <a:prstGeom prst="rect">
            <a:avLst/>
          </a:prstGeom>
          <a:solidFill>
            <a:schemeClr val="accent3">
              <a:lumMod val="75000"/>
            </a:schemeClr>
          </a:solidFill>
        </p:spPr>
        <p:txBody>
          <a:bodyPr wrap="square" rtlCol="0">
            <a:spAutoFit/>
          </a:bodyPr>
          <a:lstStyle/>
          <a:p>
            <a:pPr algn="r"/>
            <a:r>
              <a:rPr lang="en-US" dirty="0" smtClean="0">
                <a:solidFill>
                  <a:prstClr val="white"/>
                </a:solidFill>
              </a:rPr>
              <a:t>Hands On </a:t>
            </a:r>
            <a:r>
              <a:rPr lang="en-US" dirty="0" smtClean="0">
                <a:solidFill>
                  <a:prstClr val="white"/>
                </a:solidFill>
                <a:sym typeface="Wingdings" pitchFamily="2" charset="2"/>
              </a:rPr>
              <a:t></a:t>
            </a:r>
            <a:endParaRPr lang="en-US" dirty="0">
              <a:solidFill>
                <a:prstClr val="white"/>
              </a:solidFill>
            </a:endParaRPr>
          </a:p>
        </p:txBody>
      </p:sp>
      <p:grpSp>
        <p:nvGrpSpPr>
          <p:cNvPr id="13" name="12 Grupo"/>
          <p:cNvGrpSpPr/>
          <p:nvPr/>
        </p:nvGrpSpPr>
        <p:grpSpPr>
          <a:xfrm>
            <a:off x="9525" y="6574392"/>
            <a:ext cx="9134399" cy="277000"/>
            <a:chOff x="9525" y="6574392"/>
            <a:chExt cx="9134399" cy="277000"/>
          </a:xfrm>
        </p:grpSpPr>
        <p:sp>
          <p:nvSpPr>
            <p:cNvPr id="14" name="13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5" name="14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6" name="15 Grupo"/>
          <p:cNvGrpSpPr/>
          <p:nvPr/>
        </p:nvGrpSpPr>
        <p:grpSpPr>
          <a:xfrm>
            <a:off x="0" y="9525"/>
            <a:ext cx="9153525" cy="408388"/>
            <a:chOff x="0" y="9525"/>
            <a:chExt cx="9153525" cy="408388"/>
          </a:xfrm>
        </p:grpSpPr>
        <p:sp>
          <p:nvSpPr>
            <p:cNvPr id="17" name="16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Locking |   Spinlock Contention</a:t>
              </a:r>
              <a:endParaRPr lang="en-US" b="1" i="1" dirty="0">
                <a:solidFill>
                  <a:schemeClr val="bg1"/>
                </a:solidFill>
              </a:endParaRPr>
            </a:p>
          </p:txBody>
        </p:sp>
        <p:pic>
          <p:nvPicPr>
            <p:cNvPr id="18" name="17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9" name="18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58348943"/>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0" y="1080701"/>
            <a:ext cx="9144000" cy="830997"/>
          </a:xfrm>
          <a:prstGeom prst="rect">
            <a:avLst/>
          </a:prstGeom>
          <a:noFill/>
        </p:spPr>
        <p:txBody>
          <a:bodyPr wrap="square" rtlCol="0">
            <a:spAutoFit/>
          </a:bodyPr>
          <a:lstStyle/>
          <a:p>
            <a:pPr marL="171450" indent="-171450">
              <a:buFont typeface="Wingdings" pitchFamily="2" charset="2"/>
              <a:buChar char="Ø"/>
            </a:pPr>
            <a:r>
              <a:rPr lang="en-US" sz="1200" dirty="0" smtClean="0">
                <a:solidFill>
                  <a:prstClr val="black"/>
                </a:solidFill>
              </a:rPr>
              <a:t>On connect, SQL Server allows access to the database and gives a Shared Database lock to the connection</a:t>
            </a:r>
          </a:p>
          <a:p>
            <a:pPr marL="171450" indent="-171450">
              <a:buFont typeface="Wingdings" pitchFamily="2" charset="2"/>
              <a:buChar char="Ø"/>
            </a:pPr>
            <a:r>
              <a:rPr lang="en-US" sz="1200" dirty="0" smtClean="0">
                <a:solidFill>
                  <a:prstClr val="black"/>
                </a:solidFill>
              </a:rPr>
              <a:t>A Shared Database lock prevents other people from doing operations on the database that would require the DB to be in Single User Mode, without forcing your particular connection to be dropped</a:t>
            </a:r>
          </a:p>
          <a:p>
            <a:pPr marL="171450" indent="-171450">
              <a:buFont typeface="Wingdings" pitchFamily="2" charset="2"/>
              <a:buChar char="Ø"/>
            </a:pPr>
            <a:r>
              <a:rPr lang="en-US" sz="1200" dirty="0" smtClean="0">
                <a:solidFill>
                  <a:prstClr val="black"/>
                </a:solidFill>
              </a:rPr>
              <a:t>In other terms, prevents other people from altering the Database State (e.g. EMERGENCY, </a:t>
            </a:r>
            <a:r>
              <a:rPr lang="en-US" sz="1200" dirty="0">
                <a:solidFill>
                  <a:prstClr val="black"/>
                </a:solidFill>
              </a:rPr>
              <a:t>OFFLINE</a:t>
            </a:r>
            <a:r>
              <a:rPr lang="en-US" sz="1200" dirty="0" smtClean="0">
                <a:solidFill>
                  <a:prstClr val="black"/>
                </a:solidFill>
              </a:rPr>
              <a:t>)</a:t>
            </a:r>
            <a:endParaRPr lang="en-US" sz="1200" dirty="0">
              <a:solidFill>
                <a:prstClr val="black"/>
              </a:solidFill>
            </a:endParaRPr>
          </a:p>
        </p:txBody>
      </p:sp>
      <p:grpSp>
        <p:nvGrpSpPr>
          <p:cNvPr id="3" name="2 Grupo"/>
          <p:cNvGrpSpPr/>
          <p:nvPr/>
        </p:nvGrpSpPr>
        <p:grpSpPr>
          <a:xfrm>
            <a:off x="8382000" y="1522550"/>
            <a:ext cx="347461" cy="552528"/>
            <a:chOff x="7349062" y="2133601"/>
            <a:chExt cx="347461" cy="552528"/>
          </a:xfrm>
        </p:grpSpPr>
        <p:pic>
          <p:nvPicPr>
            <p:cNvPr id="2" name="1 Image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49062" y="2133601"/>
              <a:ext cx="347461" cy="533400"/>
            </a:xfrm>
            <a:prstGeom prst="rect">
              <a:avLst/>
            </a:prstGeom>
          </p:spPr>
        </p:pic>
        <p:sp>
          <p:nvSpPr>
            <p:cNvPr id="6" name="5 CuadroTexto"/>
            <p:cNvSpPr txBox="1"/>
            <p:nvPr/>
          </p:nvSpPr>
          <p:spPr>
            <a:xfrm>
              <a:off x="7388943" y="2378352"/>
              <a:ext cx="248149" cy="307777"/>
            </a:xfrm>
            <a:prstGeom prst="rect">
              <a:avLst/>
            </a:prstGeom>
            <a:noFill/>
          </p:spPr>
          <p:txBody>
            <a:bodyPr wrap="square" rtlCol="0">
              <a:spAutoFit/>
            </a:bodyPr>
            <a:lstStyle/>
            <a:p>
              <a:r>
                <a:rPr lang="en-US" sz="1400" b="1" dirty="0" smtClean="0">
                  <a:solidFill>
                    <a:prstClr val="black"/>
                  </a:solidFill>
                </a:rPr>
                <a:t>S</a:t>
              </a:r>
              <a:endParaRPr lang="en-US" sz="1400" b="1" dirty="0">
                <a:solidFill>
                  <a:prstClr val="black"/>
                </a:solidFill>
              </a:endParaRPr>
            </a:p>
          </p:txBody>
        </p:sp>
      </p:grpSp>
      <p:sp>
        <p:nvSpPr>
          <p:cNvPr id="12" name="11 CuadroTexto"/>
          <p:cNvSpPr txBox="1"/>
          <p:nvPr/>
        </p:nvSpPr>
        <p:spPr>
          <a:xfrm>
            <a:off x="0" y="2873454"/>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Intent </a:t>
            </a:r>
            <a:r>
              <a:rPr lang="en-US" sz="1400" b="1" dirty="0" err="1" smtClean="0">
                <a:solidFill>
                  <a:prstClr val="black"/>
                </a:solidFill>
              </a:rPr>
              <a:t>eXclusive</a:t>
            </a:r>
            <a:r>
              <a:rPr lang="en-US" sz="1400" b="1" dirty="0" smtClean="0">
                <a:solidFill>
                  <a:prstClr val="black"/>
                </a:solidFill>
              </a:rPr>
              <a:t> locks</a:t>
            </a:r>
            <a:endParaRPr lang="en-US" sz="1400" b="1" dirty="0">
              <a:solidFill>
                <a:prstClr val="black"/>
              </a:solidFill>
            </a:endParaRPr>
          </a:p>
        </p:txBody>
      </p:sp>
      <p:sp>
        <p:nvSpPr>
          <p:cNvPr id="15" name="14 CuadroTexto"/>
          <p:cNvSpPr txBox="1"/>
          <p:nvPr/>
        </p:nvSpPr>
        <p:spPr>
          <a:xfrm>
            <a:off x="0" y="702678"/>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Shared Database locks</a:t>
            </a:r>
            <a:endParaRPr lang="en-US" sz="1400" b="1" dirty="0">
              <a:solidFill>
                <a:prstClr val="black"/>
              </a:solidFill>
            </a:endParaRPr>
          </a:p>
        </p:txBody>
      </p:sp>
      <p:sp>
        <p:nvSpPr>
          <p:cNvPr id="16" name="15 CuadroTexto"/>
          <p:cNvSpPr txBox="1"/>
          <p:nvPr/>
        </p:nvSpPr>
        <p:spPr>
          <a:xfrm>
            <a:off x="8546" y="3281522"/>
            <a:ext cx="9144000" cy="276999"/>
          </a:xfrm>
          <a:prstGeom prst="rect">
            <a:avLst/>
          </a:prstGeom>
          <a:noFill/>
        </p:spPr>
        <p:txBody>
          <a:bodyPr wrap="square" rtlCol="0">
            <a:spAutoFit/>
          </a:bodyPr>
          <a:lstStyle/>
          <a:p>
            <a:r>
              <a:rPr lang="en-US" sz="1200" dirty="0" smtClean="0">
                <a:solidFill>
                  <a:prstClr val="black"/>
                </a:solidFill>
              </a:rPr>
              <a:t>Imagine the user submitting a query to modify a few rows:</a:t>
            </a:r>
            <a:endParaRPr lang="en-US" sz="1200" dirty="0">
              <a:solidFill>
                <a:prstClr val="black"/>
              </a:solidFill>
            </a:endParaRPr>
          </a:p>
        </p:txBody>
      </p:sp>
      <p:grpSp>
        <p:nvGrpSpPr>
          <p:cNvPr id="17" name="16 Grupo"/>
          <p:cNvGrpSpPr/>
          <p:nvPr/>
        </p:nvGrpSpPr>
        <p:grpSpPr>
          <a:xfrm>
            <a:off x="8322569" y="3296505"/>
            <a:ext cx="347461" cy="552528"/>
            <a:chOff x="7349062" y="2133601"/>
            <a:chExt cx="347461" cy="552528"/>
          </a:xfrm>
        </p:grpSpPr>
        <p:pic>
          <p:nvPicPr>
            <p:cNvPr id="18" name="17 Image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49062" y="2133601"/>
              <a:ext cx="347461" cy="533400"/>
            </a:xfrm>
            <a:prstGeom prst="rect">
              <a:avLst/>
            </a:prstGeom>
          </p:spPr>
        </p:pic>
        <p:sp>
          <p:nvSpPr>
            <p:cNvPr id="19" name="18 CuadroTexto"/>
            <p:cNvSpPr txBox="1"/>
            <p:nvPr/>
          </p:nvSpPr>
          <p:spPr>
            <a:xfrm>
              <a:off x="7349062" y="2378352"/>
              <a:ext cx="347461" cy="307777"/>
            </a:xfrm>
            <a:prstGeom prst="rect">
              <a:avLst/>
            </a:prstGeom>
            <a:noFill/>
          </p:spPr>
          <p:txBody>
            <a:bodyPr wrap="square" rtlCol="0">
              <a:spAutoFit/>
            </a:bodyPr>
            <a:lstStyle/>
            <a:p>
              <a:r>
                <a:rPr lang="en-US" sz="1400" b="1" dirty="0" smtClean="0">
                  <a:solidFill>
                    <a:prstClr val="black"/>
                  </a:solidFill>
                </a:rPr>
                <a:t>IX</a:t>
              </a:r>
              <a:endParaRPr lang="en-US" sz="1400" b="1" dirty="0">
                <a:solidFill>
                  <a:prstClr val="black"/>
                </a:solidFill>
              </a:endParaRPr>
            </a:p>
          </p:txBody>
        </p:sp>
      </p:grpSp>
      <p:sp>
        <p:nvSpPr>
          <p:cNvPr id="20" name="19 CuadroTexto"/>
          <p:cNvSpPr txBox="1"/>
          <p:nvPr/>
        </p:nvSpPr>
        <p:spPr>
          <a:xfrm>
            <a:off x="0" y="4209822"/>
            <a:ext cx="9144000" cy="1569660"/>
          </a:xfrm>
          <a:prstGeom prst="rect">
            <a:avLst/>
          </a:prstGeom>
          <a:noFill/>
        </p:spPr>
        <p:txBody>
          <a:bodyPr wrap="square" rtlCol="0">
            <a:spAutoFit/>
          </a:bodyPr>
          <a:lstStyle/>
          <a:p>
            <a:pPr marL="171450" indent="-171450">
              <a:buFont typeface="Wingdings" pitchFamily="2" charset="2"/>
              <a:buChar char="Ø"/>
            </a:pPr>
            <a:r>
              <a:rPr lang="en-US" sz="1200" dirty="0" smtClean="0">
                <a:solidFill>
                  <a:prstClr val="black"/>
                </a:solidFill>
              </a:rPr>
              <a:t>To perform the database update SQL Server needs to first access the table and lock it with an IX (Intent </a:t>
            </a:r>
            <a:r>
              <a:rPr lang="en-US" sz="1200" dirty="0" err="1" smtClean="0">
                <a:solidFill>
                  <a:prstClr val="black"/>
                </a:solidFill>
              </a:rPr>
              <a:t>eXclusive</a:t>
            </a:r>
            <a:r>
              <a:rPr lang="en-US" sz="1200" dirty="0" smtClean="0">
                <a:solidFill>
                  <a:prstClr val="black"/>
                </a:solidFill>
              </a:rPr>
              <a:t>) lock</a:t>
            </a:r>
          </a:p>
          <a:p>
            <a:r>
              <a:rPr lang="en-US" sz="1200" dirty="0" smtClean="0">
                <a:solidFill>
                  <a:prstClr val="black"/>
                </a:solidFill>
              </a:rPr>
              <a:t>     To be able to take row-level exclusive locks you must also take Intent Exclusive locks at the page level</a:t>
            </a:r>
            <a:endParaRPr lang="en-US" sz="1200" dirty="0">
              <a:solidFill>
                <a:prstClr val="black"/>
              </a:solidFill>
            </a:endParaRPr>
          </a:p>
          <a:p>
            <a:r>
              <a:rPr lang="en-US" sz="1200" dirty="0" smtClean="0">
                <a:solidFill>
                  <a:prstClr val="black"/>
                </a:solidFill>
              </a:rPr>
              <a:t>     “</a:t>
            </a:r>
            <a:r>
              <a:rPr lang="en-US" sz="1200" i="1" dirty="0" smtClean="0">
                <a:solidFill>
                  <a:prstClr val="black"/>
                </a:solidFill>
              </a:rPr>
              <a:t>I’m not exclusively locking this page but I intend to take row locks</a:t>
            </a:r>
            <a:r>
              <a:rPr lang="en-US" sz="1200" dirty="0" smtClean="0">
                <a:solidFill>
                  <a:prstClr val="black"/>
                </a:solidFill>
              </a:rPr>
              <a:t>”</a:t>
            </a:r>
          </a:p>
          <a:p>
            <a:endParaRPr lang="en-US" sz="1200" dirty="0">
              <a:solidFill>
                <a:prstClr val="black"/>
              </a:solidFill>
            </a:endParaRPr>
          </a:p>
          <a:p>
            <a:pPr marL="171450" indent="-171450">
              <a:buFont typeface="Wingdings" pitchFamily="2" charset="2"/>
              <a:buChar char="Ø"/>
            </a:pPr>
            <a:r>
              <a:rPr lang="en-US" sz="1200" dirty="0" smtClean="0">
                <a:solidFill>
                  <a:prstClr val="black"/>
                </a:solidFill>
              </a:rPr>
              <a:t>Second, SQL Server needs to find the page on which the row(s) exist and lock them with IX locks.</a:t>
            </a:r>
          </a:p>
          <a:p>
            <a:r>
              <a:rPr lang="en-US" sz="1200" dirty="0" smtClean="0">
                <a:solidFill>
                  <a:prstClr val="black"/>
                </a:solidFill>
              </a:rPr>
              <a:t>If an index exists it can speed the request and limit the number of pages accessed.</a:t>
            </a:r>
          </a:p>
          <a:p>
            <a:endParaRPr lang="en-US" sz="1200" dirty="0">
              <a:solidFill>
                <a:prstClr val="black"/>
              </a:solidFill>
            </a:endParaRPr>
          </a:p>
          <a:p>
            <a:pPr marL="171450" indent="-171450">
              <a:buFont typeface="Wingdings" pitchFamily="2" charset="2"/>
              <a:buChar char="Ø"/>
            </a:pPr>
            <a:r>
              <a:rPr lang="en-US" sz="1200" dirty="0" smtClean="0">
                <a:solidFill>
                  <a:prstClr val="black"/>
                </a:solidFill>
              </a:rPr>
              <a:t>Finally, an exclusive lock is acquired on the row(s) that need to be modified.</a:t>
            </a:r>
            <a:endParaRPr lang="en-US" sz="1200" dirty="0">
              <a:solidFill>
                <a:prstClr val="black"/>
              </a:solidFill>
            </a:endParaRPr>
          </a:p>
        </p:txBody>
      </p:sp>
      <p:pic>
        <p:nvPicPr>
          <p:cNvPr id="2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946" y="3558521"/>
            <a:ext cx="50006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2" name="21 Grupo"/>
          <p:cNvGrpSpPr/>
          <p:nvPr/>
        </p:nvGrpSpPr>
        <p:grpSpPr>
          <a:xfrm>
            <a:off x="9525" y="6574392"/>
            <a:ext cx="9134399" cy="277000"/>
            <a:chOff x="9525" y="6574392"/>
            <a:chExt cx="9134399" cy="277000"/>
          </a:xfrm>
        </p:grpSpPr>
        <p:sp>
          <p:nvSpPr>
            <p:cNvPr id="23" name="22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4" name="23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25" name="24 Grupo"/>
          <p:cNvGrpSpPr/>
          <p:nvPr/>
        </p:nvGrpSpPr>
        <p:grpSpPr>
          <a:xfrm>
            <a:off x="0" y="9525"/>
            <a:ext cx="9153525" cy="408388"/>
            <a:chOff x="0" y="9525"/>
            <a:chExt cx="9153525" cy="408388"/>
          </a:xfrm>
        </p:grpSpPr>
        <p:sp>
          <p:nvSpPr>
            <p:cNvPr id="26" name="25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Locking |   Shared Database Locks</a:t>
              </a:r>
              <a:endParaRPr lang="en-US" b="1" i="1" dirty="0">
                <a:solidFill>
                  <a:schemeClr val="bg1"/>
                </a:solidFill>
              </a:endParaRPr>
            </a:p>
          </p:txBody>
        </p:sp>
        <p:pic>
          <p:nvPicPr>
            <p:cNvPr id="27" name="26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8" name="2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54476042"/>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19 Grupo"/>
          <p:cNvGrpSpPr/>
          <p:nvPr/>
        </p:nvGrpSpPr>
        <p:grpSpPr>
          <a:xfrm>
            <a:off x="1672116" y="2488074"/>
            <a:ext cx="1066800" cy="1105830"/>
            <a:chOff x="2286000" y="4191000"/>
            <a:chExt cx="1066800" cy="1105830"/>
          </a:xfrm>
        </p:grpSpPr>
        <p:sp>
          <p:nvSpPr>
            <p:cNvPr id="21" name="20 CuadroTexto"/>
            <p:cNvSpPr txBox="1"/>
            <p:nvPr/>
          </p:nvSpPr>
          <p:spPr>
            <a:xfrm>
              <a:off x="2286000" y="4191000"/>
              <a:ext cx="1066800" cy="276999"/>
            </a:xfrm>
            <a:prstGeom prst="rect">
              <a:avLst/>
            </a:prstGeom>
            <a:solidFill>
              <a:schemeClr val="tx1"/>
            </a:solidFill>
            <a:ln>
              <a:solidFill>
                <a:schemeClr val="tx1"/>
              </a:solidFill>
            </a:ln>
          </p:spPr>
          <p:txBody>
            <a:bodyPr wrap="square" rtlCol="0">
              <a:spAutoFit/>
            </a:bodyPr>
            <a:lstStyle/>
            <a:p>
              <a:r>
                <a:rPr lang="en-US" sz="1200" dirty="0" smtClean="0">
                  <a:solidFill>
                    <a:prstClr val="white"/>
                  </a:solidFill>
                </a:rPr>
                <a:t>Page Header</a:t>
              </a:r>
              <a:endParaRPr lang="en-US" sz="1200" dirty="0">
                <a:solidFill>
                  <a:prstClr val="white"/>
                </a:solidFill>
              </a:endParaRPr>
            </a:p>
          </p:txBody>
        </p:sp>
        <p:sp>
          <p:nvSpPr>
            <p:cNvPr id="22" name="21 CuadroTexto"/>
            <p:cNvSpPr txBox="1"/>
            <p:nvPr/>
          </p:nvSpPr>
          <p:spPr>
            <a:xfrm>
              <a:off x="2286000" y="4473353"/>
              <a:ext cx="10668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Row</a:t>
              </a:r>
              <a:endParaRPr lang="en-US" sz="1200" dirty="0">
                <a:solidFill>
                  <a:prstClr val="black"/>
                </a:solidFill>
              </a:endParaRPr>
            </a:p>
          </p:txBody>
        </p:sp>
        <p:sp>
          <p:nvSpPr>
            <p:cNvPr id="23" name="22 CuadroTexto"/>
            <p:cNvSpPr txBox="1"/>
            <p:nvPr/>
          </p:nvSpPr>
          <p:spPr>
            <a:xfrm>
              <a:off x="2286000" y="4747817"/>
              <a:ext cx="10668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Row</a:t>
              </a:r>
              <a:endParaRPr lang="en-US" sz="1200" dirty="0">
                <a:solidFill>
                  <a:prstClr val="black"/>
                </a:solidFill>
              </a:endParaRPr>
            </a:p>
          </p:txBody>
        </p:sp>
        <p:sp>
          <p:nvSpPr>
            <p:cNvPr id="24" name="23 CuadroTexto"/>
            <p:cNvSpPr txBox="1"/>
            <p:nvPr/>
          </p:nvSpPr>
          <p:spPr>
            <a:xfrm>
              <a:off x="2286000" y="5019831"/>
              <a:ext cx="10668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Row</a:t>
              </a:r>
              <a:endParaRPr lang="en-US" sz="1200" dirty="0">
                <a:solidFill>
                  <a:prstClr val="black"/>
                </a:solidFill>
              </a:endParaRPr>
            </a:p>
          </p:txBody>
        </p:sp>
      </p:grpSp>
      <p:grpSp>
        <p:nvGrpSpPr>
          <p:cNvPr id="25" name="24 Grupo"/>
          <p:cNvGrpSpPr/>
          <p:nvPr/>
        </p:nvGrpSpPr>
        <p:grpSpPr>
          <a:xfrm>
            <a:off x="2169196" y="2902489"/>
            <a:ext cx="1066800" cy="1105830"/>
            <a:chOff x="2286000" y="4191000"/>
            <a:chExt cx="1066800" cy="1105830"/>
          </a:xfrm>
        </p:grpSpPr>
        <p:sp>
          <p:nvSpPr>
            <p:cNvPr id="26" name="25 CuadroTexto"/>
            <p:cNvSpPr txBox="1"/>
            <p:nvPr/>
          </p:nvSpPr>
          <p:spPr>
            <a:xfrm>
              <a:off x="2286000" y="4191000"/>
              <a:ext cx="1066800" cy="276999"/>
            </a:xfrm>
            <a:prstGeom prst="rect">
              <a:avLst/>
            </a:prstGeom>
            <a:solidFill>
              <a:schemeClr val="tx1"/>
            </a:solidFill>
            <a:ln>
              <a:solidFill>
                <a:schemeClr val="tx1"/>
              </a:solidFill>
            </a:ln>
          </p:spPr>
          <p:txBody>
            <a:bodyPr wrap="square" rtlCol="0">
              <a:spAutoFit/>
            </a:bodyPr>
            <a:lstStyle/>
            <a:p>
              <a:r>
                <a:rPr lang="en-US" sz="1200" dirty="0" smtClean="0">
                  <a:solidFill>
                    <a:prstClr val="white"/>
                  </a:solidFill>
                </a:rPr>
                <a:t>Page Header</a:t>
              </a:r>
              <a:endParaRPr lang="en-US" sz="1200" dirty="0">
                <a:solidFill>
                  <a:prstClr val="white"/>
                </a:solidFill>
              </a:endParaRPr>
            </a:p>
          </p:txBody>
        </p:sp>
        <p:sp>
          <p:nvSpPr>
            <p:cNvPr id="27" name="26 CuadroTexto"/>
            <p:cNvSpPr txBox="1"/>
            <p:nvPr/>
          </p:nvSpPr>
          <p:spPr>
            <a:xfrm>
              <a:off x="2286000" y="4473353"/>
              <a:ext cx="10668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Row</a:t>
              </a:r>
              <a:endParaRPr lang="en-US" sz="1200" dirty="0">
                <a:solidFill>
                  <a:prstClr val="black"/>
                </a:solidFill>
              </a:endParaRPr>
            </a:p>
          </p:txBody>
        </p:sp>
        <p:sp>
          <p:nvSpPr>
            <p:cNvPr id="28" name="27 CuadroTexto"/>
            <p:cNvSpPr txBox="1"/>
            <p:nvPr/>
          </p:nvSpPr>
          <p:spPr>
            <a:xfrm>
              <a:off x="2286000" y="4747817"/>
              <a:ext cx="10668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Row</a:t>
              </a:r>
              <a:endParaRPr lang="en-US" sz="1200" dirty="0">
                <a:solidFill>
                  <a:prstClr val="black"/>
                </a:solidFill>
              </a:endParaRPr>
            </a:p>
          </p:txBody>
        </p:sp>
        <p:sp>
          <p:nvSpPr>
            <p:cNvPr id="29" name="28 CuadroTexto"/>
            <p:cNvSpPr txBox="1"/>
            <p:nvPr/>
          </p:nvSpPr>
          <p:spPr>
            <a:xfrm>
              <a:off x="2286000" y="5019831"/>
              <a:ext cx="10668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Row</a:t>
              </a:r>
              <a:endParaRPr lang="en-US" sz="1200" dirty="0">
                <a:solidFill>
                  <a:prstClr val="black"/>
                </a:solidFill>
              </a:endParaRPr>
            </a:p>
          </p:txBody>
        </p:sp>
      </p:grpSp>
      <p:grpSp>
        <p:nvGrpSpPr>
          <p:cNvPr id="30" name="29 Grupo"/>
          <p:cNvGrpSpPr/>
          <p:nvPr/>
        </p:nvGrpSpPr>
        <p:grpSpPr>
          <a:xfrm>
            <a:off x="2710430" y="3332553"/>
            <a:ext cx="1066800" cy="1105830"/>
            <a:chOff x="2286000" y="4191000"/>
            <a:chExt cx="1066800" cy="1105830"/>
          </a:xfrm>
        </p:grpSpPr>
        <p:sp>
          <p:nvSpPr>
            <p:cNvPr id="31" name="30 CuadroTexto"/>
            <p:cNvSpPr txBox="1"/>
            <p:nvPr/>
          </p:nvSpPr>
          <p:spPr>
            <a:xfrm>
              <a:off x="2286000" y="4191000"/>
              <a:ext cx="1066800" cy="276999"/>
            </a:xfrm>
            <a:prstGeom prst="rect">
              <a:avLst/>
            </a:prstGeom>
            <a:solidFill>
              <a:schemeClr val="tx1"/>
            </a:solidFill>
            <a:ln>
              <a:solidFill>
                <a:schemeClr val="tx1"/>
              </a:solidFill>
            </a:ln>
          </p:spPr>
          <p:txBody>
            <a:bodyPr wrap="square" rtlCol="0">
              <a:spAutoFit/>
            </a:bodyPr>
            <a:lstStyle/>
            <a:p>
              <a:r>
                <a:rPr lang="en-US" sz="1200" dirty="0" smtClean="0">
                  <a:solidFill>
                    <a:prstClr val="white"/>
                  </a:solidFill>
                </a:rPr>
                <a:t>Page Header</a:t>
              </a:r>
              <a:endParaRPr lang="en-US" sz="1200" dirty="0">
                <a:solidFill>
                  <a:prstClr val="white"/>
                </a:solidFill>
              </a:endParaRPr>
            </a:p>
          </p:txBody>
        </p:sp>
        <p:sp>
          <p:nvSpPr>
            <p:cNvPr id="32" name="31 CuadroTexto"/>
            <p:cNvSpPr txBox="1"/>
            <p:nvPr/>
          </p:nvSpPr>
          <p:spPr>
            <a:xfrm>
              <a:off x="2286000" y="4473353"/>
              <a:ext cx="10668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Row</a:t>
              </a:r>
              <a:endParaRPr lang="en-US" sz="1200" dirty="0">
                <a:solidFill>
                  <a:prstClr val="black"/>
                </a:solidFill>
              </a:endParaRPr>
            </a:p>
          </p:txBody>
        </p:sp>
        <p:sp>
          <p:nvSpPr>
            <p:cNvPr id="33" name="32 CuadroTexto"/>
            <p:cNvSpPr txBox="1"/>
            <p:nvPr/>
          </p:nvSpPr>
          <p:spPr>
            <a:xfrm>
              <a:off x="2286000" y="4747817"/>
              <a:ext cx="10668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Row</a:t>
              </a:r>
              <a:endParaRPr lang="en-US" sz="1200" dirty="0">
                <a:solidFill>
                  <a:prstClr val="black"/>
                </a:solidFill>
              </a:endParaRPr>
            </a:p>
          </p:txBody>
        </p:sp>
        <p:sp>
          <p:nvSpPr>
            <p:cNvPr id="34" name="33 CuadroTexto"/>
            <p:cNvSpPr txBox="1"/>
            <p:nvPr/>
          </p:nvSpPr>
          <p:spPr>
            <a:xfrm>
              <a:off x="2286000" y="5019831"/>
              <a:ext cx="10668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Row</a:t>
              </a:r>
              <a:endParaRPr lang="en-US" sz="1200" dirty="0">
                <a:solidFill>
                  <a:prstClr val="black"/>
                </a:solidFill>
              </a:endParaRPr>
            </a:p>
          </p:txBody>
        </p:sp>
      </p:grpSp>
      <p:grpSp>
        <p:nvGrpSpPr>
          <p:cNvPr id="35" name="34 Grupo"/>
          <p:cNvGrpSpPr/>
          <p:nvPr/>
        </p:nvGrpSpPr>
        <p:grpSpPr>
          <a:xfrm>
            <a:off x="3235996" y="3753405"/>
            <a:ext cx="1066800" cy="1105830"/>
            <a:chOff x="2286000" y="4191000"/>
            <a:chExt cx="1066800" cy="1105830"/>
          </a:xfrm>
        </p:grpSpPr>
        <p:sp>
          <p:nvSpPr>
            <p:cNvPr id="36" name="35 CuadroTexto"/>
            <p:cNvSpPr txBox="1"/>
            <p:nvPr/>
          </p:nvSpPr>
          <p:spPr>
            <a:xfrm>
              <a:off x="2286000" y="4191000"/>
              <a:ext cx="1066800" cy="276999"/>
            </a:xfrm>
            <a:prstGeom prst="rect">
              <a:avLst/>
            </a:prstGeom>
            <a:solidFill>
              <a:schemeClr val="tx1"/>
            </a:solidFill>
            <a:ln>
              <a:solidFill>
                <a:schemeClr val="tx1"/>
              </a:solidFill>
            </a:ln>
          </p:spPr>
          <p:txBody>
            <a:bodyPr wrap="square" rtlCol="0">
              <a:spAutoFit/>
            </a:bodyPr>
            <a:lstStyle/>
            <a:p>
              <a:r>
                <a:rPr lang="en-US" sz="1200" dirty="0" smtClean="0">
                  <a:solidFill>
                    <a:prstClr val="white"/>
                  </a:solidFill>
                </a:rPr>
                <a:t>Page Header</a:t>
              </a:r>
              <a:endParaRPr lang="en-US" sz="1200" dirty="0">
                <a:solidFill>
                  <a:prstClr val="white"/>
                </a:solidFill>
              </a:endParaRPr>
            </a:p>
          </p:txBody>
        </p:sp>
        <p:sp>
          <p:nvSpPr>
            <p:cNvPr id="37" name="36 CuadroTexto"/>
            <p:cNvSpPr txBox="1"/>
            <p:nvPr/>
          </p:nvSpPr>
          <p:spPr>
            <a:xfrm>
              <a:off x="2286000" y="4473353"/>
              <a:ext cx="10668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Row</a:t>
              </a:r>
              <a:endParaRPr lang="en-US" sz="1200" dirty="0">
                <a:solidFill>
                  <a:prstClr val="black"/>
                </a:solidFill>
              </a:endParaRPr>
            </a:p>
          </p:txBody>
        </p:sp>
        <p:sp>
          <p:nvSpPr>
            <p:cNvPr id="38" name="37 CuadroTexto"/>
            <p:cNvSpPr txBox="1"/>
            <p:nvPr/>
          </p:nvSpPr>
          <p:spPr>
            <a:xfrm>
              <a:off x="2286000" y="4747817"/>
              <a:ext cx="10668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Row</a:t>
              </a:r>
              <a:endParaRPr lang="en-US" sz="1200" dirty="0">
                <a:solidFill>
                  <a:prstClr val="black"/>
                </a:solidFill>
              </a:endParaRPr>
            </a:p>
          </p:txBody>
        </p:sp>
        <p:sp>
          <p:nvSpPr>
            <p:cNvPr id="39" name="38 CuadroTexto"/>
            <p:cNvSpPr txBox="1"/>
            <p:nvPr/>
          </p:nvSpPr>
          <p:spPr>
            <a:xfrm>
              <a:off x="2286000" y="5019831"/>
              <a:ext cx="10668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Row</a:t>
              </a:r>
              <a:endParaRPr lang="en-US" sz="1200" dirty="0">
                <a:solidFill>
                  <a:prstClr val="black"/>
                </a:solidFill>
              </a:endParaRPr>
            </a:p>
          </p:txBody>
        </p:sp>
      </p:grpSp>
      <p:grpSp>
        <p:nvGrpSpPr>
          <p:cNvPr id="40" name="39 Grupo"/>
          <p:cNvGrpSpPr/>
          <p:nvPr/>
        </p:nvGrpSpPr>
        <p:grpSpPr>
          <a:xfrm>
            <a:off x="3741622" y="4160765"/>
            <a:ext cx="1066800" cy="1105830"/>
            <a:chOff x="2286000" y="4191000"/>
            <a:chExt cx="1066800" cy="1105830"/>
          </a:xfrm>
        </p:grpSpPr>
        <p:sp>
          <p:nvSpPr>
            <p:cNvPr id="41" name="40 CuadroTexto"/>
            <p:cNvSpPr txBox="1"/>
            <p:nvPr/>
          </p:nvSpPr>
          <p:spPr>
            <a:xfrm>
              <a:off x="2286000" y="4191000"/>
              <a:ext cx="1066800" cy="276999"/>
            </a:xfrm>
            <a:prstGeom prst="rect">
              <a:avLst/>
            </a:prstGeom>
            <a:solidFill>
              <a:schemeClr val="tx1"/>
            </a:solidFill>
            <a:ln>
              <a:solidFill>
                <a:schemeClr val="tx1"/>
              </a:solidFill>
            </a:ln>
          </p:spPr>
          <p:txBody>
            <a:bodyPr wrap="square" rtlCol="0">
              <a:spAutoFit/>
            </a:bodyPr>
            <a:lstStyle/>
            <a:p>
              <a:r>
                <a:rPr lang="en-US" sz="1200" dirty="0" smtClean="0">
                  <a:solidFill>
                    <a:prstClr val="white"/>
                  </a:solidFill>
                </a:rPr>
                <a:t>Page Header</a:t>
              </a:r>
              <a:endParaRPr lang="en-US" sz="1200" dirty="0">
                <a:solidFill>
                  <a:prstClr val="white"/>
                </a:solidFill>
              </a:endParaRPr>
            </a:p>
          </p:txBody>
        </p:sp>
        <p:sp>
          <p:nvSpPr>
            <p:cNvPr id="42" name="41 CuadroTexto"/>
            <p:cNvSpPr txBox="1"/>
            <p:nvPr/>
          </p:nvSpPr>
          <p:spPr>
            <a:xfrm>
              <a:off x="2286000" y="4473353"/>
              <a:ext cx="10668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Row</a:t>
              </a:r>
              <a:endParaRPr lang="en-US" sz="1200" dirty="0">
                <a:solidFill>
                  <a:prstClr val="black"/>
                </a:solidFill>
              </a:endParaRPr>
            </a:p>
          </p:txBody>
        </p:sp>
        <p:sp>
          <p:nvSpPr>
            <p:cNvPr id="43" name="42 CuadroTexto"/>
            <p:cNvSpPr txBox="1"/>
            <p:nvPr/>
          </p:nvSpPr>
          <p:spPr>
            <a:xfrm>
              <a:off x="2286000" y="4747817"/>
              <a:ext cx="10668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Row</a:t>
              </a:r>
              <a:endParaRPr lang="en-US" sz="1200" dirty="0">
                <a:solidFill>
                  <a:prstClr val="black"/>
                </a:solidFill>
              </a:endParaRPr>
            </a:p>
          </p:txBody>
        </p:sp>
        <p:sp>
          <p:nvSpPr>
            <p:cNvPr id="44" name="43 CuadroTexto"/>
            <p:cNvSpPr txBox="1"/>
            <p:nvPr/>
          </p:nvSpPr>
          <p:spPr>
            <a:xfrm>
              <a:off x="2286000" y="5019831"/>
              <a:ext cx="10668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Row</a:t>
              </a:r>
              <a:endParaRPr lang="en-US" sz="1200" dirty="0">
                <a:solidFill>
                  <a:prstClr val="black"/>
                </a:solidFill>
              </a:endParaRPr>
            </a:p>
          </p:txBody>
        </p:sp>
      </p:grpSp>
      <p:grpSp>
        <p:nvGrpSpPr>
          <p:cNvPr id="2" name="1 Grupo"/>
          <p:cNvGrpSpPr/>
          <p:nvPr/>
        </p:nvGrpSpPr>
        <p:grpSpPr>
          <a:xfrm>
            <a:off x="135953" y="1127861"/>
            <a:ext cx="1142355" cy="552528"/>
            <a:chOff x="228600" y="1143000"/>
            <a:chExt cx="1142355" cy="552528"/>
          </a:xfrm>
        </p:grpSpPr>
        <p:grpSp>
          <p:nvGrpSpPr>
            <p:cNvPr id="45" name="44 Grupo"/>
            <p:cNvGrpSpPr/>
            <p:nvPr/>
          </p:nvGrpSpPr>
          <p:grpSpPr>
            <a:xfrm>
              <a:off x="228600" y="1143000"/>
              <a:ext cx="347461" cy="552528"/>
              <a:chOff x="7349062" y="2133601"/>
              <a:chExt cx="347461" cy="552528"/>
            </a:xfrm>
          </p:grpSpPr>
          <p:pic>
            <p:nvPicPr>
              <p:cNvPr id="46" name="45 Image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49062" y="2133601"/>
                <a:ext cx="347461" cy="533400"/>
              </a:xfrm>
              <a:prstGeom prst="rect">
                <a:avLst/>
              </a:prstGeom>
            </p:spPr>
          </p:pic>
          <p:sp>
            <p:nvSpPr>
              <p:cNvPr id="47" name="46 CuadroTexto"/>
              <p:cNvSpPr txBox="1"/>
              <p:nvPr/>
            </p:nvSpPr>
            <p:spPr>
              <a:xfrm>
                <a:off x="7388943" y="2378352"/>
                <a:ext cx="248149" cy="307777"/>
              </a:xfrm>
              <a:prstGeom prst="rect">
                <a:avLst/>
              </a:prstGeom>
              <a:noFill/>
            </p:spPr>
            <p:txBody>
              <a:bodyPr wrap="square" rtlCol="0">
                <a:spAutoFit/>
              </a:bodyPr>
              <a:lstStyle/>
              <a:p>
                <a:r>
                  <a:rPr lang="en-US" sz="1400" b="1" dirty="0" smtClean="0">
                    <a:solidFill>
                      <a:prstClr val="black"/>
                    </a:solidFill>
                  </a:rPr>
                  <a:t>S</a:t>
                </a:r>
                <a:endParaRPr lang="en-US" sz="1400" b="1" dirty="0">
                  <a:solidFill>
                    <a:prstClr val="black"/>
                  </a:solidFill>
                </a:endParaRPr>
              </a:p>
            </p:txBody>
          </p:sp>
        </p:grpSp>
        <p:sp>
          <p:nvSpPr>
            <p:cNvPr id="48" name="47 CuadroTexto"/>
            <p:cNvSpPr txBox="1"/>
            <p:nvPr/>
          </p:nvSpPr>
          <p:spPr>
            <a:xfrm>
              <a:off x="545438" y="1185730"/>
              <a:ext cx="825517" cy="276999"/>
            </a:xfrm>
            <a:prstGeom prst="rect">
              <a:avLst/>
            </a:prstGeom>
            <a:noFill/>
          </p:spPr>
          <p:txBody>
            <a:bodyPr wrap="square" rtlCol="0">
              <a:spAutoFit/>
            </a:bodyPr>
            <a:lstStyle/>
            <a:p>
              <a:r>
                <a:rPr lang="en-US" sz="1200" dirty="0" smtClean="0">
                  <a:solidFill>
                    <a:prstClr val="black"/>
                  </a:solidFill>
                </a:rPr>
                <a:t>Database</a:t>
              </a:r>
              <a:endParaRPr lang="en-US" sz="1200" dirty="0">
                <a:solidFill>
                  <a:prstClr val="black"/>
                </a:solidFill>
              </a:endParaRPr>
            </a:p>
          </p:txBody>
        </p:sp>
      </p:grpSp>
      <p:grpSp>
        <p:nvGrpSpPr>
          <p:cNvPr id="6" name="5 Grupo"/>
          <p:cNvGrpSpPr/>
          <p:nvPr/>
        </p:nvGrpSpPr>
        <p:grpSpPr>
          <a:xfrm>
            <a:off x="686514" y="1692695"/>
            <a:ext cx="942173" cy="552528"/>
            <a:chOff x="762000" y="1905000"/>
            <a:chExt cx="942173" cy="552528"/>
          </a:xfrm>
        </p:grpSpPr>
        <p:grpSp>
          <p:nvGrpSpPr>
            <p:cNvPr id="9" name="8 Grupo"/>
            <p:cNvGrpSpPr/>
            <p:nvPr/>
          </p:nvGrpSpPr>
          <p:grpSpPr>
            <a:xfrm>
              <a:off x="762000" y="1905000"/>
              <a:ext cx="347461" cy="552528"/>
              <a:chOff x="7349062" y="2133601"/>
              <a:chExt cx="347461" cy="552528"/>
            </a:xfrm>
          </p:grpSpPr>
          <p:pic>
            <p:nvPicPr>
              <p:cNvPr id="10" name="9 Image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49062" y="2133601"/>
                <a:ext cx="347461" cy="533400"/>
              </a:xfrm>
              <a:prstGeom prst="rect">
                <a:avLst/>
              </a:prstGeom>
            </p:spPr>
          </p:pic>
          <p:sp>
            <p:nvSpPr>
              <p:cNvPr id="11" name="10 CuadroTexto"/>
              <p:cNvSpPr txBox="1"/>
              <p:nvPr/>
            </p:nvSpPr>
            <p:spPr>
              <a:xfrm>
                <a:off x="7349062" y="2378352"/>
                <a:ext cx="347461" cy="307777"/>
              </a:xfrm>
              <a:prstGeom prst="rect">
                <a:avLst/>
              </a:prstGeom>
              <a:noFill/>
            </p:spPr>
            <p:txBody>
              <a:bodyPr wrap="square" rtlCol="0">
                <a:spAutoFit/>
              </a:bodyPr>
              <a:lstStyle/>
              <a:p>
                <a:r>
                  <a:rPr lang="en-US" sz="1400" b="1" dirty="0" smtClean="0">
                    <a:solidFill>
                      <a:prstClr val="black"/>
                    </a:solidFill>
                  </a:rPr>
                  <a:t>IX</a:t>
                </a:r>
                <a:endParaRPr lang="en-US" sz="1400" b="1" dirty="0">
                  <a:solidFill>
                    <a:prstClr val="black"/>
                  </a:solidFill>
                </a:endParaRPr>
              </a:p>
            </p:txBody>
          </p:sp>
        </p:grpSp>
        <p:sp>
          <p:nvSpPr>
            <p:cNvPr id="49" name="48 CuadroTexto"/>
            <p:cNvSpPr txBox="1"/>
            <p:nvPr/>
          </p:nvSpPr>
          <p:spPr>
            <a:xfrm>
              <a:off x="1117684" y="1949052"/>
              <a:ext cx="586489" cy="276999"/>
            </a:xfrm>
            <a:prstGeom prst="rect">
              <a:avLst/>
            </a:prstGeom>
            <a:noFill/>
          </p:spPr>
          <p:txBody>
            <a:bodyPr wrap="square" rtlCol="0">
              <a:spAutoFit/>
            </a:bodyPr>
            <a:lstStyle/>
            <a:p>
              <a:r>
                <a:rPr lang="en-US" sz="1200" dirty="0" smtClean="0">
                  <a:solidFill>
                    <a:prstClr val="black"/>
                  </a:solidFill>
                </a:rPr>
                <a:t>Table</a:t>
              </a:r>
              <a:endParaRPr lang="en-US" sz="1200" dirty="0">
                <a:solidFill>
                  <a:prstClr val="black"/>
                </a:solidFill>
              </a:endParaRPr>
            </a:p>
          </p:txBody>
        </p:sp>
      </p:grpSp>
      <p:grpSp>
        <p:nvGrpSpPr>
          <p:cNvPr id="4" name="3 Grupo"/>
          <p:cNvGrpSpPr/>
          <p:nvPr/>
        </p:nvGrpSpPr>
        <p:grpSpPr>
          <a:xfrm>
            <a:off x="1252670" y="2174819"/>
            <a:ext cx="876977" cy="552528"/>
            <a:chOff x="1405139" y="2553568"/>
            <a:chExt cx="876977" cy="552528"/>
          </a:xfrm>
        </p:grpSpPr>
        <p:grpSp>
          <p:nvGrpSpPr>
            <p:cNvPr id="50" name="49 Grupo"/>
            <p:cNvGrpSpPr/>
            <p:nvPr/>
          </p:nvGrpSpPr>
          <p:grpSpPr>
            <a:xfrm>
              <a:off x="1405139" y="2553568"/>
              <a:ext cx="347461" cy="552528"/>
              <a:chOff x="7349062" y="2133601"/>
              <a:chExt cx="347461" cy="552528"/>
            </a:xfrm>
          </p:grpSpPr>
          <p:pic>
            <p:nvPicPr>
              <p:cNvPr id="51" name="50 Image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49062" y="2133601"/>
                <a:ext cx="347461" cy="533400"/>
              </a:xfrm>
              <a:prstGeom prst="rect">
                <a:avLst/>
              </a:prstGeom>
            </p:spPr>
          </p:pic>
          <p:sp>
            <p:nvSpPr>
              <p:cNvPr id="52" name="51 CuadroTexto"/>
              <p:cNvSpPr txBox="1"/>
              <p:nvPr/>
            </p:nvSpPr>
            <p:spPr>
              <a:xfrm>
                <a:off x="7349062" y="2378352"/>
                <a:ext cx="347461" cy="307777"/>
              </a:xfrm>
              <a:prstGeom prst="rect">
                <a:avLst/>
              </a:prstGeom>
              <a:noFill/>
            </p:spPr>
            <p:txBody>
              <a:bodyPr wrap="square" rtlCol="0">
                <a:spAutoFit/>
              </a:bodyPr>
              <a:lstStyle/>
              <a:p>
                <a:r>
                  <a:rPr lang="en-US" sz="1400" b="1" dirty="0" smtClean="0">
                    <a:solidFill>
                      <a:prstClr val="black"/>
                    </a:solidFill>
                  </a:rPr>
                  <a:t>IX</a:t>
                </a:r>
                <a:endParaRPr lang="en-US" sz="1400" b="1" dirty="0">
                  <a:solidFill>
                    <a:prstClr val="black"/>
                  </a:solidFill>
                </a:endParaRPr>
              </a:p>
            </p:txBody>
          </p:sp>
        </p:grpSp>
        <p:sp>
          <p:nvSpPr>
            <p:cNvPr id="53" name="52 CuadroTexto"/>
            <p:cNvSpPr txBox="1"/>
            <p:nvPr/>
          </p:nvSpPr>
          <p:spPr>
            <a:xfrm>
              <a:off x="1752277" y="2614712"/>
              <a:ext cx="529839" cy="276999"/>
            </a:xfrm>
            <a:prstGeom prst="rect">
              <a:avLst/>
            </a:prstGeom>
            <a:noFill/>
          </p:spPr>
          <p:txBody>
            <a:bodyPr wrap="square" rtlCol="0">
              <a:spAutoFit/>
            </a:bodyPr>
            <a:lstStyle/>
            <a:p>
              <a:r>
                <a:rPr lang="en-US" sz="1200" dirty="0" smtClean="0">
                  <a:solidFill>
                    <a:prstClr val="black"/>
                  </a:solidFill>
                </a:rPr>
                <a:t>Page</a:t>
              </a:r>
              <a:endParaRPr lang="en-US" sz="1200" dirty="0">
                <a:solidFill>
                  <a:prstClr val="black"/>
                </a:solidFill>
              </a:endParaRPr>
            </a:p>
          </p:txBody>
        </p:sp>
      </p:grpSp>
      <p:grpSp>
        <p:nvGrpSpPr>
          <p:cNvPr id="3" name="2 Grupo"/>
          <p:cNvGrpSpPr/>
          <p:nvPr/>
        </p:nvGrpSpPr>
        <p:grpSpPr>
          <a:xfrm>
            <a:off x="2383945" y="4768449"/>
            <a:ext cx="859885" cy="552528"/>
            <a:chOff x="2129785" y="3748159"/>
            <a:chExt cx="859885" cy="552528"/>
          </a:xfrm>
        </p:grpSpPr>
        <p:grpSp>
          <p:nvGrpSpPr>
            <p:cNvPr id="54" name="53 Grupo"/>
            <p:cNvGrpSpPr/>
            <p:nvPr/>
          </p:nvGrpSpPr>
          <p:grpSpPr>
            <a:xfrm>
              <a:off x="2129785" y="3748159"/>
              <a:ext cx="373099" cy="552528"/>
              <a:chOff x="7349062" y="2133601"/>
              <a:chExt cx="373099" cy="552528"/>
            </a:xfrm>
          </p:grpSpPr>
          <p:pic>
            <p:nvPicPr>
              <p:cNvPr id="55" name="54 Image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49062" y="2133601"/>
                <a:ext cx="347461" cy="533400"/>
              </a:xfrm>
              <a:prstGeom prst="rect">
                <a:avLst/>
              </a:prstGeom>
            </p:spPr>
          </p:pic>
          <p:sp>
            <p:nvSpPr>
              <p:cNvPr id="56" name="55 CuadroTexto"/>
              <p:cNvSpPr txBox="1"/>
              <p:nvPr/>
            </p:nvSpPr>
            <p:spPr>
              <a:xfrm>
                <a:off x="7374700" y="2378352"/>
                <a:ext cx="347461" cy="307777"/>
              </a:xfrm>
              <a:prstGeom prst="rect">
                <a:avLst/>
              </a:prstGeom>
              <a:noFill/>
            </p:spPr>
            <p:txBody>
              <a:bodyPr wrap="square" rtlCol="0">
                <a:spAutoFit/>
              </a:bodyPr>
              <a:lstStyle/>
              <a:p>
                <a:r>
                  <a:rPr lang="en-US" sz="1400" b="1" dirty="0" smtClean="0">
                    <a:solidFill>
                      <a:prstClr val="black"/>
                    </a:solidFill>
                  </a:rPr>
                  <a:t>X</a:t>
                </a:r>
                <a:endParaRPr lang="en-US" sz="1400" b="1" dirty="0">
                  <a:solidFill>
                    <a:prstClr val="black"/>
                  </a:solidFill>
                </a:endParaRPr>
              </a:p>
            </p:txBody>
          </p:sp>
        </p:grpSp>
        <p:sp>
          <p:nvSpPr>
            <p:cNvPr id="57" name="56 CuadroTexto"/>
            <p:cNvSpPr txBox="1"/>
            <p:nvPr/>
          </p:nvSpPr>
          <p:spPr>
            <a:xfrm>
              <a:off x="2459831" y="4008298"/>
              <a:ext cx="529839" cy="276999"/>
            </a:xfrm>
            <a:prstGeom prst="rect">
              <a:avLst/>
            </a:prstGeom>
            <a:noFill/>
          </p:spPr>
          <p:txBody>
            <a:bodyPr wrap="square" rtlCol="0">
              <a:spAutoFit/>
            </a:bodyPr>
            <a:lstStyle/>
            <a:p>
              <a:r>
                <a:rPr lang="en-US" sz="1200" dirty="0" smtClean="0">
                  <a:solidFill>
                    <a:prstClr val="black"/>
                  </a:solidFill>
                </a:rPr>
                <a:t>Row</a:t>
              </a:r>
              <a:endParaRPr lang="en-US" sz="1200" dirty="0">
                <a:solidFill>
                  <a:prstClr val="black"/>
                </a:solidFill>
              </a:endParaRPr>
            </a:p>
          </p:txBody>
        </p:sp>
      </p:grpSp>
      <p:cxnSp>
        <p:nvCxnSpPr>
          <p:cNvPr id="19" name="18 Conector recto"/>
          <p:cNvCxnSpPr/>
          <p:nvPr/>
        </p:nvCxnSpPr>
        <p:spPr>
          <a:xfrm>
            <a:off x="299908" y="1736747"/>
            <a:ext cx="0" cy="354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59 Conector recto de flecha"/>
          <p:cNvCxnSpPr/>
          <p:nvPr/>
        </p:nvCxnSpPr>
        <p:spPr>
          <a:xfrm>
            <a:off x="292591" y="2091334"/>
            <a:ext cx="317318"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67 Conector recto"/>
          <p:cNvCxnSpPr>
            <a:stCxn id="11" idx="2"/>
          </p:cNvCxnSpPr>
          <p:nvPr/>
        </p:nvCxnSpPr>
        <p:spPr>
          <a:xfrm flipH="1">
            <a:off x="860244" y="2245223"/>
            <a:ext cx="1" cy="267739"/>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0" name="69 Conector recto de flecha"/>
          <p:cNvCxnSpPr/>
          <p:nvPr/>
        </p:nvCxnSpPr>
        <p:spPr>
          <a:xfrm>
            <a:off x="860244" y="2512962"/>
            <a:ext cx="300157"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71 Conector recto"/>
          <p:cNvCxnSpPr/>
          <p:nvPr/>
        </p:nvCxnSpPr>
        <p:spPr>
          <a:xfrm>
            <a:off x="1426400" y="2770427"/>
            <a:ext cx="0" cy="235766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73 Conector recto de flecha"/>
          <p:cNvCxnSpPr/>
          <p:nvPr/>
        </p:nvCxnSpPr>
        <p:spPr>
          <a:xfrm>
            <a:off x="1426400" y="5128095"/>
            <a:ext cx="877001"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75 Conector recto de flecha"/>
          <p:cNvCxnSpPr/>
          <p:nvPr/>
        </p:nvCxnSpPr>
        <p:spPr>
          <a:xfrm>
            <a:off x="3209646" y="5167088"/>
            <a:ext cx="431171"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95" name="94 Grupo"/>
          <p:cNvGrpSpPr/>
          <p:nvPr/>
        </p:nvGrpSpPr>
        <p:grpSpPr>
          <a:xfrm>
            <a:off x="5262783" y="1545901"/>
            <a:ext cx="2441962" cy="3819006"/>
            <a:chOff x="5711438" y="1170591"/>
            <a:chExt cx="2441962" cy="3819006"/>
          </a:xfrm>
        </p:grpSpPr>
        <p:sp>
          <p:nvSpPr>
            <p:cNvPr id="90" name="89 Cilindro"/>
            <p:cNvSpPr/>
            <p:nvPr/>
          </p:nvSpPr>
          <p:spPr>
            <a:xfrm>
              <a:off x="5711438" y="1170591"/>
              <a:ext cx="2441962" cy="3819006"/>
            </a:xfrm>
            <a:prstGeom prst="can">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0" name="79 Multidocumento"/>
            <p:cNvSpPr/>
            <p:nvPr/>
          </p:nvSpPr>
          <p:spPr>
            <a:xfrm>
              <a:off x="6168639" y="2033722"/>
              <a:ext cx="1536106" cy="1079471"/>
            </a:xfrm>
            <a:prstGeom prst="flowChartMultidocumen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1" name="80 Proceso"/>
            <p:cNvSpPr/>
            <p:nvPr/>
          </p:nvSpPr>
          <p:spPr>
            <a:xfrm>
              <a:off x="5940039" y="3659114"/>
              <a:ext cx="457200" cy="609600"/>
            </a:xfrm>
            <a:prstGeom prst="flowChartProcess">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2" name="81 Proceso"/>
            <p:cNvSpPr/>
            <p:nvPr/>
          </p:nvSpPr>
          <p:spPr>
            <a:xfrm>
              <a:off x="6092439" y="3811514"/>
              <a:ext cx="457200" cy="609600"/>
            </a:xfrm>
            <a:prstGeom prst="flowChartProcess">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3" name="82 Proceso"/>
            <p:cNvSpPr/>
            <p:nvPr/>
          </p:nvSpPr>
          <p:spPr>
            <a:xfrm>
              <a:off x="6244839" y="3963914"/>
              <a:ext cx="457200" cy="609600"/>
            </a:xfrm>
            <a:prstGeom prst="flowChartProcess">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4" name="83 Proceso"/>
            <p:cNvSpPr/>
            <p:nvPr/>
          </p:nvSpPr>
          <p:spPr>
            <a:xfrm>
              <a:off x="6397239" y="4116314"/>
              <a:ext cx="457200" cy="609600"/>
            </a:xfrm>
            <a:prstGeom prst="flowChartProcess">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5" name="84 Proceso"/>
            <p:cNvSpPr/>
            <p:nvPr/>
          </p:nvSpPr>
          <p:spPr>
            <a:xfrm>
              <a:off x="7018945" y="3670376"/>
              <a:ext cx="457200" cy="609600"/>
            </a:xfrm>
            <a:prstGeom prst="flowChartProcess">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6" name="85 Proceso"/>
            <p:cNvSpPr/>
            <p:nvPr/>
          </p:nvSpPr>
          <p:spPr>
            <a:xfrm>
              <a:off x="7171345" y="3822776"/>
              <a:ext cx="457200" cy="609600"/>
            </a:xfrm>
            <a:prstGeom prst="flowChartProcess">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7" name="86 Proceso"/>
            <p:cNvSpPr/>
            <p:nvPr/>
          </p:nvSpPr>
          <p:spPr>
            <a:xfrm>
              <a:off x="7323745" y="3975176"/>
              <a:ext cx="457200" cy="609600"/>
            </a:xfrm>
            <a:prstGeom prst="flowChartProcess">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8" name="87 Proceso"/>
            <p:cNvSpPr/>
            <p:nvPr/>
          </p:nvSpPr>
          <p:spPr>
            <a:xfrm>
              <a:off x="7476145" y="4127576"/>
              <a:ext cx="457200" cy="609600"/>
            </a:xfrm>
            <a:prstGeom prst="flowChartProcess">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9" name="88 Proceso"/>
            <p:cNvSpPr/>
            <p:nvPr/>
          </p:nvSpPr>
          <p:spPr>
            <a:xfrm>
              <a:off x="7476145" y="4379996"/>
              <a:ext cx="457200" cy="201621"/>
            </a:xfrm>
            <a:prstGeom prst="flowChartProcess">
              <a:avLst/>
            </a:prstGeom>
            <a:solidFill>
              <a:schemeClr val="tx1">
                <a:lumMod val="50000"/>
                <a:lumOff val="5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96" name="95 CuadroTexto"/>
          <p:cNvSpPr txBox="1"/>
          <p:nvPr/>
        </p:nvSpPr>
        <p:spPr>
          <a:xfrm>
            <a:off x="7924800" y="1679677"/>
            <a:ext cx="1143000" cy="276999"/>
          </a:xfrm>
          <a:prstGeom prst="rect">
            <a:avLst/>
          </a:prstGeom>
          <a:noFill/>
        </p:spPr>
        <p:txBody>
          <a:bodyPr wrap="square" rtlCol="0">
            <a:spAutoFit/>
          </a:bodyPr>
          <a:lstStyle/>
          <a:p>
            <a:r>
              <a:rPr lang="en-US" sz="1200" dirty="0" smtClean="0">
                <a:solidFill>
                  <a:prstClr val="black"/>
                </a:solidFill>
              </a:rPr>
              <a:t>Database level</a:t>
            </a:r>
            <a:endParaRPr lang="en-US" sz="1200" dirty="0">
              <a:solidFill>
                <a:prstClr val="black"/>
              </a:solidFill>
            </a:endParaRPr>
          </a:p>
        </p:txBody>
      </p:sp>
      <p:sp>
        <p:nvSpPr>
          <p:cNvPr id="97" name="96 CuadroTexto"/>
          <p:cNvSpPr txBox="1"/>
          <p:nvPr/>
        </p:nvSpPr>
        <p:spPr>
          <a:xfrm>
            <a:off x="7924800" y="2512962"/>
            <a:ext cx="990601" cy="276999"/>
          </a:xfrm>
          <a:prstGeom prst="rect">
            <a:avLst/>
          </a:prstGeom>
          <a:noFill/>
        </p:spPr>
        <p:txBody>
          <a:bodyPr wrap="square" rtlCol="0">
            <a:spAutoFit/>
          </a:bodyPr>
          <a:lstStyle/>
          <a:p>
            <a:r>
              <a:rPr lang="en-US" sz="1200" dirty="0" smtClean="0">
                <a:solidFill>
                  <a:prstClr val="black"/>
                </a:solidFill>
              </a:rPr>
              <a:t>Table level</a:t>
            </a:r>
            <a:endParaRPr lang="en-US" sz="1200" dirty="0">
              <a:solidFill>
                <a:prstClr val="black"/>
              </a:solidFill>
            </a:endParaRPr>
          </a:p>
        </p:txBody>
      </p:sp>
      <p:sp>
        <p:nvSpPr>
          <p:cNvPr id="98" name="97 CuadroTexto"/>
          <p:cNvSpPr txBox="1"/>
          <p:nvPr/>
        </p:nvSpPr>
        <p:spPr>
          <a:xfrm>
            <a:off x="7924800" y="4008319"/>
            <a:ext cx="947872" cy="276999"/>
          </a:xfrm>
          <a:prstGeom prst="rect">
            <a:avLst/>
          </a:prstGeom>
          <a:noFill/>
        </p:spPr>
        <p:txBody>
          <a:bodyPr wrap="square" rtlCol="0">
            <a:spAutoFit/>
          </a:bodyPr>
          <a:lstStyle/>
          <a:p>
            <a:r>
              <a:rPr lang="en-US" sz="1200" dirty="0" smtClean="0">
                <a:solidFill>
                  <a:prstClr val="black"/>
                </a:solidFill>
              </a:rPr>
              <a:t>Page level</a:t>
            </a:r>
            <a:endParaRPr lang="en-US" sz="1200" dirty="0">
              <a:solidFill>
                <a:prstClr val="black"/>
              </a:solidFill>
            </a:endParaRPr>
          </a:p>
        </p:txBody>
      </p:sp>
      <p:sp>
        <p:nvSpPr>
          <p:cNvPr id="99" name="98 CuadroTexto"/>
          <p:cNvSpPr txBox="1"/>
          <p:nvPr/>
        </p:nvSpPr>
        <p:spPr>
          <a:xfrm>
            <a:off x="7924800" y="4712597"/>
            <a:ext cx="947872" cy="276999"/>
          </a:xfrm>
          <a:prstGeom prst="rect">
            <a:avLst/>
          </a:prstGeom>
          <a:noFill/>
        </p:spPr>
        <p:txBody>
          <a:bodyPr wrap="square" rtlCol="0">
            <a:spAutoFit/>
          </a:bodyPr>
          <a:lstStyle/>
          <a:p>
            <a:r>
              <a:rPr lang="en-US" sz="1200" dirty="0" smtClean="0">
                <a:solidFill>
                  <a:prstClr val="black"/>
                </a:solidFill>
              </a:rPr>
              <a:t>Row level</a:t>
            </a:r>
            <a:endParaRPr lang="en-US" sz="1200" dirty="0">
              <a:solidFill>
                <a:prstClr val="black"/>
              </a:solidFill>
            </a:endParaRPr>
          </a:p>
        </p:txBody>
      </p:sp>
      <p:cxnSp>
        <p:nvCxnSpPr>
          <p:cNvPr id="101" name="100 Conector recto de flecha"/>
          <p:cNvCxnSpPr>
            <a:stCxn id="96" idx="1"/>
          </p:cNvCxnSpPr>
          <p:nvPr/>
        </p:nvCxnSpPr>
        <p:spPr>
          <a:xfrm flipH="1" flipV="1">
            <a:off x="7704745" y="1818176"/>
            <a:ext cx="220055"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102 Conector recto de flecha"/>
          <p:cNvCxnSpPr>
            <a:stCxn id="97" idx="1"/>
          </p:cNvCxnSpPr>
          <p:nvPr/>
        </p:nvCxnSpPr>
        <p:spPr>
          <a:xfrm flipH="1" flipV="1">
            <a:off x="7256090" y="2651461"/>
            <a:ext cx="668710"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104 Conector recto de flecha"/>
          <p:cNvCxnSpPr/>
          <p:nvPr/>
        </p:nvCxnSpPr>
        <p:spPr>
          <a:xfrm flipH="1" flipV="1">
            <a:off x="7027490" y="4121180"/>
            <a:ext cx="897310"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106 Conector recto de flecha"/>
          <p:cNvCxnSpPr/>
          <p:nvPr/>
        </p:nvCxnSpPr>
        <p:spPr>
          <a:xfrm flipH="1">
            <a:off x="7484690" y="4859235"/>
            <a:ext cx="440110"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5" name="114 CuadroTexto"/>
          <p:cNvSpPr txBox="1"/>
          <p:nvPr/>
        </p:nvSpPr>
        <p:spPr>
          <a:xfrm>
            <a:off x="8546" y="533400"/>
            <a:ext cx="9144000" cy="461665"/>
          </a:xfrm>
          <a:prstGeom prst="rect">
            <a:avLst/>
          </a:prstGeom>
          <a:noFill/>
        </p:spPr>
        <p:txBody>
          <a:bodyPr wrap="square" rtlCol="0">
            <a:spAutoFit/>
          </a:bodyPr>
          <a:lstStyle/>
          <a:p>
            <a:pPr marL="171450" indent="-171450">
              <a:buFont typeface="Wingdings" pitchFamily="2" charset="2"/>
              <a:buChar char="Ø"/>
            </a:pPr>
            <a:r>
              <a:rPr lang="en-US" sz="1200" dirty="0" smtClean="0">
                <a:solidFill>
                  <a:prstClr val="black"/>
                </a:solidFill>
              </a:rPr>
              <a:t>The basic lock hierarchy in SQL Server is always top-down.  </a:t>
            </a:r>
          </a:p>
          <a:p>
            <a:pPr marL="171450" indent="-171450">
              <a:buFont typeface="Wingdings" pitchFamily="2" charset="2"/>
              <a:buChar char="Ø"/>
            </a:pPr>
            <a:r>
              <a:rPr lang="en-US" sz="1200" dirty="0" smtClean="0">
                <a:solidFill>
                  <a:prstClr val="black"/>
                </a:solidFill>
              </a:rPr>
              <a:t>Locks always have to be acquired top-down. Otherwise a deadlock situation may take place</a:t>
            </a:r>
            <a:endParaRPr lang="en-US" sz="1200" dirty="0">
              <a:solidFill>
                <a:prstClr val="black"/>
              </a:solidFill>
            </a:endParaRPr>
          </a:p>
        </p:txBody>
      </p:sp>
      <p:grpSp>
        <p:nvGrpSpPr>
          <p:cNvPr id="77" name="76 Grupo"/>
          <p:cNvGrpSpPr/>
          <p:nvPr/>
        </p:nvGrpSpPr>
        <p:grpSpPr>
          <a:xfrm>
            <a:off x="9525" y="6574392"/>
            <a:ext cx="9134399" cy="277000"/>
            <a:chOff x="9525" y="6574392"/>
            <a:chExt cx="9134399" cy="277000"/>
          </a:xfrm>
        </p:grpSpPr>
        <p:sp>
          <p:nvSpPr>
            <p:cNvPr id="78" name="77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79" name="78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91" name="90 Grupo"/>
          <p:cNvGrpSpPr/>
          <p:nvPr/>
        </p:nvGrpSpPr>
        <p:grpSpPr>
          <a:xfrm>
            <a:off x="0" y="9525"/>
            <a:ext cx="9153525" cy="408388"/>
            <a:chOff x="0" y="9525"/>
            <a:chExt cx="9153525" cy="408388"/>
          </a:xfrm>
        </p:grpSpPr>
        <p:sp>
          <p:nvSpPr>
            <p:cNvPr id="92" name="91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Locking |   Lock Hierarchy</a:t>
              </a:r>
              <a:endParaRPr lang="en-US" b="1" i="1" dirty="0">
                <a:solidFill>
                  <a:schemeClr val="bg1"/>
                </a:solidFill>
              </a:endParaRPr>
            </a:p>
          </p:txBody>
        </p:sp>
        <p:pic>
          <p:nvPicPr>
            <p:cNvPr id="93" name="92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4" name="93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96086811"/>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76 CuadroTexto"/>
          <p:cNvSpPr txBox="1"/>
          <p:nvPr/>
        </p:nvSpPr>
        <p:spPr>
          <a:xfrm>
            <a:off x="0" y="609600"/>
            <a:ext cx="9144000" cy="2492990"/>
          </a:xfrm>
          <a:prstGeom prst="rect">
            <a:avLst/>
          </a:prstGeom>
          <a:noFill/>
        </p:spPr>
        <p:txBody>
          <a:bodyPr wrap="square" rtlCol="0">
            <a:spAutoFit/>
          </a:bodyPr>
          <a:lstStyle/>
          <a:p>
            <a:pPr marL="171450" indent="-171450">
              <a:buFont typeface="Wingdings" pitchFamily="2" charset="2"/>
              <a:buChar char="q"/>
            </a:pPr>
            <a:r>
              <a:rPr lang="en-US" sz="1200" b="1" dirty="0" smtClean="0">
                <a:solidFill>
                  <a:prstClr val="black"/>
                </a:solidFill>
              </a:rPr>
              <a:t>Shared Locks </a:t>
            </a:r>
            <a:r>
              <a:rPr lang="en-US" sz="1200" dirty="0" smtClean="0">
                <a:solidFill>
                  <a:prstClr val="black"/>
                </a:solidFill>
              </a:rPr>
              <a:t>are read locks held until the resource has been read and processed. </a:t>
            </a:r>
          </a:p>
          <a:p>
            <a:r>
              <a:rPr lang="en-US" sz="1200" dirty="0" smtClean="0">
                <a:solidFill>
                  <a:prstClr val="black"/>
                </a:solidFill>
              </a:rPr>
              <a:t>These locks are released almost immediately.</a:t>
            </a:r>
          </a:p>
          <a:p>
            <a:r>
              <a:rPr lang="en-US" sz="1200" dirty="0" smtClean="0">
                <a:solidFill>
                  <a:prstClr val="black"/>
                </a:solidFill>
              </a:rPr>
              <a:t>“</a:t>
            </a:r>
            <a:r>
              <a:rPr lang="en-US" sz="1200" i="1" dirty="0" smtClean="0">
                <a:solidFill>
                  <a:prstClr val="black"/>
                </a:solidFill>
              </a:rPr>
              <a:t>You can read a particular resource, but you cannot modify it</a:t>
            </a:r>
            <a:r>
              <a:rPr lang="en-US" sz="1200" dirty="0" smtClean="0">
                <a:solidFill>
                  <a:prstClr val="black"/>
                </a:solidFill>
              </a:rPr>
              <a:t>”</a:t>
            </a:r>
          </a:p>
          <a:p>
            <a:endParaRPr lang="en-US" sz="1200" dirty="0" smtClean="0">
              <a:solidFill>
                <a:prstClr val="black"/>
              </a:solidFill>
            </a:endParaRPr>
          </a:p>
          <a:p>
            <a:pPr marL="171450" indent="-171450">
              <a:buFont typeface="Wingdings" pitchFamily="2" charset="2"/>
              <a:buChar char="q"/>
            </a:pPr>
            <a:r>
              <a:rPr lang="en-US" sz="1200" b="1" dirty="0" smtClean="0">
                <a:solidFill>
                  <a:prstClr val="black"/>
                </a:solidFill>
              </a:rPr>
              <a:t>Update Locks</a:t>
            </a:r>
            <a:r>
              <a:rPr lang="en-US" sz="1200" dirty="0" smtClean="0">
                <a:solidFill>
                  <a:prstClr val="black"/>
                </a:solidFill>
              </a:rPr>
              <a:t> – Reading with the intent to modify but has not yet modified.  Allows better concurrency</a:t>
            </a:r>
          </a:p>
          <a:p>
            <a:r>
              <a:rPr lang="en-US" sz="1200" dirty="0" smtClean="0">
                <a:solidFill>
                  <a:prstClr val="black"/>
                </a:solidFill>
              </a:rPr>
              <a:t>They are acquired at the beginning of the statement to isolate all of the needed rows to guarantee a consistent starting point.</a:t>
            </a:r>
          </a:p>
          <a:p>
            <a:r>
              <a:rPr lang="en-US" sz="1200" dirty="0">
                <a:solidFill>
                  <a:prstClr val="black"/>
                </a:solidFill>
              </a:rPr>
              <a:t>“</a:t>
            </a:r>
            <a:r>
              <a:rPr lang="en-US" sz="1200" i="1" dirty="0">
                <a:solidFill>
                  <a:prstClr val="black"/>
                </a:solidFill>
              </a:rPr>
              <a:t>I intend to go and do an update at some point, but I’m taking an Update Lock to allow concurrent readers with Shared Locks to read the </a:t>
            </a:r>
            <a:r>
              <a:rPr lang="en-US" sz="1200" i="1" dirty="0" smtClean="0">
                <a:solidFill>
                  <a:prstClr val="black"/>
                </a:solidFill>
              </a:rPr>
              <a:t>data.</a:t>
            </a:r>
            <a:endParaRPr lang="en-US" sz="1200" dirty="0">
              <a:solidFill>
                <a:prstClr val="black"/>
              </a:solidFill>
            </a:endParaRPr>
          </a:p>
          <a:p>
            <a:r>
              <a:rPr lang="en-US" sz="1200" i="1" dirty="0" smtClean="0">
                <a:solidFill>
                  <a:prstClr val="black"/>
                </a:solidFill>
              </a:rPr>
              <a:t>As soon as I modify the data, </a:t>
            </a:r>
            <a:r>
              <a:rPr lang="en-US" sz="1200" b="1" i="1" dirty="0" smtClean="0">
                <a:solidFill>
                  <a:prstClr val="black"/>
                </a:solidFill>
              </a:rPr>
              <a:t>upgrade me to an Exclusive Lock</a:t>
            </a:r>
            <a:r>
              <a:rPr lang="en-US" sz="1200" dirty="0" smtClean="0">
                <a:solidFill>
                  <a:prstClr val="black"/>
                </a:solidFill>
              </a:rPr>
              <a:t>”</a:t>
            </a:r>
          </a:p>
          <a:p>
            <a:endParaRPr lang="en-US" sz="1200" dirty="0" smtClean="0">
              <a:solidFill>
                <a:prstClr val="black"/>
              </a:solidFill>
            </a:endParaRPr>
          </a:p>
          <a:p>
            <a:pPr marL="171450" indent="-171450">
              <a:buFont typeface="Wingdings" pitchFamily="2" charset="2"/>
              <a:buChar char="q"/>
            </a:pPr>
            <a:r>
              <a:rPr lang="en-US" sz="1200" b="1" dirty="0" err="1" smtClean="0">
                <a:solidFill>
                  <a:prstClr val="black"/>
                </a:solidFill>
              </a:rPr>
              <a:t>eXclusive</a:t>
            </a:r>
            <a:r>
              <a:rPr lang="en-US" sz="1200" b="1" dirty="0" smtClean="0">
                <a:solidFill>
                  <a:prstClr val="black"/>
                </a:solidFill>
              </a:rPr>
              <a:t> Locks</a:t>
            </a:r>
            <a:r>
              <a:rPr lang="en-US" sz="1200" dirty="0" smtClean="0">
                <a:solidFill>
                  <a:prstClr val="black"/>
                </a:solidFill>
              </a:rPr>
              <a:t> – Has made a modification and the transaction is still pending</a:t>
            </a:r>
          </a:p>
          <a:p>
            <a:r>
              <a:rPr lang="en-US" sz="1200" dirty="0" smtClean="0">
                <a:solidFill>
                  <a:prstClr val="black"/>
                </a:solidFill>
              </a:rPr>
              <a:t>They are held for writers once the transaction has modified the data</a:t>
            </a:r>
          </a:p>
          <a:p>
            <a:r>
              <a:rPr lang="en-US" sz="1200" dirty="0" smtClean="0">
                <a:solidFill>
                  <a:prstClr val="black"/>
                </a:solidFill>
              </a:rPr>
              <a:t>These locks are not released until the transaction completes (commit or rollback)</a:t>
            </a:r>
          </a:p>
          <a:p>
            <a:r>
              <a:rPr lang="en-US" sz="1200" dirty="0" smtClean="0">
                <a:solidFill>
                  <a:prstClr val="black"/>
                </a:solidFill>
              </a:rPr>
              <a:t>“</a:t>
            </a:r>
            <a:r>
              <a:rPr lang="en-US" sz="1200" i="1" dirty="0" smtClean="0">
                <a:solidFill>
                  <a:prstClr val="black"/>
                </a:solidFill>
              </a:rPr>
              <a:t>You are modifying that data so the exclusive lock will be held until you are done</a:t>
            </a:r>
            <a:r>
              <a:rPr lang="en-US" sz="1200" dirty="0" smtClean="0">
                <a:solidFill>
                  <a:prstClr val="black"/>
                </a:solidFill>
              </a:rPr>
              <a:t>“</a:t>
            </a:r>
            <a:endParaRPr lang="en-US" sz="1200" dirty="0">
              <a:solidFill>
                <a:prstClr val="black"/>
              </a:solidFill>
            </a:endParaRPr>
          </a:p>
        </p:txBody>
      </p:sp>
      <p:graphicFrame>
        <p:nvGraphicFramePr>
          <p:cNvPr id="7" name="6 Tabla"/>
          <p:cNvGraphicFramePr>
            <a:graphicFrameLocks noGrp="1"/>
          </p:cNvGraphicFramePr>
          <p:nvPr>
            <p:extLst>
              <p:ext uri="{D42A27DB-BD31-4B8C-83A1-F6EECF244321}">
                <p14:modId xmlns:p14="http://schemas.microsoft.com/office/powerpoint/2010/main" val="1223476343"/>
              </p:ext>
            </p:extLst>
          </p:nvPr>
        </p:nvGraphicFramePr>
        <p:xfrm>
          <a:off x="685800" y="4085937"/>
          <a:ext cx="6096000" cy="1483360"/>
        </p:xfrm>
        <a:graphic>
          <a:graphicData uri="http://schemas.openxmlformats.org/drawingml/2006/table">
            <a:tbl>
              <a:tblPr firstRow="1" bandRow="1">
                <a:tableStyleId>{5C22544A-7EE6-4342-B048-85BDC9FD1C3A}</a:tableStyleId>
              </a:tblPr>
              <a:tblGrid>
                <a:gridCol w="1524000"/>
                <a:gridCol w="1524000"/>
                <a:gridCol w="1524000"/>
                <a:gridCol w="1524000"/>
              </a:tblGrid>
              <a:tr h="370840">
                <a:tc>
                  <a:txBody>
                    <a:bodyPr/>
                    <a:lstStyle/>
                    <a:p>
                      <a:endParaRPr lang="en-US" dirty="0"/>
                    </a:p>
                  </a:txBody>
                  <a:tcPr/>
                </a:tc>
                <a:tc>
                  <a:txBody>
                    <a:bodyPr/>
                    <a:lstStyle/>
                    <a:p>
                      <a:r>
                        <a:rPr lang="en-US" u="sng" dirty="0" smtClean="0"/>
                        <a:t>S</a:t>
                      </a:r>
                      <a:r>
                        <a:rPr lang="en-US" dirty="0" smtClean="0"/>
                        <a:t>hared</a:t>
                      </a:r>
                      <a:endParaRPr lang="en-US" dirty="0"/>
                    </a:p>
                  </a:txBody>
                  <a:tcPr/>
                </a:tc>
                <a:tc>
                  <a:txBody>
                    <a:bodyPr/>
                    <a:lstStyle/>
                    <a:p>
                      <a:r>
                        <a:rPr lang="en-US" u="sng" dirty="0" smtClean="0"/>
                        <a:t>U</a:t>
                      </a:r>
                      <a:r>
                        <a:rPr lang="en-US" dirty="0" smtClean="0"/>
                        <a:t>pdate</a:t>
                      </a:r>
                      <a:endParaRPr lang="en-US" dirty="0"/>
                    </a:p>
                  </a:txBody>
                  <a:tcPr/>
                </a:tc>
                <a:tc>
                  <a:txBody>
                    <a:bodyPr/>
                    <a:lstStyle/>
                    <a:p>
                      <a:r>
                        <a:rPr lang="en-US" dirty="0" err="1" smtClean="0"/>
                        <a:t>e</a:t>
                      </a:r>
                      <a:r>
                        <a:rPr lang="en-US" u="sng" dirty="0" err="1" smtClean="0"/>
                        <a:t>X</a:t>
                      </a:r>
                      <a:r>
                        <a:rPr lang="en-US" dirty="0" err="1" smtClean="0"/>
                        <a:t>clusive</a:t>
                      </a:r>
                      <a:endParaRPr lang="en-US" dirty="0"/>
                    </a:p>
                  </a:txBody>
                  <a:tcPr/>
                </a:tc>
              </a:tr>
              <a:tr h="370840">
                <a:tc>
                  <a:txBody>
                    <a:bodyPr/>
                    <a:lstStyle/>
                    <a:p>
                      <a:r>
                        <a:rPr lang="en-US" b="1" u="sng" dirty="0" smtClean="0"/>
                        <a:t>S</a:t>
                      </a:r>
                      <a:r>
                        <a:rPr lang="en-US" dirty="0" smtClean="0"/>
                        <a:t>hared</a:t>
                      </a:r>
                      <a:endParaRPr lang="en-US" dirty="0"/>
                    </a:p>
                  </a:txBody>
                  <a:tcPr/>
                </a:tc>
                <a:tc>
                  <a:txBody>
                    <a:bodyPr/>
                    <a:lstStyle/>
                    <a:p>
                      <a:r>
                        <a:rPr lang="en-US" b="1" dirty="0" smtClean="0"/>
                        <a:t>Granted</a:t>
                      </a:r>
                      <a:endParaRPr lang="en-US" b="1" dirty="0"/>
                    </a:p>
                  </a:txBody>
                  <a:tcPr/>
                </a:tc>
                <a:tc>
                  <a:txBody>
                    <a:bodyPr/>
                    <a:lstStyle/>
                    <a:p>
                      <a:r>
                        <a:rPr lang="en-US" b="1" dirty="0" smtClean="0"/>
                        <a:t>Granted</a:t>
                      </a:r>
                      <a:endParaRPr lang="en-US" b="1" dirty="0"/>
                    </a:p>
                  </a:txBody>
                  <a:tcPr/>
                </a:tc>
                <a:tc>
                  <a:txBody>
                    <a:bodyPr/>
                    <a:lstStyle/>
                    <a:p>
                      <a:r>
                        <a:rPr lang="en-US" b="1" dirty="0" smtClean="0">
                          <a:solidFill>
                            <a:srgbClr val="FF0000"/>
                          </a:solidFill>
                        </a:rPr>
                        <a:t>Wait</a:t>
                      </a:r>
                      <a:endParaRPr lang="en-US" b="1" dirty="0">
                        <a:solidFill>
                          <a:srgbClr val="FF0000"/>
                        </a:solidFill>
                      </a:endParaRPr>
                    </a:p>
                  </a:txBody>
                  <a:tcPr/>
                </a:tc>
              </a:tr>
              <a:tr h="370840">
                <a:tc>
                  <a:txBody>
                    <a:bodyPr/>
                    <a:lstStyle/>
                    <a:p>
                      <a:r>
                        <a:rPr lang="en-US" b="1" u="sng" dirty="0" smtClean="0"/>
                        <a:t>U</a:t>
                      </a:r>
                      <a:r>
                        <a:rPr lang="en-US" dirty="0" smtClean="0"/>
                        <a:t>pdate</a:t>
                      </a:r>
                      <a:endParaRPr lang="en-US" dirty="0"/>
                    </a:p>
                  </a:txBody>
                  <a:tcPr/>
                </a:tc>
                <a:tc>
                  <a:txBody>
                    <a:bodyPr/>
                    <a:lstStyle/>
                    <a:p>
                      <a:r>
                        <a:rPr lang="en-US" b="1" dirty="0" smtClean="0"/>
                        <a:t>Granted</a:t>
                      </a:r>
                      <a:endParaRPr lang="en-US" b="1" dirty="0"/>
                    </a:p>
                  </a:txBody>
                  <a:tcPr/>
                </a:tc>
                <a:tc>
                  <a:txBody>
                    <a:bodyPr/>
                    <a:lstStyle/>
                    <a:p>
                      <a:r>
                        <a:rPr lang="en-US" b="1" dirty="0" smtClean="0">
                          <a:solidFill>
                            <a:srgbClr val="FF0000"/>
                          </a:solidFill>
                        </a:rPr>
                        <a:t>Wait</a:t>
                      </a:r>
                      <a:endParaRPr lang="en-US" b="1" dirty="0">
                        <a:solidFill>
                          <a:srgbClr val="FF0000"/>
                        </a:solidFill>
                      </a:endParaRPr>
                    </a:p>
                  </a:txBody>
                  <a:tcPr/>
                </a:tc>
                <a:tc>
                  <a:txBody>
                    <a:bodyPr/>
                    <a:lstStyle/>
                    <a:p>
                      <a:r>
                        <a:rPr lang="en-US" b="1" dirty="0" smtClean="0">
                          <a:solidFill>
                            <a:srgbClr val="FF0000"/>
                          </a:solidFill>
                        </a:rPr>
                        <a:t>Wait</a:t>
                      </a:r>
                      <a:endParaRPr lang="en-US" b="1" dirty="0">
                        <a:solidFill>
                          <a:srgbClr val="FF0000"/>
                        </a:solidFill>
                      </a:endParaRPr>
                    </a:p>
                  </a:txBody>
                  <a:tcPr/>
                </a:tc>
              </a:tr>
              <a:tr h="370840">
                <a:tc>
                  <a:txBody>
                    <a:bodyPr/>
                    <a:lstStyle/>
                    <a:p>
                      <a:r>
                        <a:rPr lang="en-US" dirty="0" err="1" smtClean="0"/>
                        <a:t>e</a:t>
                      </a:r>
                      <a:r>
                        <a:rPr lang="en-US" b="1" u="sng" dirty="0" err="1" smtClean="0"/>
                        <a:t>X</a:t>
                      </a:r>
                      <a:r>
                        <a:rPr lang="en-US" dirty="0" err="1" smtClean="0"/>
                        <a:t>clusive</a:t>
                      </a:r>
                      <a:endParaRPr lang="en-US" dirty="0"/>
                    </a:p>
                  </a:txBody>
                  <a:tcPr/>
                </a:tc>
                <a:tc>
                  <a:txBody>
                    <a:bodyPr/>
                    <a:lstStyle/>
                    <a:p>
                      <a:r>
                        <a:rPr lang="en-US" b="1" dirty="0" smtClean="0">
                          <a:solidFill>
                            <a:srgbClr val="FF0000"/>
                          </a:solidFill>
                        </a:rPr>
                        <a:t>Wait</a:t>
                      </a:r>
                      <a:endParaRPr lang="en-US" b="1" dirty="0">
                        <a:solidFill>
                          <a:srgbClr val="FF0000"/>
                        </a:solidFill>
                      </a:endParaRPr>
                    </a:p>
                  </a:txBody>
                  <a:tcPr/>
                </a:tc>
                <a:tc>
                  <a:txBody>
                    <a:bodyPr/>
                    <a:lstStyle/>
                    <a:p>
                      <a:r>
                        <a:rPr lang="en-US" b="1" dirty="0" smtClean="0">
                          <a:solidFill>
                            <a:srgbClr val="FF0000"/>
                          </a:solidFill>
                        </a:rPr>
                        <a:t>Wait</a:t>
                      </a:r>
                      <a:endParaRPr lang="en-US" b="1" dirty="0">
                        <a:solidFill>
                          <a:srgbClr val="FF0000"/>
                        </a:solidFill>
                      </a:endParaRPr>
                    </a:p>
                  </a:txBody>
                  <a:tcPr/>
                </a:tc>
                <a:tc>
                  <a:txBody>
                    <a:bodyPr/>
                    <a:lstStyle/>
                    <a:p>
                      <a:r>
                        <a:rPr lang="en-US" b="1" dirty="0" smtClean="0">
                          <a:solidFill>
                            <a:srgbClr val="FF0000"/>
                          </a:solidFill>
                        </a:rPr>
                        <a:t>Wait</a:t>
                      </a:r>
                      <a:endParaRPr lang="en-US" b="1" dirty="0">
                        <a:solidFill>
                          <a:srgbClr val="FF0000"/>
                        </a:solidFill>
                      </a:endParaRPr>
                    </a:p>
                  </a:txBody>
                  <a:tcPr/>
                </a:tc>
              </a:tr>
            </a:tbl>
          </a:graphicData>
        </a:graphic>
      </p:graphicFrame>
      <p:sp>
        <p:nvSpPr>
          <p:cNvPr id="78" name="77 CuadroTexto"/>
          <p:cNvSpPr txBox="1"/>
          <p:nvPr/>
        </p:nvSpPr>
        <p:spPr>
          <a:xfrm>
            <a:off x="2209800" y="3773305"/>
            <a:ext cx="4572000" cy="307777"/>
          </a:xfrm>
          <a:prstGeom prst="rect">
            <a:avLst/>
          </a:prstGeom>
          <a:noFill/>
        </p:spPr>
        <p:txBody>
          <a:bodyPr wrap="square" rtlCol="0">
            <a:spAutoFit/>
          </a:bodyPr>
          <a:lstStyle/>
          <a:p>
            <a:pPr algn="r"/>
            <a:r>
              <a:rPr lang="en-US" sz="1400" i="1" dirty="0" smtClean="0">
                <a:solidFill>
                  <a:prstClr val="black"/>
                </a:solidFill>
              </a:rPr>
              <a:t>Lock held</a:t>
            </a:r>
            <a:endParaRPr lang="en-US" sz="1400" i="1" dirty="0">
              <a:solidFill>
                <a:prstClr val="black"/>
              </a:solidFill>
            </a:endParaRPr>
          </a:p>
        </p:txBody>
      </p:sp>
      <p:cxnSp>
        <p:nvCxnSpPr>
          <p:cNvPr id="13" name="12 Conector recto de flecha"/>
          <p:cNvCxnSpPr/>
          <p:nvPr/>
        </p:nvCxnSpPr>
        <p:spPr>
          <a:xfrm>
            <a:off x="6934200" y="3889603"/>
            <a:ext cx="0" cy="149173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14 Conector recto de flecha"/>
          <p:cNvCxnSpPr/>
          <p:nvPr/>
        </p:nvCxnSpPr>
        <p:spPr>
          <a:xfrm>
            <a:off x="2362200" y="5838537"/>
            <a:ext cx="3276600"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1" name="90 CuadroTexto"/>
          <p:cNvSpPr txBox="1"/>
          <p:nvPr/>
        </p:nvSpPr>
        <p:spPr>
          <a:xfrm>
            <a:off x="609600" y="5653871"/>
            <a:ext cx="1600200" cy="307777"/>
          </a:xfrm>
          <a:prstGeom prst="rect">
            <a:avLst/>
          </a:prstGeom>
          <a:noFill/>
        </p:spPr>
        <p:txBody>
          <a:bodyPr wrap="square" rtlCol="0">
            <a:spAutoFit/>
          </a:bodyPr>
          <a:lstStyle/>
          <a:p>
            <a:pPr algn="r"/>
            <a:r>
              <a:rPr lang="en-US" sz="1400" i="1" dirty="0" smtClean="0">
                <a:solidFill>
                  <a:prstClr val="black"/>
                </a:solidFill>
              </a:rPr>
              <a:t>Lock requested</a:t>
            </a:r>
            <a:endParaRPr lang="en-US" sz="1400" i="1" dirty="0">
              <a:solidFill>
                <a:prstClr val="black"/>
              </a:solidFill>
            </a:endParaRPr>
          </a:p>
        </p:txBody>
      </p:sp>
      <p:sp>
        <p:nvSpPr>
          <p:cNvPr id="92" name="91 CuadroTexto"/>
          <p:cNvSpPr txBox="1"/>
          <p:nvPr/>
        </p:nvSpPr>
        <p:spPr>
          <a:xfrm>
            <a:off x="7052417" y="4312304"/>
            <a:ext cx="1447800" cy="646331"/>
          </a:xfrm>
          <a:prstGeom prst="rect">
            <a:avLst/>
          </a:prstGeom>
          <a:noFill/>
        </p:spPr>
        <p:txBody>
          <a:bodyPr wrap="square" rtlCol="0">
            <a:spAutoFit/>
          </a:bodyPr>
          <a:lstStyle/>
          <a:p>
            <a:r>
              <a:rPr lang="en-US" sz="1200" dirty="0" smtClean="0">
                <a:solidFill>
                  <a:prstClr val="black"/>
                </a:solidFill>
              </a:rPr>
              <a:t>Process #1 holds an exclusive lock on a given resource</a:t>
            </a:r>
            <a:endParaRPr lang="en-US" sz="1200" dirty="0">
              <a:solidFill>
                <a:prstClr val="black"/>
              </a:solidFill>
            </a:endParaRPr>
          </a:p>
        </p:txBody>
      </p:sp>
      <p:sp>
        <p:nvSpPr>
          <p:cNvPr id="93" name="92 CuadroTexto"/>
          <p:cNvSpPr txBox="1"/>
          <p:nvPr/>
        </p:nvSpPr>
        <p:spPr>
          <a:xfrm>
            <a:off x="2362200" y="5967710"/>
            <a:ext cx="3276600" cy="461665"/>
          </a:xfrm>
          <a:prstGeom prst="rect">
            <a:avLst/>
          </a:prstGeom>
          <a:noFill/>
        </p:spPr>
        <p:txBody>
          <a:bodyPr wrap="square" rtlCol="0">
            <a:spAutoFit/>
          </a:bodyPr>
          <a:lstStyle/>
          <a:p>
            <a:r>
              <a:rPr lang="en-US" sz="1200" dirty="0" smtClean="0">
                <a:solidFill>
                  <a:prstClr val="black"/>
                </a:solidFill>
              </a:rPr>
              <a:t>Process #2 attempts to acquire a lock a Shared lock on the resource locked by Process #1</a:t>
            </a:r>
            <a:endParaRPr lang="en-US" sz="1200" dirty="0">
              <a:solidFill>
                <a:prstClr val="black"/>
              </a:solidFill>
            </a:endParaRPr>
          </a:p>
        </p:txBody>
      </p:sp>
      <p:sp>
        <p:nvSpPr>
          <p:cNvPr id="94" name="93 CuadroTexto"/>
          <p:cNvSpPr txBox="1"/>
          <p:nvPr/>
        </p:nvSpPr>
        <p:spPr>
          <a:xfrm>
            <a:off x="0" y="3404790"/>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Lock compatibility matrix</a:t>
            </a:r>
            <a:endParaRPr lang="en-US" sz="1400" b="1" dirty="0">
              <a:solidFill>
                <a:prstClr val="black"/>
              </a:solidFill>
            </a:endParaRPr>
          </a:p>
        </p:txBody>
      </p:sp>
      <p:grpSp>
        <p:nvGrpSpPr>
          <p:cNvPr id="12" name="11 Grupo"/>
          <p:cNvGrpSpPr/>
          <p:nvPr/>
        </p:nvGrpSpPr>
        <p:grpSpPr>
          <a:xfrm>
            <a:off x="0" y="9525"/>
            <a:ext cx="9153525" cy="408388"/>
            <a:chOff x="0" y="9525"/>
            <a:chExt cx="9153525" cy="408388"/>
          </a:xfrm>
        </p:grpSpPr>
        <p:sp>
          <p:nvSpPr>
            <p:cNvPr id="14" name="13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Locking |   Row Locks</a:t>
              </a:r>
              <a:endParaRPr lang="en-US" b="1" i="1" dirty="0">
                <a:solidFill>
                  <a:schemeClr val="bg1"/>
                </a:solidFill>
              </a:endParaRPr>
            </a:p>
          </p:txBody>
        </p:sp>
        <p:pic>
          <p:nvPicPr>
            <p:cNvPr id="16" name="15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7" name="16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17 Grupo"/>
          <p:cNvGrpSpPr/>
          <p:nvPr/>
        </p:nvGrpSpPr>
        <p:grpSpPr>
          <a:xfrm>
            <a:off x="9525" y="6574392"/>
            <a:ext cx="9134399" cy="277000"/>
            <a:chOff x="9525" y="6574392"/>
            <a:chExt cx="9134399" cy="277000"/>
          </a:xfrm>
        </p:grpSpPr>
        <p:sp>
          <p:nvSpPr>
            <p:cNvPr id="19" name="18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0" name="19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240522677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1 CuadroTexto"/>
          <p:cNvSpPr txBox="1"/>
          <p:nvPr/>
        </p:nvSpPr>
        <p:spPr>
          <a:xfrm>
            <a:off x="0" y="2243270"/>
            <a:ext cx="9144000" cy="2677656"/>
          </a:xfrm>
          <a:prstGeom prst="rect">
            <a:avLst/>
          </a:prstGeom>
          <a:noFill/>
        </p:spPr>
        <p:txBody>
          <a:bodyPr wrap="square" rtlCol="0">
            <a:spAutoFit/>
          </a:bodyPr>
          <a:lstStyle/>
          <a:p>
            <a:pPr marL="171450" indent="-171450">
              <a:buFont typeface="Wingdings" pitchFamily="2" charset="2"/>
              <a:buChar char="q"/>
            </a:pPr>
            <a:r>
              <a:rPr lang="en-US" sz="1200" b="1" dirty="0" smtClean="0">
                <a:solidFill>
                  <a:prstClr val="black"/>
                </a:solidFill>
              </a:rPr>
              <a:t>Shared</a:t>
            </a:r>
            <a:r>
              <a:rPr lang="en-US" sz="1200" dirty="0" smtClean="0">
                <a:solidFill>
                  <a:prstClr val="black"/>
                </a:solidFill>
              </a:rPr>
              <a:t> – only readers on the table</a:t>
            </a:r>
          </a:p>
          <a:p>
            <a:pPr marL="171450" indent="-171450">
              <a:buFont typeface="Wingdings" pitchFamily="2" charset="2"/>
              <a:buChar char="q"/>
            </a:pPr>
            <a:endParaRPr lang="en-US" sz="1200" dirty="0" smtClean="0">
              <a:solidFill>
                <a:prstClr val="black"/>
              </a:solidFill>
            </a:endParaRPr>
          </a:p>
          <a:p>
            <a:pPr marL="171450" indent="-171450">
              <a:buFont typeface="Wingdings" pitchFamily="2" charset="2"/>
              <a:buChar char="q"/>
            </a:pPr>
            <a:r>
              <a:rPr lang="en-US" sz="1200" b="1" dirty="0" smtClean="0">
                <a:solidFill>
                  <a:prstClr val="black"/>
                </a:solidFill>
              </a:rPr>
              <a:t>Intent Shared </a:t>
            </a:r>
            <a:r>
              <a:rPr lang="en-US" sz="1200" dirty="0" smtClean="0">
                <a:solidFill>
                  <a:prstClr val="black"/>
                </a:solidFill>
              </a:rPr>
              <a:t>– reader with a shared page or row level lock at a lower granularity</a:t>
            </a:r>
          </a:p>
          <a:p>
            <a:r>
              <a:rPr lang="en-US" sz="1200" dirty="0">
                <a:solidFill>
                  <a:prstClr val="black"/>
                </a:solidFill>
              </a:rPr>
              <a:t>Indicates the intention of a transaction to read some (but not all) resources lower in the hierarchy by placing </a:t>
            </a:r>
            <a:r>
              <a:rPr lang="en-US" sz="1200" dirty="0" smtClean="0">
                <a:solidFill>
                  <a:prstClr val="black"/>
                </a:solidFill>
              </a:rPr>
              <a:t>Shared </a:t>
            </a:r>
            <a:r>
              <a:rPr lang="en-US" sz="1200" dirty="0">
                <a:solidFill>
                  <a:prstClr val="black"/>
                </a:solidFill>
              </a:rPr>
              <a:t>locks </a:t>
            </a:r>
            <a:endParaRPr lang="en-US" sz="1200" dirty="0" smtClean="0">
              <a:solidFill>
                <a:prstClr val="black"/>
              </a:solidFill>
            </a:endParaRPr>
          </a:p>
          <a:p>
            <a:r>
              <a:rPr lang="en-US" sz="1200" dirty="0" smtClean="0">
                <a:solidFill>
                  <a:prstClr val="black"/>
                </a:solidFill>
              </a:rPr>
              <a:t>on </a:t>
            </a:r>
            <a:r>
              <a:rPr lang="en-US" sz="1200" dirty="0">
                <a:solidFill>
                  <a:prstClr val="black"/>
                </a:solidFill>
              </a:rPr>
              <a:t>those individual resources</a:t>
            </a:r>
            <a:r>
              <a:rPr lang="en-US" sz="1200" dirty="0" smtClean="0">
                <a:solidFill>
                  <a:prstClr val="black"/>
                </a:solidFill>
              </a:rPr>
              <a:t>.</a:t>
            </a:r>
          </a:p>
          <a:p>
            <a:endParaRPr lang="en-US" sz="1200" dirty="0" smtClean="0">
              <a:solidFill>
                <a:prstClr val="black"/>
              </a:solidFill>
            </a:endParaRPr>
          </a:p>
          <a:p>
            <a:pPr marL="171450" indent="-171450">
              <a:buFont typeface="Wingdings" pitchFamily="2" charset="2"/>
              <a:buChar char="q"/>
            </a:pPr>
            <a:r>
              <a:rPr lang="en-US" sz="1200" b="1" dirty="0" smtClean="0">
                <a:solidFill>
                  <a:prstClr val="black"/>
                </a:solidFill>
              </a:rPr>
              <a:t>Intent Exclusive </a:t>
            </a:r>
            <a:r>
              <a:rPr lang="en-US" sz="1200" dirty="0" smtClean="0">
                <a:solidFill>
                  <a:prstClr val="black"/>
                </a:solidFill>
              </a:rPr>
              <a:t>– writer with an exclusive page or row level lock at a lower granularity</a:t>
            </a:r>
          </a:p>
          <a:p>
            <a:r>
              <a:rPr lang="en-US" sz="1200" dirty="0">
                <a:solidFill>
                  <a:prstClr val="black"/>
                </a:solidFill>
              </a:rPr>
              <a:t>Indicates the intention of a transaction to modify some (but not all) resources lower in the hierarchy by placing </a:t>
            </a:r>
            <a:r>
              <a:rPr lang="en-US" sz="1200" dirty="0" smtClean="0">
                <a:solidFill>
                  <a:prstClr val="black"/>
                </a:solidFill>
              </a:rPr>
              <a:t>Exclusive </a:t>
            </a:r>
            <a:r>
              <a:rPr lang="en-US" sz="1200" dirty="0">
                <a:solidFill>
                  <a:prstClr val="black"/>
                </a:solidFill>
              </a:rPr>
              <a:t>locks </a:t>
            </a:r>
            <a:endParaRPr lang="en-US" sz="1200" dirty="0" smtClean="0">
              <a:solidFill>
                <a:prstClr val="black"/>
              </a:solidFill>
            </a:endParaRPr>
          </a:p>
          <a:p>
            <a:r>
              <a:rPr lang="en-US" sz="1200" dirty="0" smtClean="0">
                <a:solidFill>
                  <a:prstClr val="black"/>
                </a:solidFill>
              </a:rPr>
              <a:t>on </a:t>
            </a:r>
            <a:r>
              <a:rPr lang="en-US" sz="1200" dirty="0">
                <a:solidFill>
                  <a:prstClr val="black"/>
                </a:solidFill>
              </a:rPr>
              <a:t>those individual resources</a:t>
            </a:r>
            <a:r>
              <a:rPr lang="en-US" sz="1200" dirty="0" smtClean="0">
                <a:solidFill>
                  <a:prstClr val="black"/>
                </a:solidFill>
              </a:rPr>
              <a:t>.</a:t>
            </a:r>
            <a:endParaRPr lang="en-US" sz="1200" dirty="0">
              <a:solidFill>
                <a:prstClr val="black"/>
              </a:solidFill>
            </a:endParaRPr>
          </a:p>
          <a:p>
            <a:pPr marL="171450" indent="-171450">
              <a:buFont typeface="Wingdings" pitchFamily="2" charset="2"/>
              <a:buChar char="q"/>
            </a:pPr>
            <a:endParaRPr lang="en-US" sz="1200" dirty="0" smtClean="0">
              <a:solidFill>
                <a:prstClr val="black"/>
              </a:solidFill>
            </a:endParaRPr>
          </a:p>
          <a:p>
            <a:pPr marL="171450" indent="-171450">
              <a:buFont typeface="Wingdings" pitchFamily="2" charset="2"/>
              <a:buChar char="q"/>
            </a:pPr>
            <a:r>
              <a:rPr lang="en-US" sz="1200" b="1" dirty="0" smtClean="0">
                <a:solidFill>
                  <a:prstClr val="black"/>
                </a:solidFill>
              </a:rPr>
              <a:t>Exclusive</a:t>
            </a:r>
            <a:r>
              <a:rPr lang="en-US" sz="1200" dirty="0" smtClean="0">
                <a:solidFill>
                  <a:prstClr val="black"/>
                </a:solidFill>
              </a:rPr>
              <a:t> – only one writer on the table</a:t>
            </a:r>
          </a:p>
          <a:p>
            <a:pPr marL="171450" indent="-171450">
              <a:buFont typeface="Wingdings" pitchFamily="2" charset="2"/>
              <a:buChar char="q"/>
            </a:pPr>
            <a:endParaRPr lang="en-US" sz="1200" dirty="0" smtClean="0">
              <a:solidFill>
                <a:prstClr val="black"/>
              </a:solidFill>
            </a:endParaRPr>
          </a:p>
          <a:p>
            <a:pPr marL="171450" indent="-171450">
              <a:buFont typeface="Wingdings" pitchFamily="2" charset="2"/>
              <a:buChar char="q"/>
            </a:pPr>
            <a:r>
              <a:rPr lang="en-US" sz="1200" b="1" dirty="0">
                <a:solidFill>
                  <a:prstClr val="black"/>
                </a:solidFill>
              </a:rPr>
              <a:t>Shared with intent exclusive (SIX</a:t>
            </a:r>
            <a:r>
              <a:rPr lang="en-US" sz="1200" b="1" dirty="0" smtClean="0">
                <a:solidFill>
                  <a:prstClr val="black"/>
                </a:solidFill>
              </a:rPr>
              <a:t>)</a:t>
            </a:r>
            <a:r>
              <a:rPr lang="en-US" sz="1200" dirty="0" smtClean="0">
                <a:solidFill>
                  <a:prstClr val="black"/>
                </a:solidFill>
              </a:rPr>
              <a:t> - </a:t>
            </a:r>
            <a:r>
              <a:rPr lang="en-US" sz="1200" dirty="0">
                <a:solidFill>
                  <a:prstClr val="black"/>
                </a:solidFill>
              </a:rPr>
              <a:t>Indicates the intention of the transaction to read all of the resources lower in the hierarchy and modify some (but not all) resources lower in the hierarchy by placing IX locks on those individual resources.</a:t>
            </a:r>
            <a:endParaRPr lang="en-US" sz="1200" dirty="0" smtClean="0">
              <a:solidFill>
                <a:prstClr val="black"/>
              </a:solidFill>
            </a:endParaRPr>
          </a:p>
        </p:txBody>
      </p:sp>
      <p:sp>
        <p:nvSpPr>
          <p:cNvPr id="14" name="13 CuadroTexto"/>
          <p:cNvSpPr txBox="1"/>
          <p:nvPr/>
        </p:nvSpPr>
        <p:spPr>
          <a:xfrm>
            <a:off x="0" y="533400"/>
            <a:ext cx="9144000" cy="1231106"/>
          </a:xfrm>
          <a:prstGeom prst="rect">
            <a:avLst/>
          </a:prstGeom>
          <a:noFill/>
        </p:spPr>
        <p:txBody>
          <a:bodyPr wrap="square" rtlCol="0">
            <a:spAutoFit/>
          </a:bodyPr>
          <a:lstStyle/>
          <a:p>
            <a:r>
              <a:rPr lang="en-US" sz="1400" b="1" dirty="0" smtClean="0">
                <a:solidFill>
                  <a:prstClr val="black"/>
                </a:solidFill>
              </a:rPr>
              <a:t>Why they exist?</a:t>
            </a:r>
          </a:p>
          <a:p>
            <a:pPr marL="171450" indent="-171450">
              <a:buFont typeface="Wingdings" pitchFamily="2" charset="2"/>
              <a:buChar char="Ø"/>
            </a:pPr>
            <a:r>
              <a:rPr lang="en-US" sz="1200" dirty="0" smtClean="0">
                <a:solidFill>
                  <a:prstClr val="black"/>
                </a:solidFill>
              </a:rPr>
              <a:t>Intent locks exist </a:t>
            </a:r>
            <a:r>
              <a:rPr lang="en-US" sz="1200" b="1" dirty="0" smtClean="0">
                <a:solidFill>
                  <a:srgbClr val="0000FF"/>
                </a:solidFill>
              </a:rPr>
              <a:t>to prevent non-compatible locks from being taken</a:t>
            </a:r>
            <a:r>
              <a:rPr lang="en-US" sz="1200" dirty="0" smtClean="0">
                <a:solidFill>
                  <a:prstClr val="black"/>
                </a:solidFill>
              </a:rPr>
              <a:t>. </a:t>
            </a:r>
          </a:p>
          <a:p>
            <a:pPr marL="171450" indent="-171450">
              <a:buFont typeface="Wingdings" pitchFamily="2" charset="2"/>
              <a:buChar char="Ø"/>
            </a:pPr>
            <a:r>
              <a:rPr lang="en-US" sz="1200" dirty="0" smtClean="0">
                <a:solidFill>
                  <a:prstClr val="black"/>
                </a:solidFill>
              </a:rPr>
              <a:t>They represent an “intention”, giving SQL Server an idea on what you are planning to do.</a:t>
            </a:r>
          </a:p>
          <a:p>
            <a:pPr marL="171450" indent="-171450">
              <a:buFont typeface="Wingdings" pitchFamily="2" charset="2"/>
              <a:buChar char="Ø"/>
            </a:pPr>
            <a:r>
              <a:rPr lang="en-US" sz="1200" dirty="0" smtClean="0">
                <a:solidFill>
                  <a:prstClr val="black"/>
                </a:solidFill>
              </a:rPr>
              <a:t>Intent </a:t>
            </a:r>
            <a:r>
              <a:rPr lang="en-US" sz="1200" dirty="0">
                <a:solidFill>
                  <a:prstClr val="black"/>
                </a:solidFill>
              </a:rPr>
              <a:t>locks improve performance because SQL Server examines intent locks only at the table level to determine </a:t>
            </a:r>
            <a:endParaRPr lang="en-US" sz="1200" dirty="0" smtClean="0">
              <a:solidFill>
                <a:prstClr val="black"/>
              </a:solidFill>
            </a:endParaRPr>
          </a:p>
          <a:p>
            <a:r>
              <a:rPr lang="en-US" sz="1200" dirty="0">
                <a:solidFill>
                  <a:prstClr val="black"/>
                </a:solidFill>
              </a:rPr>
              <a:t> </a:t>
            </a:r>
            <a:r>
              <a:rPr lang="en-US" sz="1200" dirty="0" smtClean="0">
                <a:solidFill>
                  <a:prstClr val="black"/>
                </a:solidFill>
              </a:rPr>
              <a:t>    if </a:t>
            </a:r>
            <a:r>
              <a:rPr lang="en-US" sz="1200" dirty="0">
                <a:solidFill>
                  <a:prstClr val="black"/>
                </a:solidFill>
              </a:rPr>
              <a:t>a transaction can safely acquire a lock on that table. </a:t>
            </a:r>
            <a:endParaRPr lang="en-US" sz="1200" dirty="0" smtClean="0">
              <a:solidFill>
                <a:prstClr val="black"/>
              </a:solidFill>
            </a:endParaRPr>
          </a:p>
          <a:p>
            <a:r>
              <a:rPr lang="en-US" sz="1200" dirty="0" smtClean="0">
                <a:solidFill>
                  <a:prstClr val="black"/>
                </a:solidFill>
              </a:rPr>
              <a:t>     This </a:t>
            </a:r>
            <a:r>
              <a:rPr lang="en-US" sz="1200" dirty="0">
                <a:solidFill>
                  <a:prstClr val="black"/>
                </a:solidFill>
              </a:rPr>
              <a:t>removes the requirement to examine every row or page lock on the table to determine if a transaction can lock the entire </a:t>
            </a:r>
            <a:r>
              <a:rPr lang="en-US" sz="1200" dirty="0" smtClean="0">
                <a:solidFill>
                  <a:prstClr val="black"/>
                </a:solidFill>
              </a:rPr>
              <a:t>table</a:t>
            </a:r>
          </a:p>
        </p:txBody>
      </p:sp>
      <p:sp>
        <p:nvSpPr>
          <p:cNvPr id="16" name="15 CuadroTexto"/>
          <p:cNvSpPr txBox="1"/>
          <p:nvPr/>
        </p:nvSpPr>
        <p:spPr>
          <a:xfrm>
            <a:off x="0" y="1905000"/>
            <a:ext cx="9144000" cy="307777"/>
          </a:xfrm>
          <a:prstGeom prst="rect">
            <a:avLst/>
          </a:prstGeom>
          <a:noFill/>
        </p:spPr>
        <p:txBody>
          <a:bodyPr wrap="square" rtlCol="0">
            <a:spAutoFit/>
          </a:bodyPr>
          <a:lstStyle/>
          <a:p>
            <a:r>
              <a:rPr lang="en-US" sz="1400" b="1" dirty="0" smtClean="0">
                <a:solidFill>
                  <a:prstClr val="black"/>
                </a:solidFill>
              </a:rPr>
              <a:t>Types of Intent locks</a:t>
            </a:r>
            <a:endParaRPr lang="en-US" sz="1200" dirty="0" smtClean="0">
              <a:solidFill>
                <a:prstClr val="black"/>
              </a:solidFill>
            </a:endParaRPr>
          </a:p>
        </p:txBody>
      </p:sp>
      <p:grpSp>
        <p:nvGrpSpPr>
          <p:cNvPr id="81" name="80 Grupo"/>
          <p:cNvGrpSpPr/>
          <p:nvPr/>
        </p:nvGrpSpPr>
        <p:grpSpPr>
          <a:xfrm>
            <a:off x="927931" y="4911966"/>
            <a:ext cx="6128047" cy="1895472"/>
            <a:chOff x="900869" y="4902968"/>
            <a:chExt cx="6128047" cy="1895472"/>
          </a:xfrm>
        </p:grpSpPr>
        <p:sp>
          <p:nvSpPr>
            <p:cNvPr id="3" name="2 Elipse"/>
            <p:cNvSpPr/>
            <p:nvPr/>
          </p:nvSpPr>
          <p:spPr>
            <a:xfrm>
              <a:off x="900869" y="5105400"/>
              <a:ext cx="9144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 name="3 CuadroTexto"/>
            <p:cNvSpPr txBox="1"/>
            <p:nvPr/>
          </p:nvSpPr>
          <p:spPr>
            <a:xfrm>
              <a:off x="919385" y="5404510"/>
              <a:ext cx="914400" cy="246221"/>
            </a:xfrm>
            <a:prstGeom prst="rect">
              <a:avLst/>
            </a:prstGeom>
            <a:noFill/>
          </p:spPr>
          <p:txBody>
            <a:bodyPr wrap="square" rtlCol="0">
              <a:spAutoFit/>
            </a:bodyPr>
            <a:lstStyle/>
            <a:p>
              <a:pPr algn="ctr"/>
              <a:r>
                <a:rPr lang="en-US" sz="1000" dirty="0" smtClean="0">
                  <a:solidFill>
                    <a:prstClr val="black"/>
                  </a:solidFill>
                </a:rPr>
                <a:t>Exclusive</a:t>
              </a:r>
              <a:endParaRPr lang="en-US" sz="1000" dirty="0">
                <a:solidFill>
                  <a:prstClr val="black"/>
                </a:solidFill>
              </a:endParaRPr>
            </a:p>
          </p:txBody>
        </p:sp>
        <p:sp>
          <p:nvSpPr>
            <p:cNvPr id="19" name="18 Elipse"/>
            <p:cNvSpPr/>
            <p:nvPr/>
          </p:nvSpPr>
          <p:spPr>
            <a:xfrm>
              <a:off x="2729669" y="5105400"/>
              <a:ext cx="9144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0" name="19 CuadroTexto"/>
            <p:cNvSpPr txBox="1"/>
            <p:nvPr/>
          </p:nvSpPr>
          <p:spPr>
            <a:xfrm>
              <a:off x="2679817" y="5404510"/>
              <a:ext cx="1048284" cy="246221"/>
            </a:xfrm>
            <a:prstGeom prst="rect">
              <a:avLst/>
            </a:prstGeom>
            <a:noFill/>
          </p:spPr>
          <p:txBody>
            <a:bodyPr wrap="square" rtlCol="0">
              <a:spAutoFit/>
            </a:bodyPr>
            <a:lstStyle/>
            <a:p>
              <a:pPr algn="ctr"/>
              <a:r>
                <a:rPr lang="en-US" sz="1000" dirty="0" smtClean="0">
                  <a:solidFill>
                    <a:prstClr val="black"/>
                  </a:solidFill>
                </a:rPr>
                <a:t>Intent Exclusive</a:t>
              </a:r>
              <a:endParaRPr lang="en-US" sz="1000" dirty="0">
                <a:solidFill>
                  <a:prstClr val="black"/>
                </a:solidFill>
              </a:endParaRPr>
            </a:p>
          </p:txBody>
        </p:sp>
        <p:sp>
          <p:nvSpPr>
            <p:cNvPr id="21" name="20 Elipse"/>
            <p:cNvSpPr/>
            <p:nvPr/>
          </p:nvSpPr>
          <p:spPr>
            <a:xfrm>
              <a:off x="4406783" y="5105400"/>
              <a:ext cx="9144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2" name="21 CuadroTexto"/>
            <p:cNvSpPr txBox="1"/>
            <p:nvPr/>
          </p:nvSpPr>
          <p:spPr>
            <a:xfrm>
              <a:off x="4425299" y="5404510"/>
              <a:ext cx="914400" cy="246221"/>
            </a:xfrm>
            <a:prstGeom prst="rect">
              <a:avLst/>
            </a:prstGeom>
            <a:noFill/>
          </p:spPr>
          <p:txBody>
            <a:bodyPr wrap="square" rtlCol="0">
              <a:spAutoFit/>
            </a:bodyPr>
            <a:lstStyle/>
            <a:p>
              <a:pPr algn="ctr"/>
              <a:r>
                <a:rPr lang="en-US" sz="1000" dirty="0" smtClean="0">
                  <a:solidFill>
                    <a:prstClr val="black"/>
                  </a:solidFill>
                </a:rPr>
                <a:t>Intent Shared</a:t>
              </a:r>
              <a:endParaRPr lang="en-US" sz="1000" dirty="0">
                <a:solidFill>
                  <a:prstClr val="black"/>
                </a:solidFill>
              </a:endParaRPr>
            </a:p>
          </p:txBody>
        </p:sp>
        <p:sp>
          <p:nvSpPr>
            <p:cNvPr id="23" name="22 Elipse"/>
            <p:cNvSpPr/>
            <p:nvPr/>
          </p:nvSpPr>
          <p:spPr>
            <a:xfrm>
              <a:off x="6096000" y="5105400"/>
              <a:ext cx="9144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4" name="23 CuadroTexto"/>
            <p:cNvSpPr txBox="1"/>
            <p:nvPr/>
          </p:nvSpPr>
          <p:spPr>
            <a:xfrm>
              <a:off x="6114516" y="5404510"/>
              <a:ext cx="914400" cy="246221"/>
            </a:xfrm>
            <a:prstGeom prst="rect">
              <a:avLst/>
            </a:prstGeom>
            <a:noFill/>
          </p:spPr>
          <p:txBody>
            <a:bodyPr wrap="square" rtlCol="0">
              <a:spAutoFit/>
            </a:bodyPr>
            <a:lstStyle/>
            <a:p>
              <a:pPr algn="ctr"/>
              <a:r>
                <a:rPr lang="en-US" sz="1000" dirty="0" smtClean="0">
                  <a:solidFill>
                    <a:prstClr val="black"/>
                  </a:solidFill>
                </a:rPr>
                <a:t>Shared</a:t>
              </a:r>
              <a:endParaRPr lang="en-US" sz="1000" dirty="0">
                <a:solidFill>
                  <a:prstClr val="black"/>
                </a:solidFill>
              </a:endParaRPr>
            </a:p>
          </p:txBody>
        </p:sp>
        <p:cxnSp>
          <p:nvCxnSpPr>
            <p:cNvPr id="8" name="7 Conector recto"/>
            <p:cNvCxnSpPr/>
            <p:nvPr/>
          </p:nvCxnSpPr>
          <p:spPr>
            <a:xfrm>
              <a:off x="3062249" y="6655568"/>
              <a:ext cx="37338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9 Conector recto de flecha"/>
            <p:cNvCxnSpPr/>
            <p:nvPr/>
          </p:nvCxnSpPr>
          <p:spPr>
            <a:xfrm flipV="1">
              <a:off x="6796049" y="6045968"/>
              <a:ext cx="0" cy="6096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17 Conector recto de flecha"/>
            <p:cNvCxnSpPr/>
            <p:nvPr/>
          </p:nvCxnSpPr>
          <p:spPr>
            <a:xfrm flipV="1">
              <a:off x="3062249" y="6045968"/>
              <a:ext cx="0" cy="6096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27 Conector recto"/>
            <p:cNvCxnSpPr/>
            <p:nvPr/>
          </p:nvCxnSpPr>
          <p:spPr>
            <a:xfrm>
              <a:off x="3443249" y="6318012"/>
              <a:ext cx="14478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30 Conector recto"/>
            <p:cNvCxnSpPr/>
            <p:nvPr/>
          </p:nvCxnSpPr>
          <p:spPr>
            <a:xfrm>
              <a:off x="5195849" y="6318012"/>
              <a:ext cx="12192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7" name="66 Conector recto de flecha"/>
            <p:cNvCxnSpPr/>
            <p:nvPr/>
          </p:nvCxnSpPr>
          <p:spPr>
            <a:xfrm flipV="1">
              <a:off x="3443249" y="5943600"/>
              <a:ext cx="0" cy="37441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69 Conector recto de flecha"/>
            <p:cNvCxnSpPr/>
            <p:nvPr/>
          </p:nvCxnSpPr>
          <p:spPr>
            <a:xfrm flipV="1">
              <a:off x="4882499" y="6045968"/>
              <a:ext cx="0" cy="27204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71 Conector recto de flecha"/>
            <p:cNvCxnSpPr/>
            <p:nvPr/>
          </p:nvCxnSpPr>
          <p:spPr>
            <a:xfrm flipV="1">
              <a:off x="5195849" y="6045968"/>
              <a:ext cx="0" cy="27204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75 Conector recto de flecha"/>
            <p:cNvCxnSpPr/>
            <p:nvPr/>
          </p:nvCxnSpPr>
          <p:spPr>
            <a:xfrm flipV="1">
              <a:off x="6415049" y="6045968"/>
              <a:ext cx="0" cy="27204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79 Conector recto"/>
            <p:cNvCxnSpPr/>
            <p:nvPr/>
          </p:nvCxnSpPr>
          <p:spPr>
            <a:xfrm flipH="1">
              <a:off x="1462049" y="4902968"/>
              <a:ext cx="1217768" cy="182880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pic>
          <p:nvPicPr>
            <p:cNvPr id="5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87821" y="6512695"/>
              <a:ext cx="282656" cy="285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 name="53 CuadroTexto"/>
            <p:cNvSpPr txBox="1"/>
            <p:nvPr/>
          </p:nvSpPr>
          <p:spPr>
            <a:xfrm>
              <a:off x="5000685" y="6455483"/>
              <a:ext cx="1196439" cy="246221"/>
            </a:xfrm>
            <a:prstGeom prst="rect">
              <a:avLst/>
            </a:prstGeom>
            <a:noFill/>
          </p:spPr>
          <p:txBody>
            <a:bodyPr wrap="square" rtlCol="0">
              <a:spAutoFit/>
            </a:bodyPr>
            <a:lstStyle/>
            <a:p>
              <a:r>
                <a:rPr lang="en-US" sz="1000" b="1" dirty="0" smtClean="0">
                  <a:solidFill>
                    <a:prstClr val="black"/>
                  </a:solidFill>
                </a:rPr>
                <a:t>Not compatible</a:t>
              </a:r>
              <a:endParaRPr lang="en-US" sz="1000" b="1" dirty="0">
                <a:solidFill>
                  <a:prstClr val="black"/>
                </a:solidFill>
              </a:endParaRPr>
            </a:p>
          </p:txBody>
        </p:sp>
        <p:sp>
          <p:nvSpPr>
            <p:cNvPr id="55" name="54 CuadroTexto"/>
            <p:cNvSpPr txBox="1"/>
            <p:nvPr/>
          </p:nvSpPr>
          <p:spPr>
            <a:xfrm>
              <a:off x="5241427" y="6045968"/>
              <a:ext cx="1006973" cy="246221"/>
            </a:xfrm>
            <a:prstGeom prst="rect">
              <a:avLst/>
            </a:prstGeom>
            <a:noFill/>
          </p:spPr>
          <p:txBody>
            <a:bodyPr wrap="square" rtlCol="0">
              <a:spAutoFit/>
            </a:bodyPr>
            <a:lstStyle/>
            <a:p>
              <a:pPr marL="171450" indent="-171450">
                <a:buFont typeface="Wingdings" pitchFamily="2" charset="2"/>
                <a:buChar char="ü"/>
              </a:pPr>
              <a:r>
                <a:rPr lang="en-US" sz="1000" b="1" dirty="0" smtClean="0">
                  <a:solidFill>
                    <a:prstClr val="black"/>
                  </a:solidFill>
                </a:rPr>
                <a:t>Compatible</a:t>
              </a:r>
              <a:endParaRPr lang="en-US" sz="1000" b="1" dirty="0">
                <a:solidFill>
                  <a:prstClr val="black"/>
                </a:solidFill>
              </a:endParaRPr>
            </a:p>
          </p:txBody>
        </p:sp>
        <p:sp>
          <p:nvSpPr>
            <p:cNvPr id="56" name="55 CuadroTexto"/>
            <p:cNvSpPr txBox="1"/>
            <p:nvPr/>
          </p:nvSpPr>
          <p:spPr>
            <a:xfrm>
              <a:off x="3611313" y="6007695"/>
              <a:ext cx="1006973" cy="246221"/>
            </a:xfrm>
            <a:prstGeom prst="rect">
              <a:avLst/>
            </a:prstGeom>
            <a:noFill/>
          </p:spPr>
          <p:txBody>
            <a:bodyPr wrap="square" rtlCol="0">
              <a:spAutoFit/>
            </a:bodyPr>
            <a:lstStyle/>
            <a:p>
              <a:pPr marL="171450" indent="-171450">
                <a:buFont typeface="Wingdings" pitchFamily="2" charset="2"/>
                <a:buChar char="ü"/>
              </a:pPr>
              <a:r>
                <a:rPr lang="en-US" sz="1000" b="1" dirty="0" smtClean="0">
                  <a:solidFill>
                    <a:prstClr val="black"/>
                  </a:solidFill>
                </a:rPr>
                <a:t>Compatible</a:t>
              </a:r>
              <a:endParaRPr lang="en-US" sz="1000" b="1" dirty="0">
                <a:solidFill>
                  <a:prstClr val="black"/>
                </a:solidFill>
              </a:endParaRPr>
            </a:p>
          </p:txBody>
        </p:sp>
        <p:sp>
          <p:nvSpPr>
            <p:cNvPr id="57" name="56 CuadroTexto"/>
            <p:cNvSpPr txBox="1"/>
            <p:nvPr/>
          </p:nvSpPr>
          <p:spPr>
            <a:xfrm>
              <a:off x="1217049" y="6007694"/>
              <a:ext cx="1196439" cy="246221"/>
            </a:xfrm>
            <a:prstGeom prst="rect">
              <a:avLst/>
            </a:prstGeom>
            <a:noFill/>
          </p:spPr>
          <p:txBody>
            <a:bodyPr wrap="square" rtlCol="0">
              <a:spAutoFit/>
            </a:bodyPr>
            <a:lstStyle/>
            <a:p>
              <a:r>
                <a:rPr lang="en-US" sz="1000" b="1" dirty="0" smtClean="0">
                  <a:solidFill>
                    <a:prstClr val="black"/>
                  </a:solidFill>
                </a:rPr>
                <a:t>Not compatible</a:t>
              </a:r>
              <a:endParaRPr lang="en-US" sz="1000" b="1" dirty="0">
                <a:solidFill>
                  <a:prstClr val="black"/>
                </a:solidFill>
              </a:endParaRPr>
            </a:p>
          </p:txBody>
        </p:sp>
      </p:grpSp>
      <p:grpSp>
        <p:nvGrpSpPr>
          <p:cNvPr id="30" name="29 Grupo"/>
          <p:cNvGrpSpPr/>
          <p:nvPr/>
        </p:nvGrpSpPr>
        <p:grpSpPr>
          <a:xfrm>
            <a:off x="0" y="9525"/>
            <a:ext cx="9153525" cy="408388"/>
            <a:chOff x="0" y="9525"/>
            <a:chExt cx="9153525" cy="408388"/>
          </a:xfrm>
        </p:grpSpPr>
        <p:sp>
          <p:nvSpPr>
            <p:cNvPr id="32" name="31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Locking |   Intent Locks</a:t>
              </a:r>
              <a:endParaRPr lang="en-US" b="1" i="1" dirty="0">
                <a:solidFill>
                  <a:schemeClr val="bg1"/>
                </a:solidFill>
              </a:endParaRPr>
            </a:p>
          </p:txBody>
        </p:sp>
        <p:pic>
          <p:nvPicPr>
            <p:cNvPr id="33" name="32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4" name="33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06906514"/>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29 CuadroTexto"/>
          <p:cNvSpPr txBox="1"/>
          <p:nvPr/>
        </p:nvSpPr>
        <p:spPr>
          <a:xfrm>
            <a:off x="0" y="907763"/>
            <a:ext cx="9144000" cy="830997"/>
          </a:xfrm>
          <a:prstGeom prst="rect">
            <a:avLst/>
          </a:prstGeom>
          <a:noFill/>
        </p:spPr>
        <p:txBody>
          <a:bodyPr wrap="square" rtlCol="0">
            <a:spAutoFit/>
          </a:bodyPr>
          <a:lstStyle/>
          <a:p>
            <a:r>
              <a:rPr lang="en-US" sz="1200" dirty="0" smtClean="0">
                <a:solidFill>
                  <a:prstClr val="black"/>
                </a:solidFill>
              </a:rPr>
              <a:t>Lock granularity is determined at query compilation time</a:t>
            </a:r>
          </a:p>
          <a:p>
            <a:pPr marL="171450" indent="-171450">
              <a:buFont typeface="Wingdings" pitchFamily="2" charset="2"/>
              <a:buChar char="Ø"/>
            </a:pPr>
            <a:r>
              <a:rPr lang="en-US" sz="1200" dirty="0" smtClean="0">
                <a:solidFill>
                  <a:prstClr val="black"/>
                </a:solidFill>
              </a:rPr>
              <a:t>Row/Page level locking</a:t>
            </a:r>
          </a:p>
          <a:p>
            <a:pPr marL="171450" indent="-171450">
              <a:buFont typeface="Wingdings" pitchFamily="2" charset="2"/>
              <a:buChar char="Ø"/>
            </a:pPr>
            <a:r>
              <a:rPr lang="en-US" sz="1200" dirty="0" smtClean="0">
                <a:solidFill>
                  <a:prstClr val="black"/>
                </a:solidFill>
              </a:rPr>
              <a:t>Partition level locking</a:t>
            </a:r>
          </a:p>
          <a:p>
            <a:pPr marL="171450" indent="-171450">
              <a:buFont typeface="Wingdings" pitchFamily="2" charset="2"/>
              <a:buChar char="Ø"/>
            </a:pPr>
            <a:r>
              <a:rPr lang="en-US" sz="1200" dirty="0" smtClean="0">
                <a:solidFill>
                  <a:prstClr val="black"/>
                </a:solidFill>
              </a:rPr>
              <a:t>Table level locking</a:t>
            </a:r>
          </a:p>
        </p:txBody>
      </p:sp>
      <p:sp>
        <p:nvSpPr>
          <p:cNvPr id="32" name="31 CuadroTexto"/>
          <p:cNvSpPr txBox="1"/>
          <p:nvPr/>
        </p:nvSpPr>
        <p:spPr>
          <a:xfrm>
            <a:off x="0" y="609600"/>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Lock Granularity</a:t>
            </a:r>
            <a:endParaRPr lang="en-US" sz="1400" dirty="0">
              <a:solidFill>
                <a:prstClr val="black"/>
              </a:solidFill>
            </a:endParaRPr>
          </a:p>
        </p:txBody>
      </p:sp>
      <p:sp>
        <p:nvSpPr>
          <p:cNvPr id="33" name="32 CuadroTexto"/>
          <p:cNvSpPr txBox="1"/>
          <p:nvPr/>
        </p:nvSpPr>
        <p:spPr>
          <a:xfrm>
            <a:off x="0" y="2155538"/>
            <a:ext cx="9144000" cy="1754326"/>
          </a:xfrm>
          <a:prstGeom prst="rect">
            <a:avLst/>
          </a:prstGeom>
          <a:noFill/>
        </p:spPr>
        <p:txBody>
          <a:bodyPr wrap="square" rtlCol="0">
            <a:spAutoFit/>
          </a:bodyPr>
          <a:lstStyle/>
          <a:p>
            <a:r>
              <a:rPr lang="en-US" sz="1200" b="1" dirty="0" smtClean="0">
                <a:solidFill>
                  <a:srgbClr val="FF0000"/>
                </a:solidFill>
              </a:rPr>
              <a:t>Long story short, lock escalation happens when SQL Server determines that you are holding too many locks.</a:t>
            </a:r>
          </a:p>
          <a:p>
            <a:endParaRPr lang="en-US" sz="1200" dirty="0" smtClean="0">
              <a:solidFill>
                <a:prstClr val="black"/>
              </a:solidFill>
            </a:endParaRPr>
          </a:p>
          <a:p>
            <a:pPr marL="171450" indent="-171450">
              <a:buFont typeface="Wingdings" pitchFamily="2" charset="2"/>
              <a:buChar char="Ø"/>
            </a:pPr>
            <a:r>
              <a:rPr lang="en-US" sz="1200" u="sng" dirty="0" smtClean="0">
                <a:solidFill>
                  <a:prstClr val="black"/>
                </a:solidFill>
              </a:rPr>
              <a:t>Fact</a:t>
            </a:r>
            <a:r>
              <a:rPr lang="en-US" sz="1200" dirty="0" smtClean="0">
                <a:solidFill>
                  <a:prstClr val="black"/>
                </a:solidFill>
              </a:rPr>
              <a:t>: Every lock takes up some memory.  The lock escalation threshold is 5,000 locks</a:t>
            </a:r>
          </a:p>
          <a:p>
            <a:endParaRPr lang="en-US" sz="1200" dirty="0" smtClean="0">
              <a:solidFill>
                <a:prstClr val="black"/>
              </a:solidFill>
            </a:endParaRPr>
          </a:p>
          <a:p>
            <a:pPr marL="171450" indent="-171450">
              <a:buFont typeface="Wingdings" pitchFamily="2" charset="2"/>
              <a:buChar char="Ø"/>
            </a:pPr>
            <a:r>
              <a:rPr lang="en-US" sz="1200" u="sng" dirty="0" smtClean="0">
                <a:solidFill>
                  <a:prstClr val="black"/>
                </a:solidFill>
              </a:rPr>
              <a:t>Behavior</a:t>
            </a:r>
            <a:r>
              <a:rPr lang="en-US" sz="1200" dirty="0" smtClean="0">
                <a:solidFill>
                  <a:prstClr val="black"/>
                </a:solidFill>
              </a:rPr>
              <a:t>: If your query acquires too many locks (</a:t>
            </a:r>
            <a:r>
              <a:rPr lang="en-US" sz="1200" i="1" dirty="0" smtClean="0">
                <a:solidFill>
                  <a:prstClr val="black"/>
                </a:solidFill>
              </a:rPr>
              <a:t>aka: you are taking up too much memory</a:t>
            </a:r>
            <a:r>
              <a:rPr lang="en-US" sz="1200" dirty="0" smtClean="0">
                <a:solidFill>
                  <a:prstClr val="black"/>
                </a:solidFill>
              </a:rPr>
              <a:t>) </a:t>
            </a:r>
          </a:p>
          <a:p>
            <a:r>
              <a:rPr lang="en-US" sz="1200" dirty="0">
                <a:solidFill>
                  <a:prstClr val="black"/>
                </a:solidFill>
              </a:rPr>
              <a:t> </a:t>
            </a:r>
            <a:r>
              <a:rPr lang="en-US" sz="1200" dirty="0" smtClean="0">
                <a:solidFill>
                  <a:prstClr val="black"/>
                </a:solidFill>
              </a:rPr>
              <a:t>    SQL Server says: </a:t>
            </a:r>
          </a:p>
          <a:p>
            <a:r>
              <a:rPr lang="en-US" sz="1200" dirty="0">
                <a:solidFill>
                  <a:prstClr val="black"/>
                </a:solidFill>
              </a:rPr>
              <a:t> </a:t>
            </a:r>
            <a:r>
              <a:rPr lang="en-US" sz="1200" dirty="0" smtClean="0">
                <a:solidFill>
                  <a:prstClr val="black"/>
                </a:solidFill>
              </a:rPr>
              <a:t>   “</a:t>
            </a:r>
            <a:r>
              <a:rPr lang="en-US" sz="1200" i="1" dirty="0" smtClean="0">
                <a:solidFill>
                  <a:prstClr val="black"/>
                </a:solidFill>
              </a:rPr>
              <a:t>Hey buddy! Your query is holding 5,000 locks - which is the lock </a:t>
            </a:r>
            <a:r>
              <a:rPr lang="en-US" sz="1200" i="1" dirty="0">
                <a:solidFill>
                  <a:prstClr val="black"/>
                </a:solidFill>
              </a:rPr>
              <a:t>escalation </a:t>
            </a:r>
            <a:r>
              <a:rPr lang="en-US" sz="1200" i="1" dirty="0" smtClean="0">
                <a:solidFill>
                  <a:prstClr val="black"/>
                </a:solidFill>
              </a:rPr>
              <a:t>threshold. </a:t>
            </a:r>
          </a:p>
          <a:p>
            <a:r>
              <a:rPr lang="en-US" sz="1200" i="1" dirty="0" smtClean="0">
                <a:solidFill>
                  <a:prstClr val="black"/>
                </a:solidFill>
              </a:rPr>
              <a:t>     That’s too many locks and you are taking up too much memory, </a:t>
            </a:r>
          </a:p>
          <a:p>
            <a:r>
              <a:rPr lang="en-US" sz="1200" i="1" dirty="0">
                <a:solidFill>
                  <a:prstClr val="black"/>
                </a:solidFill>
              </a:rPr>
              <a:t> </a:t>
            </a:r>
            <a:r>
              <a:rPr lang="en-US" sz="1200" i="1" dirty="0" smtClean="0">
                <a:solidFill>
                  <a:prstClr val="black"/>
                </a:solidFill>
              </a:rPr>
              <a:t>    so we are going to switch to a </a:t>
            </a:r>
            <a:r>
              <a:rPr lang="en-US" sz="1200" b="1" i="1" dirty="0" smtClean="0">
                <a:solidFill>
                  <a:prstClr val="black"/>
                </a:solidFill>
              </a:rPr>
              <a:t>Table Level lock</a:t>
            </a:r>
            <a:r>
              <a:rPr lang="en-US" sz="1200" dirty="0" smtClean="0">
                <a:solidFill>
                  <a:prstClr val="black"/>
                </a:solidFill>
              </a:rPr>
              <a:t>”</a:t>
            </a:r>
          </a:p>
        </p:txBody>
      </p:sp>
      <p:sp>
        <p:nvSpPr>
          <p:cNvPr id="34" name="33 CuadroTexto"/>
          <p:cNvSpPr txBox="1"/>
          <p:nvPr/>
        </p:nvSpPr>
        <p:spPr>
          <a:xfrm>
            <a:off x="0" y="1857375"/>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Lock Escalation</a:t>
            </a:r>
            <a:endParaRPr lang="en-US" sz="1400" dirty="0">
              <a:solidFill>
                <a:prstClr val="black"/>
              </a:solidFill>
            </a:endParaRPr>
          </a:p>
        </p:txBody>
      </p:sp>
      <p:sp>
        <p:nvSpPr>
          <p:cNvPr id="2" name="1 CuadroTexto"/>
          <p:cNvSpPr txBox="1"/>
          <p:nvPr/>
        </p:nvSpPr>
        <p:spPr>
          <a:xfrm>
            <a:off x="-14243" y="4631115"/>
            <a:ext cx="9148985" cy="1200329"/>
          </a:xfrm>
          <a:prstGeom prst="rect">
            <a:avLst/>
          </a:prstGeom>
          <a:noFill/>
        </p:spPr>
        <p:txBody>
          <a:bodyPr wrap="square" rtlCol="0">
            <a:spAutoFit/>
          </a:bodyPr>
          <a:lstStyle/>
          <a:p>
            <a:r>
              <a:rPr lang="en-US" sz="1200" dirty="0" smtClean="0">
                <a:solidFill>
                  <a:prstClr val="black"/>
                </a:solidFill>
              </a:rPr>
              <a:t>Lock </a:t>
            </a:r>
            <a:r>
              <a:rPr lang="en-US" sz="1200" dirty="0">
                <a:solidFill>
                  <a:prstClr val="black"/>
                </a:solidFill>
              </a:rPr>
              <a:t>escalation is not disabled on the table by using the ALTER TABLE SET LOCK_ESCALATION </a:t>
            </a:r>
            <a:r>
              <a:rPr lang="en-US" sz="1200" dirty="0" smtClean="0">
                <a:solidFill>
                  <a:prstClr val="black"/>
                </a:solidFill>
              </a:rPr>
              <a:t>option AND</a:t>
            </a:r>
          </a:p>
          <a:p>
            <a:pPr lvl="1"/>
            <a:r>
              <a:rPr lang="en-US" sz="1200" u="sng" dirty="0">
                <a:solidFill>
                  <a:prstClr val="black"/>
                </a:solidFill>
              </a:rPr>
              <a:t>W</a:t>
            </a:r>
            <a:r>
              <a:rPr lang="en-US" sz="1200" u="sng" dirty="0" smtClean="0">
                <a:solidFill>
                  <a:prstClr val="black"/>
                </a:solidFill>
              </a:rPr>
              <a:t>hen </a:t>
            </a:r>
            <a:r>
              <a:rPr lang="en-US" sz="1200" u="sng" dirty="0">
                <a:solidFill>
                  <a:prstClr val="black"/>
                </a:solidFill>
              </a:rPr>
              <a:t>either of the following conditions </a:t>
            </a:r>
            <a:r>
              <a:rPr lang="en-US" sz="1200" u="sng" dirty="0" smtClean="0">
                <a:solidFill>
                  <a:prstClr val="black"/>
                </a:solidFill>
              </a:rPr>
              <a:t>exist</a:t>
            </a:r>
            <a:r>
              <a:rPr lang="en-US" sz="1200" dirty="0" smtClean="0">
                <a:solidFill>
                  <a:prstClr val="black"/>
                </a:solidFill>
              </a:rPr>
              <a:t>:</a:t>
            </a:r>
            <a:endParaRPr lang="en-US" sz="1200" dirty="0">
              <a:solidFill>
                <a:prstClr val="black"/>
              </a:solidFill>
            </a:endParaRPr>
          </a:p>
          <a:p>
            <a:pPr marL="628650" lvl="1" indent="-171450">
              <a:buFont typeface="Wingdings" pitchFamily="2" charset="2"/>
              <a:buChar char="§"/>
            </a:pPr>
            <a:r>
              <a:rPr lang="en-US" sz="1200" dirty="0">
                <a:solidFill>
                  <a:prstClr val="black"/>
                </a:solidFill>
              </a:rPr>
              <a:t>The number of locks in an instance of the Database Engine exceeds memory or configuration thresholds.</a:t>
            </a:r>
          </a:p>
          <a:p>
            <a:pPr marL="628650" lvl="1" indent="-171450">
              <a:buFont typeface="Wingdings" pitchFamily="2" charset="2"/>
              <a:buChar char="§"/>
            </a:pPr>
            <a:r>
              <a:rPr lang="en-US" sz="1200" dirty="0" smtClean="0">
                <a:solidFill>
                  <a:prstClr val="black"/>
                </a:solidFill>
              </a:rPr>
              <a:t>A </a:t>
            </a:r>
            <a:r>
              <a:rPr lang="en-US" sz="1200" dirty="0">
                <a:solidFill>
                  <a:prstClr val="black"/>
                </a:solidFill>
              </a:rPr>
              <a:t>single Transact-SQL statement acquires at least 5,000 locks on a single </a:t>
            </a:r>
            <a:r>
              <a:rPr lang="en-US" sz="1200" dirty="0" smtClean="0">
                <a:solidFill>
                  <a:prstClr val="black"/>
                </a:solidFill>
              </a:rPr>
              <a:t>non-partitioned </a:t>
            </a:r>
            <a:r>
              <a:rPr lang="en-US" sz="1200" dirty="0">
                <a:solidFill>
                  <a:prstClr val="black"/>
                </a:solidFill>
              </a:rPr>
              <a:t>table or index.</a:t>
            </a:r>
          </a:p>
          <a:p>
            <a:pPr marL="628650" lvl="1" indent="-171450">
              <a:buFont typeface="Wingdings" pitchFamily="2" charset="2"/>
              <a:buChar char="§"/>
            </a:pPr>
            <a:r>
              <a:rPr lang="en-US" sz="1200" dirty="0">
                <a:solidFill>
                  <a:prstClr val="black"/>
                </a:solidFill>
              </a:rPr>
              <a:t>A single Transact-SQL statement acquires at least 5,000 locks on a single partition of a partitioned table and the ALTER TABLE SET LOCK_ESCALATION option is set to AUTO</a:t>
            </a:r>
            <a:r>
              <a:rPr lang="en-US" sz="1200" dirty="0" smtClean="0">
                <a:solidFill>
                  <a:prstClr val="black"/>
                </a:solidFill>
              </a:rPr>
              <a:t>.</a:t>
            </a:r>
            <a:endParaRPr lang="en-US" sz="1200" dirty="0">
              <a:solidFill>
                <a:prstClr val="black"/>
              </a:solidFill>
            </a:endParaRP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86600" y="2238375"/>
            <a:ext cx="1827014" cy="18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 name="35 CuadroTexto"/>
          <p:cNvSpPr txBox="1"/>
          <p:nvPr/>
        </p:nvSpPr>
        <p:spPr>
          <a:xfrm>
            <a:off x="-9258" y="4323338"/>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Lock Escalation is triggered when…</a:t>
            </a:r>
            <a:endParaRPr lang="en-US" sz="1400" dirty="0">
              <a:solidFill>
                <a:prstClr val="black"/>
              </a:solidFill>
            </a:endParaRPr>
          </a:p>
        </p:txBody>
      </p:sp>
      <p:sp>
        <p:nvSpPr>
          <p:cNvPr id="37" name="36 CuadroTexto"/>
          <p:cNvSpPr txBox="1"/>
          <p:nvPr/>
        </p:nvSpPr>
        <p:spPr>
          <a:xfrm>
            <a:off x="3923928" y="5831444"/>
            <a:ext cx="4873526" cy="461665"/>
          </a:xfrm>
          <a:prstGeom prst="rect">
            <a:avLst/>
          </a:prstGeom>
          <a:solidFill>
            <a:schemeClr val="accent3"/>
          </a:solidFill>
        </p:spPr>
        <p:txBody>
          <a:bodyPr wrap="square" rtlCol="0">
            <a:spAutoFit/>
          </a:bodyPr>
          <a:lstStyle/>
          <a:p>
            <a:r>
              <a:rPr lang="en-US" sz="1200" dirty="0" smtClean="0">
                <a:solidFill>
                  <a:prstClr val="black"/>
                </a:solidFill>
              </a:rPr>
              <a:t>If </a:t>
            </a:r>
            <a:r>
              <a:rPr lang="en-US" sz="1200" dirty="0">
                <a:solidFill>
                  <a:prstClr val="black"/>
                </a:solidFill>
              </a:rPr>
              <a:t>locks cannot be escalated because of lock conflicts, the Database Engine periodically triggers lock escalation at every 1,250 new locks acquired.</a:t>
            </a:r>
          </a:p>
        </p:txBody>
      </p:sp>
      <p:grpSp>
        <p:nvGrpSpPr>
          <p:cNvPr id="11" name="10 Grupo"/>
          <p:cNvGrpSpPr/>
          <p:nvPr/>
        </p:nvGrpSpPr>
        <p:grpSpPr>
          <a:xfrm>
            <a:off x="0" y="9525"/>
            <a:ext cx="9153525" cy="408388"/>
            <a:chOff x="0" y="9525"/>
            <a:chExt cx="9153525" cy="408388"/>
          </a:xfrm>
        </p:grpSpPr>
        <p:sp>
          <p:nvSpPr>
            <p:cNvPr id="12" name="11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Locking |   Lock Escalation</a:t>
              </a:r>
              <a:endParaRPr lang="en-US" b="1" i="1" dirty="0">
                <a:solidFill>
                  <a:schemeClr val="bg1"/>
                </a:solidFill>
              </a:endParaRPr>
            </a:p>
          </p:txBody>
        </p:sp>
        <p:pic>
          <p:nvPicPr>
            <p:cNvPr id="13" name="12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13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14 Grupo"/>
          <p:cNvGrpSpPr/>
          <p:nvPr/>
        </p:nvGrpSpPr>
        <p:grpSpPr>
          <a:xfrm>
            <a:off x="9525" y="6574392"/>
            <a:ext cx="9134399" cy="277000"/>
            <a:chOff x="9525" y="6574392"/>
            <a:chExt cx="9134399" cy="277000"/>
          </a:xfrm>
        </p:grpSpPr>
        <p:sp>
          <p:nvSpPr>
            <p:cNvPr id="16" name="15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7" name="16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20304200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32 CuadroTexto"/>
          <p:cNvSpPr txBox="1"/>
          <p:nvPr/>
        </p:nvSpPr>
        <p:spPr>
          <a:xfrm>
            <a:off x="-14243" y="914400"/>
            <a:ext cx="9144000" cy="461665"/>
          </a:xfrm>
          <a:prstGeom prst="rect">
            <a:avLst/>
          </a:prstGeom>
          <a:noFill/>
        </p:spPr>
        <p:txBody>
          <a:bodyPr wrap="square" rtlCol="0">
            <a:spAutoFit/>
          </a:bodyPr>
          <a:lstStyle/>
          <a:p>
            <a:r>
              <a:rPr lang="en-US" sz="1200" dirty="0" smtClean="0">
                <a:solidFill>
                  <a:prstClr val="black"/>
                </a:solidFill>
              </a:rPr>
              <a:t>“</a:t>
            </a:r>
            <a:r>
              <a:rPr lang="en-US" sz="1200" i="1" dirty="0" smtClean="0">
                <a:solidFill>
                  <a:prstClr val="black"/>
                </a:solidFill>
              </a:rPr>
              <a:t>Hey buddy! Your query is holding 5,000 locks - which is the lock </a:t>
            </a:r>
            <a:r>
              <a:rPr lang="en-US" sz="1200" i="1" dirty="0">
                <a:solidFill>
                  <a:prstClr val="black"/>
                </a:solidFill>
              </a:rPr>
              <a:t>escalation </a:t>
            </a:r>
            <a:r>
              <a:rPr lang="en-US" sz="1200" i="1" dirty="0" smtClean="0">
                <a:solidFill>
                  <a:prstClr val="black"/>
                </a:solidFill>
              </a:rPr>
              <a:t>threshold. </a:t>
            </a:r>
          </a:p>
          <a:p>
            <a:r>
              <a:rPr lang="en-US" sz="1200" i="1" dirty="0" smtClean="0">
                <a:solidFill>
                  <a:prstClr val="black"/>
                </a:solidFill>
              </a:rPr>
              <a:t>That’s too many locks and you are taking up too much memory, so we are going to switch to a </a:t>
            </a:r>
            <a:r>
              <a:rPr lang="en-US" sz="1200" b="1" i="1" dirty="0" smtClean="0">
                <a:solidFill>
                  <a:prstClr val="black"/>
                </a:solidFill>
              </a:rPr>
              <a:t>Table Level lock</a:t>
            </a:r>
            <a:r>
              <a:rPr lang="en-US" sz="1200" dirty="0" smtClean="0">
                <a:solidFill>
                  <a:prstClr val="black"/>
                </a:solidFill>
              </a:rPr>
              <a:t>”</a:t>
            </a:r>
          </a:p>
        </p:txBody>
      </p:sp>
      <p:sp>
        <p:nvSpPr>
          <p:cNvPr id="34" name="33 CuadroTexto"/>
          <p:cNvSpPr txBox="1"/>
          <p:nvPr/>
        </p:nvSpPr>
        <p:spPr>
          <a:xfrm>
            <a:off x="0" y="533400"/>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Lock Escalation</a:t>
            </a:r>
            <a:endParaRPr lang="en-US" sz="1400" dirty="0">
              <a:solidFill>
                <a:prstClr val="black"/>
              </a:solidFill>
            </a:endParaRP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86600" y="920809"/>
            <a:ext cx="1827014" cy="18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10 CuadroTexto"/>
          <p:cNvSpPr txBox="1"/>
          <p:nvPr/>
        </p:nvSpPr>
        <p:spPr>
          <a:xfrm>
            <a:off x="712" y="1600200"/>
            <a:ext cx="6933488" cy="646331"/>
          </a:xfrm>
          <a:prstGeom prst="rect">
            <a:avLst/>
          </a:prstGeom>
          <a:noFill/>
        </p:spPr>
        <p:txBody>
          <a:bodyPr wrap="square" rtlCol="0">
            <a:spAutoFit/>
          </a:bodyPr>
          <a:lstStyle/>
          <a:p>
            <a:r>
              <a:rPr lang="en-US" sz="1200" dirty="0" smtClean="0">
                <a:solidFill>
                  <a:prstClr val="black"/>
                </a:solidFill>
              </a:rPr>
              <a:t>The Table Level lock (</a:t>
            </a:r>
            <a:r>
              <a:rPr lang="en-US" sz="1200" i="1" dirty="0" smtClean="0">
                <a:solidFill>
                  <a:prstClr val="black"/>
                </a:solidFill>
              </a:rPr>
              <a:t>whether Exclusive or Shared</a:t>
            </a:r>
            <a:r>
              <a:rPr lang="en-US" sz="1200" dirty="0" smtClean="0">
                <a:solidFill>
                  <a:prstClr val="black"/>
                </a:solidFill>
              </a:rPr>
              <a:t>) will be queued up when it is acquired, </a:t>
            </a:r>
          </a:p>
          <a:p>
            <a:r>
              <a:rPr lang="en-US" sz="1200" dirty="0" smtClean="0">
                <a:solidFill>
                  <a:prstClr val="black"/>
                </a:solidFill>
              </a:rPr>
              <a:t>whereas all of the other lower level locks will be dropped in order to preserve memory resources </a:t>
            </a:r>
          </a:p>
          <a:p>
            <a:r>
              <a:rPr lang="en-US" sz="1200" dirty="0" smtClean="0">
                <a:solidFill>
                  <a:prstClr val="black"/>
                </a:solidFill>
              </a:rPr>
              <a:t>(</a:t>
            </a:r>
            <a:r>
              <a:rPr lang="en-US" sz="1200" i="1" dirty="0" smtClean="0">
                <a:solidFill>
                  <a:prstClr val="black"/>
                </a:solidFill>
              </a:rPr>
              <a:t>aka: use less lock memory</a:t>
            </a:r>
            <a:r>
              <a:rPr lang="en-US" sz="1200" dirty="0" smtClean="0">
                <a:solidFill>
                  <a:prstClr val="black"/>
                </a:solidFill>
              </a:rPr>
              <a:t>)</a:t>
            </a:r>
          </a:p>
        </p:txBody>
      </p:sp>
      <p:sp>
        <p:nvSpPr>
          <p:cNvPr id="2" name="1 Flecha abajo"/>
          <p:cNvSpPr/>
          <p:nvPr/>
        </p:nvSpPr>
        <p:spPr>
          <a:xfrm>
            <a:off x="2819400" y="1376065"/>
            <a:ext cx="152400" cy="188267"/>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7 CuadroTexto"/>
          <p:cNvSpPr txBox="1"/>
          <p:nvPr/>
        </p:nvSpPr>
        <p:spPr>
          <a:xfrm>
            <a:off x="0" y="3124200"/>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Changing the way Lock Escalation works (</a:t>
            </a:r>
            <a:r>
              <a:rPr lang="en-US" sz="1400" b="1" i="1" dirty="0" smtClean="0">
                <a:solidFill>
                  <a:prstClr val="black"/>
                </a:solidFill>
              </a:rPr>
              <a:t>SQL Server 2005 to 2012</a:t>
            </a:r>
            <a:r>
              <a:rPr lang="en-US" sz="1400" b="1" dirty="0" smtClean="0">
                <a:solidFill>
                  <a:prstClr val="black"/>
                </a:solidFill>
              </a:rPr>
              <a:t>)</a:t>
            </a:r>
            <a:endParaRPr lang="en-US" sz="1400" dirty="0">
              <a:solidFill>
                <a:prstClr val="black"/>
              </a:solidFill>
            </a:endParaRPr>
          </a:p>
        </p:txBody>
      </p:sp>
      <p:sp>
        <p:nvSpPr>
          <p:cNvPr id="9" name="8 CuadroTexto"/>
          <p:cNvSpPr txBox="1"/>
          <p:nvPr/>
        </p:nvSpPr>
        <p:spPr>
          <a:xfrm>
            <a:off x="0" y="3572140"/>
            <a:ext cx="9144000" cy="2154436"/>
          </a:xfrm>
          <a:prstGeom prst="rect">
            <a:avLst/>
          </a:prstGeom>
          <a:noFill/>
        </p:spPr>
        <p:txBody>
          <a:bodyPr wrap="square" rtlCol="0">
            <a:spAutoFit/>
          </a:bodyPr>
          <a:lstStyle/>
          <a:p>
            <a:r>
              <a:rPr lang="en-US" sz="1200" b="1" dirty="0" smtClean="0">
                <a:solidFill>
                  <a:prstClr val="black"/>
                </a:solidFill>
              </a:rPr>
              <a:t>Trace </a:t>
            </a:r>
            <a:r>
              <a:rPr lang="en-US" sz="1200" b="1" dirty="0">
                <a:solidFill>
                  <a:prstClr val="black"/>
                </a:solidFill>
              </a:rPr>
              <a:t>Flag #</a:t>
            </a:r>
            <a:r>
              <a:rPr lang="en-US" sz="1200" b="1" dirty="0" smtClean="0">
                <a:solidFill>
                  <a:prstClr val="black"/>
                </a:solidFill>
              </a:rPr>
              <a:t>1224</a:t>
            </a:r>
          </a:p>
          <a:p>
            <a:pPr marL="171450" indent="-171450">
              <a:buFont typeface="Wingdings" pitchFamily="2" charset="2"/>
              <a:buChar char="Ø"/>
            </a:pPr>
            <a:r>
              <a:rPr lang="en-US" sz="1200" dirty="0" smtClean="0">
                <a:solidFill>
                  <a:prstClr val="black"/>
                </a:solidFill>
              </a:rPr>
              <a:t>Disables </a:t>
            </a:r>
            <a:r>
              <a:rPr lang="en-US" sz="1200" dirty="0">
                <a:solidFill>
                  <a:prstClr val="black"/>
                </a:solidFill>
              </a:rPr>
              <a:t>lock escalation until 40% of memory is used and then re-enables escalation</a:t>
            </a:r>
            <a:endParaRPr lang="en-US" sz="1200" i="1" dirty="0" smtClean="0">
              <a:solidFill>
                <a:prstClr val="black"/>
              </a:solidFill>
            </a:endParaRPr>
          </a:p>
          <a:p>
            <a:pPr marL="171450" indent="-171450">
              <a:buFont typeface="Wingdings" pitchFamily="2" charset="2"/>
              <a:buChar char="Ø"/>
            </a:pPr>
            <a:r>
              <a:rPr lang="en-US" sz="1200" dirty="0" smtClean="0">
                <a:solidFill>
                  <a:prstClr val="black"/>
                </a:solidFill>
              </a:rPr>
              <a:t>If you want Lock Escalation to only happen when there is </a:t>
            </a:r>
            <a:r>
              <a:rPr lang="en-US" sz="1400" b="1" dirty="0" smtClean="0">
                <a:solidFill>
                  <a:srgbClr val="FF0000"/>
                </a:solidFill>
              </a:rPr>
              <a:t>heavy </a:t>
            </a:r>
            <a:r>
              <a:rPr lang="en-US" sz="1400" b="1" dirty="0">
                <a:solidFill>
                  <a:srgbClr val="FF0000"/>
                </a:solidFill>
              </a:rPr>
              <a:t>memory pressure </a:t>
            </a:r>
            <a:r>
              <a:rPr lang="en-US" sz="1200" dirty="0" smtClean="0">
                <a:solidFill>
                  <a:prstClr val="black"/>
                </a:solidFill>
              </a:rPr>
              <a:t>on the system then use Trace Flag </a:t>
            </a:r>
            <a:r>
              <a:rPr lang="en-US" sz="1200" b="1" dirty="0" smtClean="0">
                <a:solidFill>
                  <a:prstClr val="black"/>
                </a:solidFill>
              </a:rPr>
              <a:t>#1224</a:t>
            </a:r>
          </a:p>
          <a:p>
            <a:endParaRPr lang="en-US" sz="1200" dirty="0" smtClean="0">
              <a:solidFill>
                <a:prstClr val="black"/>
              </a:solidFill>
            </a:endParaRPr>
          </a:p>
          <a:p>
            <a:r>
              <a:rPr lang="en-US" sz="1200" b="1" dirty="0" smtClean="0">
                <a:solidFill>
                  <a:prstClr val="black"/>
                </a:solidFill>
              </a:rPr>
              <a:t>Trace Flag #1211</a:t>
            </a:r>
          </a:p>
          <a:p>
            <a:pPr marL="171450" indent="-171450">
              <a:buFont typeface="Wingdings" pitchFamily="2" charset="2"/>
              <a:buChar char="Ø"/>
            </a:pPr>
            <a:r>
              <a:rPr lang="en-US" sz="1200" dirty="0" smtClean="0">
                <a:solidFill>
                  <a:prstClr val="black"/>
                </a:solidFill>
              </a:rPr>
              <a:t>Disables </a:t>
            </a:r>
            <a:r>
              <a:rPr lang="en-US" sz="1200" dirty="0">
                <a:solidFill>
                  <a:prstClr val="black"/>
                </a:solidFill>
              </a:rPr>
              <a:t>lock escalation totally and will allow lock memory to grow to </a:t>
            </a:r>
            <a:r>
              <a:rPr lang="en-US" sz="1200" b="1" dirty="0">
                <a:solidFill>
                  <a:prstClr val="black"/>
                </a:solidFill>
              </a:rPr>
              <a:t>60% of dynamically allocated </a:t>
            </a:r>
            <a:r>
              <a:rPr lang="en-US" sz="1200" b="1" dirty="0" smtClean="0">
                <a:solidFill>
                  <a:prstClr val="black"/>
                </a:solidFill>
              </a:rPr>
              <a:t>memory</a:t>
            </a:r>
            <a:r>
              <a:rPr lang="en-US" sz="1200" dirty="0" smtClean="0">
                <a:solidFill>
                  <a:prstClr val="black"/>
                </a:solidFill>
              </a:rPr>
              <a:t>.</a:t>
            </a:r>
          </a:p>
          <a:p>
            <a:pPr marL="171450" indent="-171450">
              <a:buFont typeface="Wingdings" pitchFamily="2" charset="2"/>
              <a:buChar char="Ø"/>
            </a:pPr>
            <a:r>
              <a:rPr lang="en-US" sz="1200" dirty="0" smtClean="0">
                <a:solidFill>
                  <a:prstClr val="black"/>
                </a:solidFill>
              </a:rPr>
              <a:t>Further </a:t>
            </a:r>
            <a:r>
              <a:rPr lang="en-US" sz="1200" dirty="0">
                <a:solidFill>
                  <a:prstClr val="black"/>
                </a:solidFill>
              </a:rPr>
              <a:t>locking will fail with an out-of-memory </a:t>
            </a:r>
            <a:r>
              <a:rPr lang="en-US" sz="1200" dirty="0" smtClean="0">
                <a:solidFill>
                  <a:prstClr val="black"/>
                </a:solidFill>
              </a:rPr>
              <a:t>error</a:t>
            </a:r>
          </a:p>
          <a:p>
            <a:pPr marL="171450" indent="-171450">
              <a:buFont typeface="Wingdings" pitchFamily="2" charset="2"/>
              <a:buChar char="Ø"/>
            </a:pPr>
            <a:r>
              <a:rPr lang="en-US" sz="1200" dirty="0" smtClean="0">
                <a:solidFill>
                  <a:prstClr val="black"/>
                </a:solidFill>
              </a:rPr>
              <a:t>The </a:t>
            </a:r>
            <a:r>
              <a:rPr lang="en-US" sz="1200" dirty="0">
                <a:solidFill>
                  <a:prstClr val="black"/>
                </a:solidFill>
              </a:rPr>
              <a:t>SQL Server Database Engine </a:t>
            </a:r>
            <a:r>
              <a:rPr lang="en-US" sz="1200" b="1" u="sng" dirty="0">
                <a:solidFill>
                  <a:prstClr val="black"/>
                </a:solidFill>
              </a:rPr>
              <a:t>will not escalate row or page locks to table locks</a:t>
            </a:r>
            <a:r>
              <a:rPr lang="en-US" sz="1200" dirty="0" smtClean="0">
                <a:solidFill>
                  <a:prstClr val="black"/>
                </a:solidFill>
              </a:rPr>
              <a:t>.</a:t>
            </a:r>
          </a:p>
          <a:p>
            <a:pPr marL="628650" lvl="1" indent="-171450">
              <a:buFont typeface="Wingdings" pitchFamily="2" charset="2"/>
              <a:buChar char="§"/>
            </a:pPr>
            <a:r>
              <a:rPr lang="en-US" sz="1200" dirty="0" smtClean="0">
                <a:solidFill>
                  <a:prstClr val="black"/>
                </a:solidFill>
              </a:rPr>
              <a:t>This flag helps to avoid the "</a:t>
            </a:r>
            <a:r>
              <a:rPr lang="en-US" sz="1200" i="1" dirty="0" smtClean="0">
                <a:solidFill>
                  <a:prstClr val="black"/>
                </a:solidFill>
              </a:rPr>
              <a:t>out-of-locks</a:t>
            </a:r>
            <a:r>
              <a:rPr lang="en-US" sz="1200" dirty="0">
                <a:solidFill>
                  <a:prstClr val="black"/>
                </a:solidFill>
              </a:rPr>
              <a:t>" </a:t>
            </a:r>
            <a:r>
              <a:rPr lang="en-US" sz="1200" dirty="0" smtClean="0">
                <a:solidFill>
                  <a:prstClr val="black"/>
                </a:solidFill>
              </a:rPr>
              <a:t>error </a:t>
            </a:r>
            <a:r>
              <a:rPr lang="en-US" sz="1200" dirty="0">
                <a:solidFill>
                  <a:prstClr val="black"/>
                </a:solidFill>
              </a:rPr>
              <a:t>when </a:t>
            </a:r>
            <a:r>
              <a:rPr lang="en-US" sz="1200" dirty="0" smtClean="0">
                <a:solidFill>
                  <a:prstClr val="black"/>
                </a:solidFill>
              </a:rPr>
              <a:t>too many </a:t>
            </a:r>
            <a:r>
              <a:rPr lang="en-US" sz="1200" dirty="0">
                <a:solidFill>
                  <a:prstClr val="black"/>
                </a:solidFill>
              </a:rPr>
              <a:t>locks are being </a:t>
            </a:r>
            <a:r>
              <a:rPr lang="en-US" sz="1200" dirty="0" smtClean="0">
                <a:solidFill>
                  <a:prstClr val="black"/>
                </a:solidFill>
              </a:rPr>
              <a:t>used. </a:t>
            </a:r>
          </a:p>
          <a:p>
            <a:pPr marL="628650" lvl="1" indent="-171450">
              <a:buFont typeface="Wingdings" pitchFamily="2" charset="2"/>
              <a:buChar char="§"/>
            </a:pPr>
            <a:r>
              <a:rPr lang="en-US" sz="1200" dirty="0">
                <a:solidFill>
                  <a:prstClr val="black"/>
                </a:solidFill>
              </a:rPr>
              <a:t> However, because trace flag </a:t>
            </a:r>
            <a:r>
              <a:rPr lang="en-US" sz="1200" dirty="0" smtClean="0">
                <a:solidFill>
                  <a:prstClr val="black"/>
                </a:solidFill>
              </a:rPr>
              <a:t>#1211 </a:t>
            </a:r>
            <a:r>
              <a:rPr lang="en-US" sz="1200" dirty="0">
                <a:solidFill>
                  <a:prstClr val="black"/>
                </a:solidFill>
              </a:rPr>
              <a:t>prevents escalation in every </a:t>
            </a:r>
            <a:r>
              <a:rPr lang="en-US" sz="1200" dirty="0" smtClean="0">
                <a:solidFill>
                  <a:prstClr val="black"/>
                </a:solidFill>
              </a:rPr>
              <a:t>case (even </a:t>
            </a:r>
            <a:r>
              <a:rPr lang="en-US" sz="1200" dirty="0">
                <a:solidFill>
                  <a:prstClr val="black"/>
                </a:solidFill>
              </a:rPr>
              <a:t>under memory </a:t>
            </a:r>
            <a:r>
              <a:rPr lang="en-US" sz="1200" dirty="0" smtClean="0">
                <a:solidFill>
                  <a:prstClr val="black"/>
                </a:solidFill>
              </a:rPr>
              <a:t>pressure) Microsoft still recommends </a:t>
            </a:r>
            <a:r>
              <a:rPr lang="en-US" sz="1200" dirty="0">
                <a:solidFill>
                  <a:prstClr val="black"/>
                </a:solidFill>
              </a:rPr>
              <a:t>that you use </a:t>
            </a:r>
            <a:r>
              <a:rPr lang="en-US" sz="1200" b="1" dirty="0" smtClean="0">
                <a:solidFill>
                  <a:prstClr val="black"/>
                </a:solidFill>
              </a:rPr>
              <a:t>Trace Flag #1224</a:t>
            </a:r>
          </a:p>
        </p:txBody>
      </p:sp>
      <p:sp>
        <p:nvSpPr>
          <p:cNvPr id="3" name="2 CuadroTexto"/>
          <p:cNvSpPr txBox="1"/>
          <p:nvPr/>
        </p:nvSpPr>
        <p:spPr>
          <a:xfrm>
            <a:off x="5864551" y="3184143"/>
            <a:ext cx="3279449" cy="246221"/>
          </a:xfrm>
          <a:prstGeom prst="rect">
            <a:avLst/>
          </a:prstGeom>
          <a:noFill/>
        </p:spPr>
        <p:txBody>
          <a:bodyPr wrap="square" rtlCol="0">
            <a:spAutoFit/>
          </a:bodyPr>
          <a:lstStyle/>
          <a:p>
            <a:pPr algn="r"/>
            <a:r>
              <a:rPr lang="en-US" sz="1000" dirty="0">
                <a:solidFill>
                  <a:prstClr val="black"/>
                </a:solidFill>
                <a:hlinkClick r:id="rId3"/>
              </a:rPr>
              <a:t>http://</a:t>
            </a:r>
            <a:r>
              <a:rPr lang="en-US" sz="1000" dirty="0" smtClean="0">
                <a:solidFill>
                  <a:prstClr val="black"/>
                </a:solidFill>
                <a:hlinkClick r:id="rId3"/>
              </a:rPr>
              <a:t>msdn.microsoft.com/en-us/library/ms188396.aspx</a:t>
            </a:r>
            <a:r>
              <a:rPr lang="en-US" sz="1000" dirty="0" smtClean="0">
                <a:solidFill>
                  <a:prstClr val="black"/>
                </a:solidFill>
              </a:rPr>
              <a:t> </a:t>
            </a:r>
            <a:endParaRPr lang="en-US" sz="1000" dirty="0">
              <a:solidFill>
                <a:prstClr val="black"/>
              </a:solidFill>
            </a:endParaRPr>
          </a:p>
        </p:txBody>
      </p:sp>
      <p:sp>
        <p:nvSpPr>
          <p:cNvPr id="12" name="11 CuadroTexto"/>
          <p:cNvSpPr txBox="1"/>
          <p:nvPr/>
        </p:nvSpPr>
        <p:spPr>
          <a:xfrm>
            <a:off x="-14243" y="2428587"/>
            <a:ext cx="5653043" cy="276999"/>
          </a:xfrm>
          <a:prstGeom prst="rect">
            <a:avLst/>
          </a:prstGeom>
          <a:solidFill>
            <a:schemeClr val="accent3"/>
          </a:solidFill>
        </p:spPr>
        <p:txBody>
          <a:bodyPr wrap="square" rtlCol="0">
            <a:spAutoFit/>
          </a:bodyPr>
          <a:lstStyle/>
          <a:p>
            <a:r>
              <a:rPr lang="en-US" sz="1200" b="1" dirty="0" smtClean="0">
                <a:solidFill>
                  <a:prstClr val="black"/>
                </a:solidFill>
              </a:rPr>
              <a:t>Lock Escalation always go from Row to Table or Page to Table (depending on the case)</a:t>
            </a:r>
          </a:p>
        </p:txBody>
      </p:sp>
      <p:sp>
        <p:nvSpPr>
          <p:cNvPr id="13" name="12 Flecha abajo"/>
          <p:cNvSpPr/>
          <p:nvPr/>
        </p:nvSpPr>
        <p:spPr>
          <a:xfrm>
            <a:off x="2819400" y="2143724"/>
            <a:ext cx="152400" cy="188267"/>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4" name="13 CuadroTexto"/>
          <p:cNvSpPr txBox="1"/>
          <p:nvPr/>
        </p:nvSpPr>
        <p:spPr>
          <a:xfrm>
            <a:off x="96496" y="5943600"/>
            <a:ext cx="8922522" cy="461665"/>
          </a:xfrm>
          <a:prstGeom prst="rect">
            <a:avLst/>
          </a:prstGeom>
          <a:solidFill>
            <a:schemeClr val="accent3"/>
          </a:solidFill>
        </p:spPr>
        <p:txBody>
          <a:bodyPr wrap="square" rtlCol="0">
            <a:spAutoFit/>
          </a:bodyPr>
          <a:lstStyle/>
          <a:p>
            <a:r>
              <a:rPr lang="en-US" sz="1200" dirty="0">
                <a:solidFill>
                  <a:prstClr val="black"/>
                </a:solidFill>
              </a:rPr>
              <a:t>The problem with these two trace flags are that they are </a:t>
            </a:r>
            <a:r>
              <a:rPr lang="en-US" sz="1200" b="1" dirty="0">
                <a:solidFill>
                  <a:prstClr val="black"/>
                </a:solidFill>
              </a:rPr>
              <a:t>instance-wide</a:t>
            </a:r>
            <a:r>
              <a:rPr lang="en-US" sz="1200" dirty="0">
                <a:solidFill>
                  <a:prstClr val="black"/>
                </a:solidFill>
              </a:rPr>
              <a:t> and turning them on can cause </a:t>
            </a:r>
            <a:r>
              <a:rPr lang="en-US" sz="1200" b="1" dirty="0">
                <a:solidFill>
                  <a:prstClr val="black"/>
                </a:solidFill>
              </a:rPr>
              <a:t>huge performance issues</a:t>
            </a:r>
            <a:r>
              <a:rPr lang="en-US" sz="1200" dirty="0">
                <a:solidFill>
                  <a:prstClr val="black"/>
                </a:solidFill>
              </a:rPr>
              <a:t> </a:t>
            </a:r>
          </a:p>
          <a:p>
            <a:r>
              <a:rPr lang="en-US" sz="1200" dirty="0">
                <a:solidFill>
                  <a:prstClr val="black"/>
                </a:solidFill>
              </a:rPr>
              <a:t>if a </a:t>
            </a:r>
            <a:r>
              <a:rPr lang="en-US" sz="1200" b="1" dirty="0">
                <a:solidFill>
                  <a:prstClr val="black"/>
                </a:solidFill>
              </a:rPr>
              <a:t>poorly-written application</a:t>
            </a:r>
            <a:r>
              <a:rPr lang="en-US" sz="1200" dirty="0">
                <a:solidFill>
                  <a:prstClr val="black"/>
                </a:solidFill>
              </a:rPr>
              <a:t> takes too many locks</a:t>
            </a:r>
            <a:endParaRPr lang="en-US" sz="1200" b="1" dirty="0">
              <a:solidFill>
                <a:prstClr val="black"/>
              </a:solidFill>
            </a:endParaRPr>
          </a:p>
        </p:txBody>
      </p:sp>
      <p:grpSp>
        <p:nvGrpSpPr>
          <p:cNvPr id="15" name="14 Grupo"/>
          <p:cNvGrpSpPr/>
          <p:nvPr/>
        </p:nvGrpSpPr>
        <p:grpSpPr>
          <a:xfrm>
            <a:off x="0" y="9525"/>
            <a:ext cx="9153525" cy="408388"/>
            <a:chOff x="0" y="9525"/>
            <a:chExt cx="9153525" cy="408388"/>
          </a:xfrm>
        </p:grpSpPr>
        <p:sp>
          <p:nvSpPr>
            <p:cNvPr id="16" name="15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Locking |   Lock Escalation</a:t>
              </a:r>
              <a:endParaRPr lang="en-US" b="1" i="1" dirty="0">
                <a:solidFill>
                  <a:schemeClr val="bg1"/>
                </a:solidFill>
              </a:endParaRPr>
            </a:p>
          </p:txBody>
        </p:sp>
        <p:pic>
          <p:nvPicPr>
            <p:cNvPr id="17" name="16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1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18 Grupo"/>
          <p:cNvGrpSpPr/>
          <p:nvPr/>
        </p:nvGrpSpPr>
        <p:grpSpPr>
          <a:xfrm>
            <a:off x="9525" y="6574392"/>
            <a:ext cx="9134399" cy="277000"/>
            <a:chOff x="9525" y="6574392"/>
            <a:chExt cx="9134399" cy="277000"/>
          </a:xfrm>
        </p:grpSpPr>
        <p:sp>
          <p:nvSpPr>
            <p:cNvPr id="20" name="19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1" name="20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27770794"/>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33 CuadroTexto"/>
          <p:cNvSpPr txBox="1"/>
          <p:nvPr/>
        </p:nvSpPr>
        <p:spPr>
          <a:xfrm>
            <a:off x="0" y="533400"/>
            <a:ext cx="9144000" cy="338554"/>
          </a:xfrm>
          <a:prstGeom prst="rect">
            <a:avLst/>
          </a:prstGeom>
          <a:noFill/>
        </p:spPr>
        <p:txBody>
          <a:bodyPr wrap="square" rtlCol="0">
            <a:spAutoFit/>
          </a:bodyPr>
          <a:lstStyle/>
          <a:p>
            <a:r>
              <a:rPr lang="en-US" sz="1600" b="1" dirty="0" smtClean="0">
                <a:solidFill>
                  <a:prstClr val="black"/>
                </a:solidFill>
              </a:rPr>
              <a:t>Just to recap…</a:t>
            </a:r>
            <a:endParaRPr lang="en-US" sz="1600" dirty="0">
              <a:solidFill>
                <a:prstClr val="black"/>
              </a:solidFill>
            </a:endParaRPr>
          </a:p>
        </p:txBody>
      </p:sp>
      <p:sp>
        <p:nvSpPr>
          <p:cNvPr id="15" name="14 CuadroTexto"/>
          <p:cNvSpPr txBox="1"/>
          <p:nvPr/>
        </p:nvSpPr>
        <p:spPr>
          <a:xfrm>
            <a:off x="1424" y="995777"/>
            <a:ext cx="9144000" cy="307777"/>
          </a:xfrm>
          <a:prstGeom prst="rect">
            <a:avLst/>
          </a:prstGeom>
          <a:noFill/>
        </p:spPr>
        <p:txBody>
          <a:bodyPr wrap="square" rtlCol="0">
            <a:spAutoFit/>
          </a:bodyPr>
          <a:lstStyle/>
          <a:p>
            <a:r>
              <a:rPr lang="en-US" sz="1400" b="1" dirty="0" smtClean="0">
                <a:solidFill>
                  <a:prstClr val="black"/>
                </a:solidFill>
              </a:rPr>
              <a:t>Why it happens?</a:t>
            </a:r>
            <a:endParaRPr lang="en-US" sz="1400" b="1" dirty="0">
              <a:solidFill>
                <a:prstClr val="black"/>
              </a:solidFill>
            </a:endParaRPr>
          </a:p>
        </p:txBody>
      </p:sp>
      <p:sp>
        <p:nvSpPr>
          <p:cNvPr id="16" name="15 CuadroTexto"/>
          <p:cNvSpPr txBox="1"/>
          <p:nvPr/>
        </p:nvSpPr>
        <p:spPr>
          <a:xfrm>
            <a:off x="-9971" y="1287716"/>
            <a:ext cx="9144000" cy="461665"/>
          </a:xfrm>
          <a:prstGeom prst="rect">
            <a:avLst/>
          </a:prstGeom>
          <a:noFill/>
        </p:spPr>
        <p:txBody>
          <a:bodyPr wrap="square" rtlCol="0">
            <a:spAutoFit/>
          </a:bodyPr>
          <a:lstStyle/>
          <a:p>
            <a:pPr marL="171450" indent="-171450">
              <a:buFont typeface="Wingdings" pitchFamily="2" charset="2"/>
              <a:buChar char="Ø"/>
            </a:pPr>
            <a:r>
              <a:rPr lang="en-US" sz="1200" dirty="0" smtClean="0">
                <a:solidFill>
                  <a:prstClr val="black"/>
                </a:solidFill>
              </a:rPr>
              <a:t>It happens because your SQL statement acquired too many locks, resulting in an excessive memory consumption as well as </a:t>
            </a:r>
          </a:p>
          <a:p>
            <a:r>
              <a:rPr lang="en-US" sz="1200" dirty="0">
                <a:solidFill>
                  <a:prstClr val="black"/>
                </a:solidFill>
              </a:rPr>
              <a:t> </a:t>
            </a:r>
            <a:r>
              <a:rPr lang="en-US" sz="1200" dirty="0" smtClean="0">
                <a:solidFill>
                  <a:prstClr val="black"/>
                </a:solidFill>
              </a:rPr>
              <a:t>   preventing other threads to execute.</a:t>
            </a:r>
            <a:endParaRPr lang="en-US" sz="1200" b="1" dirty="0">
              <a:solidFill>
                <a:prstClr val="black"/>
              </a:solidFill>
            </a:endParaRPr>
          </a:p>
        </p:txBody>
      </p:sp>
      <p:sp>
        <p:nvSpPr>
          <p:cNvPr id="21" name="20 CuadroTexto"/>
          <p:cNvSpPr txBox="1"/>
          <p:nvPr/>
        </p:nvSpPr>
        <p:spPr>
          <a:xfrm>
            <a:off x="1424" y="2058864"/>
            <a:ext cx="9144000" cy="307777"/>
          </a:xfrm>
          <a:prstGeom prst="rect">
            <a:avLst/>
          </a:prstGeom>
          <a:noFill/>
        </p:spPr>
        <p:txBody>
          <a:bodyPr wrap="square" rtlCol="0">
            <a:spAutoFit/>
          </a:bodyPr>
          <a:lstStyle/>
          <a:p>
            <a:r>
              <a:rPr lang="en-US" sz="1400" b="1" dirty="0" smtClean="0">
                <a:solidFill>
                  <a:prstClr val="black"/>
                </a:solidFill>
              </a:rPr>
              <a:t>When it happens?</a:t>
            </a:r>
            <a:endParaRPr lang="en-US" sz="1400" b="1" dirty="0">
              <a:solidFill>
                <a:prstClr val="black"/>
              </a:solidFill>
            </a:endParaRPr>
          </a:p>
        </p:txBody>
      </p:sp>
      <p:sp>
        <p:nvSpPr>
          <p:cNvPr id="22" name="21 CuadroTexto"/>
          <p:cNvSpPr txBox="1"/>
          <p:nvPr/>
        </p:nvSpPr>
        <p:spPr>
          <a:xfrm>
            <a:off x="4985" y="2336139"/>
            <a:ext cx="9144000" cy="1015663"/>
          </a:xfrm>
          <a:prstGeom prst="rect">
            <a:avLst/>
          </a:prstGeom>
          <a:noFill/>
        </p:spPr>
        <p:txBody>
          <a:bodyPr wrap="square" rtlCol="0">
            <a:spAutoFit/>
          </a:bodyPr>
          <a:lstStyle/>
          <a:p>
            <a:pPr marL="171450" indent="-171450">
              <a:buFont typeface="Wingdings" pitchFamily="2" charset="2"/>
              <a:buChar char="Ø"/>
            </a:pPr>
            <a:r>
              <a:rPr lang="en-US" sz="1200" dirty="0" smtClean="0">
                <a:solidFill>
                  <a:prstClr val="black"/>
                </a:solidFill>
              </a:rPr>
              <a:t>Other than a few exceptions, it usually happens </a:t>
            </a:r>
            <a:r>
              <a:rPr lang="en-US" sz="1200" dirty="0">
                <a:solidFill>
                  <a:prstClr val="black"/>
                </a:solidFill>
              </a:rPr>
              <a:t>when your </a:t>
            </a:r>
            <a:r>
              <a:rPr lang="en-US" sz="1200" dirty="0" smtClean="0">
                <a:solidFill>
                  <a:prstClr val="black"/>
                </a:solidFill>
              </a:rPr>
              <a:t>poorly-written application acquires </a:t>
            </a:r>
            <a:r>
              <a:rPr lang="en-US" sz="1200" dirty="0">
                <a:solidFill>
                  <a:prstClr val="black"/>
                </a:solidFill>
              </a:rPr>
              <a:t>too many locks </a:t>
            </a:r>
            <a:endParaRPr lang="en-US" sz="1200" dirty="0" smtClean="0">
              <a:solidFill>
                <a:prstClr val="black"/>
              </a:solidFill>
            </a:endParaRPr>
          </a:p>
          <a:p>
            <a:r>
              <a:rPr lang="en-US" sz="1200" dirty="0">
                <a:solidFill>
                  <a:prstClr val="black"/>
                </a:solidFill>
              </a:rPr>
              <a:t> </a:t>
            </a:r>
            <a:r>
              <a:rPr lang="en-US" sz="1200" dirty="0" smtClean="0">
                <a:solidFill>
                  <a:prstClr val="black"/>
                </a:solidFill>
              </a:rPr>
              <a:t>   and SQL </a:t>
            </a:r>
            <a:r>
              <a:rPr lang="en-US" sz="1200" dirty="0">
                <a:solidFill>
                  <a:prstClr val="black"/>
                </a:solidFill>
              </a:rPr>
              <a:t>Server </a:t>
            </a:r>
            <a:r>
              <a:rPr lang="en-US" sz="1200" b="1" i="1" dirty="0">
                <a:solidFill>
                  <a:prstClr val="black"/>
                </a:solidFill>
              </a:rPr>
              <a:t>decides to take a lock </a:t>
            </a:r>
            <a:r>
              <a:rPr lang="en-US" sz="1200" b="1" i="1" dirty="0" smtClean="0">
                <a:solidFill>
                  <a:prstClr val="black"/>
                </a:solidFill>
              </a:rPr>
              <a:t>higher</a:t>
            </a:r>
            <a:r>
              <a:rPr lang="en-US" sz="1200" dirty="0" smtClean="0">
                <a:solidFill>
                  <a:prstClr val="black"/>
                </a:solidFill>
              </a:rPr>
              <a:t> in </a:t>
            </a:r>
            <a:r>
              <a:rPr lang="en-US" sz="1200" dirty="0">
                <a:solidFill>
                  <a:prstClr val="black"/>
                </a:solidFill>
              </a:rPr>
              <a:t>the </a:t>
            </a:r>
            <a:r>
              <a:rPr lang="en-US" sz="1200" dirty="0" smtClean="0">
                <a:solidFill>
                  <a:prstClr val="black"/>
                </a:solidFill>
              </a:rPr>
              <a:t>hierarchy,  in </a:t>
            </a:r>
            <a:r>
              <a:rPr lang="en-US" sz="1200" dirty="0">
                <a:solidFill>
                  <a:prstClr val="black"/>
                </a:solidFill>
              </a:rPr>
              <a:t>order to save lock </a:t>
            </a:r>
            <a:r>
              <a:rPr lang="en-US" sz="1200" dirty="0" smtClean="0">
                <a:solidFill>
                  <a:prstClr val="black"/>
                </a:solidFill>
              </a:rPr>
              <a:t>memory:</a:t>
            </a:r>
            <a:endParaRPr lang="en-US" sz="1200" dirty="0">
              <a:solidFill>
                <a:prstClr val="black"/>
              </a:solidFill>
            </a:endParaRPr>
          </a:p>
          <a:p>
            <a:pPr marL="628650" lvl="1" indent="-171450">
              <a:buFont typeface="Wingdings" pitchFamily="2" charset="2"/>
              <a:buChar char="ü"/>
            </a:pPr>
            <a:r>
              <a:rPr lang="en-US" sz="1200" dirty="0" smtClean="0">
                <a:solidFill>
                  <a:prstClr val="black"/>
                </a:solidFill>
              </a:rPr>
              <a:t>You </a:t>
            </a:r>
            <a:r>
              <a:rPr lang="en-US" sz="1200" dirty="0">
                <a:solidFill>
                  <a:prstClr val="black"/>
                </a:solidFill>
              </a:rPr>
              <a:t>exceeded the </a:t>
            </a:r>
            <a:r>
              <a:rPr lang="en-US" sz="1200" dirty="0" smtClean="0">
                <a:solidFill>
                  <a:prstClr val="black"/>
                </a:solidFill>
              </a:rPr>
              <a:t>default lock </a:t>
            </a:r>
            <a:r>
              <a:rPr lang="en-US" sz="1200" dirty="0">
                <a:solidFill>
                  <a:prstClr val="black"/>
                </a:solidFill>
              </a:rPr>
              <a:t>escalation threshold (5,000 locks)</a:t>
            </a:r>
          </a:p>
          <a:p>
            <a:pPr marL="628650" lvl="1" indent="-171450">
              <a:buFont typeface="Wingdings" pitchFamily="2" charset="2"/>
              <a:buChar char="ü"/>
            </a:pPr>
            <a:r>
              <a:rPr lang="en-US" sz="1200" dirty="0">
                <a:solidFill>
                  <a:prstClr val="black"/>
                </a:solidFill>
              </a:rPr>
              <a:t>Your query takes up 40% of the dynamically allocated </a:t>
            </a:r>
            <a:r>
              <a:rPr lang="en-US" sz="1200" dirty="0" smtClean="0">
                <a:solidFill>
                  <a:prstClr val="black"/>
                </a:solidFill>
              </a:rPr>
              <a:t>server memory - if </a:t>
            </a:r>
            <a:r>
              <a:rPr lang="en-US" sz="1200" dirty="0">
                <a:solidFill>
                  <a:prstClr val="black"/>
                </a:solidFill>
              </a:rPr>
              <a:t>trace flag </a:t>
            </a:r>
            <a:r>
              <a:rPr lang="en-US" sz="1200" dirty="0" smtClean="0">
                <a:solidFill>
                  <a:prstClr val="black"/>
                </a:solidFill>
              </a:rPr>
              <a:t>#1224 </a:t>
            </a:r>
            <a:r>
              <a:rPr lang="en-US" sz="1200" dirty="0">
                <a:solidFill>
                  <a:prstClr val="black"/>
                </a:solidFill>
              </a:rPr>
              <a:t>is </a:t>
            </a:r>
            <a:r>
              <a:rPr lang="en-US" sz="1200" dirty="0" smtClean="0">
                <a:solidFill>
                  <a:prstClr val="black"/>
                </a:solidFill>
              </a:rPr>
              <a:t>activated</a:t>
            </a:r>
            <a:endParaRPr lang="en-US" sz="1200" dirty="0">
              <a:solidFill>
                <a:prstClr val="black"/>
              </a:solidFill>
            </a:endParaRPr>
          </a:p>
          <a:p>
            <a:pPr marL="628650" lvl="1" indent="-171450">
              <a:buFont typeface="Wingdings" pitchFamily="2" charset="2"/>
              <a:buChar char="ü"/>
            </a:pPr>
            <a:r>
              <a:rPr lang="en-US" sz="1200" dirty="0">
                <a:solidFill>
                  <a:prstClr val="black"/>
                </a:solidFill>
              </a:rPr>
              <a:t>Your query takes up </a:t>
            </a:r>
            <a:r>
              <a:rPr lang="en-US" sz="1200" dirty="0" smtClean="0">
                <a:solidFill>
                  <a:prstClr val="black"/>
                </a:solidFill>
              </a:rPr>
              <a:t>60</a:t>
            </a:r>
            <a:r>
              <a:rPr lang="en-US" sz="1200" dirty="0">
                <a:solidFill>
                  <a:prstClr val="black"/>
                </a:solidFill>
              </a:rPr>
              <a:t>% of the </a:t>
            </a:r>
            <a:r>
              <a:rPr lang="en-US" sz="1200" dirty="0" smtClean="0">
                <a:solidFill>
                  <a:prstClr val="black"/>
                </a:solidFill>
              </a:rPr>
              <a:t>dynamically allocated </a:t>
            </a:r>
            <a:r>
              <a:rPr lang="en-US" sz="1200" dirty="0">
                <a:solidFill>
                  <a:prstClr val="black"/>
                </a:solidFill>
              </a:rPr>
              <a:t>server </a:t>
            </a:r>
            <a:r>
              <a:rPr lang="en-US" sz="1200" dirty="0" smtClean="0">
                <a:solidFill>
                  <a:prstClr val="black"/>
                </a:solidFill>
              </a:rPr>
              <a:t>memory - if trace </a:t>
            </a:r>
            <a:r>
              <a:rPr lang="en-US" sz="1200" dirty="0">
                <a:solidFill>
                  <a:prstClr val="black"/>
                </a:solidFill>
              </a:rPr>
              <a:t>flag </a:t>
            </a:r>
            <a:r>
              <a:rPr lang="en-US" sz="1200" dirty="0" smtClean="0">
                <a:solidFill>
                  <a:prstClr val="black"/>
                </a:solidFill>
              </a:rPr>
              <a:t>#1211 is activated</a:t>
            </a:r>
            <a:endParaRPr lang="en-US" sz="1200" dirty="0">
              <a:solidFill>
                <a:prstClr val="black"/>
              </a:solidFill>
            </a:endParaRPr>
          </a:p>
        </p:txBody>
      </p:sp>
      <p:sp>
        <p:nvSpPr>
          <p:cNvPr id="23" name="22 CuadroTexto"/>
          <p:cNvSpPr txBox="1"/>
          <p:nvPr/>
        </p:nvSpPr>
        <p:spPr>
          <a:xfrm>
            <a:off x="7543800" y="6019800"/>
            <a:ext cx="1600200" cy="369332"/>
          </a:xfrm>
          <a:prstGeom prst="rect">
            <a:avLst/>
          </a:prstGeom>
          <a:solidFill>
            <a:schemeClr val="accent3">
              <a:lumMod val="75000"/>
            </a:schemeClr>
          </a:solidFill>
        </p:spPr>
        <p:txBody>
          <a:bodyPr wrap="square" rtlCol="0">
            <a:spAutoFit/>
          </a:bodyPr>
          <a:lstStyle/>
          <a:p>
            <a:pPr algn="r"/>
            <a:r>
              <a:rPr lang="en-US" dirty="0" smtClean="0">
                <a:solidFill>
                  <a:prstClr val="white"/>
                </a:solidFill>
              </a:rPr>
              <a:t>Hands On </a:t>
            </a:r>
            <a:r>
              <a:rPr lang="en-US" dirty="0" smtClean="0">
                <a:solidFill>
                  <a:prstClr val="white"/>
                </a:solidFill>
                <a:sym typeface="Wingdings" pitchFamily="2" charset="2"/>
              </a:rPr>
              <a:t></a:t>
            </a:r>
            <a:endParaRPr lang="en-US" dirty="0">
              <a:solidFill>
                <a:prstClr val="white"/>
              </a:solidFill>
            </a:endParaRPr>
          </a:p>
        </p:txBody>
      </p:sp>
      <p:pic>
        <p:nvPicPr>
          <p:cNvPr id="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701" y="4591050"/>
            <a:ext cx="3476625"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26 CuadroTexto"/>
          <p:cNvSpPr txBox="1"/>
          <p:nvPr/>
        </p:nvSpPr>
        <p:spPr>
          <a:xfrm>
            <a:off x="0" y="4217884"/>
            <a:ext cx="9144000" cy="307777"/>
          </a:xfrm>
          <a:prstGeom prst="rect">
            <a:avLst/>
          </a:prstGeom>
          <a:noFill/>
        </p:spPr>
        <p:txBody>
          <a:bodyPr wrap="square" rtlCol="0">
            <a:spAutoFit/>
          </a:bodyPr>
          <a:lstStyle/>
          <a:p>
            <a:r>
              <a:rPr lang="en-US" sz="1400" b="1" dirty="0" smtClean="0">
                <a:solidFill>
                  <a:prstClr val="black"/>
                </a:solidFill>
              </a:rPr>
              <a:t>To detecting blocking see…</a:t>
            </a:r>
            <a:endParaRPr lang="en-US" sz="1400" dirty="0">
              <a:solidFill>
                <a:prstClr val="black"/>
              </a:solidFill>
            </a:endParaRPr>
          </a:p>
        </p:txBody>
      </p:sp>
      <p:grpSp>
        <p:nvGrpSpPr>
          <p:cNvPr id="11" name="10 Grupo"/>
          <p:cNvGrpSpPr/>
          <p:nvPr/>
        </p:nvGrpSpPr>
        <p:grpSpPr>
          <a:xfrm>
            <a:off x="9525" y="6574392"/>
            <a:ext cx="9134399" cy="277000"/>
            <a:chOff x="9525" y="6574392"/>
            <a:chExt cx="9134399" cy="277000"/>
          </a:xfrm>
        </p:grpSpPr>
        <p:sp>
          <p:nvSpPr>
            <p:cNvPr id="12" name="1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3" name="1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4" name="13 Grupo"/>
          <p:cNvGrpSpPr/>
          <p:nvPr/>
        </p:nvGrpSpPr>
        <p:grpSpPr>
          <a:xfrm>
            <a:off x="0" y="9525"/>
            <a:ext cx="9153525" cy="408388"/>
            <a:chOff x="0" y="9525"/>
            <a:chExt cx="9153525" cy="408388"/>
          </a:xfrm>
        </p:grpSpPr>
        <p:sp>
          <p:nvSpPr>
            <p:cNvPr id="17" name="16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Locking |   Lock Escalation</a:t>
              </a:r>
              <a:endParaRPr lang="en-US" b="1" i="1" dirty="0">
                <a:solidFill>
                  <a:schemeClr val="bg1"/>
                </a:solidFill>
              </a:endParaRPr>
            </a:p>
          </p:txBody>
        </p:sp>
        <p:pic>
          <p:nvPicPr>
            <p:cNvPr id="18" name="17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9" name="18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67722910"/>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15 CuadroTexto"/>
          <p:cNvSpPr txBox="1"/>
          <p:nvPr/>
        </p:nvSpPr>
        <p:spPr>
          <a:xfrm>
            <a:off x="0" y="495963"/>
            <a:ext cx="9144000" cy="523220"/>
          </a:xfrm>
          <a:prstGeom prst="rect">
            <a:avLst/>
          </a:prstGeom>
          <a:noFill/>
        </p:spPr>
        <p:txBody>
          <a:bodyPr wrap="square" rtlCol="0">
            <a:spAutoFit/>
          </a:bodyPr>
          <a:lstStyle/>
          <a:p>
            <a:r>
              <a:rPr lang="en-US" sz="1400" dirty="0" smtClean="0">
                <a:solidFill>
                  <a:prstClr val="black"/>
                </a:solidFill>
              </a:rPr>
              <a:t>In simple terms, a deadlock happens when two (or more) transactions request mutually desired resources in </a:t>
            </a:r>
            <a:r>
              <a:rPr lang="en-US" sz="1400" dirty="0">
                <a:solidFill>
                  <a:prstClr val="black"/>
                </a:solidFill>
              </a:rPr>
              <a:t>an </a:t>
            </a:r>
            <a:r>
              <a:rPr lang="en-US" sz="1400" dirty="0" smtClean="0">
                <a:solidFill>
                  <a:prstClr val="black"/>
                </a:solidFill>
              </a:rPr>
              <a:t>undesirable order.</a:t>
            </a:r>
          </a:p>
        </p:txBody>
      </p:sp>
      <p:grpSp>
        <p:nvGrpSpPr>
          <p:cNvPr id="29" name="28 Grupo"/>
          <p:cNvGrpSpPr/>
          <p:nvPr/>
        </p:nvGrpSpPr>
        <p:grpSpPr>
          <a:xfrm>
            <a:off x="67654" y="1174149"/>
            <a:ext cx="8610600" cy="3909031"/>
            <a:chOff x="0" y="1586299"/>
            <a:chExt cx="8610600" cy="3909031"/>
          </a:xfrm>
        </p:grpSpPr>
        <p:sp>
          <p:nvSpPr>
            <p:cNvPr id="7" name="6 CuadroTexto"/>
            <p:cNvSpPr txBox="1"/>
            <p:nvPr/>
          </p:nvSpPr>
          <p:spPr>
            <a:xfrm>
              <a:off x="14955" y="1586299"/>
              <a:ext cx="1447800" cy="276999"/>
            </a:xfrm>
            <a:prstGeom prst="rect">
              <a:avLst/>
            </a:prstGeom>
            <a:noFill/>
          </p:spPr>
          <p:txBody>
            <a:bodyPr wrap="square" rtlCol="0">
              <a:spAutoFit/>
            </a:bodyPr>
            <a:lstStyle/>
            <a:p>
              <a:r>
                <a:rPr lang="en-US" sz="1200" b="1" dirty="0" smtClean="0">
                  <a:solidFill>
                    <a:prstClr val="black"/>
                  </a:solidFill>
                </a:rPr>
                <a:t>(T1) Transaction 1</a:t>
              </a:r>
            </a:p>
          </p:txBody>
        </p:sp>
        <p:sp>
          <p:nvSpPr>
            <p:cNvPr id="10" name="9 CuadroTexto"/>
            <p:cNvSpPr txBox="1"/>
            <p:nvPr/>
          </p:nvSpPr>
          <p:spPr>
            <a:xfrm>
              <a:off x="14955" y="3252400"/>
              <a:ext cx="1447800" cy="276999"/>
            </a:xfrm>
            <a:prstGeom prst="rect">
              <a:avLst/>
            </a:prstGeom>
            <a:noFill/>
          </p:spPr>
          <p:txBody>
            <a:bodyPr wrap="square" rtlCol="0">
              <a:spAutoFit/>
            </a:bodyPr>
            <a:lstStyle/>
            <a:p>
              <a:r>
                <a:rPr lang="en-US" sz="1200" b="1" dirty="0" smtClean="0">
                  <a:solidFill>
                    <a:prstClr val="black"/>
                  </a:solidFill>
                </a:rPr>
                <a:t>(T2) Transaction 2</a:t>
              </a:r>
            </a:p>
          </p:txBody>
        </p:sp>
        <p:sp>
          <p:nvSpPr>
            <p:cNvPr id="11" name="10 CuadroTexto"/>
            <p:cNvSpPr txBox="1"/>
            <p:nvPr/>
          </p:nvSpPr>
          <p:spPr>
            <a:xfrm>
              <a:off x="0" y="2667000"/>
              <a:ext cx="723900" cy="276999"/>
            </a:xfrm>
            <a:prstGeom prst="rect">
              <a:avLst/>
            </a:prstGeom>
            <a:noFill/>
          </p:spPr>
          <p:txBody>
            <a:bodyPr wrap="square" rtlCol="0">
              <a:spAutoFit/>
            </a:bodyPr>
            <a:lstStyle/>
            <a:p>
              <a:r>
                <a:rPr lang="en-US" sz="1200" i="1" dirty="0" smtClean="0">
                  <a:solidFill>
                    <a:prstClr val="black"/>
                  </a:solidFill>
                </a:rPr>
                <a:t>Timeline</a:t>
              </a:r>
            </a:p>
          </p:txBody>
        </p:sp>
        <p:cxnSp>
          <p:nvCxnSpPr>
            <p:cNvPr id="3" name="2 Conector recto de flecha"/>
            <p:cNvCxnSpPr/>
            <p:nvPr/>
          </p:nvCxnSpPr>
          <p:spPr>
            <a:xfrm>
              <a:off x="0" y="2590800"/>
              <a:ext cx="8610600" cy="0"/>
            </a:xfrm>
            <a:prstGeom prst="straightConnector1">
              <a:avLst/>
            </a:prstGeom>
            <a:ln w="254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2" name="11 CuadroTexto"/>
            <p:cNvSpPr txBox="1"/>
            <p:nvPr/>
          </p:nvSpPr>
          <p:spPr>
            <a:xfrm>
              <a:off x="914400" y="2057400"/>
              <a:ext cx="1447800" cy="46166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T1 locks Table1.rowX</a:t>
              </a:r>
            </a:p>
          </p:txBody>
        </p:sp>
        <p:sp>
          <p:nvSpPr>
            <p:cNvPr id="13" name="12 CuadroTexto"/>
            <p:cNvSpPr txBox="1"/>
            <p:nvPr/>
          </p:nvSpPr>
          <p:spPr>
            <a:xfrm>
              <a:off x="2868894" y="2667000"/>
              <a:ext cx="1447800" cy="46166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T2 locks Table2.row6</a:t>
              </a:r>
            </a:p>
          </p:txBody>
        </p:sp>
        <p:sp>
          <p:nvSpPr>
            <p:cNvPr id="14" name="13 CuadroTexto"/>
            <p:cNvSpPr txBox="1"/>
            <p:nvPr/>
          </p:nvSpPr>
          <p:spPr>
            <a:xfrm>
              <a:off x="4862913" y="2057399"/>
              <a:ext cx="1447800" cy="46166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T1 requests a lock on Table2.row6</a:t>
              </a:r>
            </a:p>
          </p:txBody>
        </p:sp>
        <p:sp>
          <p:nvSpPr>
            <p:cNvPr id="15" name="14 CuadroTexto"/>
            <p:cNvSpPr txBox="1"/>
            <p:nvPr/>
          </p:nvSpPr>
          <p:spPr>
            <a:xfrm>
              <a:off x="6705600" y="2666999"/>
              <a:ext cx="1447800" cy="46166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T2 requests a lock on Table1.rowX</a:t>
              </a:r>
            </a:p>
          </p:txBody>
        </p:sp>
        <p:grpSp>
          <p:nvGrpSpPr>
            <p:cNvPr id="6" name="5 Grupo"/>
            <p:cNvGrpSpPr/>
            <p:nvPr/>
          </p:nvGrpSpPr>
          <p:grpSpPr>
            <a:xfrm>
              <a:off x="5127922" y="3648669"/>
              <a:ext cx="3025478" cy="1292663"/>
              <a:chOff x="5192861" y="3581399"/>
              <a:chExt cx="3025478" cy="1292663"/>
            </a:xfrm>
          </p:grpSpPr>
          <p:sp>
            <p:nvSpPr>
              <p:cNvPr id="18" name="17 CuadroTexto"/>
              <p:cNvSpPr txBox="1"/>
              <p:nvPr/>
            </p:nvSpPr>
            <p:spPr>
              <a:xfrm>
                <a:off x="5192861" y="3858399"/>
                <a:ext cx="3025478" cy="1015663"/>
              </a:xfrm>
              <a:prstGeom prst="rect">
                <a:avLst/>
              </a:prstGeom>
              <a:noFill/>
              <a:ln>
                <a:solidFill>
                  <a:schemeClr val="tx1"/>
                </a:solidFill>
              </a:ln>
            </p:spPr>
            <p:txBody>
              <a:bodyPr wrap="square" rtlCol="0">
                <a:spAutoFit/>
              </a:bodyPr>
              <a:lstStyle/>
              <a:p>
                <a:r>
                  <a:rPr lang="en-US" sz="1200" dirty="0" smtClean="0">
                    <a:solidFill>
                      <a:prstClr val="black"/>
                    </a:solidFill>
                  </a:rPr>
                  <a:t>This creates a DEAD lock (aka: “a circular reference”), which is infinite.</a:t>
                </a:r>
              </a:p>
              <a:p>
                <a:endParaRPr lang="en-US" sz="1200" dirty="0" smtClean="0">
                  <a:solidFill>
                    <a:prstClr val="black"/>
                  </a:solidFill>
                </a:endParaRPr>
              </a:p>
              <a:p>
                <a:r>
                  <a:rPr lang="en-US" sz="1200" dirty="0" smtClean="0">
                    <a:solidFill>
                      <a:prstClr val="black"/>
                    </a:solidFill>
                  </a:rPr>
                  <a:t>SQL Server detects and resolves the deadlock by choosing a victim.</a:t>
                </a:r>
              </a:p>
            </p:txBody>
          </p:sp>
          <p:sp>
            <p:nvSpPr>
              <p:cNvPr id="19" name="18 CuadroTexto"/>
              <p:cNvSpPr txBox="1"/>
              <p:nvPr/>
            </p:nvSpPr>
            <p:spPr>
              <a:xfrm>
                <a:off x="5192861" y="3581399"/>
                <a:ext cx="3025478" cy="276999"/>
              </a:xfrm>
              <a:prstGeom prst="rect">
                <a:avLst/>
              </a:prstGeom>
              <a:solidFill>
                <a:schemeClr val="tx1"/>
              </a:solidFill>
              <a:ln>
                <a:solidFill>
                  <a:schemeClr val="tx1"/>
                </a:solidFill>
              </a:ln>
            </p:spPr>
            <p:txBody>
              <a:bodyPr wrap="square" rtlCol="0">
                <a:spAutoFit/>
              </a:bodyPr>
              <a:lstStyle/>
              <a:p>
                <a:r>
                  <a:rPr lang="en-US" sz="1200" b="1" dirty="0" smtClean="0">
                    <a:solidFill>
                      <a:prstClr val="white"/>
                    </a:solidFill>
                  </a:rPr>
                  <a:t>Deadlock</a:t>
                </a:r>
              </a:p>
            </p:txBody>
          </p:sp>
        </p:grpSp>
        <p:grpSp>
          <p:nvGrpSpPr>
            <p:cNvPr id="4" name="3 Grupo"/>
            <p:cNvGrpSpPr/>
            <p:nvPr/>
          </p:nvGrpSpPr>
          <p:grpSpPr>
            <a:xfrm>
              <a:off x="728173" y="4387334"/>
              <a:ext cx="2415878" cy="1107996"/>
              <a:chOff x="349843" y="4295001"/>
              <a:chExt cx="2415878" cy="1107996"/>
            </a:xfrm>
          </p:grpSpPr>
          <p:sp>
            <p:nvSpPr>
              <p:cNvPr id="17" name="16 CuadroTexto"/>
              <p:cNvSpPr txBox="1"/>
              <p:nvPr/>
            </p:nvSpPr>
            <p:spPr>
              <a:xfrm>
                <a:off x="349843" y="4572000"/>
                <a:ext cx="2415878" cy="830997"/>
              </a:xfrm>
              <a:prstGeom prst="rect">
                <a:avLst/>
              </a:prstGeom>
              <a:noFill/>
              <a:ln>
                <a:solidFill>
                  <a:schemeClr val="tx1"/>
                </a:solidFill>
              </a:ln>
            </p:spPr>
            <p:txBody>
              <a:bodyPr wrap="square" rtlCol="0">
                <a:spAutoFit/>
              </a:bodyPr>
              <a:lstStyle/>
              <a:p>
                <a:r>
                  <a:rPr lang="en-US" sz="1200" dirty="0" smtClean="0">
                    <a:solidFill>
                      <a:prstClr val="black"/>
                    </a:solidFill>
                  </a:rPr>
                  <a:t>This creates a LIVE lock</a:t>
                </a:r>
              </a:p>
              <a:p>
                <a:r>
                  <a:rPr lang="en-US" sz="1200" dirty="0" smtClean="0">
                    <a:solidFill>
                      <a:prstClr val="black"/>
                    </a:solidFill>
                  </a:rPr>
                  <a:t>This is okay as long as Transaction 2 completes in a timely manner</a:t>
                </a:r>
              </a:p>
              <a:p>
                <a:r>
                  <a:rPr lang="en-US" sz="1200" dirty="0" smtClean="0">
                    <a:solidFill>
                      <a:prstClr val="black"/>
                    </a:solidFill>
                  </a:rPr>
                  <a:t>…but it doesn’t.</a:t>
                </a:r>
              </a:p>
            </p:txBody>
          </p:sp>
          <p:sp>
            <p:nvSpPr>
              <p:cNvPr id="20" name="19 CuadroTexto"/>
              <p:cNvSpPr txBox="1"/>
              <p:nvPr/>
            </p:nvSpPr>
            <p:spPr>
              <a:xfrm>
                <a:off x="349843" y="4295001"/>
                <a:ext cx="2415878" cy="276999"/>
              </a:xfrm>
              <a:prstGeom prst="rect">
                <a:avLst/>
              </a:prstGeom>
              <a:solidFill>
                <a:schemeClr val="tx1"/>
              </a:solidFill>
              <a:ln>
                <a:solidFill>
                  <a:schemeClr val="tx1"/>
                </a:solidFill>
              </a:ln>
            </p:spPr>
            <p:txBody>
              <a:bodyPr wrap="square" rtlCol="0">
                <a:spAutoFit/>
              </a:bodyPr>
              <a:lstStyle/>
              <a:p>
                <a:r>
                  <a:rPr lang="en-US" sz="1200" b="1" dirty="0" smtClean="0">
                    <a:solidFill>
                      <a:prstClr val="white"/>
                    </a:solidFill>
                  </a:rPr>
                  <a:t>Live Lock</a:t>
                </a:r>
              </a:p>
            </p:txBody>
          </p:sp>
        </p:grpSp>
        <p:cxnSp>
          <p:nvCxnSpPr>
            <p:cNvPr id="24" name="23 Conector recto de flecha"/>
            <p:cNvCxnSpPr/>
            <p:nvPr/>
          </p:nvCxnSpPr>
          <p:spPr>
            <a:xfrm flipV="1">
              <a:off x="7429500" y="3200400"/>
              <a:ext cx="0" cy="3810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25 Conector recto de flecha"/>
            <p:cNvCxnSpPr>
              <a:endCxn id="14" idx="2"/>
            </p:cNvCxnSpPr>
            <p:nvPr/>
          </p:nvCxnSpPr>
          <p:spPr>
            <a:xfrm flipV="1">
              <a:off x="3144051" y="2519064"/>
              <a:ext cx="2442762" cy="182433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1" name="30 CuadroTexto"/>
          <p:cNvSpPr txBox="1"/>
          <p:nvPr/>
        </p:nvSpPr>
        <p:spPr>
          <a:xfrm>
            <a:off x="0" y="5486400"/>
            <a:ext cx="9144000" cy="830997"/>
          </a:xfrm>
          <a:prstGeom prst="rect">
            <a:avLst/>
          </a:prstGeom>
          <a:noFill/>
        </p:spPr>
        <p:txBody>
          <a:bodyPr wrap="square" rtlCol="0">
            <a:spAutoFit/>
          </a:bodyPr>
          <a:lstStyle/>
          <a:p>
            <a:pPr marL="171450" indent="-171450">
              <a:buFont typeface="Wingdings" pitchFamily="2" charset="2"/>
              <a:buChar char="Ø"/>
            </a:pPr>
            <a:r>
              <a:rPr lang="en-US" sz="1200" dirty="0" smtClean="0">
                <a:solidFill>
                  <a:prstClr val="black"/>
                </a:solidFill>
              </a:rPr>
              <a:t>By default, SQL Server chooses the </a:t>
            </a:r>
            <a:r>
              <a:rPr lang="en-US" sz="1200" b="1" i="1" dirty="0" smtClean="0">
                <a:solidFill>
                  <a:prstClr val="black"/>
                </a:solidFill>
              </a:rPr>
              <a:t>least expensive</a:t>
            </a:r>
            <a:r>
              <a:rPr lang="en-US" sz="1200" dirty="0" smtClean="0">
                <a:solidFill>
                  <a:prstClr val="black"/>
                </a:solidFill>
              </a:rPr>
              <a:t> victim to rollback</a:t>
            </a:r>
          </a:p>
          <a:p>
            <a:pPr marL="171450" indent="-171450">
              <a:buFont typeface="Wingdings" pitchFamily="2" charset="2"/>
              <a:buChar char="Ø"/>
            </a:pPr>
            <a:r>
              <a:rPr lang="en-US" sz="1200" dirty="0" smtClean="0">
                <a:solidFill>
                  <a:prstClr val="black"/>
                </a:solidFill>
              </a:rPr>
              <a:t>You can change this by using SET </a:t>
            </a:r>
            <a:r>
              <a:rPr lang="en-US" sz="1200" dirty="0">
                <a:solidFill>
                  <a:prstClr val="black"/>
                </a:solidFill>
              </a:rPr>
              <a:t>DEADLOCK_PRIORITY { LOW | NORMAL | HIGH | &lt;numeric-priority&gt; </a:t>
            </a:r>
            <a:r>
              <a:rPr lang="en-US" sz="1200" dirty="0" smtClean="0">
                <a:solidFill>
                  <a:prstClr val="black"/>
                </a:solidFill>
              </a:rPr>
              <a:t>}</a:t>
            </a:r>
          </a:p>
          <a:p>
            <a:pPr marL="171450" indent="-171450">
              <a:buFont typeface="Wingdings" pitchFamily="2" charset="2"/>
              <a:buChar char="Ø"/>
            </a:pPr>
            <a:r>
              <a:rPr lang="en-US" sz="1200" dirty="0" smtClean="0">
                <a:solidFill>
                  <a:prstClr val="black"/>
                </a:solidFill>
              </a:rPr>
              <a:t>The deadlock victim receives the error #1205: </a:t>
            </a:r>
          </a:p>
          <a:p>
            <a:r>
              <a:rPr lang="en-US" sz="1200" dirty="0" smtClean="0">
                <a:solidFill>
                  <a:prstClr val="black"/>
                </a:solidFill>
              </a:rPr>
              <a:t>“</a:t>
            </a:r>
            <a:r>
              <a:rPr lang="en-US" sz="1200" i="1" dirty="0" smtClean="0">
                <a:solidFill>
                  <a:prstClr val="black"/>
                </a:solidFill>
              </a:rPr>
              <a:t>You transaction XXXX was deadlocked with another process and has been chosen as the deadlock victim</a:t>
            </a:r>
            <a:r>
              <a:rPr lang="en-US" sz="1200" dirty="0" smtClean="0">
                <a:solidFill>
                  <a:prstClr val="black"/>
                </a:solidFill>
              </a:rPr>
              <a:t>”</a:t>
            </a:r>
          </a:p>
        </p:txBody>
      </p:sp>
      <p:grpSp>
        <p:nvGrpSpPr>
          <p:cNvPr id="22" name="21 Grupo"/>
          <p:cNvGrpSpPr/>
          <p:nvPr/>
        </p:nvGrpSpPr>
        <p:grpSpPr>
          <a:xfrm>
            <a:off x="0" y="9525"/>
            <a:ext cx="9153525" cy="408388"/>
            <a:chOff x="0" y="9525"/>
            <a:chExt cx="9153525" cy="408388"/>
          </a:xfrm>
        </p:grpSpPr>
        <p:sp>
          <p:nvSpPr>
            <p:cNvPr id="23" name="22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Locking |   Deadlocks</a:t>
              </a:r>
              <a:endParaRPr lang="en-US" b="1" i="1" dirty="0">
                <a:solidFill>
                  <a:schemeClr val="bg1"/>
                </a:solidFill>
              </a:endParaRPr>
            </a:p>
          </p:txBody>
        </p:sp>
        <p:pic>
          <p:nvPicPr>
            <p:cNvPr id="25" name="24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7" name="26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8" name="27 Grupo"/>
          <p:cNvGrpSpPr/>
          <p:nvPr/>
        </p:nvGrpSpPr>
        <p:grpSpPr>
          <a:xfrm>
            <a:off x="9525" y="6574392"/>
            <a:ext cx="9134399" cy="277000"/>
            <a:chOff x="9525" y="6574392"/>
            <a:chExt cx="9134399" cy="277000"/>
          </a:xfrm>
        </p:grpSpPr>
        <p:sp>
          <p:nvSpPr>
            <p:cNvPr id="30" name="29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32" name="31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2192387470"/>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15 CuadroTexto"/>
          <p:cNvSpPr txBox="1"/>
          <p:nvPr/>
        </p:nvSpPr>
        <p:spPr>
          <a:xfrm>
            <a:off x="0" y="524538"/>
            <a:ext cx="9144000" cy="954107"/>
          </a:xfrm>
          <a:prstGeom prst="rect">
            <a:avLst/>
          </a:prstGeom>
          <a:noFill/>
        </p:spPr>
        <p:txBody>
          <a:bodyPr wrap="square" rtlCol="0">
            <a:spAutoFit/>
          </a:bodyPr>
          <a:lstStyle/>
          <a:p>
            <a:r>
              <a:rPr lang="en-US" sz="1400" dirty="0" smtClean="0">
                <a:solidFill>
                  <a:prstClr val="black"/>
                </a:solidFill>
              </a:rPr>
              <a:t>Deadlock situations require a corrective action:</a:t>
            </a:r>
          </a:p>
          <a:p>
            <a:pPr marL="171450" indent="-171450">
              <a:buFont typeface="Wingdings" pitchFamily="2" charset="2"/>
              <a:buChar char="§"/>
            </a:pPr>
            <a:r>
              <a:rPr lang="en-US" sz="1400" dirty="0" smtClean="0">
                <a:solidFill>
                  <a:prstClr val="black"/>
                </a:solidFill>
              </a:rPr>
              <a:t>Resubmit the SQL Command, OR</a:t>
            </a:r>
          </a:p>
          <a:p>
            <a:pPr marL="171450" indent="-171450">
              <a:buFont typeface="Wingdings" pitchFamily="2" charset="2"/>
              <a:buChar char="§"/>
            </a:pPr>
            <a:r>
              <a:rPr lang="en-US" sz="1400" dirty="0" smtClean="0">
                <a:solidFill>
                  <a:prstClr val="black"/>
                </a:solidFill>
              </a:rPr>
              <a:t>Ask the user to resubmit the request, OR</a:t>
            </a:r>
          </a:p>
          <a:p>
            <a:pPr marL="171450" indent="-171450">
              <a:buFont typeface="Wingdings" pitchFamily="2" charset="2"/>
              <a:buChar char="§"/>
            </a:pPr>
            <a:r>
              <a:rPr lang="en-US" sz="1400" dirty="0" smtClean="0">
                <a:solidFill>
                  <a:prstClr val="black"/>
                </a:solidFill>
              </a:rPr>
              <a:t>Cancel the request and return the user to the appropriate screen to start again, </a:t>
            </a:r>
            <a:r>
              <a:rPr lang="en-US" sz="1400" dirty="0" err="1" smtClean="0">
                <a:solidFill>
                  <a:prstClr val="black"/>
                </a:solidFill>
              </a:rPr>
              <a:t>etc</a:t>
            </a:r>
            <a:endParaRPr lang="en-US" sz="1400" dirty="0" smtClean="0">
              <a:solidFill>
                <a:prstClr val="black"/>
              </a:solidFill>
            </a:endParaRPr>
          </a:p>
        </p:txBody>
      </p:sp>
      <p:sp>
        <p:nvSpPr>
          <p:cNvPr id="25" name="24 CuadroTexto"/>
          <p:cNvSpPr txBox="1"/>
          <p:nvPr/>
        </p:nvSpPr>
        <p:spPr>
          <a:xfrm>
            <a:off x="0" y="2092022"/>
            <a:ext cx="9144000" cy="400110"/>
          </a:xfrm>
          <a:prstGeom prst="rect">
            <a:avLst/>
          </a:prstGeom>
          <a:noFill/>
        </p:spPr>
        <p:txBody>
          <a:bodyPr wrap="square" rtlCol="0">
            <a:spAutoFit/>
          </a:bodyPr>
          <a:lstStyle/>
          <a:p>
            <a:r>
              <a:rPr lang="en-US" sz="2000" b="1" dirty="0" smtClean="0">
                <a:solidFill>
                  <a:prstClr val="black"/>
                </a:solidFill>
              </a:rPr>
              <a:t>How to avoid Deadlocks</a:t>
            </a:r>
            <a:endParaRPr lang="en-US" sz="2000" dirty="0">
              <a:solidFill>
                <a:prstClr val="black"/>
              </a:solidFill>
            </a:endParaRPr>
          </a:p>
        </p:txBody>
      </p:sp>
      <p:sp>
        <p:nvSpPr>
          <p:cNvPr id="27" name="26 CuadroTexto"/>
          <p:cNvSpPr txBox="1"/>
          <p:nvPr/>
        </p:nvSpPr>
        <p:spPr>
          <a:xfrm>
            <a:off x="0" y="2549222"/>
            <a:ext cx="9144000" cy="1815882"/>
          </a:xfrm>
          <a:prstGeom prst="rect">
            <a:avLst/>
          </a:prstGeom>
          <a:noFill/>
        </p:spPr>
        <p:txBody>
          <a:bodyPr wrap="square" rtlCol="0">
            <a:spAutoFit/>
          </a:bodyPr>
          <a:lstStyle/>
          <a:p>
            <a:pPr marL="171450" indent="-171450">
              <a:buFont typeface="Wingdings" pitchFamily="2" charset="2"/>
              <a:buChar char="Ø"/>
            </a:pPr>
            <a:r>
              <a:rPr lang="en-US" sz="1400" b="1" dirty="0" smtClean="0">
                <a:solidFill>
                  <a:srgbClr val="0000FF"/>
                </a:solidFill>
              </a:rPr>
              <a:t>Write efficient code, and keep transactions as short as possible</a:t>
            </a:r>
          </a:p>
          <a:p>
            <a:pPr marL="171450" indent="-171450">
              <a:buFont typeface="Wingdings" pitchFamily="2" charset="2"/>
              <a:buChar char="Ø"/>
            </a:pPr>
            <a:r>
              <a:rPr lang="en-US" sz="1400" dirty="0" smtClean="0">
                <a:solidFill>
                  <a:prstClr val="black"/>
                </a:solidFill>
              </a:rPr>
              <a:t>More efficient queries</a:t>
            </a:r>
          </a:p>
          <a:p>
            <a:pPr marL="171450" indent="-171450">
              <a:buFont typeface="Wingdings" pitchFamily="2" charset="2"/>
              <a:buChar char="Ø"/>
            </a:pPr>
            <a:r>
              <a:rPr lang="en-US" sz="1400" dirty="0" smtClean="0">
                <a:solidFill>
                  <a:prstClr val="black"/>
                </a:solidFill>
              </a:rPr>
              <a:t>More effective indexes</a:t>
            </a:r>
          </a:p>
          <a:p>
            <a:pPr marL="171450" indent="-171450">
              <a:buFont typeface="Wingdings" pitchFamily="2" charset="2"/>
              <a:buChar char="Ø"/>
            </a:pPr>
            <a:r>
              <a:rPr lang="en-US" sz="1400" dirty="0" smtClean="0">
                <a:solidFill>
                  <a:prstClr val="black"/>
                </a:solidFill>
              </a:rPr>
              <a:t>Add or remove lock hints</a:t>
            </a:r>
          </a:p>
          <a:p>
            <a:pPr marL="171450" indent="-171450">
              <a:buFont typeface="Wingdings" pitchFamily="2" charset="2"/>
              <a:buChar char="Ø"/>
            </a:pPr>
            <a:r>
              <a:rPr lang="en-US" sz="1400" dirty="0" smtClean="0">
                <a:solidFill>
                  <a:prstClr val="black"/>
                </a:solidFill>
              </a:rPr>
              <a:t>Access the resources in the same order</a:t>
            </a:r>
          </a:p>
          <a:p>
            <a:pPr marL="171450" indent="-171450">
              <a:buFont typeface="Wingdings" pitchFamily="2" charset="2"/>
              <a:buChar char="Ø"/>
            </a:pPr>
            <a:r>
              <a:rPr lang="en-US" sz="1400" dirty="0" smtClean="0">
                <a:solidFill>
                  <a:prstClr val="black"/>
                </a:solidFill>
              </a:rPr>
              <a:t>SET </a:t>
            </a:r>
            <a:r>
              <a:rPr lang="en-US" sz="1400" dirty="0">
                <a:solidFill>
                  <a:prstClr val="black"/>
                </a:solidFill>
              </a:rPr>
              <a:t>DEADLOCK_PRIORITY </a:t>
            </a:r>
            <a:r>
              <a:rPr lang="en-US" sz="1400" dirty="0" smtClean="0">
                <a:solidFill>
                  <a:prstClr val="black"/>
                </a:solidFill>
              </a:rPr>
              <a:t>to a lower value</a:t>
            </a:r>
          </a:p>
          <a:p>
            <a:pPr marL="171450" indent="-171450">
              <a:buFont typeface="Wingdings" pitchFamily="2" charset="2"/>
              <a:buChar char="Ø"/>
            </a:pPr>
            <a:r>
              <a:rPr lang="en-US" sz="1400" dirty="0" smtClean="0">
                <a:solidFill>
                  <a:prstClr val="black"/>
                </a:solidFill>
              </a:rPr>
              <a:t>Add retry logic to your application if SQL Server reports error #1205</a:t>
            </a:r>
          </a:p>
          <a:p>
            <a:pPr marL="171450" indent="-171450">
              <a:buFont typeface="Wingdings" pitchFamily="2" charset="2"/>
              <a:buChar char="Ø"/>
            </a:pPr>
            <a:r>
              <a:rPr lang="en-US" sz="1400" dirty="0" smtClean="0">
                <a:solidFill>
                  <a:prstClr val="black"/>
                </a:solidFill>
              </a:rPr>
              <a:t>Choose the transaction isolation level that works best for you</a:t>
            </a:r>
          </a:p>
        </p:txBody>
      </p:sp>
      <p:sp>
        <p:nvSpPr>
          <p:cNvPr id="32" name="31 CuadroTexto"/>
          <p:cNvSpPr txBox="1"/>
          <p:nvPr/>
        </p:nvSpPr>
        <p:spPr>
          <a:xfrm>
            <a:off x="7543800" y="6019800"/>
            <a:ext cx="1600200" cy="369332"/>
          </a:xfrm>
          <a:prstGeom prst="rect">
            <a:avLst/>
          </a:prstGeom>
          <a:solidFill>
            <a:schemeClr val="accent3">
              <a:lumMod val="75000"/>
            </a:schemeClr>
          </a:solidFill>
        </p:spPr>
        <p:txBody>
          <a:bodyPr wrap="square" rtlCol="0">
            <a:spAutoFit/>
          </a:bodyPr>
          <a:lstStyle/>
          <a:p>
            <a:pPr algn="r"/>
            <a:r>
              <a:rPr lang="en-US" dirty="0" smtClean="0">
                <a:solidFill>
                  <a:prstClr val="white"/>
                </a:solidFill>
              </a:rPr>
              <a:t>Hands On </a:t>
            </a:r>
            <a:r>
              <a:rPr lang="en-US" dirty="0" smtClean="0">
                <a:solidFill>
                  <a:prstClr val="white"/>
                </a:solidFill>
                <a:sym typeface="Wingdings" pitchFamily="2" charset="2"/>
              </a:rPr>
              <a:t></a:t>
            </a:r>
            <a:endParaRPr lang="en-US" dirty="0">
              <a:solidFill>
                <a:prstClr val="white"/>
              </a:solidFill>
            </a:endParaRPr>
          </a:p>
        </p:txBody>
      </p:sp>
      <p:grpSp>
        <p:nvGrpSpPr>
          <p:cNvPr id="7" name="6 Grupo"/>
          <p:cNvGrpSpPr/>
          <p:nvPr/>
        </p:nvGrpSpPr>
        <p:grpSpPr>
          <a:xfrm>
            <a:off x="9525" y="6574392"/>
            <a:ext cx="9134399" cy="277000"/>
            <a:chOff x="9525" y="6574392"/>
            <a:chExt cx="9134399" cy="277000"/>
          </a:xfrm>
        </p:grpSpPr>
        <p:sp>
          <p:nvSpPr>
            <p:cNvPr id="8" name="7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9" name="8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0" name="9 Grupo"/>
          <p:cNvGrpSpPr/>
          <p:nvPr/>
        </p:nvGrpSpPr>
        <p:grpSpPr>
          <a:xfrm>
            <a:off x="0" y="9525"/>
            <a:ext cx="9153525" cy="408388"/>
            <a:chOff x="0" y="9525"/>
            <a:chExt cx="9153525" cy="408388"/>
          </a:xfrm>
        </p:grpSpPr>
        <p:sp>
          <p:nvSpPr>
            <p:cNvPr id="11" name="10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Locking |   Deadlock Resolution</a:t>
              </a:r>
              <a:endParaRPr lang="en-US" b="1" i="1" dirty="0">
                <a:solidFill>
                  <a:schemeClr val="bg1"/>
                </a:solidFill>
              </a:endParaRPr>
            </a:p>
          </p:txBody>
        </p:sp>
        <p:pic>
          <p:nvPicPr>
            <p:cNvPr id="12" name="11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12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96487364"/>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15 CuadroTexto"/>
          <p:cNvSpPr txBox="1"/>
          <p:nvPr/>
        </p:nvSpPr>
        <p:spPr>
          <a:xfrm>
            <a:off x="0" y="524538"/>
            <a:ext cx="9144000" cy="2523768"/>
          </a:xfrm>
          <a:prstGeom prst="rect">
            <a:avLst/>
          </a:prstGeom>
          <a:noFill/>
        </p:spPr>
        <p:txBody>
          <a:bodyPr wrap="square" rtlCol="0">
            <a:spAutoFit/>
          </a:bodyPr>
          <a:lstStyle/>
          <a:p>
            <a:r>
              <a:rPr lang="en-US" sz="1400" b="1" dirty="0" smtClean="0">
                <a:solidFill>
                  <a:prstClr val="black"/>
                </a:solidFill>
              </a:rPr>
              <a:t>What is a Latch?</a:t>
            </a:r>
          </a:p>
          <a:p>
            <a:r>
              <a:rPr lang="en-US" sz="1200" dirty="0" smtClean="0">
                <a:solidFill>
                  <a:prstClr val="black"/>
                </a:solidFill>
              </a:rPr>
              <a:t>Latches </a:t>
            </a:r>
            <a:r>
              <a:rPr lang="en-US" sz="1200" dirty="0">
                <a:solidFill>
                  <a:prstClr val="black"/>
                </a:solidFill>
              </a:rPr>
              <a:t>are lightweight synchronization primitives that are used by the SQL Server engine to guarantee consistency of in-memory structures including; index, data pages and internal structures such as non-leaf pages in a B-Tree </a:t>
            </a:r>
            <a:endParaRPr lang="en-US" sz="1200" dirty="0" smtClean="0">
              <a:solidFill>
                <a:prstClr val="black"/>
              </a:solidFill>
            </a:endParaRPr>
          </a:p>
          <a:p>
            <a:endParaRPr lang="en-US" sz="1200" dirty="0">
              <a:solidFill>
                <a:prstClr val="black"/>
              </a:solidFill>
            </a:endParaRPr>
          </a:p>
          <a:p>
            <a:r>
              <a:rPr lang="en-US" sz="1200" dirty="0">
                <a:solidFill>
                  <a:prstClr val="black"/>
                </a:solidFill>
              </a:rPr>
              <a:t>SQL Server uses buffer latches to protect pages in the buffer pool and I/O latches to protect pages not yet loaded into the buffer pool. </a:t>
            </a:r>
            <a:endParaRPr lang="en-US" sz="1200" dirty="0" smtClean="0">
              <a:solidFill>
                <a:prstClr val="black"/>
              </a:solidFill>
            </a:endParaRPr>
          </a:p>
          <a:p>
            <a:r>
              <a:rPr lang="en-US" sz="1200" dirty="0" smtClean="0">
                <a:solidFill>
                  <a:prstClr val="black"/>
                </a:solidFill>
              </a:rPr>
              <a:t>Whenever </a:t>
            </a:r>
            <a:r>
              <a:rPr lang="en-US" sz="1200" dirty="0">
                <a:solidFill>
                  <a:prstClr val="black"/>
                </a:solidFill>
              </a:rPr>
              <a:t>data is </a:t>
            </a:r>
            <a:r>
              <a:rPr lang="en-US" sz="1200" i="1" dirty="0">
                <a:solidFill>
                  <a:prstClr val="black"/>
                </a:solidFill>
              </a:rPr>
              <a:t>written to</a:t>
            </a:r>
            <a:r>
              <a:rPr lang="en-US" sz="1200" dirty="0">
                <a:solidFill>
                  <a:prstClr val="black"/>
                </a:solidFill>
              </a:rPr>
              <a:t> or </a:t>
            </a:r>
            <a:r>
              <a:rPr lang="en-US" sz="1200" i="1" dirty="0">
                <a:solidFill>
                  <a:prstClr val="black"/>
                </a:solidFill>
              </a:rPr>
              <a:t>read from</a:t>
            </a:r>
            <a:r>
              <a:rPr lang="en-US" sz="1200" dirty="0">
                <a:solidFill>
                  <a:prstClr val="black"/>
                </a:solidFill>
              </a:rPr>
              <a:t> a page in the SQL Server buffer </a:t>
            </a:r>
            <a:r>
              <a:rPr lang="en-US" sz="1200" dirty="0" smtClean="0">
                <a:solidFill>
                  <a:prstClr val="black"/>
                </a:solidFill>
              </a:rPr>
              <a:t>pool, </a:t>
            </a:r>
            <a:r>
              <a:rPr lang="en-US" sz="1200" dirty="0">
                <a:solidFill>
                  <a:prstClr val="black"/>
                </a:solidFill>
              </a:rPr>
              <a:t>a worker thread must first acquire a buffer latch for the page. </a:t>
            </a:r>
            <a:endParaRPr lang="en-US" sz="1200" dirty="0" smtClean="0">
              <a:solidFill>
                <a:prstClr val="black"/>
              </a:solidFill>
            </a:endParaRPr>
          </a:p>
          <a:p>
            <a:endParaRPr lang="en-US" sz="1200" dirty="0" smtClean="0">
              <a:solidFill>
                <a:prstClr val="black"/>
              </a:solidFill>
            </a:endParaRPr>
          </a:p>
          <a:p>
            <a:r>
              <a:rPr lang="en-US" sz="1200" dirty="0">
                <a:solidFill>
                  <a:prstClr val="black"/>
                </a:solidFill>
              </a:rPr>
              <a:t>When SQL Server attempts to access a page which is not already present in the buffer pool, an asynchronous I/O is posted to load </a:t>
            </a:r>
            <a:endParaRPr lang="en-US" sz="1200" dirty="0" smtClean="0">
              <a:solidFill>
                <a:prstClr val="black"/>
              </a:solidFill>
            </a:endParaRPr>
          </a:p>
          <a:p>
            <a:r>
              <a:rPr lang="en-US" sz="1200" dirty="0" smtClean="0">
                <a:solidFill>
                  <a:prstClr val="black"/>
                </a:solidFill>
              </a:rPr>
              <a:t>the </a:t>
            </a:r>
            <a:r>
              <a:rPr lang="en-US" sz="1200" dirty="0">
                <a:solidFill>
                  <a:prstClr val="black"/>
                </a:solidFill>
              </a:rPr>
              <a:t>page into the buffer pool. </a:t>
            </a:r>
            <a:endParaRPr lang="en-US" sz="1200" dirty="0" smtClean="0">
              <a:solidFill>
                <a:prstClr val="black"/>
              </a:solidFill>
            </a:endParaRPr>
          </a:p>
          <a:p>
            <a:endParaRPr lang="en-US" sz="1200" dirty="0">
              <a:solidFill>
                <a:prstClr val="black"/>
              </a:solidFill>
            </a:endParaRPr>
          </a:p>
          <a:p>
            <a:r>
              <a:rPr lang="en-US" sz="1200" dirty="0" smtClean="0">
                <a:solidFill>
                  <a:prstClr val="black"/>
                </a:solidFill>
              </a:rPr>
              <a:t>If </a:t>
            </a:r>
            <a:r>
              <a:rPr lang="en-US" sz="1200" dirty="0">
                <a:solidFill>
                  <a:prstClr val="black"/>
                </a:solidFill>
              </a:rPr>
              <a:t>SQL Server needs to wait for the I/O subsystem to respond it will wait on an exclusive (PAGEIOLATCH_EX) or shared (PAGEIOLATCH_SH) </a:t>
            </a:r>
            <a:endParaRPr lang="en-US" sz="1200" dirty="0" smtClean="0">
              <a:solidFill>
                <a:prstClr val="black"/>
              </a:solidFill>
            </a:endParaRPr>
          </a:p>
          <a:p>
            <a:r>
              <a:rPr lang="en-US" sz="1200" dirty="0" smtClean="0">
                <a:solidFill>
                  <a:prstClr val="black"/>
                </a:solidFill>
              </a:rPr>
              <a:t>I/O </a:t>
            </a:r>
            <a:r>
              <a:rPr lang="en-US" sz="1200" dirty="0">
                <a:solidFill>
                  <a:prstClr val="black"/>
                </a:solidFill>
              </a:rPr>
              <a:t>latch depending on the type of </a:t>
            </a:r>
            <a:r>
              <a:rPr lang="en-US" sz="1200" dirty="0" smtClean="0">
                <a:solidFill>
                  <a:prstClr val="black"/>
                </a:solidFill>
              </a:rPr>
              <a:t>request.</a:t>
            </a:r>
          </a:p>
          <a:p>
            <a:r>
              <a:rPr lang="en-US" sz="1200" dirty="0" smtClean="0">
                <a:solidFill>
                  <a:prstClr val="black"/>
                </a:solidFill>
              </a:rPr>
              <a:t>This </a:t>
            </a:r>
            <a:r>
              <a:rPr lang="en-US" sz="1200" dirty="0">
                <a:solidFill>
                  <a:prstClr val="black"/>
                </a:solidFill>
              </a:rPr>
              <a:t>is done to prevent another worker thread from loading the same page into the buffer pool with an incompatible </a:t>
            </a:r>
            <a:r>
              <a:rPr lang="en-US" sz="1200" dirty="0" smtClean="0">
                <a:solidFill>
                  <a:prstClr val="black"/>
                </a:solidFill>
              </a:rPr>
              <a:t>latch.</a:t>
            </a:r>
          </a:p>
        </p:txBody>
      </p:sp>
      <p:sp>
        <p:nvSpPr>
          <p:cNvPr id="7" name="6 CuadroTexto"/>
          <p:cNvSpPr txBox="1"/>
          <p:nvPr/>
        </p:nvSpPr>
        <p:spPr>
          <a:xfrm>
            <a:off x="-7834" y="3450218"/>
            <a:ext cx="9144000" cy="677108"/>
          </a:xfrm>
          <a:prstGeom prst="rect">
            <a:avLst/>
          </a:prstGeom>
          <a:noFill/>
        </p:spPr>
        <p:txBody>
          <a:bodyPr wrap="square" rtlCol="0">
            <a:spAutoFit/>
          </a:bodyPr>
          <a:lstStyle/>
          <a:p>
            <a:r>
              <a:rPr lang="en-US" sz="1400" b="1" dirty="0" smtClean="0">
                <a:solidFill>
                  <a:prstClr val="black"/>
                </a:solidFill>
              </a:rPr>
              <a:t>Latch Contention</a:t>
            </a:r>
            <a:endParaRPr lang="en-US" sz="1200" dirty="0">
              <a:solidFill>
                <a:prstClr val="black"/>
              </a:solidFill>
            </a:endParaRPr>
          </a:p>
          <a:p>
            <a:r>
              <a:rPr lang="en-US" sz="1200" dirty="0">
                <a:solidFill>
                  <a:prstClr val="black"/>
                </a:solidFill>
              </a:rPr>
              <a:t>Latch contention occurs when multiple threads concurrently attempt to acquire incompatible latches to the same in-memory structure. </a:t>
            </a:r>
            <a:endParaRPr lang="en-US" sz="1200" dirty="0" smtClean="0">
              <a:solidFill>
                <a:prstClr val="black"/>
              </a:solidFill>
            </a:endParaRPr>
          </a:p>
          <a:p>
            <a:r>
              <a:rPr lang="en-US" sz="1200" dirty="0" smtClean="0">
                <a:solidFill>
                  <a:prstClr val="black"/>
                </a:solidFill>
              </a:rPr>
              <a:t>As </a:t>
            </a:r>
            <a:r>
              <a:rPr lang="en-US" sz="1200" dirty="0">
                <a:solidFill>
                  <a:prstClr val="black"/>
                </a:solidFill>
              </a:rPr>
              <a:t>a latch is an internal control </a:t>
            </a:r>
            <a:r>
              <a:rPr lang="en-US" sz="1200" dirty="0" smtClean="0">
                <a:solidFill>
                  <a:prstClr val="black"/>
                </a:solidFill>
              </a:rPr>
              <a:t>mechanism, </a:t>
            </a:r>
            <a:r>
              <a:rPr lang="en-US" sz="1200" dirty="0">
                <a:solidFill>
                  <a:prstClr val="black"/>
                </a:solidFill>
              </a:rPr>
              <a:t>the SQL engine automatically determines when to user them. </a:t>
            </a:r>
            <a:endParaRPr lang="en-US" sz="1200" dirty="0" smtClean="0">
              <a:solidFill>
                <a:prstClr val="black"/>
              </a:solidFill>
            </a:endParaRPr>
          </a:p>
        </p:txBody>
      </p:sp>
      <p:grpSp>
        <p:nvGrpSpPr>
          <p:cNvPr id="6" name="5 Grupo"/>
          <p:cNvGrpSpPr/>
          <p:nvPr/>
        </p:nvGrpSpPr>
        <p:grpSpPr>
          <a:xfrm>
            <a:off x="0" y="9525"/>
            <a:ext cx="9153525" cy="408388"/>
            <a:chOff x="0" y="9525"/>
            <a:chExt cx="9153525" cy="408388"/>
          </a:xfrm>
        </p:grpSpPr>
        <p:sp>
          <p:nvSpPr>
            <p:cNvPr id="8" name="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Locking |   Latch Contention</a:t>
              </a:r>
              <a:endParaRPr lang="en-US" b="1" i="1" dirty="0">
                <a:solidFill>
                  <a:schemeClr val="bg1"/>
                </a:solidFill>
              </a:endParaRPr>
            </a:p>
          </p:txBody>
        </p:sp>
        <p:pic>
          <p:nvPicPr>
            <p:cNvPr id="9" name="8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9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10 Grupo"/>
          <p:cNvGrpSpPr/>
          <p:nvPr/>
        </p:nvGrpSpPr>
        <p:grpSpPr>
          <a:xfrm>
            <a:off x="9525" y="6574392"/>
            <a:ext cx="9134399" cy="277000"/>
            <a:chOff x="9525" y="6574392"/>
            <a:chExt cx="9134399" cy="277000"/>
          </a:xfrm>
        </p:grpSpPr>
        <p:sp>
          <p:nvSpPr>
            <p:cNvPr id="12" name="1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3" name="1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549450902"/>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927561"/>
            <a:ext cx="5857875"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4357809"/>
            <a:ext cx="558165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8 CuadroTexto"/>
          <p:cNvSpPr txBox="1"/>
          <p:nvPr/>
        </p:nvSpPr>
        <p:spPr>
          <a:xfrm>
            <a:off x="0" y="623500"/>
            <a:ext cx="9144000" cy="276999"/>
          </a:xfrm>
          <a:prstGeom prst="rect">
            <a:avLst/>
          </a:prstGeom>
          <a:noFill/>
        </p:spPr>
        <p:txBody>
          <a:bodyPr wrap="square" rtlCol="0">
            <a:spAutoFit/>
          </a:bodyPr>
          <a:lstStyle/>
          <a:p>
            <a:r>
              <a:rPr lang="en-US" sz="1200" b="1" dirty="0" smtClean="0">
                <a:solidFill>
                  <a:prstClr val="black"/>
                </a:solidFill>
              </a:rPr>
              <a:t>Latches</a:t>
            </a:r>
          </a:p>
        </p:txBody>
      </p:sp>
      <p:sp>
        <p:nvSpPr>
          <p:cNvPr id="10" name="9 CuadroTexto"/>
          <p:cNvSpPr txBox="1"/>
          <p:nvPr/>
        </p:nvSpPr>
        <p:spPr>
          <a:xfrm>
            <a:off x="0" y="3976809"/>
            <a:ext cx="9144000" cy="276999"/>
          </a:xfrm>
          <a:prstGeom prst="rect">
            <a:avLst/>
          </a:prstGeom>
          <a:noFill/>
        </p:spPr>
        <p:txBody>
          <a:bodyPr wrap="square" rtlCol="0">
            <a:spAutoFit/>
          </a:bodyPr>
          <a:lstStyle/>
          <a:p>
            <a:r>
              <a:rPr lang="en-US" sz="1200" b="1" dirty="0" smtClean="0">
                <a:solidFill>
                  <a:prstClr val="black"/>
                </a:solidFill>
              </a:rPr>
              <a:t>Locks</a:t>
            </a:r>
          </a:p>
        </p:txBody>
      </p:sp>
      <p:sp>
        <p:nvSpPr>
          <p:cNvPr id="4" name="3 CuadroTexto"/>
          <p:cNvSpPr txBox="1"/>
          <p:nvPr/>
        </p:nvSpPr>
        <p:spPr>
          <a:xfrm>
            <a:off x="6096000" y="927561"/>
            <a:ext cx="2819400" cy="2862322"/>
          </a:xfrm>
          <a:prstGeom prst="rect">
            <a:avLst/>
          </a:prstGeom>
          <a:noFill/>
        </p:spPr>
        <p:txBody>
          <a:bodyPr wrap="square" rtlCol="0">
            <a:spAutoFit/>
          </a:bodyPr>
          <a:lstStyle/>
          <a:p>
            <a:pPr marL="171450" indent="-171450">
              <a:buFont typeface="Wingdings" pitchFamily="2" charset="2"/>
              <a:buChar char="§"/>
            </a:pPr>
            <a:r>
              <a:rPr lang="en-US" sz="1200" b="1" dirty="0" err="1" smtClean="0">
                <a:solidFill>
                  <a:prstClr val="black"/>
                </a:solidFill>
              </a:rPr>
              <a:t>sys.dm_os_wait_stats</a:t>
            </a:r>
            <a:endParaRPr lang="en-US" sz="1200" b="1" dirty="0" smtClean="0">
              <a:solidFill>
                <a:prstClr val="black"/>
              </a:solidFill>
            </a:endParaRPr>
          </a:p>
          <a:p>
            <a:r>
              <a:rPr lang="en-US" sz="1200" dirty="0">
                <a:solidFill>
                  <a:prstClr val="black"/>
                </a:solidFill>
              </a:rPr>
              <a:t>Provides information on PAGELATCH, PAGEIOLATCH and LATCH wait types (LATCH_EX, LATCH_SH is used to group all non-buffer latch waits</a:t>
            </a:r>
            <a:r>
              <a:rPr lang="en-US" sz="1200" dirty="0" smtClean="0">
                <a:solidFill>
                  <a:prstClr val="black"/>
                </a:solidFill>
              </a:rPr>
              <a:t>)</a:t>
            </a:r>
          </a:p>
          <a:p>
            <a:endParaRPr lang="en-US" sz="1200" dirty="0" smtClean="0">
              <a:solidFill>
                <a:prstClr val="black"/>
              </a:solidFill>
            </a:endParaRPr>
          </a:p>
          <a:p>
            <a:pPr marL="171450" indent="-171450">
              <a:buFont typeface="Wingdings" pitchFamily="2" charset="2"/>
              <a:buChar char="§"/>
            </a:pPr>
            <a:r>
              <a:rPr lang="en-US" sz="1200" b="1" dirty="0" err="1" smtClean="0">
                <a:solidFill>
                  <a:prstClr val="black"/>
                </a:solidFill>
              </a:rPr>
              <a:t>sys.dm_os_latch_stats</a:t>
            </a:r>
            <a:r>
              <a:rPr lang="en-US" sz="1200" b="1" dirty="0" smtClean="0">
                <a:solidFill>
                  <a:prstClr val="black"/>
                </a:solidFill>
              </a:rPr>
              <a:t> </a:t>
            </a:r>
          </a:p>
          <a:p>
            <a:r>
              <a:rPr lang="en-US" sz="1200" dirty="0">
                <a:solidFill>
                  <a:prstClr val="black"/>
                </a:solidFill>
              </a:rPr>
              <a:t>Provides detailed information about non-buffer latch </a:t>
            </a:r>
            <a:r>
              <a:rPr lang="en-US" sz="1200" dirty="0" smtClean="0">
                <a:solidFill>
                  <a:prstClr val="black"/>
                </a:solidFill>
              </a:rPr>
              <a:t>waits</a:t>
            </a:r>
          </a:p>
          <a:p>
            <a:endParaRPr lang="en-US" sz="1200" dirty="0">
              <a:solidFill>
                <a:prstClr val="black"/>
              </a:solidFill>
            </a:endParaRPr>
          </a:p>
          <a:p>
            <a:pPr marL="171450" indent="-171450">
              <a:buFont typeface="Wingdings" pitchFamily="2" charset="2"/>
              <a:buChar char="§"/>
            </a:pPr>
            <a:r>
              <a:rPr lang="en-US" sz="1200" b="1" dirty="0" err="1" smtClean="0">
                <a:solidFill>
                  <a:prstClr val="black"/>
                </a:solidFill>
              </a:rPr>
              <a:t>sys.dm_os_latch_stats</a:t>
            </a:r>
            <a:r>
              <a:rPr lang="en-US" sz="1200" b="1" dirty="0" smtClean="0">
                <a:solidFill>
                  <a:prstClr val="black"/>
                </a:solidFill>
              </a:rPr>
              <a:t> </a:t>
            </a:r>
            <a:endParaRPr lang="en-US" sz="1200" b="1" dirty="0">
              <a:solidFill>
                <a:prstClr val="black"/>
              </a:solidFill>
            </a:endParaRPr>
          </a:p>
          <a:p>
            <a:r>
              <a:rPr lang="en-US" sz="1200" dirty="0">
                <a:solidFill>
                  <a:prstClr val="black"/>
                </a:solidFill>
              </a:rPr>
              <a:t>This DMV provides aggregated waits for each index, which is very useful for troubleshooting latch related performance </a:t>
            </a:r>
            <a:r>
              <a:rPr lang="en-US" sz="1200" dirty="0" smtClean="0">
                <a:solidFill>
                  <a:prstClr val="black"/>
                </a:solidFill>
              </a:rPr>
              <a:t>issues</a:t>
            </a:r>
            <a:endParaRPr lang="en-US" sz="1200" dirty="0">
              <a:solidFill>
                <a:prstClr val="black"/>
              </a:solidFill>
            </a:endParaRPr>
          </a:p>
        </p:txBody>
      </p:sp>
      <p:sp>
        <p:nvSpPr>
          <p:cNvPr id="12" name="11 CuadroTexto"/>
          <p:cNvSpPr txBox="1"/>
          <p:nvPr/>
        </p:nvSpPr>
        <p:spPr>
          <a:xfrm>
            <a:off x="6096000" y="4377915"/>
            <a:ext cx="2819400" cy="646331"/>
          </a:xfrm>
          <a:prstGeom prst="rect">
            <a:avLst/>
          </a:prstGeom>
          <a:noFill/>
        </p:spPr>
        <p:txBody>
          <a:bodyPr wrap="square" rtlCol="0">
            <a:spAutoFit/>
          </a:bodyPr>
          <a:lstStyle/>
          <a:p>
            <a:r>
              <a:rPr lang="en-US" sz="1200" dirty="0" smtClean="0">
                <a:solidFill>
                  <a:prstClr val="black"/>
                </a:solidFill>
              </a:rPr>
              <a:t>See previous slides.</a:t>
            </a:r>
          </a:p>
          <a:p>
            <a:pPr marL="171450" indent="-171450">
              <a:buFont typeface="Wingdings" pitchFamily="2" charset="2"/>
              <a:buChar char="§"/>
            </a:pPr>
            <a:r>
              <a:rPr lang="en-US" sz="1200" dirty="0" err="1" smtClean="0">
                <a:solidFill>
                  <a:prstClr val="black"/>
                </a:solidFill>
              </a:rPr>
              <a:t>sys.dm_tran_locks</a:t>
            </a:r>
            <a:endParaRPr lang="en-US" sz="1200" dirty="0">
              <a:solidFill>
                <a:prstClr val="black"/>
              </a:solidFill>
            </a:endParaRPr>
          </a:p>
          <a:p>
            <a:pPr marL="171450" indent="-171450">
              <a:buFont typeface="Wingdings" pitchFamily="2" charset="2"/>
              <a:buChar char="§"/>
            </a:pPr>
            <a:r>
              <a:rPr lang="en-US" sz="1200" dirty="0" err="1" smtClean="0">
                <a:solidFill>
                  <a:prstClr val="black"/>
                </a:solidFill>
              </a:rPr>
              <a:t>sys.dm_exec_sessions</a:t>
            </a:r>
            <a:endParaRPr lang="en-US" sz="1200" dirty="0">
              <a:solidFill>
                <a:prstClr val="black"/>
              </a:solidFill>
            </a:endParaRPr>
          </a:p>
        </p:txBody>
      </p:sp>
      <p:grpSp>
        <p:nvGrpSpPr>
          <p:cNvPr id="11" name="10 Grupo"/>
          <p:cNvGrpSpPr/>
          <p:nvPr/>
        </p:nvGrpSpPr>
        <p:grpSpPr>
          <a:xfrm>
            <a:off x="9525" y="6574392"/>
            <a:ext cx="9134399" cy="277000"/>
            <a:chOff x="9525" y="6574392"/>
            <a:chExt cx="9134399" cy="277000"/>
          </a:xfrm>
        </p:grpSpPr>
        <p:sp>
          <p:nvSpPr>
            <p:cNvPr id="13" name="12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4" name="13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5" name="14 Grupo"/>
          <p:cNvGrpSpPr/>
          <p:nvPr/>
        </p:nvGrpSpPr>
        <p:grpSpPr>
          <a:xfrm>
            <a:off x="0" y="9525"/>
            <a:ext cx="9153525" cy="408388"/>
            <a:chOff x="0" y="9525"/>
            <a:chExt cx="9153525" cy="408388"/>
          </a:xfrm>
        </p:grpSpPr>
        <p:sp>
          <p:nvSpPr>
            <p:cNvPr id="16" name="15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Difference between Latches and Locks</a:t>
              </a:r>
              <a:endParaRPr lang="en-US" b="1" i="1" dirty="0">
                <a:solidFill>
                  <a:schemeClr val="bg1"/>
                </a:solidFill>
              </a:endParaRPr>
            </a:p>
          </p:txBody>
        </p:sp>
        <p:pic>
          <p:nvPicPr>
            <p:cNvPr id="17" name="16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1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13703686"/>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0" y="465534"/>
            <a:ext cx="9144000" cy="369332"/>
          </a:xfrm>
          <a:prstGeom prst="rect">
            <a:avLst/>
          </a:prstGeom>
          <a:noFill/>
        </p:spPr>
        <p:txBody>
          <a:bodyPr wrap="square" rtlCol="0">
            <a:spAutoFit/>
          </a:bodyPr>
          <a:lstStyle/>
          <a:p>
            <a:r>
              <a:rPr lang="en-US" b="1" dirty="0" smtClean="0">
                <a:solidFill>
                  <a:prstClr val="black"/>
                </a:solidFill>
              </a:rPr>
              <a:t>What is a Query Execution Plan?</a:t>
            </a:r>
            <a:endParaRPr lang="en-US" b="1" dirty="0">
              <a:solidFill>
                <a:prstClr val="black"/>
              </a:solidFill>
            </a:endParaRPr>
          </a:p>
        </p:txBody>
      </p:sp>
      <p:sp>
        <p:nvSpPr>
          <p:cNvPr id="4" name="3 CuadroTexto"/>
          <p:cNvSpPr txBox="1"/>
          <p:nvPr/>
        </p:nvSpPr>
        <p:spPr>
          <a:xfrm>
            <a:off x="0" y="865584"/>
            <a:ext cx="9144000" cy="830997"/>
          </a:xfrm>
          <a:prstGeom prst="rect">
            <a:avLst/>
          </a:prstGeom>
          <a:noFill/>
        </p:spPr>
        <p:txBody>
          <a:bodyPr wrap="square" rtlCol="0">
            <a:spAutoFit/>
          </a:bodyPr>
          <a:lstStyle/>
          <a:p>
            <a:r>
              <a:rPr lang="en-US" sz="1200" dirty="0" smtClean="0">
                <a:solidFill>
                  <a:prstClr val="black"/>
                </a:solidFill>
              </a:rPr>
              <a:t>Simply </a:t>
            </a:r>
            <a:r>
              <a:rPr lang="en-US" sz="1200" dirty="0">
                <a:solidFill>
                  <a:prstClr val="black"/>
                </a:solidFill>
              </a:rPr>
              <a:t>put, </a:t>
            </a:r>
            <a:r>
              <a:rPr lang="en-US" sz="1200" dirty="0" smtClean="0">
                <a:solidFill>
                  <a:prstClr val="black"/>
                </a:solidFill>
              </a:rPr>
              <a:t>a query plan is </a:t>
            </a:r>
            <a:r>
              <a:rPr lang="en-US" sz="1200" dirty="0">
                <a:solidFill>
                  <a:prstClr val="black"/>
                </a:solidFill>
              </a:rPr>
              <a:t>an ordered set of steps used to access or modify information </a:t>
            </a:r>
            <a:r>
              <a:rPr lang="en-US" sz="1200" dirty="0" smtClean="0">
                <a:solidFill>
                  <a:prstClr val="black"/>
                </a:solidFill>
              </a:rPr>
              <a:t>in a SQL-based RDBMS.</a:t>
            </a:r>
            <a:endParaRPr lang="en-US" sz="1200" dirty="0">
              <a:solidFill>
                <a:prstClr val="black"/>
              </a:solidFill>
            </a:endParaRPr>
          </a:p>
          <a:p>
            <a:endParaRPr lang="en-US" sz="1200" dirty="0" smtClean="0">
              <a:solidFill>
                <a:prstClr val="black"/>
              </a:solidFill>
            </a:endParaRPr>
          </a:p>
          <a:p>
            <a:r>
              <a:rPr lang="en-US" sz="1200" dirty="0" smtClean="0">
                <a:solidFill>
                  <a:prstClr val="black"/>
                </a:solidFill>
              </a:rPr>
              <a:t>More specifically, it is </a:t>
            </a:r>
            <a:r>
              <a:rPr lang="en-US" sz="1200" dirty="0">
                <a:solidFill>
                  <a:prstClr val="black"/>
                </a:solidFill>
              </a:rPr>
              <a:t>the result of the query </a:t>
            </a:r>
            <a:r>
              <a:rPr lang="en-US" sz="1200" dirty="0" smtClean="0">
                <a:solidFill>
                  <a:prstClr val="black"/>
                </a:solidFill>
              </a:rPr>
              <a:t>optimizer's attempt </a:t>
            </a:r>
            <a:r>
              <a:rPr lang="en-US" sz="1200" dirty="0">
                <a:solidFill>
                  <a:prstClr val="black"/>
                </a:solidFill>
              </a:rPr>
              <a:t>to calculate the most efficient way to implement </a:t>
            </a:r>
            <a:endParaRPr lang="en-US" sz="1200" dirty="0" smtClean="0">
              <a:solidFill>
                <a:prstClr val="black"/>
              </a:solidFill>
            </a:endParaRPr>
          </a:p>
          <a:p>
            <a:r>
              <a:rPr lang="en-US" sz="1200" dirty="0" smtClean="0">
                <a:solidFill>
                  <a:prstClr val="black"/>
                </a:solidFill>
              </a:rPr>
              <a:t>the request represented </a:t>
            </a:r>
            <a:r>
              <a:rPr lang="en-US" sz="1200" dirty="0">
                <a:solidFill>
                  <a:prstClr val="black"/>
                </a:solidFill>
              </a:rPr>
              <a:t>by the T-SQL query you submitted</a:t>
            </a:r>
            <a:r>
              <a:rPr lang="en-US" sz="1200" dirty="0" smtClean="0">
                <a:solidFill>
                  <a:prstClr val="black"/>
                </a:solidFill>
              </a:rPr>
              <a:t>.</a:t>
            </a:r>
          </a:p>
        </p:txBody>
      </p:sp>
      <p:sp>
        <p:nvSpPr>
          <p:cNvPr id="22" name="21 CuadroTexto"/>
          <p:cNvSpPr txBox="1"/>
          <p:nvPr/>
        </p:nvSpPr>
        <p:spPr>
          <a:xfrm>
            <a:off x="0" y="1970484"/>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a:solidFill>
                  <a:prstClr val="black"/>
                </a:solidFill>
              </a:rPr>
              <a:t>What Happens When a Query is Submitted?</a:t>
            </a:r>
          </a:p>
        </p:txBody>
      </p:sp>
      <p:grpSp>
        <p:nvGrpSpPr>
          <p:cNvPr id="4112" name="4111 Grupo"/>
          <p:cNvGrpSpPr/>
          <p:nvPr/>
        </p:nvGrpSpPr>
        <p:grpSpPr>
          <a:xfrm>
            <a:off x="161659" y="2580082"/>
            <a:ext cx="7610741" cy="3733802"/>
            <a:chOff x="161659" y="2743198"/>
            <a:chExt cx="7610741" cy="3733802"/>
          </a:xfrm>
        </p:grpSpPr>
        <p:sp>
          <p:nvSpPr>
            <p:cNvPr id="26" name="25 Rectángulo"/>
            <p:cNvSpPr/>
            <p:nvPr/>
          </p:nvSpPr>
          <p:spPr>
            <a:xfrm>
              <a:off x="5551207" y="3016636"/>
              <a:ext cx="2221193" cy="25424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 name="15 CuadroTexto"/>
            <p:cNvSpPr txBox="1"/>
            <p:nvPr/>
          </p:nvSpPr>
          <p:spPr>
            <a:xfrm>
              <a:off x="161659" y="2743200"/>
              <a:ext cx="1514741"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Your SQL Statement</a:t>
              </a:r>
              <a:endParaRPr lang="en-US" sz="1200" dirty="0">
                <a:solidFill>
                  <a:prstClr val="black"/>
                </a:solidFill>
              </a:endParaRPr>
            </a:p>
          </p:txBody>
        </p:sp>
        <p:sp>
          <p:nvSpPr>
            <p:cNvPr id="17" name="16 CuadroTexto"/>
            <p:cNvSpPr txBox="1"/>
            <p:nvPr/>
          </p:nvSpPr>
          <p:spPr>
            <a:xfrm>
              <a:off x="2743200" y="3214300"/>
              <a:ext cx="1514741"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Parsing Phase</a:t>
              </a:r>
              <a:endParaRPr lang="en-US" sz="1200" dirty="0">
                <a:solidFill>
                  <a:prstClr val="black"/>
                </a:solidFill>
              </a:endParaRPr>
            </a:p>
          </p:txBody>
        </p:sp>
        <p:sp>
          <p:nvSpPr>
            <p:cNvPr id="18" name="17 CuadroTexto"/>
            <p:cNvSpPr txBox="1"/>
            <p:nvPr/>
          </p:nvSpPr>
          <p:spPr>
            <a:xfrm>
              <a:off x="2743199" y="3823900"/>
              <a:ext cx="1514741"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Resolution Phase</a:t>
              </a:r>
              <a:endParaRPr lang="en-US" sz="1200" dirty="0">
                <a:solidFill>
                  <a:prstClr val="black"/>
                </a:solidFill>
              </a:endParaRPr>
            </a:p>
          </p:txBody>
        </p:sp>
        <p:sp>
          <p:nvSpPr>
            <p:cNvPr id="19" name="18 CuadroTexto"/>
            <p:cNvSpPr txBox="1"/>
            <p:nvPr/>
          </p:nvSpPr>
          <p:spPr>
            <a:xfrm>
              <a:off x="2743198" y="4433500"/>
              <a:ext cx="1514741"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Optimization</a:t>
              </a:r>
              <a:r>
                <a:rPr lang="en-US" sz="1200" dirty="0">
                  <a:solidFill>
                    <a:prstClr val="black"/>
                  </a:solidFill>
                </a:rPr>
                <a:t> Phase</a:t>
              </a:r>
            </a:p>
          </p:txBody>
        </p:sp>
        <p:sp>
          <p:nvSpPr>
            <p:cNvPr id="20" name="19 CuadroTexto"/>
            <p:cNvSpPr txBox="1"/>
            <p:nvPr/>
          </p:nvSpPr>
          <p:spPr>
            <a:xfrm>
              <a:off x="2733231" y="5026722"/>
              <a:ext cx="1514741"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Caching</a:t>
              </a:r>
              <a:r>
                <a:rPr lang="en-US" sz="1200" dirty="0">
                  <a:solidFill>
                    <a:prstClr val="black"/>
                  </a:solidFill>
                </a:rPr>
                <a:t> Phase</a:t>
              </a:r>
            </a:p>
          </p:txBody>
        </p:sp>
        <p:sp>
          <p:nvSpPr>
            <p:cNvPr id="21" name="20 CuadroTexto"/>
            <p:cNvSpPr txBox="1"/>
            <p:nvPr/>
          </p:nvSpPr>
          <p:spPr>
            <a:xfrm>
              <a:off x="5904432" y="3208575"/>
              <a:ext cx="1514741"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Execution</a:t>
              </a:r>
              <a:r>
                <a:rPr lang="en-US" sz="1200" dirty="0">
                  <a:solidFill>
                    <a:prstClr val="black"/>
                  </a:solidFill>
                </a:rPr>
                <a:t> Phase</a:t>
              </a:r>
            </a:p>
          </p:txBody>
        </p:sp>
        <p:sp>
          <p:nvSpPr>
            <p:cNvPr id="23" name="22 CuadroTexto"/>
            <p:cNvSpPr txBox="1"/>
            <p:nvPr/>
          </p:nvSpPr>
          <p:spPr>
            <a:xfrm>
              <a:off x="2389973" y="2743198"/>
              <a:ext cx="2221193"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Relational engine</a:t>
              </a:r>
              <a:endParaRPr lang="en-US" sz="1200" dirty="0">
                <a:solidFill>
                  <a:prstClr val="black"/>
                </a:solidFill>
              </a:endParaRPr>
            </a:p>
          </p:txBody>
        </p:sp>
        <p:sp>
          <p:nvSpPr>
            <p:cNvPr id="24" name="23 CuadroTexto"/>
            <p:cNvSpPr txBox="1"/>
            <p:nvPr/>
          </p:nvSpPr>
          <p:spPr>
            <a:xfrm>
              <a:off x="5551207" y="2743199"/>
              <a:ext cx="2221193"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Storage engine</a:t>
              </a:r>
              <a:endParaRPr lang="en-US" sz="1200" dirty="0">
                <a:solidFill>
                  <a:prstClr val="black"/>
                </a:solidFill>
              </a:endParaRPr>
            </a:p>
          </p:txBody>
        </p:sp>
        <p:sp>
          <p:nvSpPr>
            <p:cNvPr id="3" name="2 Rectángulo"/>
            <p:cNvSpPr/>
            <p:nvPr/>
          </p:nvSpPr>
          <p:spPr>
            <a:xfrm>
              <a:off x="2389973" y="3020199"/>
              <a:ext cx="2221193" cy="25424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7" name="26 CuadroTexto"/>
            <p:cNvSpPr txBox="1"/>
            <p:nvPr/>
          </p:nvSpPr>
          <p:spPr>
            <a:xfrm>
              <a:off x="2389973" y="6015335"/>
              <a:ext cx="2221193" cy="46166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Cost based Execution Plan (Actual)</a:t>
              </a:r>
              <a:endParaRPr lang="en-US" sz="1200" dirty="0">
                <a:solidFill>
                  <a:prstClr val="black"/>
                </a:solidFill>
              </a:endParaRPr>
            </a:p>
          </p:txBody>
        </p:sp>
        <p:sp>
          <p:nvSpPr>
            <p:cNvPr id="25" name="24 Flecha derecha"/>
            <p:cNvSpPr/>
            <p:nvPr/>
          </p:nvSpPr>
          <p:spPr>
            <a:xfrm>
              <a:off x="1828800" y="2743198"/>
              <a:ext cx="442245"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8" name="27 Flecha abajo"/>
            <p:cNvSpPr/>
            <p:nvPr/>
          </p:nvSpPr>
          <p:spPr>
            <a:xfrm>
              <a:off x="3352800" y="5638800"/>
              <a:ext cx="2286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30" name="29 Conector recto"/>
            <p:cNvCxnSpPr/>
            <p:nvPr/>
          </p:nvCxnSpPr>
          <p:spPr>
            <a:xfrm flipV="1">
              <a:off x="5105400" y="3352799"/>
              <a:ext cx="0" cy="2893368"/>
            </a:xfrm>
            <a:prstGeom prst="line">
              <a:avLst/>
            </a:prstGeom>
          </p:spPr>
          <p:style>
            <a:lnRef idx="1">
              <a:schemeClr val="accent1"/>
            </a:lnRef>
            <a:fillRef idx="0">
              <a:schemeClr val="accent1"/>
            </a:fillRef>
            <a:effectRef idx="0">
              <a:schemeClr val="accent1"/>
            </a:effectRef>
            <a:fontRef idx="minor">
              <a:schemeClr val="tx1"/>
            </a:fontRef>
          </p:style>
        </p:cxnSp>
        <p:cxnSp>
          <p:nvCxnSpPr>
            <p:cNvPr id="4096" name="4095 Conector recto"/>
            <p:cNvCxnSpPr>
              <a:endCxn id="27" idx="3"/>
            </p:cNvCxnSpPr>
            <p:nvPr/>
          </p:nvCxnSpPr>
          <p:spPr>
            <a:xfrm flipH="1">
              <a:off x="4611166" y="6246167"/>
              <a:ext cx="494234"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4101" name="4100 Conector recto de flecha"/>
            <p:cNvCxnSpPr/>
            <p:nvPr/>
          </p:nvCxnSpPr>
          <p:spPr>
            <a:xfrm>
              <a:off x="5105400" y="3352799"/>
              <a:ext cx="685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03" name="4102 Conector recto de flecha"/>
            <p:cNvCxnSpPr>
              <a:stCxn id="17" idx="2"/>
            </p:cNvCxnSpPr>
            <p:nvPr/>
          </p:nvCxnSpPr>
          <p:spPr>
            <a:xfrm flipH="1">
              <a:off x="3500570" y="3491299"/>
              <a:ext cx="1" cy="2425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05" name="4104 Conector recto de flecha"/>
            <p:cNvCxnSpPr>
              <a:stCxn id="18" idx="2"/>
            </p:cNvCxnSpPr>
            <p:nvPr/>
          </p:nvCxnSpPr>
          <p:spPr>
            <a:xfrm>
              <a:off x="3500570" y="4100899"/>
              <a:ext cx="1" cy="190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11" name="4110 Conector recto de flecha"/>
            <p:cNvCxnSpPr>
              <a:stCxn id="19" idx="2"/>
            </p:cNvCxnSpPr>
            <p:nvPr/>
          </p:nvCxnSpPr>
          <p:spPr>
            <a:xfrm>
              <a:off x="3500569" y="4710499"/>
              <a:ext cx="2" cy="2425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29" name="28 Grupo"/>
          <p:cNvGrpSpPr/>
          <p:nvPr/>
        </p:nvGrpSpPr>
        <p:grpSpPr>
          <a:xfrm>
            <a:off x="0" y="9525"/>
            <a:ext cx="9153525" cy="408388"/>
            <a:chOff x="0" y="9525"/>
            <a:chExt cx="9153525" cy="408388"/>
          </a:xfrm>
        </p:grpSpPr>
        <p:sp>
          <p:nvSpPr>
            <p:cNvPr id="31" name="30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Query Execution Plans</a:t>
              </a:r>
              <a:endParaRPr lang="en-US" b="1" i="1" dirty="0">
                <a:solidFill>
                  <a:schemeClr val="bg1"/>
                </a:solidFill>
              </a:endParaRPr>
            </a:p>
          </p:txBody>
        </p:sp>
        <p:pic>
          <p:nvPicPr>
            <p:cNvPr id="32" name="31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3" name="32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33 Grupo"/>
          <p:cNvGrpSpPr/>
          <p:nvPr/>
        </p:nvGrpSpPr>
        <p:grpSpPr>
          <a:xfrm>
            <a:off x="9525" y="6574392"/>
            <a:ext cx="9134399" cy="277000"/>
            <a:chOff x="9525" y="6574392"/>
            <a:chExt cx="9134399" cy="277000"/>
          </a:xfrm>
        </p:grpSpPr>
        <p:sp>
          <p:nvSpPr>
            <p:cNvPr id="35" name="34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36" name="35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1932782769"/>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50264" y="1575746"/>
            <a:ext cx="1364476"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pPr algn="ctr"/>
            <a:r>
              <a:rPr lang="en-US" sz="1200" b="1" dirty="0">
                <a:solidFill>
                  <a:prstClr val="black"/>
                </a:solidFill>
              </a:rPr>
              <a:t>Query </a:t>
            </a:r>
            <a:r>
              <a:rPr lang="en-US" sz="1200" b="1" dirty="0" smtClean="0">
                <a:solidFill>
                  <a:prstClr val="black"/>
                </a:solidFill>
              </a:rPr>
              <a:t>Parser</a:t>
            </a:r>
            <a:endParaRPr lang="en-US" sz="1200" b="1" dirty="0">
              <a:solidFill>
                <a:prstClr val="black"/>
              </a:solidFill>
            </a:endParaRPr>
          </a:p>
        </p:txBody>
      </p:sp>
      <p:sp>
        <p:nvSpPr>
          <p:cNvPr id="8" name="7 CuadroTexto"/>
          <p:cNvSpPr txBox="1"/>
          <p:nvPr/>
        </p:nvSpPr>
        <p:spPr>
          <a:xfrm>
            <a:off x="-16379" y="978398"/>
            <a:ext cx="9160379" cy="276999"/>
          </a:xfrm>
          <a:prstGeom prst="rect">
            <a:avLst/>
          </a:prstGeom>
          <a:solidFill>
            <a:schemeClr val="tx1"/>
          </a:solidFill>
          <a:ln>
            <a:solidFill>
              <a:schemeClr val="tx1"/>
            </a:solidFill>
          </a:ln>
        </p:spPr>
        <p:txBody>
          <a:bodyPr wrap="square" rtlCol="0">
            <a:spAutoFit/>
          </a:bodyPr>
          <a:lstStyle/>
          <a:p>
            <a:r>
              <a:rPr lang="en-US" sz="1200" b="1" dirty="0">
                <a:solidFill>
                  <a:prstClr val="white"/>
                </a:solidFill>
              </a:rPr>
              <a:t>R</a:t>
            </a:r>
            <a:r>
              <a:rPr lang="en-US" sz="1200" b="1" dirty="0" smtClean="0">
                <a:solidFill>
                  <a:prstClr val="white"/>
                </a:solidFill>
              </a:rPr>
              <a:t>elational </a:t>
            </a:r>
            <a:r>
              <a:rPr lang="en-US" sz="1200" b="1" dirty="0">
                <a:solidFill>
                  <a:prstClr val="white"/>
                </a:solidFill>
              </a:rPr>
              <a:t>engine</a:t>
            </a:r>
          </a:p>
        </p:txBody>
      </p:sp>
      <p:sp>
        <p:nvSpPr>
          <p:cNvPr id="9" name="8 CuadroTexto"/>
          <p:cNvSpPr txBox="1"/>
          <p:nvPr/>
        </p:nvSpPr>
        <p:spPr>
          <a:xfrm>
            <a:off x="-16380" y="5705475"/>
            <a:ext cx="9160379" cy="276999"/>
          </a:xfrm>
          <a:prstGeom prst="rect">
            <a:avLst/>
          </a:prstGeom>
          <a:solidFill>
            <a:schemeClr val="tx1"/>
          </a:solidFill>
          <a:ln>
            <a:solidFill>
              <a:schemeClr val="tx1"/>
            </a:solidFill>
          </a:ln>
        </p:spPr>
        <p:txBody>
          <a:bodyPr wrap="square" rtlCol="0">
            <a:spAutoFit/>
          </a:bodyPr>
          <a:lstStyle/>
          <a:p>
            <a:r>
              <a:rPr lang="en-US" sz="1200" b="1" dirty="0" smtClean="0">
                <a:solidFill>
                  <a:prstClr val="white"/>
                </a:solidFill>
              </a:rPr>
              <a:t>Storage </a:t>
            </a:r>
            <a:r>
              <a:rPr lang="en-US" sz="1200" b="1" dirty="0">
                <a:solidFill>
                  <a:prstClr val="white"/>
                </a:solidFill>
              </a:rPr>
              <a:t>engine</a:t>
            </a:r>
          </a:p>
        </p:txBody>
      </p:sp>
      <p:sp>
        <p:nvSpPr>
          <p:cNvPr id="10" name="9 CuadroTexto"/>
          <p:cNvSpPr txBox="1"/>
          <p:nvPr/>
        </p:nvSpPr>
        <p:spPr>
          <a:xfrm>
            <a:off x="1704176" y="2262942"/>
            <a:ext cx="1364477" cy="246221"/>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000" dirty="0" smtClean="0">
                <a:solidFill>
                  <a:prstClr val="black"/>
                </a:solidFill>
              </a:rPr>
              <a:t>Parse Tree</a:t>
            </a:r>
            <a:endParaRPr lang="en-US" sz="1000" dirty="0">
              <a:solidFill>
                <a:prstClr val="black"/>
              </a:solidFill>
            </a:endParaRPr>
          </a:p>
        </p:txBody>
      </p:sp>
      <p:sp>
        <p:nvSpPr>
          <p:cNvPr id="12" name="11 CuadroTexto"/>
          <p:cNvSpPr txBox="1"/>
          <p:nvPr/>
        </p:nvSpPr>
        <p:spPr>
          <a:xfrm>
            <a:off x="150264" y="2952710"/>
            <a:ext cx="1364477"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pPr algn="ctr"/>
            <a:r>
              <a:rPr lang="en-US" sz="1200" b="1" dirty="0" err="1" smtClean="0">
                <a:solidFill>
                  <a:prstClr val="black"/>
                </a:solidFill>
              </a:rPr>
              <a:t>Algebrizer</a:t>
            </a:r>
            <a:endParaRPr lang="en-US" sz="1200" b="1" dirty="0">
              <a:solidFill>
                <a:prstClr val="black"/>
              </a:solidFill>
            </a:endParaRPr>
          </a:p>
        </p:txBody>
      </p:sp>
      <p:sp>
        <p:nvSpPr>
          <p:cNvPr id="16" name="15 CuadroTexto"/>
          <p:cNvSpPr txBox="1"/>
          <p:nvPr/>
        </p:nvSpPr>
        <p:spPr>
          <a:xfrm>
            <a:off x="150264" y="3870936"/>
            <a:ext cx="1364477"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pPr algn="ctr"/>
            <a:r>
              <a:rPr lang="en-US" sz="1200" b="1" dirty="0" smtClean="0">
                <a:solidFill>
                  <a:prstClr val="black"/>
                </a:solidFill>
              </a:rPr>
              <a:t>Query </a:t>
            </a:r>
            <a:r>
              <a:rPr lang="en-US" sz="1200" b="1" dirty="0">
                <a:solidFill>
                  <a:prstClr val="black"/>
                </a:solidFill>
              </a:rPr>
              <a:t>Optimizer</a:t>
            </a:r>
          </a:p>
        </p:txBody>
      </p:sp>
      <p:sp>
        <p:nvSpPr>
          <p:cNvPr id="18" name="17 CuadroTexto"/>
          <p:cNvSpPr txBox="1"/>
          <p:nvPr/>
        </p:nvSpPr>
        <p:spPr>
          <a:xfrm>
            <a:off x="1295400" y="459472"/>
            <a:ext cx="1514741"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Your SQL Statement</a:t>
            </a:r>
            <a:endParaRPr lang="en-US" sz="1200" dirty="0">
              <a:solidFill>
                <a:prstClr val="black"/>
              </a:solidFill>
            </a:endParaRPr>
          </a:p>
        </p:txBody>
      </p:sp>
      <p:sp>
        <p:nvSpPr>
          <p:cNvPr id="19" name="18 CuadroTexto"/>
          <p:cNvSpPr txBox="1"/>
          <p:nvPr/>
        </p:nvSpPr>
        <p:spPr>
          <a:xfrm>
            <a:off x="150264" y="5044599"/>
            <a:ext cx="1364477"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pPr algn="ctr"/>
            <a:r>
              <a:rPr lang="en-US" sz="1200" b="1" dirty="0" smtClean="0">
                <a:solidFill>
                  <a:prstClr val="black"/>
                </a:solidFill>
              </a:rPr>
              <a:t>Plan Cache</a:t>
            </a:r>
            <a:endParaRPr lang="en-US" sz="1200" b="1" dirty="0">
              <a:solidFill>
                <a:prstClr val="black"/>
              </a:solidFill>
            </a:endParaRPr>
          </a:p>
        </p:txBody>
      </p:sp>
      <p:sp>
        <p:nvSpPr>
          <p:cNvPr id="20" name="19 CuadroTexto"/>
          <p:cNvSpPr txBox="1"/>
          <p:nvPr/>
        </p:nvSpPr>
        <p:spPr>
          <a:xfrm>
            <a:off x="1828800" y="6210478"/>
            <a:ext cx="1364478"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200" dirty="0" smtClean="0">
                <a:solidFill>
                  <a:prstClr val="black"/>
                </a:solidFill>
              </a:rPr>
              <a:t>Query Execution</a:t>
            </a:r>
            <a:endParaRPr lang="en-US" sz="1200" dirty="0">
              <a:solidFill>
                <a:prstClr val="black"/>
              </a:solidFill>
            </a:endParaRPr>
          </a:p>
        </p:txBody>
      </p:sp>
      <p:sp>
        <p:nvSpPr>
          <p:cNvPr id="21" name="20 CuadroTexto"/>
          <p:cNvSpPr txBox="1"/>
          <p:nvPr/>
        </p:nvSpPr>
        <p:spPr>
          <a:xfrm>
            <a:off x="1704176" y="1507378"/>
            <a:ext cx="7439824" cy="553998"/>
          </a:xfrm>
          <a:prstGeom prst="rect">
            <a:avLst/>
          </a:prstGeom>
          <a:noFill/>
        </p:spPr>
        <p:txBody>
          <a:bodyPr wrap="square" rtlCol="0">
            <a:spAutoFit/>
          </a:bodyPr>
          <a:lstStyle/>
          <a:p>
            <a:r>
              <a:rPr lang="en-US" sz="1000" dirty="0">
                <a:solidFill>
                  <a:prstClr val="black"/>
                </a:solidFill>
              </a:rPr>
              <a:t>As the T-SQL arrives, it passes through a process that checks that the </a:t>
            </a:r>
            <a:r>
              <a:rPr lang="en-US" sz="1000" dirty="0" smtClean="0">
                <a:solidFill>
                  <a:prstClr val="black"/>
                </a:solidFill>
              </a:rPr>
              <a:t>TSQL is </a:t>
            </a:r>
            <a:r>
              <a:rPr lang="en-US" sz="1000" dirty="0">
                <a:solidFill>
                  <a:prstClr val="black"/>
                </a:solidFill>
              </a:rPr>
              <a:t>written </a:t>
            </a:r>
            <a:r>
              <a:rPr lang="en-US" sz="1000" dirty="0" smtClean="0">
                <a:solidFill>
                  <a:prstClr val="black"/>
                </a:solidFill>
              </a:rPr>
              <a:t>correctly</a:t>
            </a:r>
          </a:p>
          <a:p>
            <a:pPr marL="171450" indent="-171450">
              <a:buFont typeface="Wingdings" pitchFamily="2" charset="2"/>
              <a:buChar char="§"/>
            </a:pPr>
            <a:r>
              <a:rPr lang="en-US" sz="1000" dirty="0">
                <a:solidFill>
                  <a:prstClr val="black"/>
                </a:solidFill>
              </a:rPr>
              <a:t>If the T-SQL string is a DML statement, the parse tree </a:t>
            </a:r>
            <a:r>
              <a:rPr lang="en-US" sz="1000" dirty="0" smtClean="0">
                <a:solidFill>
                  <a:prstClr val="black"/>
                </a:solidFill>
              </a:rPr>
              <a:t>is passed </a:t>
            </a:r>
            <a:r>
              <a:rPr lang="en-US" sz="1000" dirty="0">
                <a:solidFill>
                  <a:prstClr val="black"/>
                </a:solidFill>
              </a:rPr>
              <a:t>to a process called the </a:t>
            </a:r>
            <a:r>
              <a:rPr lang="en-US" sz="1000" b="1" dirty="0" err="1" smtClean="0">
                <a:solidFill>
                  <a:prstClr val="black"/>
                </a:solidFill>
              </a:rPr>
              <a:t>algebrizer</a:t>
            </a:r>
            <a:endParaRPr lang="en-US" sz="1000" b="1" dirty="0" smtClean="0">
              <a:solidFill>
                <a:prstClr val="black"/>
              </a:solidFill>
            </a:endParaRPr>
          </a:p>
          <a:p>
            <a:pPr marL="171450" indent="-171450">
              <a:buFont typeface="Wingdings" pitchFamily="2" charset="2"/>
              <a:buChar char="§"/>
            </a:pPr>
            <a:r>
              <a:rPr lang="en-US" sz="1000" dirty="0" smtClean="0">
                <a:solidFill>
                  <a:prstClr val="black"/>
                </a:solidFill>
              </a:rPr>
              <a:t>Otherwise</a:t>
            </a:r>
            <a:r>
              <a:rPr lang="en-US" sz="1000" b="1" dirty="0" smtClean="0">
                <a:solidFill>
                  <a:prstClr val="black"/>
                </a:solidFill>
              </a:rPr>
              <a:t> </a:t>
            </a:r>
            <a:r>
              <a:rPr lang="en-US" sz="1000" dirty="0">
                <a:solidFill>
                  <a:prstClr val="black"/>
                </a:solidFill>
              </a:rPr>
              <a:t>it will be not be </a:t>
            </a:r>
            <a:r>
              <a:rPr lang="en-US" sz="1000" dirty="0" smtClean="0">
                <a:solidFill>
                  <a:prstClr val="black"/>
                </a:solidFill>
              </a:rPr>
              <a:t>optimized (e.g. there is only one “right way” for creating a Table)</a:t>
            </a:r>
            <a:endParaRPr lang="en-US" sz="1000" dirty="0">
              <a:solidFill>
                <a:prstClr val="black"/>
              </a:solidFill>
            </a:endParaRPr>
          </a:p>
        </p:txBody>
      </p:sp>
      <p:sp>
        <p:nvSpPr>
          <p:cNvPr id="22" name="21 CuadroTexto"/>
          <p:cNvSpPr txBox="1"/>
          <p:nvPr/>
        </p:nvSpPr>
        <p:spPr>
          <a:xfrm>
            <a:off x="3068653" y="2280034"/>
            <a:ext cx="6075346" cy="246221"/>
          </a:xfrm>
          <a:prstGeom prst="rect">
            <a:avLst/>
          </a:prstGeom>
          <a:noFill/>
        </p:spPr>
        <p:txBody>
          <a:bodyPr wrap="square" rtlCol="0">
            <a:spAutoFit/>
          </a:bodyPr>
          <a:lstStyle/>
          <a:p>
            <a:r>
              <a:rPr lang="en-US" sz="1000" dirty="0">
                <a:solidFill>
                  <a:prstClr val="black"/>
                </a:solidFill>
              </a:rPr>
              <a:t>The parse tree represents the logical </a:t>
            </a:r>
            <a:r>
              <a:rPr lang="en-US" sz="1000" dirty="0" smtClean="0">
                <a:solidFill>
                  <a:prstClr val="black"/>
                </a:solidFill>
              </a:rPr>
              <a:t>steps necessary </a:t>
            </a:r>
            <a:r>
              <a:rPr lang="en-US" sz="1000" dirty="0">
                <a:solidFill>
                  <a:prstClr val="black"/>
                </a:solidFill>
              </a:rPr>
              <a:t>to execute the query that has been requested</a:t>
            </a:r>
          </a:p>
        </p:txBody>
      </p:sp>
      <p:sp>
        <p:nvSpPr>
          <p:cNvPr id="23" name="22 CuadroTexto"/>
          <p:cNvSpPr txBox="1"/>
          <p:nvPr/>
        </p:nvSpPr>
        <p:spPr>
          <a:xfrm>
            <a:off x="1601624" y="2896139"/>
            <a:ext cx="7439824" cy="400110"/>
          </a:xfrm>
          <a:prstGeom prst="rect">
            <a:avLst/>
          </a:prstGeom>
          <a:noFill/>
        </p:spPr>
        <p:txBody>
          <a:bodyPr wrap="square" rtlCol="0">
            <a:spAutoFit/>
          </a:bodyPr>
          <a:lstStyle/>
          <a:p>
            <a:r>
              <a:rPr lang="en-US" sz="1000" dirty="0">
                <a:solidFill>
                  <a:prstClr val="black"/>
                </a:solidFill>
              </a:rPr>
              <a:t>The </a:t>
            </a:r>
            <a:r>
              <a:rPr lang="en-US" sz="1000" dirty="0" err="1">
                <a:solidFill>
                  <a:prstClr val="black"/>
                </a:solidFill>
              </a:rPr>
              <a:t>algebrizer</a:t>
            </a:r>
            <a:r>
              <a:rPr lang="en-US" sz="1000" dirty="0">
                <a:solidFill>
                  <a:prstClr val="black"/>
                </a:solidFill>
              </a:rPr>
              <a:t> resolves all </a:t>
            </a:r>
            <a:r>
              <a:rPr lang="en-US" sz="1000" dirty="0" smtClean="0">
                <a:solidFill>
                  <a:prstClr val="black"/>
                </a:solidFill>
              </a:rPr>
              <a:t>the names </a:t>
            </a:r>
            <a:r>
              <a:rPr lang="en-US" sz="1000" dirty="0">
                <a:solidFill>
                  <a:prstClr val="black"/>
                </a:solidFill>
              </a:rPr>
              <a:t>of the various objects, tables and </a:t>
            </a:r>
            <a:r>
              <a:rPr lang="en-US" sz="1000" dirty="0" smtClean="0">
                <a:solidFill>
                  <a:prstClr val="black"/>
                </a:solidFill>
              </a:rPr>
              <a:t>columns.  It </a:t>
            </a:r>
            <a:r>
              <a:rPr lang="en-US" sz="1000" dirty="0">
                <a:solidFill>
                  <a:prstClr val="black"/>
                </a:solidFill>
              </a:rPr>
              <a:t>also determines the location of </a:t>
            </a:r>
            <a:r>
              <a:rPr lang="en-US" sz="1000" dirty="0" smtClean="0">
                <a:solidFill>
                  <a:prstClr val="black"/>
                </a:solidFill>
              </a:rPr>
              <a:t>aggregates. </a:t>
            </a:r>
          </a:p>
          <a:p>
            <a:r>
              <a:rPr lang="en-US" sz="1000" dirty="0" smtClean="0">
                <a:solidFill>
                  <a:prstClr val="black"/>
                </a:solidFill>
              </a:rPr>
              <a:t>The </a:t>
            </a:r>
            <a:r>
              <a:rPr lang="en-US" sz="1000" dirty="0" err="1">
                <a:solidFill>
                  <a:prstClr val="black"/>
                </a:solidFill>
              </a:rPr>
              <a:t>algebrizer</a:t>
            </a:r>
            <a:r>
              <a:rPr lang="en-US" sz="1000" dirty="0">
                <a:solidFill>
                  <a:prstClr val="black"/>
                </a:solidFill>
              </a:rPr>
              <a:t> outputs a binary called the </a:t>
            </a:r>
            <a:r>
              <a:rPr lang="en-US" sz="1000" b="1" dirty="0">
                <a:solidFill>
                  <a:prstClr val="black"/>
                </a:solidFill>
              </a:rPr>
              <a:t>query processor tree</a:t>
            </a:r>
            <a:r>
              <a:rPr lang="en-US" sz="1000" dirty="0">
                <a:solidFill>
                  <a:prstClr val="black"/>
                </a:solidFill>
              </a:rPr>
              <a:t>, </a:t>
            </a:r>
            <a:r>
              <a:rPr lang="en-US" sz="1000" dirty="0" smtClean="0">
                <a:solidFill>
                  <a:prstClr val="black"/>
                </a:solidFill>
              </a:rPr>
              <a:t>which is </a:t>
            </a:r>
            <a:r>
              <a:rPr lang="en-US" sz="1000" dirty="0">
                <a:solidFill>
                  <a:prstClr val="black"/>
                </a:solidFill>
              </a:rPr>
              <a:t>then passed on to the </a:t>
            </a:r>
            <a:r>
              <a:rPr lang="en-US" sz="1000" b="1" dirty="0">
                <a:solidFill>
                  <a:prstClr val="black"/>
                </a:solidFill>
              </a:rPr>
              <a:t>query </a:t>
            </a:r>
            <a:r>
              <a:rPr lang="en-US" sz="1000" b="1" dirty="0" smtClean="0">
                <a:solidFill>
                  <a:prstClr val="black"/>
                </a:solidFill>
              </a:rPr>
              <a:t>optimizer</a:t>
            </a:r>
            <a:endParaRPr lang="en-US" sz="1000" dirty="0">
              <a:solidFill>
                <a:prstClr val="black"/>
              </a:solidFill>
            </a:endParaRPr>
          </a:p>
        </p:txBody>
      </p:sp>
      <p:sp>
        <p:nvSpPr>
          <p:cNvPr id="25" name="24 CuadroTexto"/>
          <p:cNvSpPr txBox="1"/>
          <p:nvPr/>
        </p:nvSpPr>
        <p:spPr>
          <a:xfrm>
            <a:off x="1704176" y="3869467"/>
            <a:ext cx="7439824" cy="400110"/>
          </a:xfrm>
          <a:prstGeom prst="rect">
            <a:avLst/>
          </a:prstGeom>
          <a:noFill/>
        </p:spPr>
        <p:txBody>
          <a:bodyPr wrap="square" rtlCol="0">
            <a:spAutoFit/>
          </a:bodyPr>
          <a:lstStyle/>
          <a:p>
            <a:r>
              <a:rPr lang="en-US" sz="1000" dirty="0">
                <a:solidFill>
                  <a:prstClr val="black"/>
                </a:solidFill>
              </a:rPr>
              <a:t>Using the </a:t>
            </a:r>
            <a:r>
              <a:rPr lang="en-US" sz="1000" dirty="0" smtClean="0">
                <a:solidFill>
                  <a:prstClr val="black"/>
                </a:solidFill>
              </a:rPr>
              <a:t>query processor </a:t>
            </a:r>
            <a:r>
              <a:rPr lang="en-US" sz="1000" dirty="0">
                <a:solidFill>
                  <a:prstClr val="black"/>
                </a:solidFill>
              </a:rPr>
              <a:t>tree and the </a:t>
            </a:r>
            <a:r>
              <a:rPr lang="en-US" sz="1000" b="1" dirty="0">
                <a:solidFill>
                  <a:prstClr val="black"/>
                </a:solidFill>
              </a:rPr>
              <a:t>statistics </a:t>
            </a:r>
            <a:r>
              <a:rPr lang="en-US" sz="1000" dirty="0">
                <a:solidFill>
                  <a:prstClr val="black"/>
                </a:solidFill>
              </a:rPr>
              <a:t>it has about the data, and applying </a:t>
            </a:r>
            <a:r>
              <a:rPr lang="en-US" sz="1000" dirty="0" smtClean="0">
                <a:solidFill>
                  <a:prstClr val="black"/>
                </a:solidFill>
              </a:rPr>
              <a:t>the model</a:t>
            </a:r>
            <a:r>
              <a:rPr lang="en-US" sz="1000" dirty="0">
                <a:solidFill>
                  <a:prstClr val="black"/>
                </a:solidFill>
              </a:rPr>
              <a:t>, it works out what it thinks will be the optimal way to execute </a:t>
            </a:r>
            <a:r>
              <a:rPr lang="en-US" sz="1000" dirty="0" smtClean="0">
                <a:solidFill>
                  <a:prstClr val="black"/>
                </a:solidFill>
              </a:rPr>
              <a:t>the query </a:t>
            </a:r>
            <a:r>
              <a:rPr lang="en-US" sz="1000" dirty="0">
                <a:solidFill>
                  <a:prstClr val="black"/>
                </a:solidFill>
              </a:rPr>
              <a:t>– that is, it generates an execution plan</a:t>
            </a:r>
          </a:p>
        </p:txBody>
      </p:sp>
      <p:sp>
        <p:nvSpPr>
          <p:cNvPr id="26" name="25 CuadroTexto"/>
          <p:cNvSpPr txBox="1"/>
          <p:nvPr/>
        </p:nvSpPr>
        <p:spPr>
          <a:xfrm>
            <a:off x="1704176" y="4214945"/>
            <a:ext cx="7439824" cy="553998"/>
          </a:xfrm>
          <a:prstGeom prst="rect">
            <a:avLst/>
          </a:prstGeom>
          <a:noFill/>
        </p:spPr>
        <p:txBody>
          <a:bodyPr wrap="square" rtlCol="0">
            <a:spAutoFit/>
          </a:bodyPr>
          <a:lstStyle/>
          <a:p>
            <a:r>
              <a:rPr lang="en-US" sz="1000" dirty="0">
                <a:solidFill>
                  <a:prstClr val="black"/>
                </a:solidFill>
              </a:rPr>
              <a:t>It decides if </a:t>
            </a:r>
            <a:r>
              <a:rPr lang="en-US" sz="1000" dirty="0" smtClean="0">
                <a:solidFill>
                  <a:prstClr val="black"/>
                </a:solidFill>
              </a:rPr>
              <a:t>the data </a:t>
            </a:r>
            <a:r>
              <a:rPr lang="en-US" sz="1000" dirty="0">
                <a:solidFill>
                  <a:prstClr val="black"/>
                </a:solidFill>
              </a:rPr>
              <a:t>can be accessed through indexes, what types of joins to </a:t>
            </a:r>
            <a:r>
              <a:rPr lang="en-US" sz="1000" dirty="0" smtClean="0">
                <a:solidFill>
                  <a:prstClr val="black"/>
                </a:solidFill>
              </a:rPr>
              <a:t>use, etc.</a:t>
            </a:r>
          </a:p>
          <a:p>
            <a:r>
              <a:rPr lang="en-US" sz="1000" dirty="0">
                <a:solidFill>
                  <a:prstClr val="black"/>
                </a:solidFill>
              </a:rPr>
              <a:t>The decisions made by the optimizer are based on what </a:t>
            </a:r>
            <a:r>
              <a:rPr lang="en-US" sz="1000" dirty="0" smtClean="0">
                <a:solidFill>
                  <a:prstClr val="black"/>
                </a:solidFill>
              </a:rPr>
              <a:t>it calculates </a:t>
            </a:r>
            <a:r>
              <a:rPr lang="en-US" sz="1000" dirty="0">
                <a:solidFill>
                  <a:prstClr val="black"/>
                </a:solidFill>
              </a:rPr>
              <a:t>to be the cost of a given execution plan, in terms of </a:t>
            </a:r>
            <a:r>
              <a:rPr lang="en-US" sz="1000" dirty="0" smtClean="0">
                <a:solidFill>
                  <a:prstClr val="black"/>
                </a:solidFill>
              </a:rPr>
              <a:t>the required </a:t>
            </a:r>
            <a:r>
              <a:rPr lang="en-US" sz="1000" dirty="0">
                <a:solidFill>
                  <a:prstClr val="black"/>
                </a:solidFill>
              </a:rPr>
              <a:t>CPU processing and I/O, and how fast it will execute. Hence</a:t>
            </a:r>
            <a:r>
              <a:rPr lang="en-US" sz="1000" dirty="0" smtClean="0">
                <a:solidFill>
                  <a:prstClr val="black"/>
                </a:solidFill>
              </a:rPr>
              <a:t>, this </a:t>
            </a:r>
            <a:r>
              <a:rPr lang="en-US" sz="1000" dirty="0">
                <a:solidFill>
                  <a:prstClr val="black"/>
                </a:solidFill>
              </a:rPr>
              <a:t>is known as a </a:t>
            </a:r>
            <a:r>
              <a:rPr lang="en-US" sz="1000" b="1" dirty="0">
                <a:solidFill>
                  <a:srgbClr val="FF0000"/>
                </a:solidFill>
              </a:rPr>
              <a:t>cost-based plan</a:t>
            </a:r>
          </a:p>
        </p:txBody>
      </p:sp>
      <p:sp>
        <p:nvSpPr>
          <p:cNvPr id="27" name="26 CuadroTexto"/>
          <p:cNvSpPr txBox="1"/>
          <p:nvPr/>
        </p:nvSpPr>
        <p:spPr>
          <a:xfrm>
            <a:off x="3402648" y="4991589"/>
            <a:ext cx="5638800" cy="400110"/>
          </a:xfrm>
          <a:prstGeom prst="rect">
            <a:avLst/>
          </a:prstGeom>
          <a:noFill/>
        </p:spPr>
        <p:txBody>
          <a:bodyPr wrap="square" rtlCol="0">
            <a:spAutoFit/>
          </a:bodyPr>
          <a:lstStyle/>
          <a:p>
            <a:r>
              <a:rPr lang="en-US" sz="1000" dirty="0">
                <a:solidFill>
                  <a:prstClr val="black"/>
                </a:solidFill>
              </a:rPr>
              <a:t>Once the optimizer arrives at an execution plan, the actual plan </a:t>
            </a:r>
            <a:r>
              <a:rPr lang="en-US" sz="1000" dirty="0" smtClean="0">
                <a:solidFill>
                  <a:prstClr val="black"/>
                </a:solidFill>
              </a:rPr>
              <a:t>is created </a:t>
            </a:r>
            <a:r>
              <a:rPr lang="en-US" sz="1000" dirty="0">
                <a:solidFill>
                  <a:prstClr val="black"/>
                </a:solidFill>
              </a:rPr>
              <a:t>and stored in a memory space known as the </a:t>
            </a:r>
            <a:r>
              <a:rPr lang="en-US" sz="1000" b="1" dirty="0">
                <a:solidFill>
                  <a:prstClr val="black"/>
                </a:solidFill>
              </a:rPr>
              <a:t>plan cache</a:t>
            </a:r>
            <a:endParaRPr lang="en-US" sz="1000" dirty="0">
              <a:solidFill>
                <a:prstClr val="black"/>
              </a:solidFill>
            </a:endParaRPr>
          </a:p>
        </p:txBody>
      </p:sp>
      <p:sp>
        <p:nvSpPr>
          <p:cNvPr id="32" name="31 Flecha doblada hacia arriba"/>
          <p:cNvSpPr/>
          <p:nvPr/>
        </p:nvSpPr>
        <p:spPr>
          <a:xfrm rot="10800000">
            <a:off x="561172" y="545304"/>
            <a:ext cx="542659" cy="380427"/>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34" name="33 Conector recto"/>
          <p:cNvCxnSpPr>
            <a:stCxn id="2" idx="2"/>
          </p:cNvCxnSpPr>
          <p:nvPr/>
        </p:nvCxnSpPr>
        <p:spPr>
          <a:xfrm>
            <a:off x="832502" y="1852745"/>
            <a:ext cx="0" cy="41765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35 Conector recto de flecha"/>
          <p:cNvCxnSpPr/>
          <p:nvPr/>
        </p:nvCxnSpPr>
        <p:spPr>
          <a:xfrm>
            <a:off x="832502" y="2270403"/>
            <a:ext cx="871674"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41 CuadroTexto"/>
          <p:cNvSpPr txBox="1"/>
          <p:nvPr/>
        </p:nvSpPr>
        <p:spPr>
          <a:xfrm>
            <a:off x="786921" y="2053905"/>
            <a:ext cx="700399" cy="246221"/>
          </a:xfrm>
          <a:prstGeom prst="rect">
            <a:avLst/>
          </a:prstGeom>
          <a:noFill/>
        </p:spPr>
        <p:txBody>
          <a:bodyPr wrap="square" rtlCol="0">
            <a:spAutoFit/>
          </a:bodyPr>
          <a:lstStyle/>
          <a:p>
            <a:r>
              <a:rPr lang="en-US" sz="1000" i="1" dirty="0" smtClean="0">
                <a:solidFill>
                  <a:prstClr val="black"/>
                </a:solidFill>
              </a:rPr>
              <a:t>Outputs</a:t>
            </a:r>
            <a:endParaRPr lang="en-US" sz="1000" i="1" dirty="0">
              <a:solidFill>
                <a:prstClr val="black"/>
              </a:solidFill>
            </a:endParaRPr>
          </a:p>
        </p:txBody>
      </p:sp>
      <p:sp>
        <p:nvSpPr>
          <p:cNvPr id="43" name="42 CuadroTexto"/>
          <p:cNvSpPr txBox="1"/>
          <p:nvPr/>
        </p:nvSpPr>
        <p:spPr>
          <a:xfrm>
            <a:off x="789054" y="2480119"/>
            <a:ext cx="700399" cy="246221"/>
          </a:xfrm>
          <a:prstGeom prst="rect">
            <a:avLst/>
          </a:prstGeom>
          <a:noFill/>
        </p:spPr>
        <p:txBody>
          <a:bodyPr wrap="square" rtlCol="0">
            <a:spAutoFit/>
          </a:bodyPr>
          <a:lstStyle/>
          <a:p>
            <a:r>
              <a:rPr lang="en-US" sz="1000" i="1" dirty="0" smtClean="0">
                <a:solidFill>
                  <a:prstClr val="black"/>
                </a:solidFill>
              </a:rPr>
              <a:t>Passed to</a:t>
            </a:r>
            <a:endParaRPr lang="en-US" sz="1000" i="1" dirty="0">
              <a:solidFill>
                <a:prstClr val="black"/>
              </a:solidFill>
            </a:endParaRPr>
          </a:p>
        </p:txBody>
      </p:sp>
      <p:sp>
        <p:nvSpPr>
          <p:cNvPr id="44" name="43 CuadroTexto"/>
          <p:cNvSpPr txBox="1"/>
          <p:nvPr/>
        </p:nvSpPr>
        <p:spPr>
          <a:xfrm>
            <a:off x="1704175" y="3365748"/>
            <a:ext cx="1364478" cy="246221"/>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000" dirty="0" smtClean="0">
                <a:solidFill>
                  <a:prstClr val="black"/>
                </a:solidFill>
              </a:rPr>
              <a:t>Query Processor Tree</a:t>
            </a:r>
            <a:endParaRPr lang="en-US" sz="1000" dirty="0">
              <a:solidFill>
                <a:prstClr val="black"/>
              </a:solidFill>
            </a:endParaRPr>
          </a:p>
        </p:txBody>
      </p:sp>
      <p:cxnSp>
        <p:nvCxnSpPr>
          <p:cNvPr id="46" name="45 Conector recto"/>
          <p:cNvCxnSpPr/>
          <p:nvPr/>
        </p:nvCxnSpPr>
        <p:spPr>
          <a:xfrm flipH="1">
            <a:off x="832502" y="2509163"/>
            <a:ext cx="87167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47 Conector recto de flecha"/>
          <p:cNvCxnSpPr/>
          <p:nvPr/>
        </p:nvCxnSpPr>
        <p:spPr>
          <a:xfrm>
            <a:off x="830721" y="2509163"/>
            <a:ext cx="1781" cy="4382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49 Conector recto"/>
          <p:cNvCxnSpPr>
            <a:stCxn id="12" idx="2"/>
          </p:cNvCxnSpPr>
          <p:nvPr/>
        </p:nvCxnSpPr>
        <p:spPr>
          <a:xfrm flipH="1">
            <a:off x="830721" y="3229709"/>
            <a:ext cx="1782" cy="13603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51 Conector recto de flecha"/>
          <p:cNvCxnSpPr/>
          <p:nvPr/>
        </p:nvCxnSpPr>
        <p:spPr>
          <a:xfrm>
            <a:off x="832503" y="3365748"/>
            <a:ext cx="871672"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53 Conector recto"/>
          <p:cNvCxnSpPr/>
          <p:nvPr/>
        </p:nvCxnSpPr>
        <p:spPr>
          <a:xfrm flipH="1">
            <a:off x="832503" y="3611969"/>
            <a:ext cx="87167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55 Conector recto de flecha"/>
          <p:cNvCxnSpPr/>
          <p:nvPr/>
        </p:nvCxnSpPr>
        <p:spPr>
          <a:xfrm>
            <a:off x="830721" y="3611969"/>
            <a:ext cx="0" cy="2574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7" name="56 CuadroTexto"/>
          <p:cNvSpPr txBox="1"/>
          <p:nvPr/>
        </p:nvSpPr>
        <p:spPr>
          <a:xfrm>
            <a:off x="755764" y="3313341"/>
            <a:ext cx="700399" cy="246221"/>
          </a:xfrm>
          <a:prstGeom prst="rect">
            <a:avLst/>
          </a:prstGeom>
          <a:noFill/>
        </p:spPr>
        <p:txBody>
          <a:bodyPr wrap="square" rtlCol="0">
            <a:spAutoFit/>
          </a:bodyPr>
          <a:lstStyle/>
          <a:p>
            <a:r>
              <a:rPr lang="en-US" sz="1000" i="1" dirty="0" smtClean="0">
                <a:solidFill>
                  <a:prstClr val="black"/>
                </a:solidFill>
              </a:rPr>
              <a:t>Outputs</a:t>
            </a:r>
            <a:endParaRPr lang="en-US" sz="1000" i="1" dirty="0">
              <a:solidFill>
                <a:prstClr val="black"/>
              </a:solidFill>
            </a:endParaRPr>
          </a:p>
        </p:txBody>
      </p:sp>
      <p:sp>
        <p:nvSpPr>
          <p:cNvPr id="58" name="57 CuadroTexto"/>
          <p:cNvSpPr txBox="1"/>
          <p:nvPr/>
        </p:nvSpPr>
        <p:spPr>
          <a:xfrm>
            <a:off x="772681" y="3592526"/>
            <a:ext cx="700399" cy="246221"/>
          </a:xfrm>
          <a:prstGeom prst="rect">
            <a:avLst/>
          </a:prstGeom>
          <a:noFill/>
        </p:spPr>
        <p:txBody>
          <a:bodyPr wrap="square" rtlCol="0">
            <a:spAutoFit/>
          </a:bodyPr>
          <a:lstStyle/>
          <a:p>
            <a:r>
              <a:rPr lang="en-US" sz="1000" i="1" dirty="0" smtClean="0">
                <a:solidFill>
                  <a:prstClr val="black"/>
                </a:solidFill>
              </a:rPr>
              <a:t>Passed to</a:t>
            </a:r>
            <a:endParaRPr lang="en-US" sz="1000" i="1" dirty="0">
              <a:solidFill>
                <a:prstClr val="black"/>
              </a:solidFill>
            </a:endParaRPr>
          </a:p>
        </p:txBody>
      </p:sp>
      <p:cxnSp>
        <p:nvCxnSpPr>
          <p:cNvPr id="60" name="59 Conector recto de flecha"/>
          <p:cNvCxnSpPr>
            <a:stCxn id="16" idx="2"/>
            <a:endCxn id="19" idx="0"/>
          </p:cNvCxnSpPr>
          <p:nvPr/>
        </p:nvCxnSpPr>
        <p:spPr>
          <a:xfrm>
            <a:off x="832503" y="4147935"/>
            <a:ext cx="0" cy="89666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2" name="61 CuadroTexto"/>
          <p:cNvSpPr txBox="1"/>
          <p:nvPr/>
        </p:nvSpPr>
        <p:spPr>
          <a:xfrm>
            <a:off x="1828800" y="5044599"/>
            <a:ext cx="1572424" cy="246221"/>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000" dirty="0" smtClean="0">
                <a:solidFill>
                  <a:prstClr val="black"/>
                </a:solidFill>
              </a:rPr>
              <a:t>Cost based Execution Plan</a:t>
            </a:r>
            <a:endParaRPr lang="en-US" sz="1000" dirty="0">
              <a:solidFill>
                <a:prstClr val="black"/>
              </a:solidFill>
            </a:endParaRPr>
          </a:p>
        </p:txBody>
      </p:sp>
      <p:sp>
        <p:nvSpPr>
          <p:cNvPr id="63" name="62 CuadroTexto"/>
          <p:cNvSpPr txBox="1"/>
          <p:nvPr/>
        </p:nvSpPr>
        <p:spPr>
          <a:xfrm>
            <a:off x="1828800" y="5331972"/>
            <a:ext cx="1572424" cy="246221"/>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000" dirty="0" smtClean="0">
                <a:solidFill>
                  <a:prstClr val="black"/>
                </a:solidFill>
              </a:rPr>
              <a:t>Potential Plans</a:t>
            </a:r>
            <a:endParaRPr lang="en-US" sz="1000" dirty="0">
              <a:solidFill>
                <a:prstClr val="black"/>
              </a:solidFill>
            </a:endParaRPr>
          </a:p>
        </p:txBody>
      </p:sp>
      <p:cxnSp>
        <p:nvCxnSpPr>
          <p:cNvPr id="65" name="64 Conector recto de flecha"/>
          <p:cNvCxnSpPr>
            <a:stCxn id="19" idx="2"/>
          </p:cNvCxnSpPr>
          <p:nvPr/>
        </p:nvCxnSpPr>
        <p:spPr>
          <a:xfrm>
            <a:off x="832503" y="5321598"/>
            <a:ext cx="0" cy="38387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66 Conector recto"/>
          <p:cNvCxnSpPr/>
          <p:nvPr/>
        </p:nvCxnSpPr>
        <p:spPr>
          <a:xfrm>
            <a:off x="830721" y="5982474"/>
            <a:ext cx="0" cy="36650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9" name="68 Conector recto de flecha"/>
          <p:cNvCxnSpPr/>
          <p:nvPr/>
        </p:nvCxnSpPr>
        <p:spPr>
          <a:xfrm>
            <a:off x="830721" y="6348977"/>
            <a:ext cx="998079"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70 Conector recto de flecha"/>
          <p:cNvCxnSpPr/>
          <p:nvPr/>
        </p:nvCxnSpPr>
        <p:spPr>
          <a:xfrm flipV="1">
            <a:off x="1606607" y="5183098"/>
            <a:ext cx="189435" cy="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71 Conector recto de flecha"/>
          <p:cNvCxnSpPr/>
          <p:nvPr/>
        </p:nvCxnSpPr>
        <p:spPr>
          <a:xfrm flipV="1">
            <a:off x="1606607" y="5455081"/>
            <a:ext cx="189435" cy="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49" name="48 Grupo"/>
          <p:cNvGrpSpPr/>
          <p:nvPr/>
        </p:nvGrpSpPr>
        <p:grpSpPr>
          <a:xfrm>
            <a:off x="0" y="9525"/>
            <a:ext cx="9153525" cy="408388"/>
            <a:chOff x="0" y="9525"/>
            <a:chExt cx="9153525" cy="408388"/>
          </a:xfrm>
        </p:grpSpPr>
        <p:sp>
          <p:nvSpPr>
            <p:cNvPr id="51" name="50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What happens when a query is submitted?</a:t>
              </a:r>
              <a:endParaRPr lang="en-US" b="1" i="1" dirty="0">
                <a:solidFill>
                  <a:schemeClr val="bg1"/>
                </a:solidFill>
              </a:endParaRPr>
            </a:p>
          </p:txBody>
        </p:sp>
        <p:pic>
          <p:nvPicPr>
            <p:cNvPr id="53" name="52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5" name="54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9" name="58 Grupo"/>
          <p:cNvGrpSpPr/>
          <p:nvPr/>
        </p:nvGrpSpPr>
        <p:grpSpPr>
          <a:xfrm>
            <a:off x="9525" y="6574392"/>
            <a:ext cx="9134399" cy="277000"/>
            <a:chOff x="9525" y="6574392"/>
            <a:chExt cx="9134399" cy="277000"/>
          </a:xfrm>
        </p:grpSpPr>
        <p:sp>
          <p:nvSpPr>
            <p:cNvPr id="61" name="60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64" name="63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2486845672"/>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0" y="457200"/>
            <a:ext cx="9144000" cy="646331"/>
          </a:xfrm>
          <a:prstGeom prst="rect">
            <a:avLst/>
          </a:prstGeom>
          <a:noFill/>
        </p:spPr>
        <p:txBody>
          <a:bodyPr wrap="square" rtlCol="0">
            <a:spAutoFit/>
          </a:bodyPr>
          <a:lstStyle/>
          <a:p>
            <a:pPr marL="171450" indent="-171450">
              <a:buFont typeface="Wingdings" pitchFamily="2" charset="2"/>
              <a:buChar char="Ø"/>
            </a:pPr>
            <a:r>
              <a:rPr lang="en-US" sz="1200" dirty="0" smtClean="0">
                <a:solidFill>
                  <a:prstClr val="black"/>
                </a:solidFill>
              </a:rPr>
              <a:t>SQL Server provides </a:t>
            </a:r>
            <a:r>
              <a:rPr lang="en-US" sz="1200" dirty="0">
                <a:solidFill>
                  <a:prstClr val="black"/>
                </a:solidFill>
              </a:rPr>
              <a:t>78 operators </a:t>
            </a:r>
            <a:r>
              <a:rPr lang="en-US" sz="1200" dirty="0" smtClean="0">
                <a:solidFill>
                  <a:prstClr val="black"/>
                </a:solidFill>
              </a:rPr>
              <a:t>(</a:t>
            </a:r>
            <a:r>
              <a:rPr lang="en-US" sz="1200" dirty="0">
                <a:solidFill>
                  <a:prstClr val="black"/>
                </a:solidFill>
              </a:rPr>
              <a:t>approximately</a:t>
            </a:r>
            <a:r>
              <a:rPr lang="en-US" sz="1200" dirty="0" smtClean="0">
                <a:solidFill>
                  <a:prstClr val="black"/>
                </a:solidFill>
              </a:rPr>
              <a:t>) that </a:t>
            </a:r>
            <a:r>
              <a:rPr lang="en-US" sz="1200" dirty="0">
                <a:solidFill>
                  <a:prstClr val="black"/>
                </a:solidFill>
              </a:rPr>
              <a:t>represent various actions and decisions that </a:t>
            </a:r>
            <a:r>
              <a:rPr lang="en-US" sz="1200" dirty="0" smtClean="0">
                <a:solidFill>
                  <a:prstClr val="black"/>
                </a:solidFill>
              </a:rPr>
              <a:t>potentially make </a:t>
            </a:r>
            <a:r>
              <a:rPr lang="en-US" sz="1200" dirty="0">
                <a:solidFill>
                  <a:prstClr val="black"/>
                </a:solidFill>
              </a:rPr>
              <a:t>up an execution plan</a:t>
            </a:r>
            <a:r>
              <a:rPr lang="en-US" sz="1200" dirty="0" smtClean="0">
                <a:solidFill>
                  <a:prstClr val="black"/>
                </a:solidFill>
              </a:rPr>
              <a:t>.</a:t>
            </a:r>
          </a:p>
          <a:p>
            <a:pPr marL="171450" indent="-171450">
              <a:buFont typeface="Wingdings" pitchFamily="2" charset="2"/>
              <a:buChar char="Ø"/>
            </a:pPr>
            <a:r>
              <a:rPr lang="en-US" sz="1200" dirty="0" smtClean="0">
                <a:solidFill>
                  <a:prstClr val="black"/>
                </a:solidFill>
              </a:rPr>
              <a:t>For the sake of brevity, I’ll focus on the most common operators only.</a:t>
            </a:r>
          </a:p>
          <a:p>
            <a:pPr marL="171450" indent="-171450">
              <a:buFont typeface="Wingdings" pitchFamily="2" charset="2"/>
              <a:buChar char="Ø"/>
            </a:pPr>
            <a:r>
              <a:rPr lang="en-US" sz="1200" dirty="0" smtClean="0">
                <a:solidFill>
                  <a:prstClr val="black"/>
                </a:solidFill>
              </a:rPr>
              <a:t>They are </a:t>
            </a:r>
            <a:r>
              <a:rPr lang="en-US" sz="1200" dirty="0">
                <a:solidFill>
                  <a:prstClr val="black"/>
                </a:solidFill>
              </a:rPr>
              <a:t>all described at </a:t>
            </a:r>
            <a:r>
              <a:rPr lang="en-US" sz="1200" dirty="0">
                <a:solidFill>
                  <a:prstClr val="black"/>
                </a:solidFill>
                <a:hlinkClick r:id="rId2"/>
              </a:rPr>
              <a:t>http://msdn.microsoft.com/en-us/library/ms175913(v=sql.105).</a:t>
            </a:r>
            <a:r>
              <a:rPr lang="en-US" sz="1200" dirty="0" smtClean="0">
                <a:solidFill>
                  <a:prstClr val="black"/>
                </a:solidFill>
                <a:hlinkClick r:id="rId2"/>
              </a:rPr>
              <a:t>aspx</a:t>
            </a:r>
            <a:r>
              <a:rPr lang="en-US" sz="1200" dirty="0" smtClean="0">
                <a:solidFill>
                  <a:prstClr val="black"/>
                </a:solidFill>
              </a:rPr>
              <a:t> </a:t>
            </a:r>
          </a:p>
        </p:txBody>
      </p:sp>
      <p:sp>
        <p:nvSpPr>
          <p:cNvPr id="29" name="28 CuadroTexto"/>
          <p:cNvSpPr txBox="1"/>
          <p:nvPr/>
        </p:nvSpPr>
        <p:spPr>
          <a:xfrm>
            <a:off x="0" y="1867502"/>
            <a:ext cx="9144000" cy="4339650"/>
          </a:xfrm>
          <a:prstGeom prst="rect">
            <a:avLst/>
          </a:prstGeom>
          <a:noFill/>
        </p:spPr>
        <p:txBody>
          <a:bodyPr wrap="square" rtlCol="0">
            <a:spAutoFit/>
          </a:bodyPr>
          <a:lstStyle/>
          <a:p>
            <a:pPr marL="171450" indent="-171450">
              <a:buFont typeface="Wingdings" pitchFamily="2" charset="2"/>
              <a:buChar char="Ø"/>
            </a:pPr>
            <a:r>
              <a:rPr lang="en-US" sz="1200" b="1" dirty="0" smtClean="0">
                <a:solidFill>
                  <a:prstClr val="black"/>
                </a:solidFill>
              </a:rPr>
              <a:t>Cached </a:t>
            </a:r>
            <a:r>
              <a:rPr lang="en-US" sz="1200" b="1" dirty="0">
                <a:solidFill>
                  <a:prstClr val="black"/>
                </a:solidFill>
              </a:rPr>
              <a:t>plan </a:t>
            </a:r>
            <a:r>
              <a:rPr lang="en-US" sz="1200" b="1" dirty="0" smtClean="0">
                <a:solidFill>
                  <a:prstClr val="black"/>
                </a:solidFill>
              </a:rPr>
              <a:t>size</a:t>
            </a:r>
            <a:endParaRPr lang="en-US" sz="1200" dirty="0">
              <a:solidFill>
                <a:prstClr val="black"/>
              </a:solidFill>
            </a:endParaRPr>
          </a:p>
          <a:p>
            <a:r>
              <a:rPr lang="en-US" sz="1200" dirty="0" smtClean="0">
                <a:solidFill>
                  <a:prstClr val="black"/>
                </a:solidFill>
              </a:rPr>
              <a:t>How </a:t>
            </a:r>
            <a:r>
              <a:rPr lang="en-US" sz="1200" dirty="0">
                <a:solidFill>
                  <a:prstClr val="black"/>
                </a:solidFill>
              </a:rPr>
              <a:t>much memory the plan generated </a:t>
            </a:r>
            <a:r>
              <a:rPr lang="en-US" sz="1200" dirty="0" smtClean="0">
                <a:solidFill>
                  <a:prstClr val="black"/>
                </a:solidFill>
              </a:rPr>
              <a:t>by this </a:t>
            </a:r>
            <a:r>
              <a:rPr lang="en-US" sz="1200" dirty="0">
                <a:solidFill>
                  <a:prstClr val="black"/>
                </a:solidFill>
              </a:rPr>
              <a:t>query will take up in stored procedure cache. </a:t>
            </a:r>
            <a:endParaRPr lang="en-US" sz="1200" dirty="0" smtClean="0">
              <a:solidFill>
                <a:prstClr val="black"/>
              </a:solidFill>
            </a:endParaRPr>
          </a:p>
          <a:p>
            <a:r>
              <a:rPr lang="en-US" sz="1200" dirty="0" smtClean="0">
                <a:solidFill>
                  <a:prstClr val="black"/>
                </a:solidFill>
              </a:rPr>
              <a:t>This </a:t>
            </a:r>
            <a:r>
              <a:rPr lang="en-US" sz="1200" dirty="0">
                <a:solidFill>
                  <a:prstClr val="black"/>
                </a:solidFill>
              </a:rPr>
              <a:t>is </a:t>
            </a:r>
            <a:r>
              <a:rPr lang="en-US" sz="1200" dirty="0" smtClean="0">
                <a:solidFill>
                  <a:prstClr val="black"/>
                </a:solidFill>
              </a:rPr>
              <a:t>a useful </a:t>
            </a:r>
            <a:r>
              <a:rPr lang="en-US" sz="1200" dirty="0">
                <a:solidFill>
                  <a:prstClr val="black"/>
                </a:solidFill>
              </a:rPr>
              <a:t>number when investigating cache performance </a:t>
            </a:r>
            <a:r>
              <a:rPr lang="en-US" sz="1200" dirty="0" smtClean="0">
                <a:solidFill>
                  <a:prstClr val="black"/>
                </a:solidFill>
              </a:rPr>
              <a:t>issues because </a:t>
            </a:r>
            <a:r>
              <a:rPr lang="en-US" sz="1200" dirty="0">
                <a:solidFill>
                  <a:prstClr val="black"/>
                </a:solidFill>
              </a:rPr>
              <a:t>you'll be able to see which plans are taking up </a:t>
            </a:r>
            <a:r>
              <a:rPr lang="en-US" sz="1200" dirty="0" smtClean="0">
                <a:solidFill>
                  <a:prstClr val="black"/>
                </a:solidFill>
              </a:rPr>
              <a:t>more memory.</a:t>
            </a:r>
          </a:p>
          <a:p>
            <a:endParaRPr lang="en-US" sz="1200" dirty="0">
              <a:solidFill>
                <a:prstClr val="black"/>
              </a:solidFill>
            </a:endParaRPr>
          </a:p>
          <a:p>
            <a:pPr marL="171450" indent="-171450">
              <a:buFont typeface="Wingdings" pitchFamily="2" charset="2"/>
              <a:buChar char="Ø"/>
            </a:pPr>
            <a:r>
              <a:rPr lang="en-US" sz="1200" b="1" dirty="0" smtClean="0">
                <a:solidFill>
                  <a:prstClr val="black"/>
                </a:solidFill>
              </a:rPr>
              <a:t>Estimated </a:t>
            </a:r>
            <a:r>
              <a:rPr lang="en-US" sz="1200" b="1" dirty="0">
                <a:solidFill>
                  <a:prstClr val="black"/>
                </a:solidFill>
              </a:rPr>
              <a:t>Operator </a:t>
            </a:r>
            <a:r>
              <a:rPr lang="en-US" sz="1200" b="1" dirty="0" smtClean="0">
                <a:solidFill>
                  <a:prstClr val="black"/>
                </a:solidFill>
              </a:rPr>
              <a:t>Cost</a:t>
            </a:r>
          </a:p>
          <a:p>
            <a:r>
              <a:rPr lang="en-US" sz="1200" dirty="0">
                <a:solidFill>
                  <a:prstClr val="black"/>
                </a:solidFill>
              </a:rPr>
              <a:t>The cost to the query optimizer for executing this operation. </a:t>
            </a:r>
            <a:endParaRPr lang="en-US" sz="1200" dirty="0" smtClean="0">
              <a:solidFill>
                <a:prstClr val="black"/>
              </a:solidFill>
            </a:endParaRPr>
          </a:p>
          <a:p>
            <a:r>
              <a:rPr lang="en-US" sz="1200" dirty="0" smtClean="0">
                <a:solidFill>
                  <a:prstClr val="black"/>
                </a:solidFill>
              </a:rPr>
              <a:t>The </a:t>
            </a:r>
            <a:r>
              <a:rPr lang="en-US" sz="1200" dirty="0">
                <a:solidFill>
                  <a:prstClr val="black"/>
                </a:solidFill>
              </a:rPr>
              <a:t>cost of this operation as a percentage of the total cost of the query is displayed in parentheses. </a:t>
            </a:r>
            <a:endParaRPr lang="en-US" sz="1200" dirty="0" smtClean="0">
              <a:solidFill>
                <a:prstClr val="black"/>
              </a:solidFill>
            </a:endParaRPr>
          </a:p>
          <a:p>
            <a:r>
              <a:rPr lang="en-US" sz="1200" dirty="0" smtClean="0">
                <a:solidFill>
                  <a:prstClr val="black"/>
                </a:solidFill>
              </a:rPr>
              <a:t>Because </a:t>
            </a:r>
            <a:r>
              <a:rPr lang="en-US" sz="1200" dirty="0">
                <a:solidFill>
                  <a:prstClr val="black"/>
                </a:solidFill>
              </a:rPr>
              <a:t>the query engine selects the most efficient operation to perform the query or execute the statement, this value should be as low as possible.</a:t>
            </a:r>
            <a:endParaRPr lang="en-US" sz="1200" dirty="0" smtClean="0">
              <a:solidFill>
                <a:prstClr val="black"/>
              </a:solidFill>
            </a:endParaRPr>
          </a:p>
          <a:p>
            <a:endParaRPr lang="en-US" sz="1200" dirty="0">
              <a:solidFill>
                <a:prstClr val="black"/>
              </a:solidFill>
            </a:endParaRPr>
          </a:p>
          <a:p>
            <a:pPr marL="171450" indent="-171450">
              <a:buFont typeface="Wingdings" pitchFamily="2" charset="2"/>
              <a:buChar char="Ø"/>
            </a:pPr>
            <a:r>
              <a:rPr lang="en-US" sz="1200" b="1" dirty="0" smtClean="0">
                <a:solidFill>
                  <a:prstClr val="black"/>
                </a:solidFill>
              </a:rPr>
              <a:t>Estimated Sub tree Cost</a:t>
            </a:r>
            <a:r>
              <a:rPr lang="en-US" sz="1200" dirty="0">
                <a:solidFill>
                  <a:prstClr val="black"/>
                </a:solidFill>
              </a:rPr>
              <a:t> </a:t>
            </a:r>
          </a:p>
          <a:p>
            <a:r>
              <a:rPr lang="en-US" sz="1200" dirty="0" smtClean="0">
                <a:solidFill>
                  <a:prstClr val="black"/>
                </a:solidFill>
              </a:rPr>
              <a:t>Tells </a:t>
            </a:r>
            <a:r>
              <a:rPr lang="en-US" sz="1200" dirty="0">
                <a:solidFill>
                  <a:prstClr val="black"/>
                </a:solidFill>
              </a:rPr>
              <a:t>us the accumulated </a:t>
            </a:r>
            <a:r>
              <a:rPr lang="en-US" sz="1200" dirty="0" smtClean="0">
                <a:solidFill>
                  <a:prstClr val="black"/>
                </a:solidFill>
              </a:rPr>
              <a:t>optimizer cost </a:t>
            </a:r>
            <a:r>
              <a:rPr lang="en-US" sz="1200" dirty="0">
                <a:solidFill>
                  <a:prstClr val="black"/>
                </a:solidFill>
              </a:rPr>
              <a:t>assigned to this step and all previous steps, but </a:t>
            </a:r>
            <a:r>
              <a:rPr lang="en-US" sz="1200" dirty="0" smtClean="0">
                <a:solidFill>
                  <a:prstClr val="black"/>
                </a:solidFill>
              </a:rPr>
              <a:t>remember to </a:t>
            </a:r>
            <a:r>
              <a:rPr lang="en-US" sz="1200" dirty="0">
                <a:solidFill>
                  <a:prstClr val="black"/>
                </a:solidFill>
              </a:rPr>
              <a:t>read from right to left. </a:t>
            </a:r>
            <a:endParaRPr lang="en-US" sz="1200" dirty="0" smtClean="0">
              <a:solidFill>
                <a:prstClr val="black"/>
              </a:solidFill>
            </a:endParaRPr>
          </a:p>
          <a:p>
            <a:r>
              <a:rPr lang="en-US" sz="1200" dirty="0" smtClean="0">
                <a:solidFill>
                  <a:prstClr val="black"/>
                </a:solidFill>
              </a:rPr>
              <a:t>This </a:t>
            </a:r>
            <a:r>
              <a:rPr lang="en-US" sz="1200" dirty="0">
                <a:solidFill>
                  <a:prstClr val="black"/>
                </a:solidFill>
              </a:rPr>
              <a:t>number is meaningless in </a:t>
            </a:r>
            <a:r>
              <a:rPr lang="en-US" sz="1200" dirty="0" smtClean="0">
                <a:solidFill>
                  <a:prstClr val="black"/>
                </a:solidFill>
              </a:rPr>
              <a:t>the real </a:t>
            </a:r>
            <a:r>
              <a:rPr lang="en-US" sz="1200" dirty="0">
                <a:solidFill>
                  <a:prstClr val="black"/>
                </a:solidFill>
              </a:rPr>
              <a:t>world, but is a mathematical evaluation used by the </a:t>
            </a:r>
            <a:r>
              <a:rPr lang="en-US" sz="1200" dirty="0" smtClean="0">
                <a:solidFill>
                  <a:prstClr val="black"/>
                </a:solidFill>
              </a:rPr>
              <a:t>query optimizer </a:t>
            </a:r>
            <a:r>
              <a:rPr lang="en-US" sz="1200" dirty="0">
                <a:solidFill>
                  <a:prstClr val="black"/>
                </a:solidFill>
              </a:rPr>
              <a:t>to determine the cost of the operator in </a:t>
            </a:r>
            <a:r>
              <a:rPr lang="en-US" sz="1200" dirty="0" smtClean="0">
                <a:solidFill>
                  <a:prstClr val="black"/>
                </a:solidFill>
              </a:rPr>
              <a:t>question.</a:t>
            </a:r>
          </a:p>
          <a:p>
            <a:r>
              <a:rPr lang="en-US" sz="1200" dirty="0" smtClean="0">
                <a:solidFill>
                  <a:prstClr val="black"/>
                </a:solidFill>
              </a:rPr>
              <a:t>It represents </a:t>
            </a:r>
            <a:r>
              <a:rPr lang="en-US" sz="1200" dirty="0">
                <a:solidFill>
                  <a:prstClr val="black"/>
                </a:solidFill>
              </a:rPr>
              <a:t>the amount of time that the optimizer </a:t>
            </a:r>
            <a:r>
              <a:rPr lang="en-US" sz="1200" dirty="0" smtClean="0">
                <a:solidFill>
                  <a:prstClr val="black"/>
                </a:solidFill>
              </a:rPr>
              <a:t>“thinks” this operator </a:t>
            </a:r>
            <a:r>
              <a:rPr lang="en-US" sz="1200" dirty="0">
                <a:solidFill>
                  <a:prstClr val="black"/>
                </a:solidFill>
              </a:rPr>
              <a:t>will take</a:t>
            </a:r>
            <a:r>
              <a:rPr lang="en-US" sz="1200" dirty="0" smtClean="0">
                <a:solidFill>
                  <a:prstClr val="black"/>
                </a:solidFill>
              </a:rPr>
              <a:t>.</a:t>
            </a:r>
          </a:p>
          <a:p>
            <a:endParaRPr lang="en-US" sz="1200" dirty="0">
              <a:solidFill>
                <a:prstClr val="black"/>
              </a:solidFill>
            </a:endParaRPr>
          </a:p>
          <a:p>
            <a:pPr marL="171450" indent="-171450">
              <a:buFont typeface="Wingdings" pitchFamily="2" charset="2"/>
              <a:buChar char="Ø"/>
            </a:pPr>
            <a:r>
              <a:rPr lang="en-US" sz="1200" b="1" dirty="0" smtClean="0">
                <a:solidFill>
                  <a:prstClr val="black"/>
                </a:solidFill>
              </a:rPr>
              <a:t>Estimated </a:t>
            </a:r>
            <a:r>
              <a:rPr lang="en-US" sz="1200" b="1" dirty="0">
                <a:solidFill>
                  <a:prstClr val="black"/>
                </a:solidFill>
              </a:rPr>
              <a:t>number of </a:t>
            </a:r>
            <a:r>
              <a:rPr lang="en-US" sz="1200" b="1" dirty="0" smtClean="0">
                <a:solidFill>
                  <a:prstClr val="black"/>
                </a:solidFill>
              </a:rPr>
              <a:t>rows</a:t>
            </a:r>
            <a:endParaRPr lang="en-US" sz="1200" dirty="0" smtClean="0">
              <a:solidFill>
                <a:prstClr val="black"/>
              </a:solidFill>
            </a:endParaRPr>
          </a:p>
          <a:p>
            <a:r>
              <a:rPr lang="en-US" sz="1200" dirty="0" smtClean="0">
                <a:solidFill>
                  <a:prstClr val="black"/>
                </a:solidFill>
              </a:rPr>
              <a:t>Calculated </a:t>
            </a:r>
            <a:r>
              <a:rPr lang="en-US" sz="1200" dirty="0">
                <a:solidFill>
                  <a:prstClr val="black"/>
                </a:solidFill>
              </a:rPr>
              <a:t>based on </a:t>
            </a:r>
            <a:r>
              <a:rPr lang="en-US" sz="1200" dirty="0" smtClean="0">
                <a:solidFill>
                  <a:prstClr val="black"/>
                </a:solidFill>
              </a:rPr>
              <a:t>the statistics </a:t>
            </a:r>
            <a:r>
              <a:rPr lang="en-US" sz="1200" dirty="0">
                <a:solidFill>
                  <a:prstClr val="black"/>
                </a:solidFill>
              </a:rPr>
              <a:t>available to the optimizer for the table or index </a:t>
            </a:r>
            <a:r>
              <a:rPr lang="en-US" sz="1200" dirty="0" smtClean="0">
                <a:solidFill>
                  <a:prstClr val="black"/>
                </a:solidFill>
              </a:rPr>
              <a:t>in question.</a:t>
            </a:r>
          </a:p>
          <a:p>
            <a:endParaRPr lang="en-US" sz="1200" dirty="0">
              <a:solidFill>
                <a:prstClr val="black"/>
              </a:solidFill>
            </a:endParaRPr>
          </a:p>
          <a:p>
            <a:pPr marL="171450" indent="-171450">
              <a:buFont typeface="Wingdings" pitchFamily="2" charset="2"/>
              <a:buChar char="Ø"/>
            </a:pPr>
            <a:r>
              <a:rPr lang="en-US" sz="1200" b="1" dirty="0">
                <a:solidFill>
                  <a:prstClr val="black"/>
                </a:solidFill>
              </a:rPr>
              <a:t>Estimated I/O </a:t>
            </a:r>
            <a:r>
              <a:rPr lang="en-US" sz="1200" b="1" dirty="0" smtClean="0">
                <a:solidFill>
                  <a:prstClr val="black"/>
                </a:solidFill>
              </a:rPr>
              <a:t>Cost</a:t>
            </a:r>
          </a:p>
          <a:p>
            <a:r>
              <a:rPr lang="en-US" sz="1200" dirty="0">
                <a:solidFill>
                  <a:prstClr val="black"/>
                </a:solidFill>
              </a:rPr>
              <a:t>The estimated cost of all I/O activity for the operation. This value should be as low as possible</a:t>
            </a:r>
            <a:r>
              <a:rPr lang="en-US" sz="1200" dirty="0" smtClean="0">
                <a:solidFill>
                  <a:prstClr val="black"/>
                </a:solidFill>
              </a:rPr>
              <a:t>.</a:t>
            </a:r>
          </a:p>
          <a:p>
            <a:endParaRPr lang="en-US" sz="1200" dirty="0">
              <a:solidFill>
                <a:prstClr val="black"/>
              </a:solidFill>
            </a:endParaRPr>
          </a:p>
          <a:p>
            <a:r>
              <a:rPr lang="en-US" sz="1200" dirty="0">
                <a:solidFill>
                  <a:prstClr val="black"/>
                </a:solidFill>
              </a:rPr>
              <a:t>More at </a:t>
            </a:r>
            <a:r>
              <a:rPr lang="en-US" sz="1200" dirty="0">
                <a:solidFill>
                  <a:prstClr val="black"/>
                </a:solidFill>
                <a:hlinkClick r:id="rId3"/>
              </a:rPr>
              <a:t>http://msdn.microsoft.com/en-us/library/ms178071(v=sql.105).</a:t>
            </a:r>
            <a:r>
              <a:rPr lang="en-US" sz="1200" dirty="0" smtClean="0">
                <a:solidFill>
                  <a:prstClr val="black"/>
                </a:solidFill>
                <a:hlinkClick r:id="rId3"/>
              </a:rPr>
              <a:t>aspx</a:t>
            </a:r>
            <a:r>
              <a:rPr lang="en-US" sz="1200" dirty="0" smtClean="0">
                <a:solidFill>
                  <a:prstClr val="black"/>
                </a:solidFill>
              </a:rPr>
              <a:t> </a:t>
            </a:r>
          </a:p>
        </p:txBody>
      </p:sp>
      <p:sp>
        <p:nvSpPr>
          <p:cNvPr id="31" name="30 CuadroTexto"/>
          <p:cNvSpPr txBox="1"/>
          <p:nvPr/>
        </p:nvSpPr>
        <p:spPr>
          <a:xfrm>
            <a:off x="0" y="1542633"/>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Most Common Attributes (tooltips)</a:t>
            </a:r>
            <a:endParaRPr lang="en-US" sz="1200" dirty="0" smtClean="0">
              <a:solidFill>
                <a:prstClr val="black"/>
              </a:solidFill>
            </a:endParaRPr>
          </a:p>
        </p:txBody>
      </p:sp>
      <p:grpSp>
        <p:nvGrpSpPr>
          <p:cNvPr id="6" name="5 Grupo"/>
          <p:cNvGrpSpPr/>
          <p:nvPr/>
        </p:nvGrpSpPr>
        <p:grpSpPr>
          <a:xfrm>
            <a:off x="9525" y="6574392"/>
            <a:ext cx="9134399" cy="277000"/>
            <a:chOff x="9525" y="6574392"/>
            <a:chExt cx="9134399" cy="277000"/>
          </a:xfrm>
        </p:grpSpPr>
        <p:sp>
          <p:nvSpPr>
            <p:cNvPr id="7" name="6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8" name="7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9" name="8 Grupo"/>
          <p:cNvGrpSpPr/>
          <p:nvPr/>
        </p:nvGrpSpPr>
        <p:grpSpPr>
          <a:xfrm>
            <a:off x="0" y="9525"/>
            <a:ext cx="9153525" cy="408388"/>
            <a:chOff x="0" y="9525"/>
            <a:chExt cx="9153525" cy="408388"/>
          </a:xfrm>
        </p:grpSpPr>
        <p:sp>
          <p:nvSpPr>
            <p:cNvPr id="10" name="9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Interpreting Graphical Execution Plans</a:t>
              </a:r>
              <a:endParaRPr lang="en-US" b="1" i="1" dirty="0">
                <a:solidFill>
                  <a:schemeClr val="bg1"/>
                </a:solidFill>
              </a:endParaRPr>
            </a:p>
          </p:txBody>
        </p:sp>
        <p:pic>
          <p:nvPicPr>
            <p:cNvPr id="11" name="10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11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00705656"/>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86200"/>
            <a:ext cx="7315199" cy="190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982054"/>
            <a:ext cx="2471102" cy="2743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p:cNvSpPr txBox="1"/>
          <p:nvPr/>
        </p:nvSpPr>
        <p:spPr>
          <a:xfrm>
            <a:off x="0" y="584415"/>
            <a:ext cx="9144000" cy="307777"/>
          </a:xfrm>
          <a:prstGeom prst="rect">
            <a:avLst/>
          </a:prstGeom>
          <a:noFill/>
        </p:spPr>
        <p:txBody>
          <a:bodyPr wrap="square" rtlCol="0">
            <a:spAutoFit/>
          </a:bodyPr>
          <a:lstStyle/>
          <a:p>
            <a:r>
              <a:rPr lang="en-US" sz="1400" b="1" dirty="0" smtClean="0">
                <a:solidFill>
                  <a:prstClr val="black"/>
                </a:solidFill>
              </a:rPr>
              <a:t>How a Graphical Execution Plan looks like?</a:t>
            </a:r>
            <a:endParaRPr lang="en-US" sz="1400" b="1" dirty="0">
              <a:solidFill>
                <a:prstClr val="black"/>
              </a:solidFill>
            </a:endParaRPr>
          </a:p>
        </p:txBody>
      </p:sp>
      <p:pic>
        <p:nvPicPr>
          <p:cNvPr id="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28" y="982054"/>
            <a:ext cx="3352800" cy="2767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8 CuadroTexto"/>
          <p:cNvSpPr txBox="1"/>
          <p:nvPr/>
        </p:nvSpPr>
        <p:spPr>
          <a:xfrm>
            <a:off x="7543800" y="6019800"/>
            <a:ext cx="1600200" cy="369332"/>
          </a:xfrm>
          <a:prstGeom prst="rect">
            <a:avLst/>
          </a:prstGeom>
          <a:solidFill>
            <a:schemeClr val="accent3">
              <a:lumMod val="75000"/>
            </a:schemeClr>
          </a:solidFill>
        </p:spPr>
        <p:txBody>
          <a:bodyPr wrap="square" rtlCol="0">
            <a:spAutoFit/>
          </a:bodyPr>
          <a:lstStyle/>
          <a:p>
            <a:pPr algn="r"/>
            <a:r>
              <a:rPr lang="en-US" dirty="0" smtClean="0">
                <a:solidFill>
                  <a:prstClr val="white"/>
                </a:solidFill>
              </a:rPr>
              <a:t>Hands On </a:t>
            </a:r>
            <a:r>
              <a:rPr lang="en-US" dirty="0" smtClean="0">
                <a:solidFill>
                  <a:prstClr val="white"/>
                </a:solidFill>
                <a:sym typeface="Wingdings" pitchFamily="2" charset="2"/>
              </a:rPr>
              <a:t></a:t>
            </a:r>
            <a:endParaRPr lang="en-US" dirty="0">
              <a:solidFill>
                <a:prstClr val="white"/>
              </a:solidFill>
            </a:endParaRPr>
          </a:p>
        </p:txBody>
      </p:sp>
      <p:grpSp>
        <p:nvGrpSpPr>
          <p:cNvPr id="10" name="9 Grupo"/>
          <p:cNvGrpSpPr/>
          <p:nvPr/>
        </p:nvGrpSpPr>
        <p:grpSpPr>
          <a:xfrm>
            <a:off x="9525" y="6574392"/>
            <a:ext cx="9134399" cy="277000"/>
            <a:chOff x="9525" y="6574392"/>
            <a:chExt cx="9134399" cy="277000"/>
          </a:xfrm>
        </p:grpSpPr>
        <p:sp>
          <p:nvSpPr>
            <p:cNvPr id="11" name="10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2" name="11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3" name="12 Grupo"/>
          <p:cNvGrpSpPr/>
          <p:nvPr/>
        </p:nvGrpSpPr>
        <p:grpSpPr>
          <a:xfrm>
            <a:off x="0" y="9525"/>
            <a:ext cx="9153525" cy="408388"/>
            <a:chOff x="0" y="9525"/>
            <a:chExt cx="9153525" cy="408388"/>
          </a:xfrm>
        </p:grpSpPr>
        <p:sp>
          <p:nvSpPr>
            <p:cNvPr id="14" name="13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Analyzing a Query Execution Plan</a:t>
              </a:r>
              <a:endParaRPr lang="en-US" b="1" i="1" dirty="0">
                <a:solidFill>
                  <a:schemeClr val="bg1"/>
                </a:solidFill>
              </a:endParaRPr>
            </a:p>
          </p:txBody>
        </p:sp>
        <p:pic>
          <p:nvPicPr>
            <p:cNvPr id="15" name="14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 name="15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81877430"/>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0" y="521732"/>
            <a:ext cx="9144000" cy="523220"/>
          </a:xfrm>
          <a:prstGeom prst="rect">
            <a:avLst/>
          </a:prstGeom>
          <a:noFill/>
        </p:spPr>
        <p:txBody>
          <a:bodyPr wrap="square" rtlCol="0">
            <a:spAutoFit/>
          </a:bodyPr>
          <a:lstStyle/>
          <a:p>
            <a:pPr marL="171450" indent="-171450">
              <a:buFont typeface="Wingdings" pitchFamily="2" charset="2"/>
              <a:buChar char="Ø"/>
            </a:pPr>
            <a:r>
              <a:rPr lang="en-US" sz="1400" dirty="0" smtClean="0">
                <a:solidFill>
                  <a:prstClr val="black"/>
                </a:solidFill>
              </a:rPr>
              <a:t>You can see detailed information about each query execution plan by looking at the DMVs available</a:t>
            </a:r>
          </a:p>
          <a:p>
            <a:pPr marL="171450" indent="-171450">
              <a:buFont typeface="Wingdings" pitchFamily="2" charset="2"/>
              <a:buChar char="Ø"/>
            </a:pPr>
            <a:r>
              <a:rPr lang="en-US" sz="1400" dirty="0" smtClean="0">
                <a:solidFill>
                  <a:prstClr val="black"/>
                </a:solidFill>
              </a:rPr>
              <a:t>For example: </a:t>
            </a:r>
            <a:r>
              <a:rPr lang="en-US" sz="1400" b="1" dirty="0" err="1" smtClean="0">
                <a:solidFill>
                  <a:prstClr val="black"/>
                </a:solidFill>
              </a:rPr>
              <a:t>dm_exec_cached_plans</a:t>
            </a:r>
            <a:endParaRPr lang="en-US" sz="1400" b="1" dirty="0" smtClean="0">
              <a:solidFill>
                <a:prstClr val="black"/>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82880"/>
            <a:ext cx="3011214"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11 CuadroTexto"/>
          <p:cNvSpPr txBox="1"/>
          <p:nvPr/>
        </p:nvSpPr>
        <p:spPr>
          <a:xfrm>
            <a:off x="7543800" y="6019800"/>
            <a:ext cx="1600200" cy="369332"/>
          </a:xfrm>
          <a:prstGeom prst="rect">
            <a:avLst/>
          </a:prstGeom>
          <a:solidFill>
            <a:schemeClr val="accent3">
              <a:lumMod val="75000"/>
            </a:schemeClr>
          </a:solidFill>
        </p:spPr>
        <p:txBody>
          <a:bodyPr wrap="square" rtlCol="0">
            <a:spAutoFit/>
          </a:bodyPr>
          <a:lstStyle/>
          <a:p>
            <a:pPr algn="r"/>
            <a:r>
              <a:rPr lang="en-US" dirty="0" smtClean="0">
                <a:solidFill>
                  <a:prstClr val="white"/>
                </a:solidFill>
              </a:rPr>
              <a:t>Hands On </a:t>
            </a:r>
            <a:r>
              <a:rPr lang="en-US" dirty="0" smtClean="0">
                <a:solidFill>
                  <a:prstClr val="white"/>
                </a:solidFill>
                <a:sym typeface="Wingdings" pitchFamily="2" charset="2"/>
              </a:rPr>
              <a:t></a:t>
            </a:r>
            <a:endParaRPr lang="en-US" dirty="0">
              <a:solidFill>
                <a:prstClr val="white"/>
              </a:solidFill>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648200"/>
            <a:ext cx="9144000" cy="9078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12 CuadroTexto"/>
          <p:cNvSpPr txBox="1"/>
          <p:nvPr/>
        </p:nvSpPr>
        <p:spPr>
          <a:xfrm>
            <a:off x="-4985" y="4237018"/>
            <a:ext cx="9144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200" b="1" dirty="0" smtClean="0">
                <a:solidFill>
                  <a:prstClr val="black"/>
                </a:solidFill>
              </a:rPr>
              <a:t>Viewing the Compiled Execution Plans…</a:t>
            </a:r>
          </a:p>
        </p:txBody>
      </p:sp>
      <p:grpSp>
        <p:nvGrpSpPr>
          <p:cNvPr id="8" name="7 Grupo"/>
          <p:cNvGrpSpPr/>
          <p:nvPr/>
        </p:nvGrpSpPr>
        <p:grpSpPr>
          <a:xfrm>
            <a:off x="0" y="9525"/>
            <a:ext cx="9153525" cy="408388"/>
            <a:chOff x="0" y="9525"/>
            <a:chExt cx="9153525" cy="408388"/>
          </a:xfrm>
        </p:grpSpPr>
        <p:sp>
          <p:nvSpPr>
            <p:cNvPr id="9" name="8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How can I “see” a cached Query Plan?</a:t>
              </a:r>
              <a:endParaRPr lang="en-US" b="1" i="1" dirty="0">
                <a:solidFill>
                  <a:schemeClr val="bg1"/>
                </a:solidFill>
              </a:endParaRPr>
            </a:p>
          </p:txBody>
        </p:sp>
        <p:pic>
          <p:nvPicPr>
            <p:cNvPr id="10" name="9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13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14 Grupo"/>
          <p:cNvGrpSpPr/>
          <p:nvPr/>
        </p:nvGrpSpPr>
        <p:grpSpPr>
          <a:xfrm>
            <a:off x="9525" y="6574392"/>
            <a:ext cx="9134399" cy="277000"/>
            <a:chOff x="9525" y="6574392"/>
            <a:chExt cx="9134399" cy="277000"/>
          </a:xfrm>
        </p:grpSpPr>
        <p:sp>
          <p:nvSpPr>
            <p:cNvPr id="16" name="15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7" name="16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4138812946"/>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CuadroTexto"/>
          <p:cNvSpPr txBox="1"/>
          <p:nvPr/>
        </p:nvSpPr>
        <p:spPr>
          <a:xfrm>
            <a:off x="0" y="817890"/>
            <a:ext cx="9144000" cy="1015663"/>
          </a:xfrm>
          <a:prstGeom prst="rect">
            <a:avLst/>
          </a:prstGeom>
          <a:noFill/>
        </p:spPr>
        <p:txBody>
          <a:bodyPr wrap="square" rtlCol="0">
            <a:spAutoFit/>
          </a:bodyPr>
          <a:lstStyle/>
          <a:p>
            <a:pPr marL="171450" indent="-171450">
              <a:buFont typeface="Wingdings" pitchFamily="2" charset="2"/>
              <a:buChar char="Ø"/>
            </a:pPr>
            <a:r>
              <a:rPr lang="en-US" sz="1200" dirty="0" smtClean="0">
                <a:solidFill>
                  <a:prstClr val="black"/>
                </a:solidFill>
              </a:rPr>
              <a:t>We </a:t>
            </a:r>
            <a:r>
              <a:rPr lang="en-US" sz="1200" dirty="0">
                <a:solidFill>
                  <a:prstClr val="black"/>
                </a:solidFill>
              </a:rPr>
              <a:t>have an e-commerce application. </a:t>
            </a:r>
            <a:r>
              <a:rPr lang="en-US" sz="1200" dirty="0" smtClean="0">
                <a:solidFill>
                  <a:prstClr val="black"/>
                </a:solidFill>
              </a:rPr>
              <a:t>People </a:t>
            </a:r>
            <a:r>
              <a:rPr lang="en-US" sz="1200" dirty="0">
                <a:solidFill>
                  <a:prstClr val="black"/>
                </a:solidFill>
              </a:rPr>
              <a:t>can browse the products catalog.</a:t>
            </a:r>
          </a:p>
          <a:p>
            <a:pPr marL="171450" indent="-171450">
              <a:buFont typeface="Wingdings" pitchFamily="2" charset="2"/>
              <a:buChar char="Ø"/>
            </a:pPr>
            <a:r>
              <a:rPr lang="en-US" sz="1200" dirty="0" smtClean="0">
                <a:solidFill>
                  <a:prstClr val="black"/>
                </a:solidFill>
              </a:rPr>
              <a:t>We have 4 million products - each of them belong to a category</a:t>
            </a:r>
          </a:p>
          <a:p>
            <a:pPr marL="171450" indent="-171450">
              <a:buFont typeface="Wingdings" pitchFamily="2" charset="2"/>
              <a:buChar char="Ø"/>
            </a:pPr>
            <a:r>
              <a:rPr lang="en-US" sz="1200" dirty="0" smtClean="0">
                <a:solidFill>
                  <a:prstClr val="black"/>
                </a:solidFill>
              </a:rPr>
              <a:t>To </a:t>
            </a:r>
            <a:r>
              <a:rPr lang="en-US" sz="1200" dirty="0">
                <a:solidFill>
                  <a:prstClr val="black"/>
                </a:solidFill>
              </a:rPr>
              <a:t>make it </a:t>
            </a:r>
            <a:r>
              <a:rPr lang="en-US" sz="1200" dirty="0" smtClean="0">
                <a:solidFill>
                  <a:prstClr val="black"/>
                </a:solidFill>
              </a:rPr>
              <a:t>worst, our database design is really poor: </a:t>
            </a:r>
          </a:p>
          <a:p>
            <a:pPr marL="628650" lvl="1" indent="-171450">
              <a:buFont typeface="Wingdings" pitchFamily="2" charset="2"/>
              <a:buChar char="ü"/>
            </a:pPr>
            <a:r>
              <a:rPr lang="en-US" sz="1200" dirty="0" smtClean="0">
                <a:solidFill>
                  <a:prstClr val="black"/>
                </a:solidFill>
              </a:rPr>
              <a:t>We defined the Primary Keys and Foreign Keys as GUIDs (Unique Identifiers) – this will SQL Server on their knees</a:t>
            </a:r>
          </a:p>
          <a:p>
            <a:pPr marL="628650" lvl="1" indent="-171450">
              <a:buFont typeface="Wingdings" pitchFamily="2" charset="2"/>
              <a:buChar char="ü"/>
            </a:pPr>
            <a:r>
              <a:rPr lang="en-US" sz="1200" dirty="0" smtClean="0">
                <a:solidFill>
                  <a:prstClr val="black"/>
                </a:solidFill>
              </a:rPr>
              <a:t>Plus any other bumps you would like to put in the road, just for fun! </a:t>
            </a:r>
            <a:r>
              <a:rPr lang="en-US" sz="1200" dirty="0" smtClean="0">
                <a:solidFill>
                  <a:prstClr val="black"/>
                </a:solidFill>
                <a:sym typeface="Wingdings" pitchFamily="2" charset="2"/>
              </a:rPr>
              <a:t></a:t>
            </a:r>
            <a:endParaRPr lang="en-US" sz="1200" dirty="0">
              <a:solidFill>
                <a:prstClr val="black"/>
              </a:solidFill>
            </a:endParaRPr>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368464"/>
            <a:ext cx="3733800" cy="3081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CuadroTexto"/>
          <p:cNvSpPr txBox="1"/>
          <p:nvPr/>
        </p:nvSpPr>
        <p:spPr>
          <a:xfrm>
            <a:off x="7543800" y="6019800"/>
            <a:ext cx="1600200" cy="369332"/>
          </a:xfrm>
          <a:prstGeom prst="rect">
            <a:avLst/>
          </a:prstGeom>
          <a:solidFill>
            <a:schemeClr val="accent3">
              <a:lumMod val="75000"/>
            </a:schemeClr>
          </a:solidFill>
        </p:spPr>
        <p:txBody>
          <a:bodyPr wrap="square" rtlCol="0">
            <a:spAutoFit/>
          </a:bodyPr>
          <a:lstStyle/>
          <a:p>
            <a:pPr algn="r"/>
            <a:r>
              <a:rPr lang="en-US" dirty="0" smtClean="0">
                <a:solidFill>
                  <a:prstClr val="white"/>
                </a:solidFill>
              </a:rPr>
              <a:t>Hands On </a:t>
            </a:r>
            <a:r>
              <a:rPr lang="en-US" dirty="0" smtClean="0">
                <a:solidFill>
                  <a:prstClr val="white"/>
                </a:solidFill>
                <a:sym typeface="Wingdings" pitchFamily="2" charset="2"/>
              </a:rPr>
              <a:t></a:t>
            </a:r>
            <a:endParaRPr lang="en-US" dirty="0">
              <a:solidFill>
                <a:prstClr val="white"/>
              </a:solidFill>
            </a:endParaRPr>
          </a:p>
        </p:txBody>
      </p:sp>
      <p:sp>
        <p:nvSpPr>
          <p:cNvPr id="7" name="6 CuadroTexto"/>
          <p:cNvSpPr txBox="1"/>
          <p:nvPr/>
        </p:nvSpPr>
        <p:spPr>
          <a:xfrm>
            <a:off x="-7121" y="2344255"/>
            <a:ext cx="9144000" cy="830997"/>
          </a:xfrm>
          <a:prstGeom prst="rect">
            <a:avLst/>
          </a:prstGeom>
          <a:noFill/>
        </p:spPr>
        <p:txBody>
          <a:bodyPr wrap="square" rtlCol="0">
            <a:spAutoFit/>
          </a:bodyPr>
          <a:lstStyle/>
          <a:p>
            <a:pPr marL="171450" indent="-171450">
              <a:buFont typeface="Wingdings" pitchFamily="2" charset="2"/>
              <a:buChar char="Ø"/>
            </a:pPr>
            <a:r>
              <a:rPr lang="en-US" sz="1200" dirty="0" smtClean="0">
                <a:solidFill>
                  <a:prstClr val="black"/>
                </a:solidFill>
              </a:rPr>
              <a:t>2 independent </a:t>
            </a:r>
            <a:r>
              <a:rPr lang="en-US" sz="1200" dirty="0">
                <a:solidFill>
                  <a:prstClr val="black"/>
                </a:solidFill>
              </a:rPr>
              <a:t>microprocessors Intel Core </a:t>
            </a:r>
            <a:r>
              <a:rPr lang="en-US" sz="1200" dirty="0" smtClean="0">
                <a:solidFill>
                  <a:prstClr val="black"/>
                </a:solidFill>
              </a:rPr>
              <a:t>i7, with 4 cores each, running at 1.7 GHz</a:t>
            </a:r>
          </a:p>
          <a:p>
            <a:pPr marL="171450" indent="-171450">
              <a:buFont typeface="Wingdings" pitchFamily="2" charset="2"/>
              <a:buChar char="Ø"/>
            </a:pPr>
            <a:r>
              <a:rPr lang="en-US" sz="1200" dirty="0" smtClean="0">
                <a:solidFill>
                  <a:prstClr val="black"/>
                </a:solidFill>
              </a:rPr>
              <a:t>x64 operating system</a:t>
            </a:r>
          </a:p>
          <a:p>
            <a:pPr marL="171450" indent="-171450">
              <a:buFont typeface="Wingdings" pitchFamily="2" charset="2"/>
              <a:buChar char="Ø"/>
            </a:pPr>
            <a:r>
              <a:rPr lang="en-US" sz="1200" dirty="0" smtClean="0">
                <a:solidFill>
                  <a:prstClr val="black"/>
                </a:solidFill>
              </a:rPr>
              <a:t>8GB RAM</a:t>
            </a:r>
          </a:p>
          <a:p>
            <a:pPr marL="171450" indent="-171450">
              <a:buFont typeface="Wingdings" pitchFamily="2" charset="2"/>
              <a:buChar char="Ø"/>
            </a:pPr>
            <a:r>
              <a:rPr lang="en-US" sz="1200" dirty="0" smtClean="0">
                <a:solidFill>
                  <a:prstClr val="black"/>
                </a:solidFill>
              </a:rPr>
              <a:t>2 </a:t>
            </a:r>
            <a:r>
              <a:rPr lang="en-US" sz="1200" dirty="0">
                <a:solidFill>
                  <a:prstClr val="black"/>
                </a:solidFill>
              </a:rPr>
              <a:t>independent </a:t>
            </a:r>
            <a:r>
              <a:rPr lang="en-US" sz="1200" dirty="0" smtClean="0">
                <a:solidFill>
                  <a:prstClr val="black"/>
                </a:solidFill>
              </a:rPr>
              <a:t>hard disks, 4 partitions, SATA, 1 Terabyte</a:t>
            </a:r>
            <a:endParaRPr lang="en-US" sz="1200" dirty="0">
              <a:solidFill>
                <a:prstClr val="black"/>
              </a:solidFill>
            </a:endParaRPr>
          </a:p>
        </p:txBody>
      </p:sp>
      <p:sp>
        <p:nvSpPr>
          <p:cNvPr id="8" name="7 CuadroTexto"/>
          <p:cNvSpPr txBox="1"/>
          <p:nvPr/>
        </p:nvSpPr>
        <p:spPr>
          <a:xfrm>
            <a:off x="-7121" y="520609"/>
            <a:ext cx="9144000" cy="307777"/>
          </a:xfrm>
          <a:prstGeom prst="rect">
            <a:avLst/>
          </a:prstGeom>
          <a:noFill/>
        </p:spPr>
        <p:txBody>
          <a:bodyPr wrap="square" rtlCol="0">
            <a:spAutoFit/>
          </a:bodyPr>
          <a:lstStyle/>
          <a:p>
            <a:r>
              <a:rPr lang="en-US" sz="1400" b="1" dirty="0" smtClean="0">
                <a:solidFill>
                  <a:prstClr val="black"/>
                </a:solidFill>
              </a:rPr>
              <a:t>Scenario</a:t>
            </a:r>
            <a:endParaRPr lang="en-US" sz="1400" dirty="0">
              <a:solidFill>
                <a:prstClr val="black"/>
              </a:solidFill>
            </a:endParaRPr>
          </a:p>
        </p:txBody>
      </p:sp>
      <p:sp>
        <p:nvSpPr>
          <p:cNvPr id="10" name="9 CuadroTexto"/>
          <p:cNvSpPr txBox="1"/>
          <p:nvPr/>
        </p:nvSpPr>
        <p:spPr>
          <a:xfrm>
            <a:off x="0" y="2085772"/>
            <a:ext cx="9144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200" b="1" dirty="0">
                <a:solidFill>
                  <a:prstClr val="black"/>
                </a:solidFill>
              </a:rPr>
              <a:t>My hardware configuration for these metrics:</a:t>
            </a:r>
            <a:endParaRPr lang="en-US" sz="1200" dirty="0">
              <a:solidFill>
                <a:prstClr val="black"/>
              </a:solidFill>
            </a:endParaRPr>
          </a:p>
        </p:txBody>
      </p:sp>
      <p:sp>
        <p:nvSpPr>
          <p:cNvPr id="11" name="10 CuadroTexto"/>
          <p:cNvSpPr txBox="1"/>
          <p:nvPr/>
        </p:nvSpPr>
        <p:spPr>
          <a:xfrm>
            <a:off x="5486401" y="4343400"/>
            <a:ext cx="3641220" cy="707886"/>
          </a:xfrm>
          <a:prstGeom prst="rect">
            <a:avLst/>
          </a:prstGeom>
          <a:noFill/>
        </p:spPr>
        <p:txBody>
          <a:bodyPr wrap="square" rtlCol="0">
            <a:spAutoFit/>
          </a:bodyPr>
          <a:lstStyle/>
          <a:p>
            <a:r>
              <a:rPr lang="en-US" sz="1600" b="1" dirty="0" smtClean="0">
                <a:solidFill>
                  <a:srgbClr val="0000FF"/>
                </a:solidFill>
              </a:rPr>
              <a:t>Your job:</a:t>
            </a:r>
          </a:p>
          <a:p>
            <a:pPr marL="171450" indent="-171450">
              <a:buFont typeface="Wingdings" pitchFamily="2" charset="2"/>
              <a:buChar char="§"/>
            </a:pPr>
            <a:r>
              <a:rPr lang="en-US" sz="1200" dirty="0" smtClean="0">
                <a:solidFill>
                  <a:prstClr val="black"/>
                </a:solidFill>
              </a:rPr>
              <a:t>1) Analyze the query execution plan of this query</a:t>
            </a:r>
          </a:p>
          <a:p>
            <a:pPr marL="171450" indent="-171450">
              <a:buFont typeface="Wingdings" pitchFamily="2" charset="2"/>
              <a:buChar char="§"/>
            </a:pPr>
            <a:r>
              <a:rPr lang="en-US" sz="1200" dirty="0" smtClean="0">
                <a:solidFill>
                  <a:prstClr val="black"/>
                </a:solidFill>
              </a:rPr>
              <a:t>2) Tell me why it sucks</a:t>
            </a:r>
            <a:endParaRPr lang="en-US" sz="1200" dirty="0">
              <a:solidFill>
                <a:prstClr val="black"/>
              </a:solidFill>
            </a:endParaRPr>
          </a:p>
        </p:txBody>
      </p:sp>
      <p:sp>
        <p:nvSpPr>
          <p:cNvPr id="2" name="1 Flecha izquierda"/>
          <p:cNvSpPr/>
          <p:nvPr/>
        </p:nvSpPr>
        <p:spPr>
          <a:xfrm>
            <a:off x="4724400" y="4495800"/>
            <a:ext cx="609600" cy="3048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12" name="11 Grupo"/>
          <p:cNvGrpSpPr/>
          <p:nvPr/>
        </p:nvGrpSpPr>
        <p:grpSpPr>
          <a:xfrm>
            <a:off x="9525" y="6574392"/>
            <a:ext cx="9134399" cy="277000"/>
            <a:chOff x="9525" y="6574392"/>
            <a:chExt cx="9134399" cy="277000"/>
          </a:xfrm>
        </p:grpSpPr>
        <p:sp>
          <p:nvSpPr>
            <p:cNvPr id="13" name="12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4" name="13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5" name="14 Grupo"/>
          <p:cNvGrpSpPr/>
          <p:nvPr/>
        </p:nvGrpSpPr>
        <p:grpSpPr>
          <a:xfrm>
            <a:off x="0" y="9525"/>
            <a:ext cx="9153525" cy="408388"/>
            <a:chOff x="0" y="9525"/>
            <a:chExt cx="9153525" cy="408388"/>
          </a:xfrm>
        </p:grpSpPr>
        <p:sp>
          <p:nvSpPr>
            <p:cNvPr id="16" name="15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Optimizing a Query Execution Plan</a:t>
              </a:r>
              <a:endParaRPr lang="en-US" b="1" i="1" dirty="0">
                <a:solidFill>
                  <a:schemeClr val="bg1"/>
                </a:solidFill>
              </a:endParaRPr>
            </a:p>
          </p:txBody>
        </p:sp>
        <p:pic>
          <p:nvPicPr>
            <p:cNvPr id="17" name="16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1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35574865"/>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0" y="521732"/>
            <a:ext cx="9144000" cy="1015663"/>
          </a:xfrm>
          <a:prstGeom prst="rect">
            <a:avLst/>
          </a:prstGeom>
          <a:noFill/>
        </p:spPr>
        <p:txBody>
          <a:bodyPr wrap="square" rtlCol="0">
            <a:spAutoFit/>
          </a:bodyPr>
          <a:lstStyle/>
          <a:p>
            <a:pPr marL="171450" indent="-171450">
              <a:buFont typeface="Wingdings" pitchFamily="2" charset="2"/>
              <a:buChar char="§"/>
            </a:pPr>
            <a:r>
              <a:rPr lang="en-US" sz="1200" dirty="0" smtClean="0">
                <a:solidFill>
                  <a:prstClr val="black"/>
                </a:solidFill>
              </a:rPr>
              <a:t>Executing the Stored Procedure in a COLD CACHE scenario results in the following Execution Plan.</a:t>
            </a:r>
          </a:p>
          <a:p>
            <a:pPr marL="171450" indent="-171450">
              <a:buFont typeface="Wingdings" pitchFamily="2" charset="2"/>
              <a:buChar char="§"/>
            </a:pPr>
            <a:r>
              <a:rPr lang="en-US" sz="1200" dirty="0" smtClean="0">
                <a:solidFill>
                  <a:prstClr val="black"/>
                </a:solidFill>
              </a:rPr>
              <a:t>The query was executed in a synchronous manner.</a:t>
            </a:r>
          </a:p>
          <a:p>
            <a:pPr marL="171450" indent="-171450">
              <a:buFont typeface="Wingdings" pitchFamily="2" charset="2"/>
              <a:buChar char="§"/>
            </a:pPr>
            <a:r>
              <a:rPr lang="en-US" sz="1200" dirty="0" smtClean="0">
                <a:solidFill>
                  <a:prstClr val="black"/>
                </a:solidFill>
              </a:rPr>
              <a:t>It returned </a:t>
            </a:r>
            <a:r>
              <a:rPr lang="en-US" sz="1200" b="1" dirty="0" smtClean="0">
                <a:solidFill>
                  <a:prstClr val="black"/>
                </a:solidFill>
              </a:rPr>
              <a:t>4 million records</a:t>
            </a:r>
          </a:p>
          <a:p>
            <a:pPr marL="628650" lvl="1" indent="-171450">
              <a:buFont typeface="Wingdings" pitchFamily="2" charset="2"/>
              <a:buChar char="§"/>
            </a:pPr>
            <a:r>
              <a:rPr lang="en-US" sz="1200" b="1" dirty="0" smtClean="0">
                <a:solidFill>
                  <a:prstClr val="black"/>
                </a:solidFill>
              </a:rPr>
              <a:t>6:21</a:t>
            </a:r>
            <a:r>
              <a:rPr lang="en-US" sz="1200" dirty="0" smtClean="0">
                <a:solidFill>
                  <a:prstClr val="black"/>
                </a:solidFill>
              </a:rPr>
              <a:t> minutes with a </a:t>
            </a:r>
            <a:r>
              <a:rPr lang="en-US" sz="1200" b="1" dirty="0" smtClean="0">
                <a:solidFill>
                  <a:prstClr val="black"/>
                </a:solidFill>
              </a:rPr>
              <a:t>Cold</a:t>
            </a:r>
            <a:r>
              <a:rPr lang="en-US" sz="1200" dirty="0" smtClean="0">
                <a:solidFill>
                  <a:prstClr val="black"/>
                </a:solidFill>
              </a:rPr>
              <a:t> Cache</a:t>
            </a:r>
          </a:p>
          <a:p>
            <a:pPr marL="628650" lvl="1" indent="-171450">
              <a:buFont typeface="Wingdings" pitchFamily="2" charset="2"/>
              <a:buChar char="§"/>
            </a:pPr>
            <a:r>
              <a:rPr lang="en-US" sz="1200" b="1" dirty="0" smtClean="0">
                <a:solidFill>
                  <a:prstClr val="black"/>
                </a:solidFill>
              </a:rPr>
              <a:t>1:44</a:t>
            </a:r>
            <a:r>
              <a:rPr lang="en-US" sz="1200" dirty="0" smtClean="0">
                <a:solidFill>
                  <a:prstClr val="black"/>
                </a:solidFill>
              </a:rPr>
              <a:t> minutes with a </a:t>
            </a:r>
            <a:r>
              <a:rPr lang="en-US" sz="1200" b="1" dirty="0" smtClean="0">
                <a:solidFill>
                  <a:prstClr val="black"/>
                </a:solidFill>
              </a:rPr>
              <a:t>Hot</a:t>
            </a:r>
            <a:r>
              <a:rPr lang="en-US" sz="1200" dirty="0" smtClean="0">
                <a:solidFill>
                  <a:prstClr val="black"/>
                </a:solidFill>
              </a:rPr>
              <a:t> cache</a:t>
            </a:r>
            <a:endParaRPr lang="en-US" sz="1200" dirty="0">
              <a:solidFill>
                <a:prstClr val="black"/>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28800"/>
            <a:ext cx="9144000" cy="17258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7 CuadroTexto"/>
          <p:cNvSpPr txBox="1"/>
          <p:nvPr/>
        </p:nvSpPr>
        <p:spPr>
          <a:xfrm>
            <a:off x="4267200" y="4739670"/>
            <a:ext cx="4114800" cy="276999"/>
          </a:xfrm>
          <a:prstGeom prst="rect">
            <a:avLst/>
          </a:prstGeom>
          <a:solidFill>
            <a:srgbClr val="FF0000"/>
          </a:solidFill>
          <a:ln>
            <a:solidFill>
              <a:schemeClr val="tx1"/>
            </a:solidFill>
          </a:ln>
        </p:spPr>
        <p:txBody>
          <a:bodyPr wrap="square" rtlCol="0">
            <a:spAutoFit/>
          </a:bodyPr>
          <a:lstStyle/>
          <a:p>
            <a:r>
              <a:rPr lang="en-US" sz="1200" b="1" dirty="0" smtClean="0">
                <a:solidFill>
                  <a:prstClr val="white"/>
                </a:solidFill>
              </a:rPr>
              <a:t>Analyze the query plan above and tell me why it takes so long</a:t>
            </a:r>
            <a:endParaRPr lang="en-US" sz="1200" b="1" dirty="0">
              <a:solidFill>
                <a:prstClr val="white"/>
              </a:solidFill>
            </a:endParaRPr>
          </a:p>
        </p:txBody>
      </p:sp>
      <p:pic>
        <p:nvPicPr>
          <p:cNvPr id="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3" y="3477297"/>
            <a:ext cx="3733800" cy="3081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10 Grupo"/>
          <p:cNvGrpSpPr/>
          <p:nvPr/>
        </p:nvGrpSpPr>
        <p:grpSpPr>
          <a:xfrm>
            <a:off x="0" y="9525"/>
            <a:ext cx="9153525" cy="408388"/>
            <a:chOff x="0" y="9525"/>
            <a:chExt cx="9153525" cy="408388"/>
          </a:xfrm>
        </p:grpSpPr>
        <p:sp>
          <p:nvSpPr>
            <p:cNvPr id="12" name="11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Optimizing a Query Execution Plan – Round #1   :)</a:t>
              </a:r>
              <a:endParaRPr lang="en-US" b="1" i="1" dirty="0">
                <a:solidFill>
                  <a:schemeClr val="bg1"/>
                </a:solidFill>
              </a:endParaRPr>
            </a:p>
          </p:txBody>
        </p:sp>
        <p:pic>
          <p:nvPicPr>
            <p:cNvPr id="13" name="12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13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14 Grupo"/>
          <p:cNvGrpSpPr/>
          <p:nvPr/>
        </p:nvGrpSpPr>
        <p:grpSpPr>
          <a:xfrm>
            <a:off x="9525" y="6574392"/>
            <a:ext cx="9134399" cy="277000"/>
            <a:chOff x="9525" y="6574392"/>
            <a:chExt cx="9134399" cy="277000"/>
          </a:xfrm>
        </p:grpSpPr>
        <p:sp>
          <p:nvSpPr>
            <p:cNvPr id="16" name="15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7" name="16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649401345"/>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0" y="521732"/>
            <a:ext cx="9144000" cy="1015663"/>
          </a:xfrm>
          <a:prstGeom prst="rect">
            <a:avLst/>
          </a:prstGeom>
          <a:noFill/>
        </p:spPr>
        <p:txBody>
          <a:bodyPr wrap="square" rtlCol="0">
            <a:spAutoFit/>
          </a:bodyPr>
          <a:lstStyle/>
          <a:p>
            <a:pPr marL="171450" indent="-171450">
              <a:buFont typeface="Wingdings" pitchFamily="2" charset="2"/>
              <a:buChar char="§"/>
            </a:pPr>
            <a:r>
              <a:rPr lang="en-US" sz="1200" dirty="0" smtClean="0">
                <a:solidFill>
                  <a:prstClr val="black"/>
                </a:solidFill>
              </a:rPr>
              <a:t>Executing the Stored Procedure in a COLD CACHE scenario results in the following Execution Plan.</a:t>
            </a:r>
          </a:p>
          <a:p>
            <a:pPr marL="171450" indent="-171450">
              <a:buFont typeface="Wingdings" pitchFamily="2" charset="2"/>
              <a:buChar char="§"/>
            </a:pPr>
            <a:r>
              <a:rPr lang="en-US" sz="1200" dirty="0" smtClean="0">
                <a:solidFill>
                  <a:prstClr val="black"/>
                </a:solidFill>
              </a:rPr>
              <a:t>The query was executed in a synchronous manner.</a:t>
            </a:r>
          </a:p>
          <a:p>
            <a:pPr marL="171450" indent="-171450">
              <a:buFont typeface="Wingdings" pitchFamily="2" charset="2"/>
              <a:buChar char="§"/>
            </a:pPr>
            <a:r>
              <a:rPr lang="en-US" sz="1200" dirty="0" smtClean="0">
                <a:solidFill>
                  <a:prstClr val="black"/>
                </a:solidFill>
              </a:rPr>
              <a:t>It returned </a:t>
            </a:r>
            <a:r>
              <a:rPr lang="en-US" sz="1200" b="1" dirty="0" smtClean="0">
                <a:solidFill>
                  <a:prstClr val="black"/>
                </a:solidFill>
              </a:rPr>
              <a:t>4 million records</a:t>
            </a:r>
          </a:p>
          <a:p>
            <a:pPr marL="628650" lvl="1" indent="-171450">
              <a:buFont typeface="Wingdings" pitchFamily="2" charset="2"/>
              <a:buChar char="§"/>
            </a:pPr>
            <a:r>
              <a:rPr lang="en-US" sz="1200" b="1" dirty="0" smtClean="0">
                <a:solidFill>
                  <a:prstClr val="black"/>
                </a:solidFill>
              </a:rPr>
              <a:t>1:52</a:t>
            </a:r>
            <a:r>
              <a:rPr lang="en-US" sz="1200" dirty="0" smtClean="0">
                <a:solidFill>
                  <a:prstClr val="black"/>
                </a:solidFill>
              </a:rPr>
              <a:t> minutes with a </a:t>
            </a:r>
            <a:r>
              <a:rPr lang="en-US" sz="1200" b="1" dirty="0" smtClean="0">
                <a:solidFill>
                  <a:prstClr val="black"/>
                </a:solidFill>
              </a:rPr>
              <a:t>Cold</a:t>
            </a:r>
            <a:r>
              <a:rPr lang="en-US" sz="1200" dirty="0" smtClean="0">
                <a:solidFill>
                  <a:prstClr val="black"/>
                </a:solidFill>
              </a:rPr>
              <a:t> Cache</a:t>
            </a:r>
          </a:p>
          <a:p>
            <a:pPr marL="628650" lvl="1" indent="-171450">
              <a:buFont typeface="Wingdings" pitchFamily="2" charset="2"/>
              <a:buChar char="§"/>
            </a:pPr>
            <a:r>
              <a:rPr lang="en-US" sz="1200" b="1" dirty="0" smtClean="0">
                <a:solidFill>
                  <a:prstClr val="black"/>
                </a:solidFill>
              </a:rPr>
              <a:t>1:47</a:t>
            </a:r>
            <a:r>
              <a:rPr lang="en-US" sz="1200" dirty="0" smtClean="0">
                <a:solidFill>
                  <a:prstClr val="black"/>
                </a:solidFill>
              </a:rPr>
              <a:t> minutes with a </a:t>
            </a:r>
            <a:r>
              <a:rPr lang="en-US" sz="1200" b="1" dirty="0" smtClean="0">
                <a:solidFill>
                  <a:prstClr val="black"/>
                </a:solidFill>
              </a:rPr>
              <a:t>Hot</a:t>
            </a:r>
            <a:r>
              <a:rPr lang="en-US" sz="1200" dirty="0" smtClean="0">
                <a:solidFill>
                  <a:prstClr val="black"/>
                </a:solidFill>
              </a:rPr>
              <a:t> cache</a:t>
            </a:r>
            <a:endParaRPr lang="en-US" sz="1200" dirty="0">
              <a:solidFill>
                <a:prstClr val="black"/>
              </a:solidFill>
            </a:endParaRPr>
          </a:p>
        </p:txBody>
      </p:sp>
      <p:sp>
        <p:nvSpPr>
          <p:cNvPr id="8" name="7 CuadroTexto"/>
          <p:cNvSpPr txBox="1"/>
          <p:nvPr/>
        </p:nvSpPr>
        <p:spPr>
          <a:xfrm>
            <a:off x="4267200" y="4739670"/>
            <a:ext cx="4114800" cy="830997"/>
          </a:xfrm>
          <a:prstGeom prst="rect">
            <a:avLst/>
          </a:prstGeom>
          <a:solidFill>
            <a:srgbClr val="FF0000"/>
          </a:solidFill>
          <a:ln>
            <a:solidFill>
              <a:schemeClr val="tx1"/>
            </a:solidFill>
          </a:ln>
        </p:spPr>
        <p:txBody>
          <a:bodyPr wrap="square" rtlCol="0">
            <a:spAutoFit/>
          </a:bodyPr>
          <a:lstStyle/>
          <a:p>
            <a:r>
              <a:rPr lang="en-US" sz="1200" b="1" dirty="0" smtClean="0">
                <a:solidFill>
                  <a:prstClr val="white"/>
                </a:solidFill>
              </a:rPr>
              <a:t>Much better, but still unacceptable to me.</a:t>
            </a:r>
          </a:p>
          <a:p>
            <a:endParaRPr lang="en-US" sz="1200" b="1" dirty="0">
              <a:solidFill>
                <a:prstClr val="white"/>
              </a:solidFill>
            </a:endParaRPr>
          </a:p>
          <a:p>
            <a:r>
              <a:rPr lang="en-US" sz="1200" b="1" u="sng" dirty="0" smtClean="0">
                <a:solidFill>
                  <a:prstClr val="white"/>
                </a:solidFill>
              </a:rPr>
              <a:t>Let’s try again</a:t>
            </a:r>
            <a:r>
              <a:rPr lang="en-US" sz="1200" b="1" dirty="0" smtClean="0">
                <a:solidFill>
                  <a:prstClr val="white"/>
                </a:solidFill>
              </a:rPr>
              <a:t>:</a:t>
            </a:r>
          </a:p>
          <a:p>
            <a:r>
              <a:rPr lang="en-US" sz="1200" b="1" dirty="0" smtClean="0">
                <a:solidFill>
                  <a:prstClr val="white"/>
                </a:solidFill>
              </a:rPr>
              <a:t>Analyze the query plan above and tell me why it takes so long</a:t>
            </a:r>
            <a:endParaRPr lang="en-US" sz="1200" b="1" dirty="0">
              <a:solidFill>
                <a:prstClr val="white"/>
              </a:solidFill>
            </a:endParaRP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 y="1820253"/>
            <a:ext cx="8477250" cy="1571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25" y="3543300"/>
            <a:ext cx="4181475" cy="2952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0" name="9 Grupo"/>
          <p:cNvGrpSpPr/>
          <p:nvPr/>
        </p:nvGrpSpPr>
        <p:grpSpPr>
          <a:xfrm>
            <a:off x="0" y="9525"/>
            <a:ext cx="9153525" cy="408388"/>
            <a:chOff x="0" y="9525"/>
            <a:chExt cx="9153525" cy="408388"/>
          </a:xfrm>
        </p:grpSpPr>
        <p:sp>
          <p:nvSpPr>
            <p:cNvPr id="11" name="10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Optimizing a Query Execution Plan – Round #2   :)</a:t>
              </a:r>
              <a:endParaRPr lang="en-US" b="1" i="1" dirty="0">
                <a:solidFill>
                  <a:schemeClr val="bg1"/>
                </a:solidFill>
              </a:endParaRPr>
            </a:p>
          </p:txBody>
        </p:sp>
        <p:pic>
          <p:nvPicPr>
            <p:cNvPr id="12" name="11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12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 name="13 Grupo"/>
          <p:cNvGrpSpPr/>
          <p:nvPr/>
        </p:nvGrpSpPr>
        <p:grpSpPr>
          <a:xfrm>
            <a:off x="9525" y="6574392"/>
            <a:ext cx="9134399" cy="277000"/>
            <a:chOff x="9525" y="6574392"/>
            <a:chExt cx="9134399" cy="277000"/>
          </a:xfrm>
        </p:grpSpPr>
        <p:sp>
          <p:nvSpPr>
            <p:cNvPr id="15" name="14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6" name="15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2584141892"/>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0" y="521732"/>
            <a:ext cx="9144000" cy="1015663"/>
          </a:xfrm>
          <a:prstGeom prst="rect">
            <a:avLst/>
          </a:prstGeom>
          <a:noFill/>
        </p:spPr>
        <p:txBody>
          <a:bodyPr wrap="square" rtlCol="0">
            <a:spAutoFit/>
          </a:bodyPr>
          <a:lstStyle/>
          <a:p>
            <a:pPr marL="171450" indent="-171450">
              <a:buFont typeface="Wingdings" pitchFamily="2" charset="2"/>
              <a:buChar char="§"/>
            </a:pPr>
            <a:r>
              <a:rPr lang="en-US" sz="1200" dirty="0" smtClean="0">
                <a:solidFill>
                  <a:prstClr val="black"/>
                </a:solidFill>
              </a:rPr>
              <a:t>Executing the Stored Procedure in a COLD CACHE scenario results in the following Execution Plan.</a:t>
            </a:r>
          </a:p>
          <a:p>
            <a:pPr marL="171450" indent="-171450">
              <a:buFont typeface="Wingdings" pitchFamily="2" charset="2"/>
              <a:buChar char="§"/>
            </a:pPr>
            <a:r>
              <a:rPr lang="en-US" sz="1200" dirty="0" smtClean="0">
                <a:solidFill>
                  <a:prstClr val="black"/>
                </a:solidFill>
              </a:rPr>
              <a:t>The query was executed in a synchronous manner.</a:t>
            </a:r>
          </a:p>
          <a:p>
            <a:pPr marL="171450" indent="-171450">
              <a:buFont typeface="Wingdings" pitchFamily="2" charset="2"/>
              <a:buChar char="§"/>
            </a:pPr>
            <a:r>
              <a:rPr lang="en-US" sz="1200" dirty="0" smtClean="0">
                <a:solidFill>
                  <a:prstClr val="black"/>
                </a:solidFill>
              </a:rPr>
              <a:t>It returned </a:t>
            </a:r>
            <a:r>
              <a:rPr lang="en-US" sz="1200" b="1" dirty="0" smtClean="0">
                <a:solidFill>
                  <a:prstClr val="black"/>
                </a:solidFill>
              </a:rPr>
              <a:t>50 rows  (out of 4 million rows)</a:t>
            </a:r>
          </a:p>
          <a:p>
            <a:pPr marL="628650" lvl="1" indent="-171450">
              <a:buFont typeface="Wingdings" pitchFamily="2" charset="2"/>
              <a:buChar char="§"/>
            </a:pPr>
            <a:r>
              <a:rPr lang="en-US" sz="1200" b="1" dirty="0" smtClean="0">
                <a:solidFill>
                  <a:prstClr val="black"/>
                </a:solidFill>
              </a:rPr>
              <a:t>10 </a:t>
            </a:r>
            <a:r>
              <a:rPr lang="en-US" sz="1200" dirty="0" smtClean="0">
                <a:solidFill>
                  <a:prstClr val="black"/>
                </a:solidFill>
              </a:rPr>
              <a:t>seconds with a </a:t>
            </a:r>
            <a:r>
              <a:rPr lang="en-US" sz="1200" b="1" dirty="0" smtClean="0">
                <a:solidFill>
                  <a:prstClr val="black"/>
                </a:solidFill>
              </a:rPr>
              <a:t>Cold</a:t>
            </a:r>
            <a:r>
              <a:rPr lang="en-US" sz="1200" dirty="0" smtClean="0">
                <a:solidFill>
                  <a:prstClr val="black"/>
                </a:solidFill>
              </a:rPr>
              <a:t> Cache</a:t>
            </a:r>
          </a:p>
          <a:p>
            <a:pPr marL="628650" lvl="1" indent="-171450">
              <a:buFont typeface="Wingdings" pitchFamily="2" charset="2"/>
              <a:buChar char="§"/>
            </a:pPr>
            <a:r>
              <a:rPr lang="en-US" sz="1200" b="1" dirty="0" smtClean="0">
                <a:solidFill>
                  <a:prstClr val="black"/>
                </a:solidFill>
              </a:rPr>
              <a:t>8</a:t>
            </a:r>
            <a:r>
              <a:rPr lang="en-US" sz="1200" dirty="0" smtClean="0">
                <a:solidFill>
                  <a:prstClr val="black"/>
                </a:solidFill>
              </a:rPr>
              <a:t> seconds with a </a:t>
            </a:r>
            <a:r>
              <a:rPr lang="en-US" sz="1200" b="1" dirty="0" smtClean="0">
                <a:solidFill>
                  <a:prstClr val="black"/>
                </a:solidFill>
              </a:rPr>
              <a:t>Hot</a:t>
            </a:r>
            <a:r>
              <a:rPr lang="en-US" sz="1200" dirty="0" smtClean="0">
                <a:solidFill>
                  <a:prstClr val="black"/>
                </a:solidFill>
              </a:rPr>
              <a:t> cache</a:t>
            </a:r>
            <a:endParaRPr lang="en-US" sz="1200" dirty="0">
              <a:solidFill>
                <a:prstClr val="black"/>
              </a:solidFill>
            </a:endParaRPr>
          </a:p>
        </p:txBody>
      </p:sp>
      <p:sp>
        <p:nvSpPr>
          <p:cNvPr id="8" name="7 CuadroTexto"/>
          <p:cNvSpPr txBox="1"/>
          <p:nvPr/>
        </p:nvSpPr>
        <p:spPr>
          <a:xfrm>
            <a:off x="4876800" y="4278005"/>
            <a:ext cx="4114800" cy="461665"/>
          </a:xfrm>
          <a:prstGeom prst="rect">
            <a:avLst/>
          </a:prstGeom>
          <a:solidFill>
            <a:srgbClr val="FF0000"/>
          </a:solidFill>
          <a:ln>
            <a:solidFill>
              <a:schemeClr val="tx1"/>
            </a:solidFill>
          </a:ln>
        </p:spPr>
        <p:txBody>
          <a:bodyPr wrap="square" rtlCol="0">
            <a:spAutoFit/>
          </a:bodyPr>
          <a:lstStyle/>
          <a:p>
            <a:r>
              <a:rPr lang="en-US" sz="1200" b="1" dirty="0" smtClean="0">
                <a:solidFill>
                  <a:prstClr val="white"/>
                </a:solidFill>
              </a:rPr>
              <a:t>Not too bad, Marines.</a:t>
            </a:r>
          </a:p>
          <a:p>
            <a:r>
              <a:rPr lang="en-US" sz="1200" b="1" dirty="0" smtClean="0">
                <a:solidFill>
                  <a:prstClr val="white"/>
                </a:solidFill>
              </a:rPr>
              <a:t>Still we can improve this query - </a:t>
            </a:r>
            <a:r>
              <a:rPr lang="en-US" sz="1200" b="1" i="1" dirty="0" smtClean="0">
                <a:solidFill>
                  <a:prstClr val="white"/>
                </a:solidFill>
              </a:rPr>
              <a:t>that’s your homework</a:t>
            </a:r>
            <a:endParaRPr lang="en-US" sz="1200" b="1" dirty="0" smtClean="0">
              <a:solidFill>
                <a:prstClr val="white"/>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28800"/>
            <a:ext cx="9144000" cy="9024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6" y="2338338"/>
            <a:ext cx="4495800" cy="42121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5108403"/>
            <a:ext cx="228600" cy="21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CuadroTexto"/>
          <p:cNvSpPr txBox="1"/>
          <p:nvPr/>
        </p:nvSpPr>
        <p:spPr>
          <a:xfrm>
            <a:off x="4888907" y="5108403"/>
            <a:ext cx="2883493" cy="553998"/>
          </a:xfrm>
          <a:prstGeom prst="rect">
            <a:avLst/>
          </a:prstGeom>
          <a:noFill/>
        </p:spPr>
        <p:txBody>
          <a:bodyPr wrap="square" rtlCol="0">
            <a:spAutoFit/>
          </a:bodyPr>
          <a:lstStyle/>
          <a:p>
            <a:r>
              <a:rPr lang="en-US" sz="1000" b="1" u="sng" dirty="0">
                <a:solidFill>
                  <a:prstClr val="black"/>
                </a:solidFill>
              </a:rPr>
              <a:t>Tip from </a:t>
            </a:r>
            <a:r>
              <a:rPr lang="en-US" sz="1000" b="1" u="sng" dirty="0" err="1">
                <a:solidFill>
                  <a:prstClr val="black"/>
                </a:solidFill>
              </a:rPr>
              <a:t>Clau</a:t>
            </a:r>
            <a:r>
              <a:rPr lang="en-US" sz="1000" b="1" dirty="0">
                <a:solidFill>
                  <a:prstClr val="black"/>
                </a:solidFill>
              </a:rPr>
              <a:t>:  </a:t>
            </a:r>
          </a:p>
          <a:p>
            <a:pPr marL="171450" indent="-171450">
              <a:buFont typeface="Wingdings" pitchFamily="2" charset="2"/>
              <a:buChar char="§"/>
            </a:pPr>
            <a:r>
              <a:rPr lang="en-US" sz="1000" b="1" dirty="0">
                <a:solidFill>
                  <a:prstClr val="black"/>
                </a:solidFill>
              </a:rPr>
              <a:t>What would happen if you use Indexed Views?  </a:t>
            </a:r>
            <a:endParaRPr lang="en-US" sz="1000" b="1" dirty="0" smtClean="0">
              <a:solidFill>
                <a:prstClr val="black"/>
              </a:solidFill>
            </a:endParaRPr>
          </a:p>
          <a:p>
            <a:pPr marL="171450" indent="-171450">
              <a:buFont typeface="Wingdings" pitchFamily="2" charset="2"/>
              <a:buChar char="§"/>
            </a:pPr>
            <a:r>
              <a:rPr lang="en-US" sz="1000" b="1" i="1" dirty="0" smtClean="0">
                <a:solidFill>
                  <a:prstClr val="black"/>
                </a:solidFill>
              </a:rPr>
              <a:t>(go back to the first slides of this workshop)</a:t>
            </a:r>
            <a:endParaRPr lang="en-US" sz="1000" b="1" i="1" dirty="0">
              <a:solidFill>
                <a:prstClr val="black"/>
              </a:solidFill>
            </a:endParaRPr>
          </a:p>
        </p:txBody>
      </p:sp>
      <p:sp>
        <p:nvSpPr>
          <p:cNvPr id="3" name="2 Flecha abajo"/>
          <p:cNvSpPr/>
          <p:nvPr/>
        </p:nvSpPr>
        <p:spPr>
          <a:xfrm>
            <a:off x="5029200" y="4782535"/>
            <a:ext cx="152400" cy="24666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10" name="9 Grupo"/>
          <p:cNvGrpSpPr/>
          <p:nvPr/>
        </p:nvGrpSpPr>
        <p:grpSpPr>
          <a:xfrm>
            <a:off x="9525" y="6574392"/>
            <a:ext cx="9134399" cy="277000"/>
            <a:chOff x="9525" y="6574392"/>
            <a:chExt cx="9134399" cy="277000"/>
          </a:xfrm>
        </p:grpSpPr>
        <p:sp>
          <p:nvSpPr>
            <p:cNvPr id="12" name="1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3" name="1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4" name="13 Grupo"/>
          <p:cNvGrpSpPr/>
          <p:nvPr/>
        </p:nvGrpSpPr>
        <p:grpSpPr>
          <a:xfrm>
            <a:off x="0" y="9525"/>
            <a:ext cx="9153525" cy="408388"/>
            <a:chOff x="0" y="9525"/>
            <a:chExt cx="9153525" cy="408388"/>
          </a:xfrm>
        </p:grpSpPr>
        <p:sp>
          <p:nvSpPr>
            <p:cNvPr id="15" name="14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Introduction to Advanced Query Techniques</a:t>
              </a:r>
              <a:endParaRPr lang="en-US" b="1" i="1" dirty="0">
                <a:solidFill>
                  <a:schemeClr val="bg1"/>
                </a:solidFill>
              </a:endParaRPr>
            </a:p>
          </p:txBody>
        </p:sp>
        <p:pic>
          <p:nvPicPr>
            <p:cNvPr id="16" name="15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7" name="16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57025951"/>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0" y="764704"/>
            <a:ext cx="9144000" cy="1169551"/>
          </a:xfrm>
          <a:prstGeom prst="rect">
            <a:avLst/>
          </a:prstGeom>
          <a:noFill/>
        </p:spPr>
        <p:txBody>
          <a:bodyPr wrap="square" rtlCol="0">
            <a:spAutoFit/>
          </a:bodyPr>
          <a:lstStyle/>
          <a:p>
            <a:pPr marL="285750" indent="-285750">
              <a:buFont typeface="Wingdings" pitchFamily="2" charset="2"/>
              <a:buChar char="ü"/>
            </a:pPr>
            <a:r>
              <a:rPr lang="en-US" sz="1400" dirty="0"/>
              <a:t>Advanced Query Tuning </a:t>
            </a:r>
            <a:r>
              <a:rPr lang="en-US" sz="1400" dirty="0" smtClean="0"/>
              <a:t>Concepts</a:t>
            </a:r>
            <a:endParaRPr lang="en-US" sz="1400" dirty="0" smtClean="0">
              <a:solidFill>
                <a:prstClr val="black"/>
              </a:solidFill>
            </a:endParaRPr>
          </a:p>
          <a:p>
            <a:pPr marL="285750" indent="-285750">
              <a:buFont typeface="Wingdings" pitchFamily="2" charset="2"/>
              <a:buChar char="ü"/>
            </a:pPr>
            <a:r>
              <a:rPr lang="en-US" sz="1400" dirty="0" smtClean="0">
                <a:solidFill>
                  <a:prstClr val="black"/>
                </a:solidFill>
              </a:rPr>
              <a:t>Row Numbers</a:t>
            </a:r>
          </a:p>
          <a:p>
            <a:pPr marL="285750" indent="-285750">
              <a:buFont typeface="Wingdings" pitchFamily="2" charset="2"/>
              <a:buChar char="ü"/>
            </a:pPr>
            <a:r>
              <a:rPr lang="en-US" sz="1400" dirty="0" smtClean="0">
                <a:solidFill>
                  <a:prstClr val="black"/>
                </a:solidFill>
              </a:rPr>
              <a:t>Common Table Expressions</a:t>
            </a:r>
          </a:p>
          <a:p>
            <a:pPr marL="285750" indent="-285750">
              <a:buFont typeface="Wingdings" pitchFamily="2" charset="2"/>
              <a:buChar char="ü"/>
            </a:pPr>
            <a:r>
              <a:rPr lang="en-US" sz="1400" dirty="0" smtClean="0">
                <a:solidFill>
                  <a:prstClr val="black"/>
                </a:solidFill>
              </a:rPr>
              <a:t>Search Engines (Semantic Proximity, Inflectional Form, Free Text, Partial Match, </a:t>
            </a:r>
            <a:r>
              <a:rPr lang="en-US" sz="1400" dirty="0" err="1" smtClean="0">
                <a:solidFill>
                  <a:prstClr val="black"/>
                </a:solidFill>
              </a:rPr>
              <a:t>etc</a:t>
            </a:r>
            <a:r>
              <a:rPr lang="en-US" sz="1400" dirty="0" smtClean="0">
                <a:solidFill>
                  <a:prstClr val="black"/>
                </a:solidFill>
              </a:rPr>
              <a:t>)</a:t>
            </a:r>
          </a:p>
          <a:p>
            <a:pPr marL="285750" indent="-285750">
              <a:buFont typeface="Wingdings" pitchFamily="2" charset="2"/>
              <a:buChar char="ü"/>
            </a:pPr>
            <a:r>
              <a:rPr lang="en-US" sz="1400" dirty="0" smtClean="0">
                <a:solidFill>
                  <a:prstClr val="black"/>
                </a:solidFill>
              </a:rPr>
              <a:t>XML</a:t>
            </a:r>
          </a:p>
        </p:txBody>
      </p:sp>
      <p:grpSp>
        <p:nvGrpSpPr>
          <p:cNvPr id="6" name="5 Grupo"/>
          <p:cNvGrpSpPr/>
          <p:nvPr/>
        </p:nvGrpSpPr>
        <p:grpSpPr>
          <a:xfrm>
            <a:off x="0" y="9525"/>
            <a:ext cx="9153525" cy="408388"/>
            <a:chOff x="0" y="9525"/>
            <a:chExt cx="9153525" cy="408388"/>
          </a:xfrm>
        </p:grpSpPr>
        <p:sp>
          <p:nvSpPr>
            <p:cNvPr id="7" name="6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Advanced Query Techniques</a:t>
              </a:r>
              <a:endParaRPr lang="en-US" b="1" i="1" dirty="0">
                <a:solidFill>
                  <a:schemeClr val="bg1"/>
                </a:solidFill>
              </a:endParaRPr>
            </a:p>
          </p:txBody>
        </p:sp>
        <p:pic>
          <p:nvPicPr>
            <p:cNvPr id="8" name="7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8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9 Grupo"/>
          <p:cNvGrpSpPr/>
          <p:nvPr/>
        </p:nvGrpSpPr>
        <p:grpSpPr>
          <a:xfrm>
            <a:off x="9525" y="6574392"/>
            <a:ext cx="9134399" cy="277000"/>
            <a:chOff x="9525" y="6574392"/>
            <a:chExt cx="9134399" cy="277000"/>
          </a:xfrm>
        </p:grpSpPr>
        <p:sp>
          <p:nvSpPr>
            <p:cNvPr id="11" name="10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2" name="11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4005497832"/>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0" y="533400"/>
            <a:ext cx="9144000" cy="400110"/>
          </a:xfrm>
          <a:prstGeom prst="rect">
            <a:avLst/>
          </a:prstGeom>
          <a:noFill/>
        </p:spPr>
        <p:txBody>
          <a:bodyPr wrap="square" rtlCol="0">
            <a:spAutoFit/>
          </a:bodyPr>
          <a:lstStyle/>
          <a:p>
            <a:r>
              <a:rPr lang="en-US" sz="2000" b="1" dirty="0"/>
              <a:t>Advanced Query Tuning </a:t>
            </a:r>
            <a:r>
              <a:rPr lang="en-US" sz="2000" b="1" dirty="0" smtClean="0"/>
              <a:t>Concepts</a:t>
            </a:r>
            <a:endParaRPr lang="en-US" sz="2000" b="1" dirty="0"/>
          </a:p>
        </p:txBody>
      </p:sp>
      <p:grpSp>
        <p:nvGrpSpPr>
          <p:cNvPr id="6" name="5 Grupo"/>
          <p:cNvGrpSpPr/>
          <p:nvPr/>
        </p:nvGrpSpPr>
        <p:grpSpPr>
          <a:xfrm>
            <a:off x="0" y="9525"/>
            <a:ext cx="9153525" cy="408388"/>
            <a:chOff x="0" y="9525"/>
            <a:chExt cx="9153525" cy="408388"/>
          </a:xfrm>
        </p:grpSpPr>
        <p:sp>
          <p:nvSpPr>
            <p:cNvPr id="7" name="6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Advanced Query Techniques</a:t>
              </a:r>
              <a:endParaRPr lang="en-US" b="1" i="1" dirty="0">
                <a:solidFill>
                  <a:schemeClr val="bg1"/>
                </a:solidFill>
              </a:endParaRPr>
            </a:p>
          </p:txBody>
        </p:sp>
        <p:pic>
          <p:nvPicPr>
            <p:cNvPr id="8" name="7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8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9 Grupo"/>
          <p:cNvGrpSpPr/>
          <p:nvPr/>
        </p:nvGrpSpPr>
        <p:grpSpPr>
          <a:xfrm>
            <a:off x="9525" y="6574392"/>
            <a:ext cx="9134399" cy="277000"/>
            <a:chOff x="9525" y="6574392"/>
            <a:chExt cx="9134399" cy="277000"/>
          </a:xfrm>
        </p:grpSpPr>
        <p:sp>
          <p:nvSpPr>
            <p:cNvPr id="11" name="10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2" name="11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
        <p:nvSpPr>
          <p:cNvPr id="13" name="12 CuadroTexto"/>
          <p:cNvSpPr txBox="1"/>
          <p:nvPr/>
        </p:nvSpPr>
        <p:spPr>
          <a:xfrm>
            <a:off x="9525" y="1052736"/>
            <a:ext cx="9144000" cy="1384995"/>
          </a:xfrm>
          <a:prstGeom prst="rect">
            <a:avLst/>
          </a:prstGeom>
          <a:noFill/>
        </p:spPr>
        <p:txBody>
          <a:bodyPr wrap="square" rtlCol="0">
            <a:spAutoFit/>
          </a:bodyPr>
          <a:lstStyle/>
          <a:p>
            <a:r>
              <a:rPr lang="en-US" sz="1400" dirty="0" smtClean="0"/>
              <a:t>SQL </a:t>
            </a:r>
            <a:r>
              <a:rPr lang="en-US" sz="1400" dirty="0"/>
              <a:t>Server performs sort, intersect, union, and difference operations using in-memory sorting and hash join </a:t>
            </a:r>
            <a:r>
              <a:rPr lang="en-US" sz="1400" dirty="0" smtClean="0"/>
              <a:t>technology.</a:t>
            </a:r>
          </a:p>
          <a:p>
            <a:endParaRPr lang="en-US" sz="1400" dirty="0" smtClean="0"/>
          </a:p>
          <a:p>
            <a:r>
              <a:rPr lang="en-US" sz="1400" u="sng" dirty="0" smtClean="0"/>
              <a:t>Three </a:t>
            </a:r>
            <a:r>
              <a:rPr lang="en-US" sz="1400" u="sng" dirty="0"/>
              <a:t>types of join operations</a:t>
            </a:r>
            <a:r>
              <a:rPr lang="en-US" sz="1400" dirty="0"/>
              <a:t>:</a:t>
            </a:r>
          </a:p>
          <a:p>
            <a:pPr marL="285750" indent="-285750">
              <a:buFont typeface="Wingdings" pitchFamily="2" charset="2"/>
              <a:buChar char="Ø"/>
            </a:pPr>
            <a:r>
              <a:rPr lang="en-US" sz="1400" dirty="0"/>
              <a:t>Nested loops joins</a:t>
            </a:r>
          </a:p>
          <a:p>
            <a:pPr marL="285750" indent="-285750">
              <a:buFont typeface="Wingdings" pitchFamily="2" charset="2"/>
              <a:buChar char="Ø"/>
            </a:pPr>
            <a:r>
              <a:rPr lang="en-US" sz="1400" dirty="0"/>
              <a:t>Merge joins</a:t>
            </a:r>
          </a:p>
          <a:p>
            <a:pPr marL="285750" indent="-285750">
              <a:buFont typeface="Wingdings" pitchFamily="2" charset="2"/>
              <a:buChar char="Ø"/>
            </a:pPr>
            <a:r>
              <a:rPr lang="en-US" sz="1400" dirty="0"/>
              <a:t>Hash joins</a:t>
            </a:r>
          </a:p>
        </p:txBody>
      </p:sp>
      <p:sp>
        <p:nvSpPr>
          <p:cNvPr id="14" name="13 CuadroTexto"/>
          <p:cNvSpPr txBox="1"/>
          <p:nvPr/>
        </p:nvSpPr>
        <p:spPr>
          <a:xfrm>
            <a:off x="0" y="2675187"/>
            <a:ext cx="9144000" cy="2677656"/>
          </a:xfrm>
          <a:prstGeom prst="rect">
            <a:avLst/>
          </a:prstGeom>
          <a:noFill/>
        </p:spPr>
        <p:txBody>
          <a:bodyPr wrap="square" rtlCol="0">
            <a:spAutoFit/>
          </a:bodyPr>
          <a:lstStyle/>
          <a:p>
            <a:pPr marL="285750" indent="-285750">
              <a:buFont typeface="Wingdings" pitchFamily="2" charset="2"/>
              <a:buChar char="Ø"/>
            </a:pPr>
            <a:r>
              <a:rPr lang="en-US" sz="1400" b="1" dirty="0" smtClean="0"/>
              <a:t>Nested loop joins</a:t>
            </a:r>
          </a:p>
          <a:p>
            <a:r>
              <a:rPr lang="en-US" sz="1400" dirty="0" smtClean="0"/>
              <a:t>       If </a:t>
            </a:r>
            <a:r>
              <a:rPr lang="en-US" sz="1400" dirty="0"/>
              <a:t>one join input is small (fewer than 10 rows) and the other join input is fairly large and indexed on its join columns, </a:t>
            </a:r>
            <a:endParaRPr lang="en-US" sz="1400" dirty="0" smtClean="0"/>
          </a:p>
          <a:p>
            <a:r>
              <a:rPr lang="en-US" sz="1400" dirty="0"/>
              <a:t> </a:t>
            </a:r>
            <a:r>
              <a:rPr lang="en-US" sz="1400" dirty="0" smtClean="0"/>
              <a:t>      an index </a:t>
            </a:r>
            <a:r>
              <a:rPr lang="en-US" sz="1400" dirty="0"/>
              <a:t>nested loops join is the fastest join operation because they require the least I/O and the fewest </a:t>
            </a:r>
            <a:r>
              <a:rPr lang="en-US" sz="1400" dirty="0" smtClean="0"/>
              <a:t>comparisons</a:t>
            </a:r>
          </a:p>
          <a:p>
            <a:pPr marL="285750" indent="-285750">
              <a:buFont typeface="Wingdings" pitchFamily="2" charset="2"/>
              <a:buChar char="Ø"/>
            </a:pPr>
            <a:endParaRPr lang="en-US" sz="1400" dirty="0"/>
          </a:p>
          <a:p>
            <a:pPr marL="285750" indent="-285750">
              <a:buFont typeface="Wingdings" pitchFamily="2" charset="2"/>
              <a:buChar char="Ø"/>
            </a:pPr>
            <a:r>
              <a:rPr lang="en-US" sz="1400" b="1" dirty="0"/>
              <a:t>Merge </a:t>
            </a:r>
            <a:r>
              <a:rPr lang="en-US" sz="1400" b="1" dirty="0" smtClean="0"/>
              <a:t>joins</a:t>
            </a:r>
          </a:p>
          <a:p>
            <a:r>
              <a:rPr lang="en-US" sz="1400" dirty="0" smtClean="0"/>
              <a:t>       If </a:t>
            </a:r>
            <a:r>
              <a:rPr lang="en-US" sz="1400" dirty="0"/>
              <a:t>the two join inputs are not small but are sorted on their join column (for example, if they were obtained by scanning </a:t>
            </a:r>
            <a:endParaRPr lang="en-US" sz="1400" dirty="0" smtClean="0"/>
          </a:p>
          <a:p>
            <a:r>
              <a:rPr lang="en-US" sz="1400" dirty="0"/>
              <a:t> </a:t>
            </a:r>
            <a:r>
              <a:rPr lang="en-US" sz="1400" dirty="0" smtClean="0"/>
              <a:t>      sorted </a:t>
            </a:r>
            <a:r>
              <a:rPr lang="en-US" sz="1400" dirty="0"/>
              <a:t>indexes), a merge join is the fastest join </a:t>
            </a:r>
            <a:r>
              <a:rPr lang="en-US" sz="1400" dirty="0" smtClean="0"/>
              <a:t>operation</a:t>
            </a:r>
          </a:p>
          <a:p>
            <a:endParaRPr lang="en-US" sz="1400" dirty="0"/>
          </a:p>
          <a:p>
            <a:pPr marL="285750" indent="-285750">
              <a:buFont typeface="Wingdings" pitchFamily="2" charset="2"/>
              <a:buChar char="Ø"/>
            </a:pPr>
            <a:r>
              <a:rPr lang="en-US" sz="1400" b="1" dirty="0"/>
              <a:t>Hash </a:t>
            </a:r>
            <a:r>
              <a:rPr lang="en-US" sz="1400" b="1" dirty="0" smtClean="0"/>
              <a:t>joins</a:t>
            </a:r>
          </a:p>
          <a:p>
            <a:r>
              <a:rPr lang="en-US" sz="1400" dirty="0" smtClean="0"/>
              <a:t>       Hash </a:t>
            </a:r>
            <a:r>
              <a:rPr lang="en-US" sz="1400" dirty="0"/>
              <a:t>joins reduce the need to </a:t>
            </a:r>
            <a:r>
              <a:rPr lang="en-US" sz="1400" dirty="0" err="1" smtClean="0"/>
              <a:t>denormalize</a:t>
            </a:r>
            <a:r>
              <a:rPr lang="en-US" sz="1400" dirty="0" smtClean="0"/>
              <a:t>.</a:t>
            </a:r>
          </a:p>
          <a:p>
            <a:r>
              <a:rPr lang="en-US" sz="1400" dirty="0" smtClean="0"/>
              <a:t>       They can </a:t>
            </a:r>
            <a:r>
              <a:rPr lang="en-US" sz="1400" dirty="0"/>
              <a:t>efficiently process large, unsorted, </a:t>
            </a:r>
            <a:r>
              <a:rPr lang="en-US" sz="1400" dirty="0" err="1"/>
              <a:t>nonindexed</a:t>
            </a:r>
            <a:r>
              <a:rPr lang="en-US" sz="1400" dirty="0"/>
              <a:t> inputs. They are useful for intermediate results in </a:t>
            </a:r>
            <a:endParaRPr lang="en-US" sz="1400" dirty="0" smtClean="0"/>
          </a:p>
          <a:p>
            <a:r>
              <a:rPr lang="en-US" sz="1400" dirty="0"/>
              <a:t> </a:t>
            </a:r>
            <a:r>
              <a:rPr lang="en-US" sz="1400" dirty="0" smtClean="0"/>
              <a:t>      complex queries</a:t>
            </a:r>
            <a:endParaRPr lang="en-US" sz="1400" dirty="0"/>
          </a:p>
        </p:txBody>
      </p:sp>
      <p:sp>
        <p:nvSpPr>
          <p:cNvPr id="2" name="1 CuadroTexto"/>
          <p:cNvSpPr txBox="1"/>
          <p:nvPr/>
        </p:nvSpPr>
        <p:spPr>
          <a:xfrm>
            <a:off x="3419872" y="5900309"/>
            <a:ext cx="5544616" cy="276999"/>
          </a:xfrm>
          <a:prstGeom prst="rect">
            <a:avLst/>
          </a:prstGeom>
          <a:noFill/>
        </p:spPr>
        <p:txBody>
          <a:bodyPr wrap="square" rtlCol="0">
            <a:spAutoFit/>
          </a:bodyPr>
          <a:lstStyle/>
          <a:p>
            <a:r>
              <a:rPr lang="en-US" sz="1200" dirty="0" smtClean="0"/>
              <a:t>More on this </a:t>
            </a:r>
            <a:r>
              <a:rPr lang="en-US" sz="1200" dirty="0"/>
              <a:t>at </a:t>
            </a:r>
            <a:r>
              <a:rPr lang="en-US" sz="1200" dirty="0">
                <a:hlinkClick r:id="rId3"/>
              </a:rPr>
              <a:t>http://msdn.microsoft.com/en-us/library/ms191426(v=sql.105).</a:t>
            </a:r>
            <a:r>
              <a:rPr lang="en-US" sz="1200" dirty="0" smtClean="0">
                <a:hlinkClick r:id="rId3"/>
              </a:rPr>
              <a:t>aspx</a:t>
            </a:r>
            <a:r>
              <a:rPr lang="en-US" sz="1200" dirty="0" smtClean="0"/>
              <a:t> </a:t>
            </a:r>
            <a:endParaRPr lang="en-US" sz="1200" dirty="0"/>
          </a:p>
        </p:txBody>
      </p:sp>
    </p:spTree>
    <p:extLst>
      <p:ext uri="{BB962C8B-B14F-4D97-AF65-F5344CB8AC3E}">
        <p14:creationId xmlns:p14="http://schemas.microsoft.com/office/powerpoint/2010/main" val="3661236191"/>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0" y="533400"/>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Row Numbers + Common Table Expressions</a:t>
            </a: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904874"/>
            <a:ext cx="6096000" cy="57113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CuadroTexto"/>
          <p:cNvSpPr txBox="1"/>
          <p:nvPr/>
        </p:nvSpPr>
        <p:spPr>
          <a:xfrm>
            <a:off x="6819188" y="2047875"/>
            <a:ext cx="1066800" cy="276999"/>
          </a:xfrm>
          <a:prstGeom prst="rect">
            <a:avLst/>
          </a:prstGeom>
          <a:noFill/>
        </p:spPr>
        <p:txBody>
          <a:bodyPr wrap="square" rtlCol="0">
            <a:spAutoFit/>
          </a:bodyPr>
          <a:lstStyle/>
          <a:p>
            <a:r>
              <a:rPr lang="en-US" sz="1200" b="1" dirty="0" smtClean="0">
                <a:solidFill>
                  <a:prstClr val="black"/>
                </a:solidFill>
              </a:rPr>
              <a:t>Row Number</a:t>
            </a:r>
          </a:p>
        </p:txBody>
      </p:sp>
      <p:sp>
        <p:nvSpPr>
          <p:cNvPr id="8" name="7 CuadroTexto"/>
          <p:cNvSpPr txBox="1"/>
          <p:nvPr/>
        </p:nvSpPr>
        <p:spPr>
          <a:xfrm>
            <a:off x="7010400" y="4502943"/>
            <a:ext cx="1905000" cy="276999"/>
          </a:xfrm>
          <a:prstGeom prst="rect">
            <a:avLst/>
          </a:prstGeom>
          <a:noFill/>
        </p:spPr>
        <p:txBody>
          <a:bodyPr wrap="square" rtlCol="0">
            <a:spAutoFit/>
          </a:bodyPr>
          <a:lstStyle/>
          <a:p>
            <a:r>
              <a:rPr lang="en-US" sz="1200" b="1" dirty="0" smtClean="0">
                <a:solidFill>
                  <a:prstClr val="black"/>
                </a:solidFill>
              </a:rPr>
              <a:t>Common Table Expression</a:t>
            </a:r>
          </a:p>
        </p:txBody>
      </p:sp>
      <p:cxnSp>
        <p:nvCxnSpPr>
          <p:cNvPr id="3" name="2 Conector recto de flecha"/>
          <p:cNvCxnSpPr>
            <a:stCxn id="7" idx="1"/>
          </p:cNvCxnSpPr>
          <p:nvPr/>
        </p:nvCxnSpPr>
        <p:spPr>
          <a:xfrm flipH="1">
            <a:off x="4800600" y="2186375"/>
            <a:ext cx="2018588" cy="115690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13 Conector recto"/>
          <p:cNvCxnSpPr/>
          <p:nvPr/>
        </p:nvCxnSpPr>
        <p:spPr>
          <a:xfrm>
            <a:off x="6629400" y="2962275"/>
            <a:ext cx="0" cy="342900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p:nvPr/>
        </p:nvCxnSpPr>
        <p:spPr>
          <a:xfrm flipH="1">
            <a:off x="4495800" y="6391275"/>
            <a:ext cx="2133600"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17 Conector recto de flecha"/>
          <p:cNvCxnSpPr/>
          <p:nvPr/>
        </p:nvCxnSpPr>
        <p:spPr>
          <a:xfrm flipH="1">
            <a:off x="1676400" y="2962275"/>
            <a:ext cx="4953000"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18 CuadroTexto"/>
          <p:cNvSpPr txBox="1"/>
          <p:nvPr/>
        </p:nvSpPr>
        <p:spPr>
          <a:xfrm>
            <a:off x="3964536" y="4225944"/>
            <a:ext cx="2350804" cy="276999"/>
          </a:xfrm>
          <a:prstGeom prst="rect">
            <a:avLst/>
          </a:prstGeom>
          <a:noFill/>
        </p:spPr>
        <p:txBody>
          <a:bodyPr wrap="square" rtlCol="0">
            <a:spAutoFit/>
          </a:bodyPr>
          <a:lstStyle/>
          <a:p>
            <a:r>
              <a:rPr lang="en-US" sz="1200" b="1" dirty="0" smtClean="0">
                <a:solidFill>
                  <a:prstClr val="black"/>
                </a:solidFill>
              </a:rPr>
              <a:t>Hints (</a:t>
            </a:r>
            <a:r>
              <a:rPr lang="en-US" sz="1200" b="1" i="1" dirty="0" smtClean="0">
                <a:solidFill>
                  <a:prstClr val="black"/>
                </a:solidFill>
              </a:rPr>
              <a:t>at your own risk</a:t>
            </a:r>
            <a:r>
              <a:rPr lang="en-US" sz="1200" b="1" dirty="0" smtClean="0">
                <a:solidFill>
                  <a:prstClr val="black"/>
                </a:solidFill>
              </a:rPr>
              <a:t>)</a:t>
            </a:r>
          </a:p>
        </p:txBody>
      </p:sp>
      <p:cxnSp>
        <p:nvCxnSpPr>
          <p:cNvPr id="20" name="19 Conector recto de flecha"/>
          <p:cNvCxnSpPr/>
          <p:nvPr/>
        </p:nvCxnSpPr>
        <p:spPr>
          <a:xfrm flipH="1">
            <a:off x="3175477" y="4388901"/>
            <a:ext cx="838199"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22 Flecha derecha"/>
          <p:cNvSpPr/>
          <p:nvPr/>
        </p:nvSpPr>
        <p:spPr>
          <a:xfrm>
            <a:off x="6629400" y="4562475"/>
            <a:ext cx="381000" cy="217467"/>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15" name="14 Grupo"/>
          <p:cNvGrpSpPr/>
          <p:nvPr/>
        </p:nvGrpSpPr>
        <p:grpSpPr>
          <a:xfrm>
            <a:off x="9525" y="6574392"/>
            <a:ext cx="9134399" cy="277000"/>
            <a:chOff x="9525" y="6574392"/>
            <a:chExt cx="9134399" cy="277000"/>
          </a:xfrm>
        </p:grpSpPr>
        <p:sp>
          <p:nvSpPr>
            <p:cNvPr id="17" name="16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21" name="20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22" name="21 Grupo"/>
          <p:cNvGrpSpPr/>
          <p:nvPr/>
        </p:nvGrpSpPr>
        <p:grpSpPr>
          <a:xfrm>
            <a:off x="0" y="9525"/>
            <a:ext cx="9153525" cy="408388"/>
            <a:chOff x="0" y="9525"/>
            <a:chExt cx="9153525" cy="408388"/>
          </a:xfrm>
        </p:grpSpPr>
        <p:sp>
          <p:nvSpPr>
            <p:cNvPr id="24" name="23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Advanced Query Techniques</a:t>
              </a:r>
              <a:endParaRPr lang="en-US" b="1" i="1" dirty="0">
                <a:solidFill>
                  <a:schemeClr val="bg1"/>
                </a:solidFill>
              </a:endParaRPr>
            </a:p>
          </p:txBody>
        </p:sp>
        <p:pic>
          <p:nvPicPr>
            <p:cNvPr id="25" name="24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6" name="25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25897703"/>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0" y="533400"/>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XML Queries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08" y="990599"/>
            <a:ext cx="4997492" cy="36295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105400"/>
            <a:ext cx="7315200" cy="13625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16 CuadroTexto"/>
          <p:cNvSpPr txBox="1"/>
          <p:nvPr/>
        </p:nvSpPr>
        <p:spPr>
          <a:xfrm>
            <a:off x="0" y="4724400"/>
            <a:ext cx="9144000" cy="27699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200" b="1" dirty="0" smtClean="0">
                <a:solidFill>
                  <a:prstClr val="black"/>
                </a:solidFill>
              </a:rPr>
              <a:t>Sample usage</a:t>
            </a:r>
          </a:p>
        </p:txBody>
      </p:sp>
      <p:grpSp>
        <p:nvGrpSpPr>
          <p:cNvPr id="7" name="6 Grupo"/>
          <p:cNvGrpSpPr/>
          <p:nvPr/>
        </p:nvGrpSpPr>
        <p:grpSpPr>
          <a:xfrm>
            <a:off x="9525" y="6574392"/>
            <a:ext cx="9134399" cy="277000"/>
            <a:chOff x="9525" y="6574392"/>
            <a:chExt cx="9134399" cy="277000"/>
          </a:xfrm>
        </p:grpSpPr>
        <p:sp>
          <p:nvSpPr>
            <p:cNvPr id="8" name="7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9" name="8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0" name="9 Grupo"/>
          <p:cNvGrpSpPr/>
          <p:nvPr/>
        </p:nvGrpSpPr>
        <p:grpSpPr>
          <a:xfrm>
            <a:off x="0" y="9525"/>
            <a:ext cx="9153525" cy="408388"/>
            <a:chOff x="0" y="9525"/>
            <a:chExt cx="9153525" cy="408388"/>
          </a:xfrm>
        </p:grpSpPr>
        <p:sp>
          <p:nvSpPr>
            <p:cNvPr id="11" name="10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Advanced Query Techniques</a:t>
              </a:r>
              <a:endParaRPr lang="en-US" b="1" i="1" dirty="0">
                <a:solidFill>
                  <a:schemeClr val="bg1"/>
                </a:solidFill>
              </a:endParaRPr>
            </a:p>
          </p:txBody>
        </p:sp>
        <p:pic>
          <p:nvPicPr>
            <p:cNvPr id="12" name="11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12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81787026"/>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0" y="533400"/>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Search Engines – Inflectional Search</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69" y="1267599"/>
            <a:ext cx="9067800" cy="17766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5946" y="5789223"/>
            <a:ext cx="3200400" cy="7925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8 CuadroTexto"/>
          <p:cNvSpPr txBox="1"/>
          <p:nvPr/>
        </p:nvSpPr>
        <p:spPr>
          <a:xfrm>
            <a:off x="0" y="990600"/>
            <a:ext cx="9144000" cy="276999"/>
          </a:xfrm>
          <a:prstGeom prst="rect">
            <a:avLst/>
          </a:prstGeom>
          <a:noFill/>
        </p:spPr>
        <p:txBody>
          <a:bodyPr wrap="square" rtlCol="0">
            <a:spAutoFit/>
          </a:bodyPr>
          <a:lstStyle/>
          <a:p>
            <a:r>
              <a:rPr lang="en-US" sz="1200" b="1" dirty="0" smtClean="0">
                <a:solidFill>
                  <a:prstClr val="black"/>
                </a:solidFill>
              </a:rPr>
              <a:t>Example #1</a:t>
            </a:r>
          </a:p>
        </p:txBody>
      </p:sp>
      <p:sp>
        <p:nvSpPr>
          <p:cNvPr id="10" name="9 CuadroTexto"/>
          <p:cNvSpPr txBox="1"/>
          <p:nvPr/>
        </p:nvSpPr>
        <p:spPr>
          <a:xfrm>
            <a:off x="0" y="3505200"/>
            <a:ext cx="9144000" cy="276999"/>
          </a:xfrm>
          <a:prstGeom prst="rect">
            <a:avLst/>
          </a:prstGeom>
          <a:noFill/>
        </p:spPr>
        <p:txBody>
          <a:bodyPr wrap="square" rtlCol="0">
            <a:spAutoFit/>
          </a:bodyPr>
          <a:lstStyle/>
          <a:p>
            <a:r>
              <a:rPr lang="en-US" sz="1200" b="1" dirty="0" smtClean="0">
                <a:solidFill>
                  <a:prstClr val="black"/>
                </a:solidFill>
              </a:rPr>
              <a:t>Our custom free text search implementation…</a:t>
            </a:r>
          </a:p>
        </p:txBody>
      </p:sp>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07" y="3782199"/>
            <a:ext cx="9096286" cy="18338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11 CuadroTexto"/>
          <p:cNvSpPr txBox="1"/>
          <p:nvPr/>
        </p:nvSpPr>
        <p:spPr>
          <a:xfrm>
            <a:off x="4109103" y="5512224"/>
            <a:ext cx="5019942" cy="276999"/>
          </a:xfrm>
          <a:prstGeom prst="rect">
            <a:avLst/>
          </a:prstGeom>
          <a:noFill/>
        </p:spPr>
        <p:txBody>
          <a:bodyPr wrap="square" rtlCol="0">
            <a:spAutoFit/>
          </a:bodyPr>
          <a:lstStyle/>
          <a:p>
            <a:r>
              <a:rPr lang="en-US" sz="1200" dirty="0" smtClean="0">
                <a:solidFill>
                  <a:prstClr val="black"/>
                </a:solidFill>
              </a:rPr>
              <a:t>More at </a:t>
            </a:r>
            <a:r>
              <a:rPr lang="en-US" sz="1200" dirty="0" smtClean="0">
                <a:solidFill>
                  <a:prstClr val="black"/>
                </a:solidFill>
                <a:hlinkClick r:id="rId5"/>
              </a:rPr>
              <a:t>http://msdn.microsoft.com/en-us/library/ms142566(v=sql.105).aspx</a:t>
            </a:r>
            <a:r>
              <a:rPr lang="en-US" sz="1200" dirty="0" smtClean="0">
                <a:solidFill>
                  <a:prstClr val="black"/>
                </a:solidFill>
              </a:rPr>
              <a:t> </a:t>
            </a:r>
          </a:p>
        </p:txBody>
      </p:sp>
      <p:grpSp>
        <p:nvGrpSpPr>
          <p:cNvPr id="11" name="10 Grupo"/>
          <p:cNvGrpSpPr/>
          <p:nvPr/>
        </p:nvGrpSpPr>
        <p:grpSpPr>
          <a:xfrm>
            <a:off x="9525" y="6574392"/>
            <a:ext cx="9134399" cy="277000"/>
            <a:chOff x="9525" y="6574392"/>
            <a:chExt cx="9134399" cy="277000"/>
          </a:xfrm>
        </p:grpSpPr>
        <p:sp>
          <p:nvSpPr>
            <p:cNvPr id="13" name="12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4" name="13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5" name="14 Grupo"/>
          <p:cNvGrpSpPr/>
          <p:nvPr/>
        </p:nvGrpSpPr>
        <p:grpSpPr>
          <a:xfrm>
            <a:off x="0" y="9525"/>
            <a:ext cx="9153525" cy="408388"/>
            <a:chOff x="0" y="9525"/>
            <a:chExt cx="9153525" cy="408388"/>
          </a:xfrm>
        </p:grpSpPr>
        <p:sp>
          <p:nvSpPr>
            <p:cNvPr id="16" name="15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Advanced Query Techniques</a:t>
              </a:r>
              <a:endParaRPr lang="en-US" b="1" i="1" dirty="0">
                <a:solidFill>
                  <a:schemeClr val="bg1"/>
                </a:solidFill>
              </a:endParaRPr>
            </a:p>
          </p:txBody>
        </p:sp>
        <p:pic>
          <p:nvPicPr>
            <p:cNvPr id="17" name="16 Imagen"/>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1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99422553"/>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0" y="533400"/>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Search Engines – Semantic Proximity</a:t>
            </a:r>
          </a:p>
        </p:txBody>
      </p:sp>
      <p:sp>
        <p:nvSpPr>
          <p:cNvPr id="9" name="8 CuadroTexto"/>
          <p:cNvSpPr txBox="1"/>
          <p:nvPr/>
        </p:nvSpPr>
        <p:spPr>
          <a:xfrm>
            <a:off x="0" y="990600"/>
            <a:ext cx="9144000" cy="276999"/>
          </a:xfrm>
          <a:prstGeom prst="rect">
            <a:avLst/>
          </a:prstGeom>
          <a:noFill/>
        </p:spPr>
        <p:txBody>
          <a:bodyPr wrap="square" rtlCol="0">
            <a:spAutoFit/>
          </a:bodyPr>
          <a:lstStyle/>
          <a:p>
            <a:r>
              <a:rPr lang="en-US" sz="1200" b="1" dirty="0" smtClean="0">
                <a:solidFill>
                  <a:prstClr val="black"/>
                </a:solidFill>
              </a:rPr>
              <a:t>Example #1</a:t>
            </a:r>
          </a:p>
        </p:txBody>
      </p:sp>
      <p:sp>
        <p:nvSpPr>
          <p:cNvPr id="12" name="11 CuadroTexto"/>
          <p:cNvSpPr txBox="1"/>
          <p:nvPr/>
        </p:nvSpPr>
        <p:spPr>
          <a:xfrm>
            <a:off x="1390116" y="4114800"/>
            <a:ext cx="7757445" cy="276999"/>
          </a:xfrm>
          <a:prstGeom prst="rect">
            <a:avLst/>
          </a:prstGeom>
          <a:noFill/>
        </p:spPr>
        <p:txBody>
          <a:bodyPr wrap="square" rtlCol="0">
            <a:spAutoFit/>
          </a:bodyPr>
          <a:lstStyle/>
          <a:p>
            <a:r>
              <a:rPr lang="en-US" sz="1200" dirty="0" smtClean="0">
                <a:solidFill>
                  <a:prstClr val="black"/>
                </a:solidFill>
              </a:rPr>
              <a:t>More at </a:t>
            </a:r>
            <a:r>
              <a:rPr lang="en-US" sz="1200" dirty="0" smtClean="0">
                <a:solidFill>
                  <a:prstClr val="black"/>
                </a:solidFill>
                <a:hlinkClick r:id="rId2"/>
              </a:rPr>
              <a:t>http://blogs.msdn.com/b/sqlfts/archive/2011/11/15/custom-proximity-search-with-near-in-sql-server-2012.aspx</a:t>
            </a:r>
            <a:r>
              <a:rPr lang="en-US" sz="1200" dirty="0" smtClean="0">
                <a:solidFill>
                  <a:prstClr val="black"/>
                </a:solidFill>
              </a:rPr>
              <a:t> </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81" y="1371600"/>
            <a:ext cx="9027919" cy="1952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 name="6 Grupo"/>
          <p:cNvGrpSpPr/>
          <p:nvPr/>
        </p:nvGrpSpPr>
        <p:grpSpPr>
          <a:xfrm>
            <a:off x="9525" y="6574392"/>
            <a:ext cx="9134399" cy="277000"/>
            <a:chOff x="9525" y="6574392"/>
            <a:chExt cx="9134399" cy="277000"/>
          </a:xfrm>
        </p:grpSpPr>
        <p:sp>
          <p:nvSpPr>
            <p:cNvPr id="8" name="7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0" name="9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1" name="10 Grupo"/>
          <p:cNvGrpSpPr/>
          <p:nvPr/>
        </p:nvGrpSpPr>
        <p:grpSpPr>
          <a:xfrm>
            <a:off x="0" y="9525"/>
            <a:ext cx="9153525" cy="408388"/>
            <a:chOff x="0" y="9525"/>
            <a:chExt cx="9153525" cy="408388"/>
          </a:xfrm>
        </p:grpSpPr>
        <p:sp>
          <p:nvSpPr>
            <p:cNvPr id="13" name="12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Advanced Query Techniques</a:t>
              </a:r>
              <a:endParaRPr lang="en-US" b="1" i="1" dirty="0">
                <a:solidFill>
                  <a:schemeClr val="bg1"/>
                </a:solidFill>
              </a:endParaRPr>
            </a:p>
          </p:txBody>
        </p:sp>
        <p:pic>
          <p:nvPicPr>
            <p:cNvPr id="14" name="13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 name="14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65512183"/>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0" y="533400"/>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PIVOT Queries</a:t>
            </a:r>
          </a:p>
        </p:txBody>
      </p:sp>
      <p:sp>
        <p:nvSpPr>
          <p:cNvPr id="9" name="8 CuadroTexto"/>
          <p:cNvSpPr txBox="1"/>
          <p:nvPr/>
        </p:nvSpPr>
        <p:spPr>
          <a:xfrm>
            <a:off x="0" y="990600"/>
            <a:ext cx="9144000" cy="276999"/>
          </a:xfrm>
          <a:prstGeom prst="rect">
            <a:avLst/>
          </a:prstGeom>
          <a:noFill/>
        </p:spPr>
        <p:txBody>
          <a:bodyPr wrap="square" rtlCol="0">
            <a:spAutoFit/>
          </a:bodyPr>
          <a:lstStyle/>
          <a:p>
            <a:r>
              <a:rPr lang="en-US" sz="1200" b="1" dirty="0" smtClean="0">
                <a:solidFill>
                  <a:prstClr val="black"/>
                </a:solidFill>
              </a:rPr>
              <a:t>Example #1</a:t>
            </a:r>
          </a:p>
        </p:txBody>
      </p:sp>
      <p:sp>
        <p:nvSpPr>
          <p:cNvPr id="12" name="11 CuadroTexto"/>
          <p:cNvSpPr txBox="1"/>
          <p:nvPr/>
        </p:nvSpPr>
        <p:spPr>
          <a:xfrm>
            <a:off x="1390116" y="4114800"/>
            <a:ext cx="7757445" cy="276999"/>
          </a:xfrm>
          <a:prstGeom prst="rect">
            <a:avLst/>
          </a:prstGeom>
          <a:noFill/>
        </p:spPr>
        <p:txBody>
          <a:bodyPr wrap="square" rtlCol="0">
            <a:spAutoFit/>
          </a:bodyPr>
          <a:lstStyle/>
          <a:p>
            <a:pPr algn="r"/>
            <a:r>
              <a:rPr lang="en-US" sz="1200" dirty="0" smtClean="0">
                <a:solidFill>
                  <a:prstClr val="black"/>
                </a:solidFill>
              </a:rPr>
              <a:t>More </a:t>
            </a:r>
            <a:r>
              <a:rPr lang="en-US" sz="1200" dirty="0">
                <a:solidFill>
                  <a:prstClr val="black"/>
                </a:solidFill>
              </a:rPr>
              <a:t>at </a:t>
            </a:r>
            <a:r>
              <a:rPr lang="en-US" sz="1200" dirty="0">
                <a:solidFill>
                  <a:prstClr val="black"/>
                </a:solidFill>
                <a:hlinkClick r:id="rId2"/>
              </a:rPr>
              <a:t>http://msdn.microsoft.com/en-us/library/ms177410(v=sql.105).</a:t>
            </a:r>
            <a:r>
              <a:rPr lang="en-US" sz="1200" dirty="0" smtClean="0">
                <a:solidFill>
                  <a:prstClr val="black"/>
                </a:solidFill>
                <a:hlinkClick r:id="rId2"/>
              </a:rPr>
              <a:t>aspx</a:t>
            </a:r>
            <a:r>
              <a:rPr lang="en-US" sz="1200" dirty="0" smtClean="0">
                <a:solidFill>
                  <a:prstClr val="black"/>
                </a:solidFill>
              </a:rPr>
              <a:t> </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 y="1371600"/>
            <a:ext cx="4381500" cy="223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 name="6 Grupo"/>
          <p:cNvGrpSpPr/>
          <p:nvPr/>
        </p:nvGrpSpPr>
        <p:grpSpPr>
          <a:xfrm>
            <a:off x="9525" y="6574392"/>
            <a:ext cx="9134399" cy="277000"/>
            <a:chOff x="9525" y="6574392"/>
            <a:chExt cx="9134399" cy="277000"/>
          </a:xfrm>
        </p:grpSpPr>
        <p:sp>
          <p:nvSpPr>
            <p:cNvPr id="8" name="7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0" name="9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1" name="10 Grupo"/>
          <p:cNvGrpSpPr/>
          <p:nvPr/>
        </p:nvGrpSpPr>
        <p:grpSpPr>
          <a:xfrm>
            <a:off x="0" y="9525"/>
            <a:ext cx="9153525" cy="408388"/>
            <a:chOff x="0" y="9525"/>
            <a:chExt cx="9153525" cy="408388"/>
          </a:xfrm>
        </p:grpSpPr>
        <p:sp>
          <p:nvSpPr>
            <p:cNvPr id="13" name="12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Advanced Query Techniques</a:t>
              </a:r>
              <a:endParaRPr lang="en-US" b="1" i="1" dirty="0">
                <a:solidFill>
                  <a:schemeClr val="bg1"/>
                </a:solidFill>
              </a:endParaRPr>
            </a:p>
          </p:txBody>
        </p:sp>
        <p:pic>
          <p:nvPicPr>
            <p:cNvPr id="14" name="13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 name="14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44238889"/>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12818" y="914400"/>
            <a:ext cx="9144000" cy="1600438"/>
          </a:xfrm>
          <a:prstGeom prst="rect">
            <a:avLst/>
          </a:prstGeom>
          <a:noFill/>
        </p:spPr>
        <p:txBody>
          <a:bodyPr wrap="square" rtlCol="0">
            <a:spAutoFit/>
          </a:bodyPr>
          <a:lstStyle/>
          <a:p>
            <a:pPr marL="285750" indent="-285750">
              <a:buFont typeface="Wingdings" pitchFamily="2" charset="2"/>
              <a:buChar char="Ø"/>
            </a:pPr>
            <a:r>
              <a:rPr lang="en-US" sz="1400" dirty="0" smtClean="0">
                <a:solidFill>
                  <a:prstClr val="black"/>
                </a:solidFill>
              </a:rPr>
              <a:t>As of 2001 (approximately) everything became mission-critical… and everything runs 24x7</a:t>
            </a:r>
          </a:p>
          <a:p>
            <a:pPr marL="285750" indent="-285750">
              <a:buFont typeface="Wingdings" pitchFamily="2" charset="2"/>
              <a:buChar char="Ø"/>
            </a:pPr>
            <a:endParaRPr lang="en-US" sz="1400" dirty="0" smtClean="0">
              <a:solidFill>
                <a:prstClr val="black"/>
              </a:solidFill>
            </a:endParaRPr>
          </a:p>
          <a:p>
            <a:pPr marL="285750" indent="-285750">
              <a:buFont typeface="Wingdings" pitchFamily="2" charset="2"/>
              <a:buChar char="Ø"/>
            </a:pPr>
            <a:r>
              <a:rPr lang="en-US" sz="1400" dirty="0" smtClean="0">
                <a:solidFill>
                  <a:prstClr val="black"/>
                </a:solidFill>
              </a:rPr>
              <a:t>An </a:t>
            </a:r>
            <a:r>
              <a:rPr lang="en-US" sz="1400" dirty="0">
                <a:solidFill>
                  <a:prstClr val="black"/>
                </a:solidFill>
              </a:rPr>
              <a:t>OLTP application is characterized by a </a:t>
            </a:r>
            <a:r>
              <a:rPr lang="en-US" sz="1400" b="1" dirty="0">
                <a:solidFill>
                  <a:prstClr val="black"/>
                </a:solidFill>
              </a:rPr>
              <a:t>high volume of small identical </a:t>
            </a:r>
            <a:r>
              <a:rPr lang="en-US" sz="1400" b="1" dirty="0" smtClean="0">
                <a:solidFill>
                  <a:prstClr val="black"/>
                </a:solidFill>
              </a:rPr>
              <a:t>transactions</a:t>
            </a:r>
            <a:r>
              <a:rPr lang="en-US" sz="1400" dirty="0" smtClean="0">
                <a:solidFill>
                  <a:prstClr val="black"/>
                </a:solidFill>
              </a:rPr>
              <a:t> that take place </a:t>
            </a:r>
          </a:p>
          <a:p>
            <a:r>
              <a:rPr lang="en-US" sz="1400" dirty="0">
                <a:solidFill>
                  <a:prstClr val="black"/>
                </a:solidFill>
              </a:rPr>
              <a:t> </a:t>
            </a:r>
            <a:r>
              <a:rPr lang="en-US" sz="1400" dirty="0" smtClean="0">
                <a:solidFill>
                  <a:prstClr val="black"/>
                </a:solidFill>
              </a:rPr>
              <a:t>      in a </a:t>
            </a:r>
            <a:r>
              <a:rPr lang="en-US" sz="1400" b="1" dirty="0" smtClean="0">
                <a:solidFill>
                  <a:prstClr val="black"/>
                </a:solidFill>
              </a:rPr>
              <a:t>concurrent manner</a:t>
            </a:r>
            <a:r>
              <a:rPr lang="en-US" sz="1400" dirty="0" smtClean="0">
                <a:solidFill>
                  <a:prstClr val="black"/>
                </a:solidFill>
              </a:rPr>
              <a:t>.</a:t>
            </a:r>
          </a:p>
          <a:p>
            <a:r>
              <a:rPr lang="en-US" sz="1400" dirty="0">
                <a:solidFill>
                  <a:prstClr val="black"/>
                </a:solidFill>
              </a:rPr>
              <a:t> </a:t>
            </a:r>
            <a:r>
              <a:rPr lang="en-US" sz="1400" dirty="0" smtClean="0">
                <a:solidFill>
                  <a:prstClr val="black"/>
                </a:solidFill>
              </a:rPr>
              <a:t>      </a:t>
            </a:r>
            <a:r>
              <a:rPr lang="en-US" sz="1400" u="sng" dirty="0" smtClean="0">
                <a:solidFill>
                  <a:prstClr val="black"/>
                </a:solidFill>
              </a:rPr>
              <a:t>Such transactions involve</a:t>
            </a:r>
            <a:r>
              <a:rPr lang="en-US" sz="1400" dirty="0" smtClean="0">
                <a:solidFill>
                  <a:prstClr val="black"/>
                </a:solidFill>
              </a:rPr>
              <a:t>:</a:t>
            </a:r>
          </a:p>
          <a:p>
            <a:pPr marL="742950" lvl="1" indent="-285750">
              <a:buFont typeface="Wingdings" pitchFamily="2" charset="2"/>
              <a:buChar char="§"/>
            </a:pPr>
            <a:r>
              <a:rPr lang="en-US" sz="1400" dirty="0">
                <a:solidFill>
                  <a:prstClr val="black"/>
                </a:solidFill>
              </a:rPr>
              <a:t>R</a:t>
            </a:r>
            <a:r>
              <a:rPr lang="en-US" sz="1400" dirty="0" smtClean="0">
                <a:solidFill>
                  <a:prstClr val="black"/>
                </a:solidFill>
              </a:rPr>
              <a:t>eading data (SELECT)</a:t>
            </a:r>
          </a:p>
          <a:p>
            <a:pPr marL="742950" lvl="1" indent="-285750">
              <a:buFont typeface="Wingdings" pitchFamily="2" charset="2"/>
              <a:buChar char="§"/>
            </a:pPr>
            <a:r>
              <a:rPr lang="en-US" sz="1400" dirty="0" smtClean="0">
                <a:solidFill>
                  <a:prstClr val="black"/>
                </a:solidFill>
              </a:rPr>
              <a:t>Manipulating data (INSERT/UPDATE/DELETE)</a:t>
            </a:r>
            <a:endParaRPr lang="en-US" sz="1400" dirty="0">
              <a:solidFill>
                <a:prstClr val="black"/>
              </a:solidFill>
            </a:endParaRPr>
          </a:p>
        </p:txBody>
      </p:sp>
      <p:sp>
        <p:nvSpPr>
          <p:cNvPr id="8" name="7 CuadroTexto"/>
          <p:cNvSpPr txBox="1"/>
          <p:nvPr/>
        </p:nvSpPr>
        <p:spPr>
          <a:xfrm>
            <a:off x="-4272" y="563221"/>
            <a:ext cx="9144000" cy="369332"/>
          </a:xfrm>
          <a:prstGeom prst="rect">
            <a:avLst/>
          </a:prstGeom>
          <a:noFill/>
        </p:spPr>
        <p:txBody>
          <a:bodyPr wrap="square" rtlCol="0">
            <a:spAutoFit/>
          </a:bodyPr>
          <a:lstStyle/>
          <a:p>
            <a:r>
              <a:rPr lang="en-US" b="1" dirty="0" smtClean="0">
                <a:solidFill>
                  <a:prstClr val="black"/>
                </a:solidFill>
              </a:rPr>
              <a:t>On the meaning of “Mission Critical”</a:t>
            </a:r>
            <a:endParaRPr lang="en-US" dirty="0">
              <a:solidFill>
                <a:prstClr val="black"/>
              </a:solidFill>
            </a:endParaRPr>
          </a:p>
        </p:txBody>
      </p:sp>
      <p:grpSp>
        <p:nvGrpSpPr>
          <p:cNvPr id="9" name="8 Grupo"/>
          <p:cNvGrpSpPr/>
          <p:nvPr/>
        </p:nvGrpSpPr>
        <p:grpSpPr>
          <a:xfrm>
            <a:off x="0" y="9525"/>
            <a:ext cx="9153525" cy="408388"/>
            <a:chOff x="0" y="9525"/>
            <a:chExt cx="9153525" cy="408388"/>
          </a:xfrm>
        </p:grpSpPr>
        <p:sp>
          <p:nvSpPr>
            <p:cNvPr id="10" name="9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Performance in Mission Critical Scenarios</a:t>
              </a:r>
              <a:endParaRPr lang="en-US" b="1" i="1" dirty="0">
                <a:solidFill>
                  <a:schemeClr val="bg1"/>
                </a:solidFill>
              </a:endParaRPr>
            </a:p>
          </p:txBody>
        </p:sp>
        <p:pic>
          <p:nvPicPr>
            <p:cNvPr id="11" name="10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11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12 Grupo"/>
          <p:cNvGrpSpPr/>
          <p:nvPr/>
        </p:nvGrpSpPr>
        <p:grpSpPr>
          <a:xfrm>
            <a:off x="9525" y="6574392"/>
            <a:ext cx="9134399" cy="277000"/>
            <a:chOff x="9525" y="6574392"/>
            <a:chExt cx="9134399" cy="277000"/>
          </a:xfrm>
        </p:grpSpPr>
        <p:sp>
          <p:nvSpPr>
            <p:cNvPr id="14" name="13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5" name="14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430802781"/>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CuadroTexto"/>
          <p:cNvSpPr txBox="1"/>
          <p:nvPr/>
        </p:nvSpPr>
        <p:spPr>
          <a:xfrm>
            <a:off x="-5002" y="1056675"/>
            <a:ext cx="9144000" cy="2893100"/>
          </a:xfrm>
          <a:prstGeom prst="rect">
            <a:avLst/>
          </a:prstGeom>
          <a:noFill/>
        </p:spPr>
        <p:txBody>
          <a:bodyPr wrap="square" rtlCol="0">
            <a:spAutoFit/>
          </a:bodyPr>
          <a:lstStyle/>
          <a:p>
            <a:r>
              <a:rPr lang="en-US" sz="1400" b="1" dirty="0" smtClean="0">
                <a:solidFill>
                  <a:prstClr val="black"/>
                </a:solidFill>
              </a:rPr>
              <a:t>Why not?</a:t>
            </a:r>
          </a:p>
          <a:p>
            <a:r>
              <a:rPr lang="en-US" sz="1400" dirty="0">
                <a:solidFill>
                  <a:prstClr val="black"/>
                </a:solidFill>
              </a:rPr>
              <a:t>While a query </a:t>
            </a:r>
            <a:r>
              <a:rPr lang="en-US" sz="1400" dirty="0" smtClean="0">
                <a:solidFill>
                  <a:prstClr val="black"/>
                </a:solidFill>
              </a:rPr>
              <a:t>is </a:t>
            </a:r>
            <a:r>
              <a:rPr lang="en-US" sz="1400" dirty="0">
                <a:solidFill>
                  <a:prstClr val="black"/>
                </a:solidFill>
              </a:rPr>
              <a:t>divided across multiple CPUs it will run </a:t>
            </a:r>
            <a:r>
              <a:rPr lang="en-US" sz="1400" dirty="0" smtClean="0">
                <a:solidFill>
                  <a:prstClr val="black"/>
                </a:solidFill>
              </a:rPr>
              <a:t>faster… </a:t>
            </a:r>
            <a:r>
              <a:rPr lang="en-US" sz="1400" dirty="0">
                <a:solidFill>
                  <a:prstClr val="black"/>
                </a:solidFill>
              </a:rPr>
              <a:t>but it does so by </a:t>
            </a:r>
            <a:r>
              <a:rPr lang="en-US" sz="1400" b="1" dirty="0">
                <a:solidFill>
                  <a:prstClr val="black"/>
                </a:solidFill>
              </a:rPr>
              <a:t>sacrificing CPU resources</a:t>
            </a:r>
            <a:r>
              <a:rPr lang="en-US" sz="1400" dirty="0">
                <a:solidFill>
                  <a:prstClr val="black"/>
                </a:solidFill>
              </a:rPr>
              <a:t>, as it requires merges </a:t>
            </a:r>
            <a:r>
              <a:rPr lang="en-US" sz="1400" dirty="0" smtClean="0">
                <a:solidFill>
                  <a:prstClr val="black"/>
                </a:solidFill>
              </a:rPr>
              <a:t>and </a:t>
            </a:r>
            <a:r>
              <a:rPr lang="en-US" sz="1400" dirty="0">
                <a:solidFill>
                  <a:prstClr val="black"/>
                </a:solidFill>
              </a:rPr>
              <a:t>sorts </a:t>
            </a:r>
            <a:endParaRPr lang="en-US" sz="1400" dirty="0" smtClean="0">
              <a:solidFill>
                <a:prstClr val="black"/>
              </a:solidFill>
            </a:endParaRPr>
          </a:p>
          <a:p>
            <a:r>
              <a:rPr lang="en-US" sz="1400" dirty="0" smtClean="0">
                <a:solidFill>
                  <a:prstClr val="black"/>
                </a:solidFill>
              </a:rPr>
              <a:t>of </a:t>
            </a:r>
            <a:r>
              <a:rPr lang="en-US" sz="1400" dirty="0">
                <a:solidFill>
                  <a:prstClr val="black"/>
                </a:solidFill>
              </a:rPr>
              <a:t>the smaller pieces before presenting the final result </a:t>
            </a:r>
            <a:r>
              <a:rPr lang="en-US" sz="1400" dirty="0" smtClean="0">
                <a:solidFill>
                  <a:prstClr val="black"/>
                </a:solidFill>
              </a:rPr>
              <a:t>set.</a:t>
            </a:r>
          </a:p>
          <a:p>
            <a:endParaRPr lang="en-US" sz="1400" dirty="0" smtClean="0">
              <a:solidFill>
                <a:prstClr val="black"/>
              </a:solidFill>
            </a:endParaRPr>
          </a:p>
          <a:p>
            <a:r>
              <a:rPr lang="en-US" sz="1400" b="1" dirty="0" smtClean="0">
                <a:solidFill>
                  <a:prstClr val="black"/>
                </a:solidFill>
              </a:rPr>
              <a:t>Keep your transactions small</a:t>
            </a:r>
            <a:endParaRPr lang="en-US" sz="1400" b="1" dirty="0">
              <a:solidFill>
                <a:prstClr val="black"/>
              </a:solidFill>
            </a:endParaRPr>
          </a:p>
          <a:p>
            <a:pPr marL="171450" indent="-171450">
              <a:buFont typeface="Wingdings" pitchFamily="2" charset="2"/>
              <a:buChar char="Ø"/>
            </a:pPr>
            <a:r>
              <a:rPr lang="en-US" sz="1400" dirty="0">
                <a:solidFill>
                  <a:prstClr val="black"/>
                </a:solidFill>
              </a:rPr>
              <a:t>An OLTP transaction is small to begin </a:t>
            </a:r>
            <a:r>
              <a:rPr lang="en-US" sz="1400" dirty="0" smtClean="0">
                <a:solidFill>
                  <a:prstClr val="black"/>
                </a:solidFill>
              </a:rPr>
              <a:t>with, </a:t>
            </a:r>
            <a:r>
              <a:rPr lang="en-US" sz="1400" dirty="0">
                <a:solidFill>
                  <a:prstClr val="black"/>
                </a:solidFill>
              </a:rPr>
              <a:t>so there is no need for parallel operations that basically sacrifice CPU and memory resources </a:t>
            </a:r>
            <a:endParaRPr lang="en-US" sz="1400" dirty="0" smtClean="0">
              <a:solidFill>
                <a:prstClr val="black"/>
              </a:solidFill>
            </a:endParaRPr>
          </a:p>
          <a:p>
            <a:r>
              <a:rPr lang="en-US" sz="1400" dirty="0" smtClean="0">
                <a:solidFill>
                  <a:prstClr val="black"/>
                </a:solidFill>
              </a:rPr>
              <a:t>for </a:t>
            </a:r>
            <a:r>
              <a:rPr lang="en-US" sz="1400" dirty="0">
                <a:solidFill>
                  <a:prstClr val="black"/>
                </a:solidFill>
              </a:rPr>
              <a:t>speed of </a:t>
            </a:r>
            <a:r>
              <a:rPr lang="en-US" sz="1400" dirty="0" smtClean="0">
                <a:solidFill>
                  <a:prstClr val="black"/>
                </a:solidFill>
              </a:rPr>
              <a:t>execution</a:t>
            </a:r>
          </a:p>
          <a:p>
            <a:pPr marL="171450" indent="-171450">
              <a:buFont typeface="Wingdings" pitchFamily="2" charset="2"/>
              <a:buChar char="Ø"/>
            </a:pPr>
            <a:r>
              <a:rPr lang="en-US" sz="1400" dirty="0" smtClean="0">
                <a:solidFill>
                  <a:prstClr val="black"/>
                </a:solidFill>
              </a:rPr>
              <a:t>With </a:t>
            </a:r>
            <a:r>
              <a:rPr lang="en-US" sz="1400" dirty="0">
                <a:solidFill>
                  <a:prstClr val="black"/>
                </a:solidFill>
              </a:rPr>
              <a:t>the high transaction volumes </a:t>
            </a:r>
            <a:r>
              <a:rPr lang="en-US" sz="1400" dirty="0" smtClean="0">
                <a:solidFill>
                  <a:prstClr val="black"/>
                </a:solidFill>
              </a:rPr>
              <a:t>and concurrency of Mission Critical OLTP services, </a:t>
            </a:r>
            <a:r>
              <a:rPr lang="en-US" sz="1400" dirty="0">
                <a:solidFill>
                  <a:prstClr val="black"/>
                </a:solidFill>
              </a:rPr>
              <a:t>it is </a:t>
            </a:r>
            <a:r>
              <a:rPr lang="en-US" sz="1400" dirty="0" smtClean="0">
                <a:solidFill>
                  <a:prstClr val="black"/>
                </a:solidFill>
              </a:rPr>
              <a:t>extremely important </a:t>
            </a:r>
            <a:r>
              <a:rPr lang="en-US" sz="1400" i="1" dirty="0" smtClean="0">
                <a:solidFill>
                  <a:prstClr val="black"/>
                </a:solidFill>
              </a:rPr>
              <a:t>to make a good use of</a:t>
            </a:r>
            <a:r>
              <a:rPr lang="en-US" sz="1400" dirty="0" smtClean="0">
                <a:solidFill>
                  <a:prstClr val="black"/>
                </a:solidFill>
              </a:rPr>
              <a:t> CPU and memory resources</a:t>
            </a:r>
          </a:p>
          <a:p>
            <a:endParaRPr lang="en-US" sz="1400" dirty="0">
              <a:solidFill>
                <a:prstClr val="black"/>
              </a:solidFill>
            </a:endParaRPr>
          </a:p>
          <a:p>
            <a:r>
              <a:rPr lang="en-US" sz="1400" b="1" dirty="0">
                <a:solidFill>
                  <a:prstClr val="black"/>
                </a:solidFill>
              </a:rPr>
              <a:t>Parallelism is most appropriate for the big, low volume transactions of data warehouse or reporting applications</a:t>
            </a:r>
          </a:p>
        </p:txBody>
      </p:sp>
      <p:sp>
        <p:nvSpPr>
          <p:cNvPr id="7" name="6 CuadroTexto"/>
          <p:cNvSpPr txBox="1"/>
          <p:nvPr/>
        </p:nvSpPr>
        <p:spPr>
          <a:xfrm>
            <a:off x="5680" y="620688"/>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In OLTP, Parallelism is not necessarily your best friend</a:t>
            </a:r>
            <a:endParaRPr lang="en-US" sz="1400" dirty="0">
              <a:solidFill>
                <a:prstClr val="black"/>
              </a:solidFill>
            </a:endParaRPr>
          </a:p>
        </p:txBody>
      </p:sp>
      <p:grpSp>
        <p:nvGrpSpPr>
          <p:cNvPr id="9" name="8 Grupo"/>
          <p:cNvGrpSpPr/>
          <p:nvPr/>
        </p:nvGrpSpPr>
        <p:grpSpPr>
          <a:xfrm>
            <a:off x="0" y="9525"/>
            <a:ext cx="9153525" cy="408388"/>
            <a:chOff x="0" y="9525"/>
            <a:chExt cx="9153525" cy="408388"/>
          </a:xfrm>
        </p:grpSpPr>
        <p:sp>
          <p:nvSpPr>
            <p:cNvPr id="10" name="9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Performance in Mission Critical Scenarios</a:t>
              </a:r>
              <a:endParaRPr lang="en-US" b="1" i="1" dirty="0">
                <a:solidFill>
                  <a:schemeClr val="bg1"/>
                </a:solidFill>
              </a:endParaRPr>
            </a:p>
          </p:txBody>
        </p:sp>
        <p:pic>
          <p:nvPicPr>
            <p:cNvPr id="11" name="10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11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12 Grupo"/>
          <p:cNvGrpSpPr/>
          <p:nvPr/>
        </p:nvGrpSpPr>
        <p:grpSpPr>
          <a:xfrm>
            <a:off x="9525" y="6574392"/>
            <a:ext cx="9134399" cy="277000"/>
            <a:chOff x="9525" y="6574392"/>
            <a:chExt cx="9134399" cy="277000"/>
          </a:xfrm>
        </p:grpSpPr>
        <p:sp>
          <p:nvSpPr>
            <p:cNvPr id="14" name="13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5" name="14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182612629"/>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136" y="516725"/>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Technical Key Factors that affect the performance of any Mission Critical service</a:t>
            </a:r>
            <a:endParaRPr lang="en-US" sz="1400" dirty="0">
              <a:solidFill>
                <a:prstClr val="black"/>
              </a:solidFill>
            </a:endParaRPr>
          </a:p>
        </p:txBody>
      </p:sp>
      <p:sp>
        <p:nvSpPr>
          <p:cNvPr id="9" name="8 CuadroTexto"/>
          <p:cNvSpPr txBox="1"/>
          <p:nvPr/>
        </p:nvSpPr>
        <p:spPr>
          <a:xfrm>
            <a:off x="-4273" y="964248"/>
            <a:ext cx="9144000" cy="1938992"/>
          </a:xfrm>
          <a:prstGeom prst="rect">
            <a:avLst/>
          </a:prstGeom>
          <a:noFill/>
        </p:spPr>
        <p:txBody>
          <a:bodyPr wrap="square" rtlCol="0">
            <a:spAutoFit/>
          </a:bodyPr>
          <a:lstStyle/>
          <a:p>
            <a:pPr marL="285750" indent="-285750">
              <a:buFont typeface="Wingdings" pitchFamily="2" charset="2"/>
              <a:buChar char="Ø"/>
            </a:pPr>
            <a:r>
              <a:rPr lang="en-US" sz="1200" b="1" dirty="0" smtClean="0">
                <a:solidFill>
                  <a:prstClr val="black"/>
                </a:solidFill>
              </a:rPr>
              <a:t>Database related</a:t>
            </a:r>
          </a:p>
          <a:p>
            <a:pPr marL="742950" lvl="1" indent="-285750">
              <a:buFont typeface="Wingdings" pitchFamily="2" charset="2"/>
              <a:buChar char="Ø"/>
            </a:pPr>
            <a:r>
              <a:rPr lang="en-US" sz="1200" dirty="0" smtClean="0">
                <a:solidFill>
                  <a:prstClr val="black"/>
                </a:solidFill>
              </a:rPr>
              <a:t>Database Design</a:t>
            </a:r>
          </a:p>
          <a:p>
            <a:pPr marL="742950" lvl="1" indent="-285750">
              <a:buFont typeface="Wingdings" pitchFamily="2" charset="2"/>
              <a:buChar char="Ø"/>
            </a:pPr>
            <a:r>
              <a:rPr lang="en-US" sz="1200" dirty="0" smtClean="0">
                <a:solidFill>
                  <a:prstClr val="black"/>
                </a:solidFill>
              </a:rPr>
              <a:t>Database Implementation</a:t>
            </a:r>
          </a:p>
          <a:p>
            <a:pPr marL="742950" lvl="1" indent="-285750">
              <a:buFont typeface="Wingdings" pitchFamily="2" charset="2"/>
              <a:buChar char="Ø"/>
            </a:pPr>
            <a:r>
              <a:rPr lang="en-US" sz="1200" dirty="0" smtClean="0">
                <a:solidFill>
                  <a:prstClr val="black"/>
                </a:solidFill>
              </a:rPr>
              <a:t>CPU utilization</a:t>
            </a:r>
          </a:p>
          <a:p>
            <a:pPr marL="742950" lvl="1" indent="-285750">
              <a:buFont typeface="Wingdings" pitchFamily="2" charset="2"/>
              <a:buChar char="Ø"/>
            </a:pPr>
            <a:r>
              <a:rPr lang="en-US" sz="1200" dirty="0" smtClean="0">
                <a:solidFill>
                  <a:prstClr val="black"/>
                </a:solidFill>
              </a:rPr>
              <a:t>Memory pressure</a:t>
            </a:r>
          </a:p>
          <a:p>
            <a:pPr marL="742950" lvl="1" indent="-285750">
              <a:buFont typeface="Wingdings" pitchFamily="2" charset="2"/>
              <a:buChar char="Ø"/>
            </a:pPr>
            <a:r>
              <a:rPr lang="en-US" sz="1200" dirty="0" smtClean="0">
                <a:solidFill>
                  <a:prstClr val="black"/>
                </a:solidFill>
              </a:rPr>
              <a:t>I/O performance</a:t>
            </a:r>
          </a:p>
          <a:p>
            <a:pPr marL="742950" lvl="1" indent="-285750">
              <a:buFont typeface="Wingdings" pitchFamily="2" charset="2"/>
              <a:buChar char="Ø"/>
            </a:pPr>
            <a:r>
              <a:rPr lang="en-US" sz="1200" dirty="0" smtClean="0">
                <a:solidFill>
                  <a:prstClr val="black"/>
                </a:solidFill>
              </a:rPr>
              <a:t>Blocking (includes locking and bottlenecks)</a:t>
            </a:r>
          </a:p>
          <a:p>
            <a:pPr marL="742950" lvl="1" indent="-285750">
              <a:buFont typeface="Wingdings" pitchFamily="2" charset="2"/>
              <a:buChar char="Ø"/>
            </a:pPr>
            <a:endParaRPr lang="en-US" sz="1200" dirty="0" smtClean="0">
              <a:solidFill>
                <a:prstClr val="black"/>
              </a:solidFill>
            </a:endParaRPr>
          </a:p>
          <a:p>
            <a:pPr marL="285750" indent="-285750">
              <a:buFont typeface="Wingdings" pitchFamily="2" charset="2"/>
              <a:buChar char="Ø"/>
            </a:pPr>
            <a:r>
              <a:rPr lang="en-US" sz="1200" b="1" dirty="0" smtClean="0">
                <a:solidFill>
                  <a:prstClr val="black"/>
                </a:solidFill>
              </a:rPr>
              <a:t>Others</a:t>
            </a:r>
          </a:p>
          <a:p>
            <a:pPr marL="742950" lvl="1" indent="-285750">
              <a:buFont typeface="Wingdings" pitchFamily="2" charset="2"/>
              <a:buChar char="Ø"/>
            </a:pPr>
            <a:r>
              <a:rPr lang="en-US" sz="1200" dirty="0">
                <a:solidFill>
                  <a:prstClr val="black"/>
                </a:solidFill>
              </a:rPr>
              <a:t>Architecture Design and </a:t>
            </a:r>
            <a:r>
              <a:rPr lang="en-US" sz="1200" dirty="0" smtClean="0">
                <a:solidFill>
                  <a:prstClr val="black"/>
                </a:solidFill>
              </a:rPr>
              <a:t>Implementation</a:t>
            </a:r>
            <a:endParaRPr lang="en-US" sz="1200" dirty="0">
              <a:solidFill>
                <a:prstClr val="black"/>
              </a:solidFill>
            </a:endParaRPr>
          </a:p>
        </p:txBody>
      </p:sp>
      <p:sp>
        <p:nvSpPr>
          <p:cNvPr id="11" name="10 CuadroTexto"/>
          <p:cNvSpPr txBox="1"/>
          <p:nvPr/>
        </p:nvSpPr>
        <p:spPr>
          <a:xfrm>
            <a:off x="12107" y="3478113"/>
            <a:ext cx="9144000" cy="3046988"/>
          </a:xfrm>
          <a:prstGeom prst="rect">
            <a:avLst/>
          </a:prstGeom>
          <a:noFill/>
        </p:spPr>
        <p:txBody>
          <a:bodyPr wrap="square" rtlCol="0">
            <a:spAutoFit/>
          </a:bodyPr>
          <a:lstStyle/>
          <a:p>
            <a:r>
              <a:rPr lang="en-US" sz="1200" dirty="0" smtClean="0">
                <a:solidFill>
                  <a:prstClr val="black"/>
                </a:solidFill>
              </a:rPr>
              <a:t>Given </a:t>
            </a:r>
            <a:r>
              <a:rPr lang="en-US" sz="1200" dirty="0">
                <a:solidFill>
                  <a:prstClr val="black"/>
                </a:solidFill>
              </a:rPr>
              <a:t>the high volume of identical small transactions that characterize OLTP, </a:t>
            </a:r>
            <a:r>
              <a:rPr lang="en-US" sz="1200" dirty="0" smtClean="0">
                <a:solidFill>
                  <a:prstClr val="black"/>
                </a:solidFill>
              </a:rPr>
              <a:t> transactions </a:t>
            </a:r>
            <a:r>
              <a:rPr lang="en-US" sz="1200" dirty="0">
                <a:solidFill>
                  <a:prstClr val="black"/>
                </a:solidFill>
              </a:rPr>
              <a:t>per second and resource usage can be improved as follows:  </a:t>
            </a:r>
            <a:endParaRPr lang="en-US" sz="1200" dirty="0" smtClean="0">
              <a:solidFill>
                <a:prstClr val="black"/>
              </a:solidFill>
            </a:endParaRPr>
          </a:p>
          <a:p>
            <a:endParaRPr lang="en-US" sz="1200" dirty="0">
              <a:solidFill>
                <a:prstClr val="black"/>
              </a:solidFill>
            </a:endParaRPr>
          </a:p>
          <a:p>
            <a:pPr marL="171450" indent="-171450">
              <a:buFont typeface="Wingdings" pitchFamily="2" charset="2"/>
              <a:buChar char="Ø"/>
            </a:pPr>
            <a:r>
              <a:rPr lang="en-US" sz="1200" dirty="0" smtClean="0">
                <a:solidFill>
                  <a:prstClr val="black"/>
                </a:solidFill>
              </a:rPr>
              <a:t>1) Database </a:t>
            </a:r>
            <a:r>
              <a:rPr lang="en-US" sz="1200" dirty="0">
                <a:solidFill>
                  <a:prstClr val="black"/>
                </a:solidFill>
              </a:rPr>
              <a:t>designs usually keep the number of indexes to a functional minimum as every insert, update, and delete </a:t>
            </a:r>
            <a:r>
              <a:rPr lang="en-US" sz="1200" dirty="0" smtClean="0">
                <a:solidFill>
                  <a:prstClr val="black"/>
                </a:solidFill>
              </a:rPr>
              <a:t>incurs in </a:t>
            </a:r>
            <a:r>
              <a:rPr lang="en-US" sz="1200" dirty="0">
                <a:solidFill>
                  <a:prstClr val="black"/>
                </a:solidFill>
              </a:rPr>
              <a:t>index maintenance</a:t>
            </a:r>
            <a:r>
              <a:rPr lang="en-US" sz="1200" dirty="0" smtClean="0">
                <a:solidFill>
                  <a:prstClr val="black"/>
                </a:solidFill>
              </a:rPr>
              <a:t>.</a:t>
            </a:r>
          </a:p>
          <a:p>
            <a:pPr marL="171450" indent="-171450">
              <a:buFont typeface="Wingdings" pitchFamily="2" charset="2"/>
              <a:buChar char="Ø"/>
            </a:pPr>
            <a:endParaRPr lang="en-US" sz="1200" dirty="0">
              <a:solidFill>
                <a:prstClr val="black"/>
              </a:solidFill>
            </a:endParaRPr>
          </a:p>
          <a:p>
            <a:pPr marL="171450" indent="-171450">
              <a:buFont typeface="Wingdings" pitchFamily="2" charset="2"/>
              <a:buChar char="Ø"/>
            </a:pPr>
            <a:r>
              <a:rPr lang="en-US" sz="1200" dirty="0" smtClean="0">
                <a:solidFill>
                  <a:prstClr val="black"/>
                </a:solidFill>
              </a:rPr>
              <a:t>2) CPU utilization </a:t>
            </a:r>
            <a:r>
              <a:rPr lang="en-US" sz="1200" dirty="0">
                <a:solidFill>
                  <a:prstClr val="black"/>
                </a:solidFill>
              </a:rPr>
              <a:t>can be reduced with plan reuse and join reduction. </a:t>
            </a:r>
            <a:endParaRPr lang="en-US" sz="1200" dirty="0" smtClean="0">
              <a:solidFill>
                <a:prstClr val="black"/>
              </a:solidFill>
            </a:endParaRPr>
          </a:p>
          <a:p>
            <a:pPr marL="171450" indent="-171450">
              <a:buFont typeface="Wingdings" pitchFamily="2" charset="2"/>
              <a:buChar char="Ø"/>
            </a:pPr>
            <a:endParaRPr lang="en-US" sz="1200" dirty="0">
              <a:solidFill>
                <a:prstClr val="black"/>
              </a:solidFill>
            </a:endParaRPr>
          </a:p>
          <a:p>
            <a:pPr marL="171450" indent="-171450">
              <a:buFont typeface="Wingdings" pitchFamily="2" charset="2"/>
              <a:buChar char="Ø"/>
            </a:pPr>
            <a:r>
              <a:rPr lang="en-US" sz="1200" dirty="0" smtClean="0">
                <a:solidFill>
                  <a:prstClr val="black"/>
                </a:solidFill>
              </a:rPr>
              <a:t>3) I/O </a:t>
            </a:r>
            <a:r>
              <a:rPr lang="en-US" sz="1200" dirty="0">
                <a:solidFill>
                  <a:prstClr val="black"/>
                </a:solidFill>
              </a:rPr>
              <a:t>performance can be reduced with good indexing, join reduction, and high page life expectancy. </a:t>
            </a:r>
            <a:endParaRPr lang="en-US" sz="1200" dirty="0" smtClean="0">
              <a:solidFill>
                <a:prstClr val="black"/>
              </a:solidFill>
            </a:endParaRPr>
          </a:p>
          <a:p>
            <a:pPr marL="171450" indent="-171450">
              <a:buFont typeface="Wingdings" pitchFamily="2" charset="2"/>
              <a:buChar char="Ø"/>
            </a:pPr>
            <a:endParaRPr lang="en-US" sz="1200" dirty="0">
              <a:solidFill>
                <a:prstClr val="black"/>
              </a:solidFill>
            </a:endParaRPr>
          </a:p>
          <a:p>
            <a:pPr marL="171450" indent="-171450">
              <a:buFont typeface="Wingdings" pitchFamily="2" charset="2"/>
              <a:buChar char="Ø"/>
            </a:pPr>
            <a:r>
              <a:rPr lang="en-US" sz="1200" dirty="0" smtClean="0">
                <a:solidFill>
                  <a:prstClr val="black"/>
                </a:solidFill>
              </a:rPr>
              <a:t>4) Memory </a:t>
            </a:r>
            <a:r>
              <a:rPr lang="en-US" sz="1200" dirty="0">
                <a:solidFill>
                  <a:prstClr val="black"/>
                </a:solidFill>
              </a:rPr>
              <a:t>is optimal when there are no sudden drops in Page Life Expectancy</a:t>
            </a:r>
            <a:r>
              <a:rPr lang="en-US" sz="1200" dirty="0" smtClean="0">
                <a:solidFill>
                  <a:prstClr val="black"/>
                </a:solidFill>
              </a:rPr>
              <a:t>.</a:t>
            </a:r>
          </a:p>
          <a:p>
            <a:pPr marL="171450" indent="-171450">
              <a:buFont typeface="Wingdings" pitchFamily="2" charset="2"/>
              <a:buChar char="Ø"/>
            </a:pPr>
            <a:endParaRPr lang="en-US" sz="1200" dirty="0">
              <a:solidFill>
                <a:prstClr val="black"/>
              </a:solidFill>
            </a:endParaRPr>
          </a:p>
          <a:p>
            <a:pPr marL="171450" indent="-171450">
              <a:buFont typeface="Wingdings" pitchFamily="2" charset="2"/>
              <a:buChar char="Ø"/>
            </a:pPr>
            <a:r>
              <a:rPr lang="en-US" sz="1200" dirty="0" smtClean="0">
                <a:solidFill>
                  <a:prstClr val="black"/>
                </a:solidFill>
              </a:rPr>
              <a:t>5) Sorts </a:t>
            </a:r>
            <a:r>
              <a:rPr lang="en-US" sz="1200" dirty="0">
                <a:solidFill>
                  <a:prstClr val="black"/>
                </a:solidFill>
              </a:rPr>
              <a:t>can be limited with index usage. </a:t>
            </a:r>
            <a:endParaRPr lang="en-US" sz="1200" dirty="0" smtClean="0">
              <a:solidFill>
                <a:prstClr val="black"/>
              </a:solidFill>
            </a:endParaRPr>
          </a:p>
          <a:p>
            <a:r>
              <a:rPr lang="en-US" sz="1200" dirty="0">
                <a:solidFill>
                  <a:prstClr val="black"/>
                </a:solidFill>
              </a:rPr>
              <a:t> </a:t>
            </a:r>
            <a:r>
              <a:rPr lang="en-US" sz="1200" dirty="0" smtClean="0">
                <a:solidFill>
                  <a:prstClr val="black"/>
                </a:solidFill>
              </a:rPr>
              <a:t>    That </a:t>
            </a:r>
            <a:r>
              <a:rPr lang="en-US" sz="1200" dirty="0">
                <a:solidFill>
                  <a:prstClr val="black"/>
                </a:solidFill>
              </a:rPr>
              <a:t>is, a certain sort order is supported by an index that is sorted the same </a:t>
            </a:r>
            <a:r>
              <a:rPr lang="en-US" sz="1200" dirty="0" smtClean="0">
                <a:solidFill>
                  <a:prstClr val="black"/>
                </a:solidFill>
              </a:rPr>
              <a:t>way</a:t>
            </a:r>
            <a:r>
              <a:rPr lang="en-US" sz="1200" dirty="0">
                <a:solidFill>
                  <a:prstClr val="black"/>
                </a:solidFill>
              </a:rPr>
              <a:t> </a:t>
            </a:r>
            <a:r>
              <a:rPr lang="en-US" sz="1200" dirty="0" smtClean="0">
                <a:solidFill>
                  <a:prstClr val="black"/>
                </a:solidFill>
              </a:rPr>
              <a:t>- either </a:t>
            </a:r>
            <a:r>
              <a:rPr lang="en-US" sz="1200" dirty="0">
                <a:solidFill>
                  <a:prstClr val="black"/>
                </a:solidFill>
              </a:rPr>
              <a:t>ascending or descending</a:t>
            </a:r>
            <a:r>
              <a:rPr lang="en-US" sz="1200" dirty="0" smtClean="0">
                <a:solidFill>
                  <a:prstClr val="black"/>
                </a:solidFill>
              </a:rPr>
              <a:t>.</a:t>
            </a:r>
          </a:p>
          <a:p>
            <a:pPr marL="171450" indent="-171450">
              <a:buFont typeface="Wingdings" pitchFamily="2" charset="2"/>
              <a:buChar char="Ø"/>
            </a:pPr>
            <a:endParaRPr lang="en-US" sz="1200" dirty="0">
              <a:solidFill>
                <a:prstClr val="black"/>
              </a:solidFill>
            </a:endParaRPr>
          </a:p>
          <a:p>
            <a:pPr marL="171450" indent="-171450">
              <a:buFont typeface="Wingdings" pitchFamily="2" charset="2"/>
              <a:buChar char="Ø"/>
            </a:pPr>
            <a:r>
              <a:rPr lang="en-US" sz="1200" dirty="0" smtClean="0">
                <a:solidFill>
                  <a:prstClr val="black"/>
                </a:solidFill>
              </a:rPr>
              <a:t>6) Blocking </a:t>
            </a:r>
            <a:r>
              <a:rPr lang="en-US" sz="1200" dirty="0">
                <a:solidFill>
                  <a:prstClr val="black"/>
                </a:solidFill>
              </a:rPr>
              <a:t>can be reduced with index design and short transactions.</a:t>
            </a:r>
          </a:p>
        </p:txBody>
      </p:sp>
      <p:sp>
        <p:nvSpPr>
          <p:cNvPr id="12" name="11 CuadroTexto"/>
          <p:cNvSpPr txBox="1"/>
          <p:nvPr/>
        </p:nvSpPr>
        <p:spPr>
          <a:xfrm>
            <a:off x="-2849" y="3098562"/>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Database level tips:</a:t>
            </a:r>
            <a:endParaRPr lang="en-US" sz="1400" dirty="0">
              <a:solidFill>
                <a:prstClr val="black"/>
              </a:solidFill>
            </a:endParaRPr>
          </a:p>
        </p:txBody>
      </p:sp>
      <p:grpSp>
        <p:nvGrpSpPr>
          <p:cNvPr id="7" name="6 Grupo"/>
          <p:cNvGrpSpPr/>
          <p:nvPr/>
        </p:nvGrpSpPr>
        <p:grpSpPr>
          <a:xfrm>
            <a:off x="9525" y="6574392"/>
            <a:ext cx="9134399" cy="277000"/>
            <a:chOff x="9525" y="6574392"/>
            <a:chExt cx="9134399" cy="277000"/>
          </a:xfrm>
        </p:grpSpPr>
        <p:sp>
          <p:nvSpPr>
            <p:cNvPr id="10" name="9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3" name="1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4" name="13 Grupo"/>
          <p:cNvGrpSpPr/>
          <p:nvPr/>
        </p:nvGrpSpPr>
        <p:grpSpPr>
          <a:xfrm>
            <a:off x="0" y="9525"/>
            <a:ext cx="9153525" cy="408388"/>
            <a:chOff x="0" y="9525"/>
            <a:chExt cx="9153525" cy="408388"/>
          </a:xfrm>
        </p:grpSpPr>
        <p:sp>
          <p:nvSpPr>
            <p:cNvPr id="15" name="14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Performance in Mission Critical Scenarios</a:t>
              </a:r>
              <a:endParaRPr lang="en-US" b="1" i="1" dirty="0">
                <a:solidFill>
                  <a:schemeClr val="bg1"/>
                </a:solidFill>
              </a:endParaRPr>
            </a:p>
          </p:txBody>
        </p:sp>
        <p:pic>
          <p:nvPicPr>
            <p:cNvPr id="16" name="15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7" name="16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06490611"/>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0" y="533400"/>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Database Design</a:t>
            </a:r>
            <a:endParaRPr lang="en-US" sz="1400" dirty="0">
              <a:solidFill>
                <a:prstClr val="black"/>
              </a:solidFill>
            </a:endParaRPr>
          </a:p>
        </p:txBody>
      </p:sp>
      <p:sp>
        <p:nvSpPr>
          <p:cNvPr id="3" name="Rectangle 1"/>
          <p:cNvSpPr>
            <a:spLocks noChangeArrowheads="1"/>
          </p:cNvSpPr>
          <p:nvPr/>
        </p:nvSpPr>
        <p:spPr bwMode="auto">
          <a:xfrm>
            <a:off x="1704975" y="18875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smtClean="0">
              <a:solidFill>
                <a:prstClr val="black"/>
              </a:solidFill>
              <a:latin typeface="Arial" pitchFamily="34" charset="0"/>
              <a:cs typeface="Arial" pitchFamily="34" charset="0"/>
            </a:endParaRPr>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066800"/>
            <a:ext cx="7791450" cy="3629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 name="5 Grupo"/>
          <p:cNvGrpSpPr/>
          <p:nvPr/>
        </p:nvGrpSpPr>
        <p:grpSpPr>
          <a:xfrm>
            <a:off x="0" y="9525"/>
            <a:ext cx="9153525" cy="408388"/>
            <a:chOff x="0" y="9525"/>
            <a:chExt cx="9153525" cy="408388"/>
          </a:xfrm>
        </p:grpSpPr>
        <p:sp>
          <p:nvSpPr>
            <p:cNvPr id="8" name="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Performance in Mission Critical Scenarios</a:t>
              </a:r>
              <a:endParaRPr lang="en-US" b="1" i="1" dirty="0">
                <a:solidFill>
                  <a:schemeClr val="bg1"/>
                </a:solidFill>
              </a:endParaRPr>
            </a:p>
          </p:txBody>
        </p:sp>
        <p:pic>
          <p:nvPicPr>
            <p:cNvPr id="9" name="8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9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10 Grupo"/>
          <p:cNvGrpSpPr/>
          <p:nvPr/>
        </p:nvGrpSpPr>
        <p:grpSpPr>
          <a:xfrm>
            <a:off x="9525" y="6574392"/>
            <a:ext cx="9134399" cy="277000"/>
            <a:chOff x="9525" y="6574392"/>
            <a:chExt cx="9134399" cy="277000"/>
          </a:xfrm>
        </p:grpSpPr>
        <p:sp>
          <p:nvSpPr>
            <p:cNvPr id="12" name="1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3" name="1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230677331"/>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0" y="533400"/>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CPU</a:t>
            </a:r>
            <a:endParaRPr lang="en-US" sz="1400" dirty="0">
              <a:solidFill>
                <a:prstClr val="black"/>
              </a:solidFill>
            </a:endParaRPr>
          </a:p>
        </p:txBody>
      </p:sp>
      <p:sp>
        <p:nvSpPr>
          <p:cNvPr id="3" name="Rectangle 1"/>
          <p:cNvSpPr>
            <a:spLocks noChangeArrowheads="1"/>
          </p:cNvSpPr>
          <p:nvPr/>
        </p:nvSpPr>
        <p:spPr bwMode="auto">
          <a:xfrm>
            <a:off x="1704975" y="18875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smtClean="0">
              <a:solidFill>
                <a:prstClr val="black"/>
              </a:solidFill>
              <a:latin typeface="Arial" pitchFamily="34" charset="0"/>
              <a:cs typeface="Arial" pitchFamily="34"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066799"/>
            <a:ext cx="8324850" cy="2809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 name="5 Grupo"/>
          <p:cNvGrpSpPr/>
          <p:nvPr/>
        </p:nvGrpSpPr>
        <p:grpSpPr>
          <a:xfrm>
            <a:off x="0" y="9525"/>
            <a:ext cx="9153525" cy="408388"/>
            <a:chOff x="0" y="9525"/>
            <a:chExt cx="9153525" cy="408388"/>
          </a:xfrm>
        </p:grpSpPr>
        <p:sp>
          <p:nvSpPr>
            <p:cNvPr id="8" name="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Performance in Mission Critical Scenarios</a:t>
              </a:r>
              <a:endParaRPr lang="en-US" b="1" i="1" dirty="0">
                <a:solidFill>
                  <a:schemeClr val="bg1"/>
                </a:solidFill>
              </a:endParaRPr>
            </a:p>
          </p:txBody>
        </p:sp>
        <p:pic>
          <p:nvPicPr>
            <p:cNvPr id="9" name="8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9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10 Grupo"/>
          <p:cNvGrpSpPr/>
          <p:nvPr/>
        </p:nvGrpSpPr>
        <p:grpSpPr>
          <a:xfrm>
            <a:off x="9525" y="6574392"/>
            <a:ext cx="9134399" cy="277000"/>
            <a:chOff x="9525" y="6574392"/>
            <a:chExt cx="9134399" cy="277000"/>
          </a:xfrm>
        </p:grpSpPr>
        <p:sp>
          <p:nvSpPr>
            <p:cNvPr id="12" name="1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3" name="1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026661189"/>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0" y="533400"/>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Memory</a:t>
            </a:r>
            <a:endParaRPr lang="en-US" sz="1400" dirty="0">
              <a:solidFill>
                <a:prstClr val="black"/>
              </a:solidFill>
            </a:endParaRPr>
          </a:p>
        </p:txBody>
      </p:sp>
      <p:sp>
        <p:nvSpPr>
          <p:cNvPr id="3" name="Rectangle 1"/>
          <p:cNvSpPr>
            <a:spLocks noChangeArrowheads="1"/>
          </p:cNvSpPr>
          <p:nvPr/>
        </p:nvSpPr>
        <p:spPr bwMode="auto">
          <a:xfrm>
            <a:off x="1704975" y="18875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smtClean="0">
              <a:solidFill>
                <a:prstClr val="black"/>
              </a:solidFill>
              <a:latin typeface="Arial" pitchFamily="34" charset="0"/>
              <a:cs typeface="Arial" pitchFamily="34"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1" y="1066800"/>
            <a:ext cx="9028140"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 name="5 Grupo"/>
          <p:cNvGrpSpPr/>
          <p:nvPr/>
        </p:nvGrpSpPr>
        <p:grpSpPr>
          <a:xfrm>
            <a:off x="0" y="9525"/>
            <a:ext cx="9153525" cy="408388"/>
            <a:chOff x="0" y="9525"/>
            <a:chExt cx="9153525" cy="408388"/>
          </a:xfrm>
        </p:grpSpPr>
        <p:sp>
          <p:nvSpPr>
            <p:cNvPr id="8" name="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Performance in Mission Critical Scenarios</a:t>
              </a:r>
              <a:endParaRPr lang="en-US" b="1" i="1" dirty="0">
                <a:solidFill>
                  <a:schemeClr val="bg1"/>
                </a:solidFill>
              </a:endParaRPr>
            </a:p>
          </p:txBody>
        </p:sp>
        <p:pic>
          <p:nvPicPr>
            <p:cNvPr id="9" name="8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9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10 Grupo"/>
          <p:cNvGrpSpPr/>
          <p:nvPr/>
        </p:nvGrpSpPr>
        <p:grpSpPr>
          <a:xfrm>
            <a:off x="9525" y="6574392"/>
            <a:ext cx="9134399" cy="277000"/>
            <a:chOff x="9525" y="6574392"/>
            <a:chExt cx="9134399" cy="277000"/>
          </a:xfrm>
        </p:grpSpPr>
        <p:sp>
          <p:nvSpPr>
            <p:cNvPr id="12" name="1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3" name="1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2138181238"/>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0" y="533400"/>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I/O</a:t>
            </a:r>
            <a:endParaRPr lang="en-US" sz="1400" dirty="0">
              <a:solidFill>
                <a:prstClr val="black"/>
              </a:solidFill>
            </a:endParaRPr>
          </a:p>
        </p:txBody>
      </p:sp>
      <p:sp>
        <p:nvSpPr>
          <p:cNvPr id="3" name="Rectangle 1"/>
          <p:cNvSpPr>
            <a:spLocks noChangeArrowheads="1"/>
          </p:cNvSpPr>
          <p:nvPr/>
        </p:nvSpPr>
        <p:spPr bwMode="auto">
          <a:xfrm>
            <a:off x="1704975" y="18875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smtClean="0">
              <a:solidFill>
                <a:prstClr val="black"/>
              </a:solidFill>
              <a:latin typeface="Arial" pitchFamily="34" charset="0"/>
              <a:cs typeface="Arial" pitchFamily="34"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990600"/>
            <a:ext cx="7648575" cy="4248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 name="5 Grupo"/>
          <p:cNvGrpSpPr/>
          <p:nvPr/>
        </p:nvGrpSpPr>
        <p:grpSpPr>
          <a:xfrm>
            <a:off x="0" y="9525"/>
            <a:ext cx="9153525" cy="408388"/>
            <a:chOff x="0" y="9525"/>
            <a:chExt cx="9153525" cy="408388"/>
          </a:xfrm>
        </p:grpSpPr>
        <p:sp>
          <p:nvSpPr>
            <p:cNvPr id="8" name="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Performance in Mission Critical Scenarios</a:t>
              </a:r>
              <a:endParaRPr lang="en-US" b="1" i="1" dirty="0">
                <a:solidFill>
                  <a:schemeClr val="bg1"/>
                </a:solidFill>
              </a:endParaRPr>
            </a:p>
          </p:txBody>
        </p:sp>
        <p:pic>
          <p:nvPicPr>
            <p:cNvPr id="9" name="8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9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10 Grupo"/>
          <p:cNvGrpSpPr/>
          <p:nvPr/>
        </p:nvGrpSpPr>
        <p:grpSpPr>
          <a:xfrm>
            <a:off x="9525" y="6574392"/>
            <a:ext cx="9134399" cy="277000"/>
            <a:chOff x="9525" y="6574392"/>
            <a:chExt cx="9134399" cy="277000"/>
          </a:xfrm>
        </p:grpSpPr>
        <p:sp>
          <p:nvSpPr>
            <p:cNvPr id="12" name="1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3" name="1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738131543"/>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0" y="533400"/>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Blocking</a:t>
            </a:r>
            <a:endParaRPr lang="en-US" sz="1400" dirty="0">
              <a:solidFill>
                <a:prstClr val="black"/>
              </a:solidFill>
            </a:endParaRPr>
          </a:p>
        </p:txBody>
      </p:sp>
      <p:sp>
        <p:nvSpPr>
          <p:cNvPr id="3" name="Rectangle 1"/>
          <p:cNvSpPr>
            <a:spLocks noChangeArrowheads="1"/>
          </p:cNvSpPr>
          <p:nvPr/>
        </p:nvSpPr>
        <p:spPr bwMode="auto">
          <a:xfrm>
            <a:off x="1704975" y="18875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smtClean="0">
              <a:solidFill>
                <a:prstClr val="black"/>
              </a:solidFill>
              <a:latin typeface="Arial" pitchFamily="34" charset="0"/>
              <a:cs typeface="Arial" pitchFamily="34"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942828"/>
            <a:ext cx="8352928" cy="55466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 name="5 Grupo"/>
          <p:cNvGrpSpPr/>
          <p:nvPr/>
        </p:nvGrpSpPr>
        <p:grpSpPr>
          <a:xfrm>
            <a:off x="0" y="9525"/>
            <a:ext cx="9153525" cy="408388"/>
            <a:chOff x="0" y="9525"/>
            <a:chExt cx="9153525" cy="408388"/>
          </a:xfrm>
        </p:grpSpPr>
        <p:sp>
          <p:nvSpPr>
            <p:cNvPr id="8" name="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Performance in Mission Critical Scenarios</a:t>
              </a:r>
              <a:endParaRPr lang="en-US" b="1" i="1" dirty="0">
                <a:solidFill>
                  <a:schemeClr val="bg1"/>
                </a:solidFill>
              </a:endParaRPr>
            </a:p>
          </p:txBody>
        </p:sp>
        <p:pic>
          <p:nvPicPr>
            <p:cNvPr id="9" name="8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9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10 Grupo"/>
          <p:cNvGrpSpPr/>
          <p:nvPr/>
        </p:nvGrpSpPr>
        <p:grpSpPr>
          <a:xfrm>
            <a:off x="9525" y="6574392"/>
            <a:ext cx="9134399" cy="277000"/>
            <a:chOff x="9525" y="6574392"/>
            <a:chExt cx="9134399" cy="277000"/>
          </a:xfrm>
        </p:grpSpPr>
        <p:sp>
          <p:nvSpPr>
            <p:cNvPr id="12" name="1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3" name="1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202934338"/>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0" y="533400"/>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Network</a:t>
            </a:r>
            <a:endParaRPr lang="en-US" sz="1400" dirty="0">
              <a:solidFill>
                <a:prstClr val="black"/>
              </a:solidFill>
            </a:endParaRPr>
          </a:p>
        </p:txBody>
      </p:sp>
      <p:sp>
        <p:nvSpPr>
          <p:cNvPr id="3" name="Rectangle 1"/>
          <p:cNvSpPr>
            <a:spLocks noChangeArrowheads="1"/>
          </p:cNvSpPr>
          <p:nvPr/>
        </p:nvSpPr>
        <p:spPr bwMode="auto">
          <a:xfrm>
            <a:off x="1704975" y="18875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smtClean="0">
              <a:solidFill>
                <a:prstClr val="black"/>
              </a:solidFill>
              <a:latin typeface="Arial" pitchFamily="34" charset="0"/>
              <a:cs typeface="Arial" pitchFamily="34"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588" y="1006475"/>
            <a:ext cx="8915400" cy="2676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 name="5 Grupo"/>
          <p:cNvGrpSpPr/>
          <p:nvPr/>
        </p:nvGrpSpPr>
        <p:grpSpPr>
          <a:xfrm>
            <a:off x="0" y="9525"/>
            <a:ext cx="9153525" cy="408388"/>
            <a:chOff x="0" y="9525"/>
            <a:chExt cx="9153525" cy="408388"/>
          </a:xfrm>
        </p:grpSpPr>
        <p:sp>
          <p:nvSpPr>
            <p:cNvPr id="8" name="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Performance in Mission Critical Scenarios</a:t>
              </a:r>
              <a:endParaRPr lang="en-US" b="1" i="1" dirty="0">
                <a:solidFill>
                  <a:schemeClr val="bg1"/>
                </a:solidFill>
              </a:endParaRPr>
            </a:p>
          </p:txBody>
        </p:sp>
        <p:pic>
          <p:nvPicPr>
            <p:cNvPr id="9" name="8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9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10 Grupo"/>
          <p:cNvGrpSpPr/>
          <p:nvPr/>
        </p:nvGrpSpPr>
        <p:grpSpPr>
          <a:xfrm>
            <a:off x="9525" y="6574392"/>
            <a:ext cx="9134399" cy="277000"/>
            <a:chOff x="9525" y="6574392"/>
            <a:chExt cx="9134399" cy="277000"/>
          </a:xfrm>
        </p:grpSpPr>
        <p:sp>
          <p:nvSpPr>
            <p:cNvPr id="12" name="11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3" name="12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4070063378"/>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0" y="514350"/>
            <a:ext cx="9144000" cy="369332"/>
          </a:xfrm>
          <a:prstGeom prst="rect">
            <a:avLst/>
          </a:prstGeom>
          <a:noFill/>
        </p:spPr>
        <p:txBody>
          <a:bodyPr wrap="square" rtlCol="0">
            <a:spAutoFit/>
          </a:bodyPr>
          <a:lstStyle/>
          <a:p>
            <a:r>
              <a:rPr lang="en-US" b="1" dirty="0" smtClean="0">
                <a:solidFill>
                  <a:prstClr val="black"/>
                </a:solidFill>
              </a:rPr>
              <a:t>How to identify the largest I/O queries</a:t>
            </a:r>
            <a:endParaRPr lang="en-US" dirty="0">
              <a:solidFill>
                <a:prstClr val="black"/>
              </a:solidFill>
            </a:endParaRPr>
          </a:p>
        </p:txBody>
      </p:sp>
      <p:sp>
        <p:nvSpPr>
          <p:cNvPr id="3" name="Rectangle 1"/>
          <p:cNvSpPr>
            <a:spLocks noChangeArrowheads="1"/>
          </p:cNvSpPr>
          <p:nvPr/>
        </p:nvSpPr>
        <p:spPr bwMode="auto">
          <a:xfrm>
            <a:off x="1704975" y="18875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smtClean="0">
              <a:solidFill>
                <a:prstClr val="black"/>
              </a:solidFill>
              <a:latin typeface="Arial" pitchFamily="34" charset="0"/>
              <a:cs typeface="Arial" pitchFamily="34" charset="0"/>
            </a:endParaRPr>
          </a:p>
        </p:txBody>
      </p:sp>
      <p:sp>
        <p:nvSpPr>
          <p:cNvPr id="2" name="1 CuadroTexto"/>
          <p:cNvSpPr txBox="1"/>
          <p:nvPr/>
        </p:nvSpPr>
        <p:spPr>
          <a:xfrm>
            <a:off x="0" y="896034"/>
            <a:ext cx="8915400" cy="1015663"/>
          </a:xfrm>
          <a:prstGeom prst="rect">
            <a:avLst/>
          </a:prstGeom>
          <a:noFill/>
        </p:spPr>
        <p:txBody>
          <a:bodyPr wrap="square" rtlCol="0">
            <a:spAutoFit/>
          </a:bodyPr>
          <a:lstStyle/>
          <a:p>
            <a:r>
              <a:rPr lang="en-US" sz="1200" dirty="0">
                <a:solidFill>
                  <a:prstClr val="black"/>
                </a:solidFill>
              </a:rPr>
              <a:t>The underlying purpose of an index suggested by </a:t>
            </a:r>
            <a:r>
              <a:rPr lang="en-US" sz="1200" b="1" dirty="0" err="1">
                <a:solidFill>
                  <a:prstClr val="black"/>
                </a:solidFill>
              </a:rPr>
              <a:t>sys.dm_db_missing_index_columns</a:t>
            </a:r>
            <a:r>
              <a:rPr lang="en-US" sz="1200" dirty="0">
                <a:solidFill>
                  <a:prstClr val="black"/>
                </a:solidFill>
              </a:rPr>
              <a:t>, is to avoid doing large amounts of </a:t>
            </a:r>
            <a:r>
              <a:rPr lang="en-US" sz="1200" dirty="0" smtClean="0">
                <a:solidFill>
                  <a:prstClr val="black"/>
                </a:solidFill>
              </a:rPr>
              <a:t>I/O </a:t>
            </a:r>
            <a:r>
              <a:rPr lang="en-US" sz="1200" dirty="0">
                <a:solidFill>
                  <a:prstClr val="black"/>
                </a:solidFill>
              </a:rPr>
              <a:t>for the query </a:t>
            </a:r>
            <a:endParaRPr lang="en-US" sz="1200" dirty="0" smtClean="0">
              <a:solidFill>
                <a:prstClr val="black"/>
              </a:solidFill>
            </a:endParaRPr>
          </a:p>
          <a:p>
            <a:r>
              <a:rPr lang="en-US" sz="1200" dirty="0" smtClean="0">
                <a:solidFill>
                  <a:prstClr val="black"/>
                </a:solidFill>
              </a:rPr>
              <a:t>in </a:t>
            </a:r>
            <a:r>
              <a:rPr lang="en-US" sz="1200" dirty="0">
                <a:solidFill>
                  <a:prstClr val="black"/>
                </a:solidFill>
              </a:rPr>
              <a:t>question. </a:t>
            </a:r>
            <a:endParaRPr lang="en-US" sz="1200" dirty="0" smtClean="0">
              <a:solidFill>
                <a:prstClr val="black"/>
              </a:solidFill>
            </a:endParaRPr>
          </a:p>
          <a:p>
            <a:endParaRPr lang="en-US" sz="1200" dirty="0">
              <a:solidFill>
                <a:prstClr val="black"/>
              </a:solidFill>
            </a:endParaRPr>
          </a:p>
          <a:p>
            <a:r>
              <a:rPr lang="en-US" sz="1200" dirty="0" smtClean="0">
                <a:solidFill>
                  <a:prstClr val="black"/>
                </a:solidFill>
              </a:rPr>
              <a:t>Therefore</a:t>
            </a:r>
            <a:r>
              <a:rPr lang="en-US" sz="1200" dirty="0">
                <a:solidFill>
                  <a:prstClr val="black"/>
                </a:solidFill>
              </a:rPr>
              <a:t>, you can expect such queries to rank among the highest </a:t>
            </a:r>
            <a:r>
              <a:rPr lang="en-US" sz="1200" dirty="0" smtClean="0">
                <a:solidFill>
                  <a:prstClr val="black"/>
                </a:solidFill>
              </a:rPr>
              <a:t>I/O </a:t>
            </a:r>
            <a:r>
              <a:rPr lang="en-US" sz="1200" dirty="0">
                <a:solidFill>
                  <a:prstClr val="black"/>
                </a:solidFill>
              </a:rPr>
              <a:t>queries. </a:t>
            </a:r>
            <a:endParaRPr lang="en-US" sz="1200" dirty="0" smtClean="0">
              <a:solidFill>
                <a:prstClr val="black"/>
              </a:solidFill>
            </a:endParaRPr>
          </a:p>
          <a:p>
            <a:r>
              <a:rPr lang="en-US" sz="1200" dirty="0" smtClean="0">
                <a:solidFill>
                  <a:prstClr val="black"/>
                </a:solidFill>
              </a:rPr>
              <a:t>To </a:t>
            </a:r>
            <a:r>
              <a:rPr lang="en-US" sz="1200" dirty="0">
                <a:solidFill>
                  <a:prstClr val="black"/>
                </a:solidFill>
              </a:rPr>
              <a:t>find the highest </a:t>
            </a:r>
            <a:r>
              <a:rPr lang="en-US" sz="1200" dirty="0" smtClean="0">
                <a:solidFill>
                  <a:prstClr val="black"/>
                </a:solidFill>
              </a:rPr>
              <a:t>I/O </a:t>
            </a:r>
            <a:r>
              <a:rPr lang="en-US" sz="1200" dirty="0">
                <a:solidFill>
                  <a:prstClr val="black"/>
                </a:solidFill>
              </a:rPr>
              <a:t>queries, you can use the following sample </a:t>
            </a:r>
            <a:r>
              <a:rPr lang="en-US" sz="1200" dirty="0" smtClean="0">
                <a:solidFill>
                  <a:prstClr val="black"/>
                </a:solidFill>
              </a:rPr>
              <a:t>code:</a:t>
            </a:r>
            <a:endParaRPr lang="en-US" sz="1200" dirty="0">
              <a:solidFill>
                <a:prstClr val="black"/>
              </a:solidFill>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2167362"/>
            <a:ext cx="6661445" cy="28317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7700" y="3886200"/>
            <a:ext cx="3762375" cy="2228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4 Rectángulo"/>
          <p:cNvSpPr/>
          <p:nvPr/>
        </p:nvSpPr>
        <p:spPr>
          <a:xfrm>
            <a:off x="4800600" y="4114801"/>
            <a:ext cx="609600" cy="533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9 CuadroTexto"/>
          <p:cNvSpPr txBox="1"/>
          <p:nvPr/>
        </p:nvSpPr>
        <p:spPr>
          <a:xfrm>
            <a:off x="304800" y="5257800"/>
            <a:ext cx="3657600" cy="276999"/>
          </a:xfrm>
          <a:prstGeom prst="rect">
            <a:avLst/>
          </a:prstGeom>
          <a:solidFill>
            <a:srgbClr val="FF0000"/>
          </a:solidFill>
        </p:spPr>
        <p:txBody>
          <a:bodyPr wrap="square" rtlCol="0">
            <a:spAutoFit/>
          </a:bodyPr>
          <a:lstStyle/>
          <a:p>
            <a:r>
              <a:rPr lang="en-US" sz="1200" b="1" dirty="0" smtClean="0">
                <a:solidFill>
                  <a:prstClr val="white"/>
                </a:solidFill>
              </a:rPr>
              <a:t>These two queries have a huge impact in terms if I/O</a:t>
            </a:r>
            <a:endParaRPr lang="en-US" sz="1200" b="1" dirty="0">
              <a:solidFill>
                <a:prstClr val="white"/>
              </a:solidFill>
            </a:endParaRPr>
          </a:p>
        </p:txBody>
      </p:sp>
      <p:cxnSp>
        <p:nvCxnSpPr>
          <p:cNvPr id="11" name="10 Conector recto de flecha"/>
          <p:cNvCxnSpPr/>
          <p:nvPr/>
        </p:nvCxnSpPr>
        <p:spPr>
          <a:xfrm flipV="1">
            <a:off x="3962400" y="4381501"/>
            <a:ext cx="838200" cy="87629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0" y="6238875"/>
            <a:ext cx="4686656" cy="276999"/>
          </a:xfrm>
          <a:prstGeom prst="rect">
            <a:avLst/>
          </a:prstGeom>
          <a:noFill/>
        </p:spPr>
        <p:txBody>
          <a:bodyPr wrap="square" rtlCol="0">
            <a:spAutoFit/>
          </a:bodyPr>
          <a:lstStyle/>
          <a:p>
            <a:r>
              <a:rPr lang="en-US" sz="1200" dirty="0" smtClean="0">
                <a:solidFill>
                  <a:prstClr val="black"/>
                </a:solidFill>
              </a:rPr>
              <a:t>More info at </a:t>
            </a:r>
            <a:r>
              <a:rPr lang="en-US" sz="1200" dirty="0" smtClean="0">
                <a:solidFill>
                  <a:prstClr val="black"/>
                </a:solidFill>
                <a:hlinkClick r:id="rId4"/>
              </a:rPr>
              <a:t>http://msdn.microsoft.com/en-us/library/cc966413.aspx</a:t>
            </a:r>
            <a:r>
              <a:rPr lang="en-US" sz="1200" dirty="0" smtClean="0">
                <a:solidFill>
                  <a:prstClr val="black"/>
                </a:solidFill>
              </a:rPr>
              <a:t> </a:t>
            </a:r>
            <a:endParaRPr lang="en-US" sz="1200" dirty="0">
              <a:solidFill>
                <a:prstClr val="black"/>
              </a:solidFill>
            </a:endParaRPr>
          </a:p>
        </p:txBody>
      </p:sp>
      <p:grpSp>
        <p:nvGrpSpPr>
          <p:cNvPr id="12" name="11 Grupo"/>
          <p:cNvGrpSpPr/>
          <p:nvPr/>
        </p:nvGrpSpPr>
        <p:grpSpPr>
          <a:xfrm>
            <a:off x="0" y="9525"/>
            <a:ext cx="9153525" cy="408388"/>
            <a:chOff x="0" y="9525"/>
            <a:chExt cx="9153525" cy="408388"/>
          </a:xfrm>
        </p:grpSpPr>
        <p:sp>
          <p:nvSpPr>
            <p:cNvPr id="13" name="12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Performance in Mission Critical Scenarios</a:t>
              </a:r>
              <a:endParaRPr lang="en-US" b="1" i="1" dirty="0">
                <a:solidFill>
                  <a:schemeClr val="bg1"/>
                </a:solidFill>
              </a:endParaRPr>
            </a:p>
          </p:txBody>
        </p:sp>
        <p:pic>
          <p:nvPicPr>
            <p:cNvPr id="14" name="13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 name="14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15 Grupo"/>
          <p:cNvGrpSpPr/>
          <p:nvPr/>
        </p:nvGrpSpPr>
        <p:grpSpPr>
          <a:xfrm>
            <a:off x="9525" y="6574392"/>
            <a:ext cx="9134399" cy="277000"/>
            <a:chOff x="9525" y="6574392"/>
            <a:chExt cx="9134399" cy="277000"/>
          </a:xfrm>
        </p:grpSpPr>
        <p:sp>
          <p:nvSpPr>
            <p:cNvPr id="18" name="17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9" name="18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3437454533"/>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11 Grupo"/>
          <p:cNvGrpSpPr/>
          <p:nvPr/>
        </p:nvGrpSpPr>
        <p:grpSpPr>
          <a:xfrm>
            <a:off x="9525" y="6574392"/>
            <a:ext cx="9134399" cy="277000"/>
            <a:chOff x="9525" y="6574392"/>
            <a:chExt cx="9134399" cy="277000"/>
          </a:xfrm>
        </p:grpSpPr>
        <p:sp>
          <p:nvSpPr>
            <p:cNvPr id="13" name="12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4" name="13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5" name="14 Grupo"/>
          <p:cNvGrpSpPr/>
          <p:nvPr/>
        </p:nvGrpSpPr>
        <p:grpSpPr>
          <a:xfrm>
            <a:off x="0" y="9525"/>
            <a:ext cx="9153525" cy="408388"/>
            <a:chOff x="0" y="9525"/>
            <a:chExt cx="9153525" cy="408388"/>
          </a:xfrm>
        </p:grpSpPr>
        <p:sp>
          <p:nvSpPr>
            <p:cNvPr id="16" name="15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Performance in Mission Critical Scenarios</a:t>
              </a:r>
              <a:endParaRPr lang="en-US" b="1" i="1" dirty="0">
                <a:solidFill>
                  <a:schemeClr val="bg1"/>
                </a:solidFill>
              </a:endParaRPr>
            </a:p>
          </p:txBody>
        </p:sp>
        <p:pic>
          <p:nvPicPr>
            <p:cNvPr id="17" name="16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1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18 CuadroTexto"/>
          <p:cNvSpPr txBox="1"/>
          <p:nvPr/>
        </p:nvSpPr>
        <p:spPr>
          <a:xfrm>
            <a:off x="0" y="514350"/>
            <a:ext cx="9144000" cy="369332"/>
          </a:xfrm>
          <a:prstGeom prst="rect">
            <a:avLst/>
          </a:prstGeom>
          <a:noFill/>
        </p:spPr>
        <p:txBody>
          <a:bodyPr wrap="square" rtlCol="0">
            <a:spAutoFit/>
          </a:bodyPr>
          <a:lstStyle/>
          <a:p>
            <a:r>
              <a:rPr lang="en-US" b="1" dirty="0" smtClean="0">
                <a:solidFill>
                  <a:prstClr val="black"/>
                </a:solidFill>
              </a:rPr>
              <a:t>Houston, we have a problem.</a:t>
            </a:r>
            <a:endParaRPr lang="en-US" dirty="0">
              <a:solidFill>
                <a:prstClr val="black"/>
              </a:solidFill>
            </a:endParaRPr>
          </a:p>
        </p:txBody>
      </p:sp>
      <p:sp>
        <p:nvSpPr>
          <p:cNvPr id="22" name="21 CuadroTexto"/>
          <p:cNvSpPr txBox="1"/>
          <p:nvPr/>
        </p:nvSpPr>
        <p:spPr>
          <a:xfrm>
            <a:off x="1934" y="973922"/>
            <a:ext cx="9144000" cy="2031325"/>
          </a:xfrm>
          <a:prstGeom prst="rect">
            <a:avLst/>
          </a:prstGeom>
          <a:noFill/>
        </p:spPr>
        <p:txBody>
          <a:bodyPr wrap="square" rtlCol="0">
            <a:spAutoFit/>
          </a:bodyPr>
          <a:lstStyle/>
          <a:p>
            <a:pPr marL="285750" indent="-285750">
              <a:buFont typeface="Wingdings" pitchFamily="2" charset="2"/>
              <a:buChar char="Ø"/>
            </a:pPr>
            <a:r>
              <a:rPr lang="en-US" sz="1400" dirty="0" smtClean="0"/>
              <a:t>The Primary Keys and Foreign Keys of our tables are GUIDs.</a:t>
            </a:r>
          </a:p>
          <a:p>
            <a:r>
              <a:rPr lang="en-US" sz="1400" dirty="0" smtClean="0"/>
              <a:t>       </a:t>
            </a:r>
            <a:r>
              <a:rPr lang="en-US" sz="1400" u="sng" dirty="0" smtClean="0"/>
              <a:t>Why they are a problem</a:t>
            </a:r>
            <a:r>
              <a:rPr lang="en-US" sz="1400" dirty="0" smtClean="0"/>
              <a:t>:</a:t>
            </a:r>
            <a:endParaRPr lang="en-US" sz="1400" dirty="0" smtClean="0"/>
          </a:p>
          <a:p>
            <a:pPr marL="742950" lvl="1" indent="-285750">
              <a:buFont typeface="Wingdings" pitchFamily="2" charset="2"/>
              <a:buChar char="Ø"/>
            </a:pPr>
            <a:r>
              <a:rPr lang="en-US" sz="1400" dirty="0" smtClean="0"/>
              <a:t>Joins are expensive</a:t>
            </a:r>
          </a:p>
          <a:p>
            <a:pPr marL="742950" lvl="1" indent="-285750">
              <a:buFont typeface="Wingdings" pitchFamily="2" charset="2"/>
              <a:buChar char="Ø"/>
            </a:pPr>
            <a:r>
              <a:rPr lang="en-US" sz="1400" dirty="0" smtClean="0"/>
              <a:t>Sorting is expensive</a:t>
            </a:r>
          </a:p>
          <a:p>
            <a:pPr marL="742950" lvl="1" indent="-285750">
              <a:buFont typeface="Wingdings" pitchFamily="2" charset="2"/>
              <a:buChar char="Ø"/>
            </a:pPr>
            <a:r>
              <a:rPr lang="en-US" sz="1400" dirty="0" smtClean="0"/>
              <a:t>Filtering is expensive</a:t>
            </a:r>
          </a:p>
          <a:p>
            <a:pPr marL="742950" lvl="1" indent="-285750">
              <a:buFont typeface="Wingdings" pitchFamily="2" charset="2"/>
              <a:buChar char="Ø"/>
            </a:pPr>
            <a:r>
              <a:rPr lang="en-US" sz="1400" dirty="0" smtClean="0"/>
              <a:t>Indexing is expensive</a:t>
            </a:r>
          </a:p>
          <a:p>
            <a:pPr marL="742950" lvl="1" indent="-285750">
              <a:buFont typeface="Wingdings" pitchFamily="2" charset="2"/>
              <a:buChar char="Ø"/>
            </a:pPr>
            <a:r>
              <a:rPr lang="en-US" sz="1400" dirty="0" smtClean="0"/>
              <a:t>Comparison is expensive</a:t>
            </a:r>
            <a:endParaRPr lang="en-US" sz="1400" dirty="0" smtClean="0"/>
          </a:p>
          <a:p>
            <a:pPr marL="285750" indent="-285750">
              <a:buFont typeface="Wingdings" pitchFamily="2" charset="2"/>
              <a:buChar char="Ø"/>
            </a:pPr>
            <a:endParaRPr lang="en-US" sz="1400" dirty="0" smtClean="0"/>
          </a:p>
          <a:p>
            <a:pPr marL="285750" indent="-285750">
              <a:buFont typeface="Wingdings" pitchFamily="2" charset="2"/>
              <a:buChar char="Ø"/>
            </a:pPr>
            <a:r>
              <a:rPr lang="en-US" sz="1400" dirty="0" smtClean="0"/>
              <a:t>In the future version of our application, we want to use Big Integers (</a:t>
            </a:r>
            <a:r>
              <a:rPr lang="en-US" sz="1400" dirty="0" err="1" smtClean="0"/>
              <a:t>BigInt</a:t>
            </a:r>
            <a:r>
              <a:rPr lang="en-US" sz="1400" dirty="0" smtClean="0"/>
              <a:t>) as the table’s Primary Key</a:t>
            </a:r>
            <a:endParaRPr lang="en-US" sz="1400" dirty="0" smtClean="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3068960"/>
            <a:ext cx="6768752" cy="31965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57431392"/>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11 Grupo"/>
          <p:cNvGrpSpPr/>
          <p:nvPr/>
        </p:nvGrpSpPr>
        <p:grpSpPr>
          <a:xfrm>
            <a:off x="9525" y="6574392"/>
            <a:ext cx="9134399" cy="277000"/>
            <a:chOff x="9525" y="6574392"/>
            <a:chExt cx="9134399" cy="277000"/>
          </a:xfrm>
        </p:grpSpPr>
        <p:sp>
          <p:nvSpPr>
            <p:cNvPr id="13" name="12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4" name="13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5" name="14 Grupo"/>
          <p:cNvGrpSpPr/>
          <p:nvPr/>
        </p:nvGrpSpPr>
        <p:grpSpPr>
          <a:xfrm>
            <a:off x="0" y="9525"/>
            <a:ext cx="9153525" cy="408388"/>
            <a:chOff x="0" y="9525"/>
            <a:chExt cx="9153525" cy="408388"/>
          </a:xfrm>
        </p:grpSpPr>
        <p:sp>
          <p:nvSpPr>
            <p:cNvPr id="16" name="15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Performance in Mission Critical Scenarios</a:t>
              </a:r>
              <a:endParaRPr lang="en-US" b="1" i="1" dirty="0">
                <a:solidFill>
                  <a:schemeClr val="bg1"/>
                </a:solidFill>
              </a:endParaRPr>
            </a:p>
          </p:txBody>
        </p:sp>
        <p:pic>
          <p:nvPicPr>
            <p:cNvPr id="17" name="16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1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18 CuadroTexto"/>
          <p:cNvSpPr txBox="1"/>
          <p:nvPr/>
        </p:nvSpPr>
        <p:spPr>
          <a:xfrm>
            <a:off x="0" y="514350"/>
            <a:ext cx="9144000" cy="369332"/>
          </a:xfrm>
          <a:prstGeom prst="rect">
            <a:avLst/>
          </a:prstGeom>
          <a:noFill/>
        </p:spPr>
        <p:txBody>
          <a:bodyPr wrap="square" rtlCol="0">
            <a:spAutoFit/>
          </a:bodyPr>
          <a:lstStyle/>
          <a:p>
            <a:r>
              <a:rPr lang="en-US" b="1" dirty="0" smtClean="0">
                <a:solidFill>
                  <a:prstClr val="black"/>
                </a:solidFill>
              </a:rPr>
              <a:t>Our plan</a:t>
            </a:r>
            <a:endParaRPr lang="en-US" dirty="0">
              <a:solidFill>
                <a:prstClr val="black"/>
              </a:solidFill>
            </a:endParaRPr>
          </a:p>
        </p:txBody>
      </p:sp>
      <p:sp>
        <p:nvSpPr>
          <p:cNvPr id="22" name="21 CuadroTexto"/>
          <p:cNvSpPr txBox="1"/>
          <p:nvPr/>
        </p:nvSpPr>
        <p:spPr>
          <a:xfrm>
            <a:off x="1934" y="973922"/>
            <a:ext cx="9144000" cy="954107"/>
          </a:xfrm>
          <a:prstGeom prst="rect">
            <a:avLst/>
          </a:prstGeom>
          <a:noFill/>
        </p:spPr>
        <p:txBody>
          <a:bodyPr wrap="square" rtlCol="0">
            <a:spAutoFit/>
          </a:bodyPr>
          <a:lstStyle/>
          <a:p>
            <a:pPr marL="285750" indent="-285750">
              <a:buFont typeface="Wingdings" pitchFamily="2" charset="2"/>
              <a:buChar char="Ø"/>
            </a:pPr>
            <a:r>
              <a:rPr lang="en-US" sz="1400" dirty="0" smtClean="0"/>
              <a:t>Add a new column to the table</a:t>
            </a:r>
          </a:p>
          <a:p>
            <a:pPr marL="285750" indent="-285750">
              <a:buFont typeface="Wingdings" pitchFamily="2" charset="2"/>
              <a:buChar char="Ø"/>
            </a:pPr>
            <a:r>
              <a:rPr lang="en-US" sz="1400" dirty="0" smtClean="0"/>
              <a:t>Obtain a integer representation of the GUID</a:t>
            </a:r>
          </a:p>
          <a:p>
            <a:pPr marL="285750" indent="-285750">
              <a:buFont typeface="Wingdings" pitchFamily="2" charset="2"/>
              <a:buChar char="Ø"/>
            </a:pPr>
            <a:r>
              <a:rPr lang="en-US" sz="1400" dirty="0"/>
              <a:t>Store the integer representation of the </a:t>
            </a:r>
            <a:r>
              <a:rPr lang="en-US" sz="1400" dirty="0" smtClean="0"/>
              <a:t>GUID in the new column</a:t>
            </a:r>
          </a:p>
          <a:p>
            <a:pPr marL="285750" indent="-285750">
              <a:buFont typeface="Wingdings" pitchFamily="2" charset="2"/>
              <a:buChar char="Ø"/>
            </a:pPr>
            <a:r>
              <a:rPr lang="en-US" sz="1400" dirty="0"/>
              <a:t>Combine the new column with a Unique Value (e.g. an Identity) and define a Unique Clustered Index on this</a:t>
            </a:r>
            <a:endParaRPr lang="en-US" sz="1400" dirty="0" smtClean="0"/>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1988840"/>
            <a:ext cx="5629275" cy="1047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528" y="3429000"/>
            <a:ext cx="6162675" cy="2000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Flecha abajo"/>
          <p:cNvSpPr/>
          <p:nvPr/>
        </p:nvSpPr>
        <p:spPr>
          <a:xfrm>
            <a:off x="2555776" y="2780928"/>
            <a:ext cx="360040" cy="5040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Rectángulo"/>
          <p:cNvSpPr/>
          <p:nvPr/>
        </p:nvSpPr>
        <p:spPr>
          <a:xfrm>
            <a:off x="2843808" y="3429000"/>
            <a:ext cx="887114" cy="20002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20 CuadroTexto"/>
          <p:cNvSpPr txBox="1"/>
          <p:nvPr/>
        </p:nvSpPr>
        <p:spPr>
          <a:xfrm>
            <a:off x="14039" y="5737027"/>
            <a:ext cx="9144000" cy="307777"/>
          </a:xfrm>
          <a:prstGeom prst="rect">
            <a:avLst/>
          </a:prstGeom>
          <a:noFill/>
        </p:spPr>
        <p:txBody>
          <a:bodyPr wrap="square" rtlCol="0">
            <a:spAutoFit/>
          </a:bodyPr>
          <a:lstStyle/>
          <a:p>
            <a:pPr marL="285750" indent="-285750">
              <a:buFont typeface="Wingdings" pitchFamily="2" charset="2"/>
              <a:buChar char="Ø"/>
            </a:pPr>
            <a:r>
              <a:rPr lang="en-US" sz="1400" dirty="0" smtClean="0"/>
              <a:t>RFC 4122 defines what a </a:t>
            </a:r>
            <a:r>
              <a:rPr lang="en-US" sz="1400" dirty="0"/>
              <a:t>GUID is (</a:t>
            </a:r>
            <a:r>
              <a:rPr lang="en-US" sz="1400" dirty="0">
                <a:hlinkClick r:id="rId6"/>
              </a:rPr>
              <a:t>http://</a:t>
            </a:r>
            <a:r>
              <a:rPr lang="en-US" sz="1400" dirty="0" smtClean="0">
                <a:hlinkClick r:id="rId6"/>
              </a:rPr>
              <a:t>www.ietf.org/rfc/rfc4122.txt</a:t>
            </a:r>
            <a:r>
              <a:rPr lang="en-US" sz="1400" dirty="0" smtClean="0"/>
              <a:t>)</a:t>
            </a:r>
            <a:endParaRPr lang="en-US" sz="1400" dirty="0" smtClean="0"/>
          </a:p>
        </p:txBody>
      </p:sp>
    </p:spTree>
    <p:extLst>
      <p:ext uri="{BB962C8B-B14F-4D97-AF65-F5344CB8AC3E}">
        <p14:creationId xmlns:p14="http://schemas.microsoft.com/office/powerpoint/2010/main" val="1020637336"/>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11 Grupo"/>
          <p:cNvGrpSpPr/>
          <p:nvPr/>
        </p:nvGrpSpPr>
        <p:grpSpPr>
          <a:xfrm>
            <a:off x="9525" y="6574392"/>
            <a:ext cx="9134399" cy="277000"/>
            <a:chOff x="9525" y="6574392"/>
            <a:chExt cx="9134399" cy="277000"/>
          </a:xfrm>
        </p:grpSpPr>
        <p:sp>
          <p:nvSpPr>
            <p:cNvPr id="13" name="12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4" name="13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5" name="14 Grupo"/>
          <p:cNvGrpSpPr/>
          <p:nvPr/>
        </p:nvGrpSpPr>
        <p:grpSpPr>
          <a:xfrm>
            <a:off x="0" y="9525"/>
            <a:ext cx="9153525" cy="408388"/>
            <a:chOff x="0" y="9525"/>
            <a:chExt cx="9153525" cy="408388"/>
          </a:xfrm>
        </p:grpSpPr>
        <p:sp>
          <p:nvSpPr>
            <p:cNvPr id="16" name="15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Performance in Mission Critical Scenarios</a:t>
              </a:r>
              <a:endParaRPr lang="en-US" b="1" i="1" dirty="0">
                <a:solidFill>
                  <a:schemeClr val="bg1"/>
                </a:solidFill>
              </a:endParaRPr>
            </a:p>
          </p:txBody>
        </p:sp>
        <p:pic>
          <p:nvPicPr>
            <p:cNvPr id="17" name="16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1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18 CuadroTexto"/>
          <p:cNvSpPr txBox="1"/>
          <p:nvPr/>
        </p:nvSpPr>
        <p:spPr>
          <a:xfrm>
            <a:off x="0" y="514350"/>
            <a:ext cx="9144000" cy="369332"/>
          </a:xfrm>
          <a:prstGeom prst="rect">
            <a:avLst/>
          </a:prstGeom>
          <a:noFill/>
        </p:spPr>
        <p:txBody>
          <a:bodyPr wrap="square" rtlCol="0">
            <a:spAutoFit/>
          </a:bodyPr>
          <a:lstStyle/>
          <a:p>
            <a:r>
              <a:rPr lang="en-US" b="1" dirty="0" smtClean="0">
                <a:solidFill>
                  <a:prstClr val="black"/>
                </a:solidFill>
              </a:rPr>
              <a:t>Consider using the CQRS variation that works best for you</a:t>
            </a:r>
            <a:endParaRPr lang="en-US" dirty="0">
              <a:solidFill>
                <a:prstClr val="black"/>
              </a:solidFill>
            </a:endParaRPr>
          </a:p>
        </p:txBody>
      </p:sp>
      <p:sp>
        <p:nvSpPr>
          <p:cNvPr id="22" name="21 CuadroTexto"/>
          <p:cNvSpPr txBox="1"/>
          <p:nvPr/>
        </p:nvSpPr>
        <p:spPr>
          <a:xfrm>
            <a:off x="1934" y="973922"/>
            <a:ext cx="9144000" cy="1169551"/>
          </a:xfrm>
          <a:prstGeom prst="rect">
            <a:avLst/>
          </a:prstGeom>
          <a:noFill/>
        </p:spPr>
        <p:txBody>
          <a:bodyPr wrap="square" rtlCol="0">
            <a:spAutoFit/>
          </a:bodyPr>
          <a:lstStyle/>
          <a:p>
            <a:r>
              <a:rPr lang="en-US" sz="1400" dirty="0" smtClean="0"/>
              <a:t>CQRS stands for “</a:t>
            </a:r>
            <a:r>
              <a:rPr lang="en-US" sz="1400" b="1" dirty="0">
                <a:solidFill>
                  <a:srgbClr val="FF0000"/>
                </a:solidFill>
              </a:rPr>
              <a:t>Command and Query Responsibility Segregation</a:t>
            </a:r>
            <a:r>
              <a:rPr lang="en-US" sz="1400" dirty="0" smtClean="0"/>
              <a:t>”</a:t>
            </a:r>
          </a:p>
          <a:p>
            <a:r>
              <a:rPr lang="en-US" sz="1400" dirty="0" smtClean="0"/>
              <a:t> </a:t>
            </a:r>
          </a:p>
          <a:p>
            <a:r>
              <a:rPr lang="en-US" sz="1400" dirty="0" smtClean="0"/>
              <a:t>From a software architecture perspective this could help you because:</a:t>
            </a:r>
          </a:p>
          <a:p>
            <a:pPr marL="742950" lvl="1" indent="-285750">
              <a:buFont typeface="Wingdings" pitchFamily="2" charset="2"/>
              <a:buChar char="Ø"/>
            </a:pPr>
            <a:r>
              <a:rPr lang="en-US" sz="1400" dirty="0" smtClean="0"/>
              <a:t>Readers “read” whereas writers “write” </a:t>
            </a:r>
          </a:p>
          <a:p>
            <a:pPr marL="742950" lvl="1" indent="-285750">
              <a:buFont typeface="Wingdings" pitchFamily="2" charset="2"/>
              <a:buChar char="Ø"/>
            </a:pPr>
            <a:r>
              <a:rPr lang="en-US" sz="1400" dirty="0" smtClean="0"/>
              <a:t>Readers don’t block writers and writers don’t block readers</a:t>
            </a:r>
          </a:p>
        </p:txBody>
      </p:sp>
      <p:pic>
        <p:nvPicPr>
          <p:cNvPr id="2" name="1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1371" y="2132856"/>
            <a:ext cx="5543092" cy="4148658"/>
          </a:xfrm>
          <a:prstGeom prst="rect">
            <a:avLst/>
          </a:prstGeom>
        </p:spPr>
      </p:pic>
    </p:spTree>
    <p:extLst>
      <p:ext uri="{BB962C8B-B14F-4D97-AF65-F5344CB8AC3E}">
        <p14:creationId xmlns:p14="http://schemas.microsoft.com/office/powerpoint/2010/main" val="4260897228"/>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0" y="593222"/>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Your SQL Data Files  (</a:t>
            </a:r>
            <a:r>
              <a:rPr lang="en-US" sz="1400" b="1" i="1" dirty="0" smtClean="0">
                <a:solidFill>
                  <a:prstClr val="black"/>
                </a:solidFill>
              </a:rPr>
              <a:t>Master Data File + Log Data Files</a:t>
            </a:r>
            <a:r>
              <a:rPr lang="en-US" sz="1400" b="1" dirty="0" smtClean="0">
                <a:solidFill>
                  <a:prstClr val="black"/>
                </a:solidFill>
              </a:rPr>
              <a:t>)</a:t>
            </a:r>
            <a:endParaRPr lang="en-US" sz="1400" dirty="0">
              <a:solidFill>
                <a:prstClr val="black"/>
              </a:solidFill>
            </a:endParaRPr>
          </a:p>
        </p:txBody>
      </p:sp>
      <p:sp>
        <p:nvSpPr>
          <p:cNvPr id="2" name="1 CuadroTexto"/>
          <p:cNvSpPr txBox="1"/>
          <p:nvPr/>
        </p:nvSpPr>
        <p:spPr>
          <a:xfrm>
            <a:off x="0" y="1252670"/>
            <a:ext cx="9144000" cy="1384995"/>
          </a:xfrm>
          <a:prstGeom prst="rect">
            <a:avLst/>
          </a:prstGeom>
          <a:noFill/>
        </p:spPr>
        <p:txBody>
          <a:bodyPr wrap="square" rtlCol="0">
            <a:spAutoFit/>
          </a:bodyPr>
          <a:lstStyle/>
          <a:p>
            <a:pPr marL="171450" indent="-171450">
              <a:buFont typeface="Wingdings" pitchFamily="2" charset="2"/>
              <a:buChar char="Ø"/>
            </a:pPr>
            <a:r>
              <a:rPr lang="en-US" sz="1200" dirty="0">
                <a:solidFill>
                  <a:prstClr val="black"/>
                </a:solidFill>
              </a:rPr>
              <a:t>Remove physical file fragmentation before creating new MDF or LDF files</a:t>
            </a:r>
            <a:r>
              <a:rPr lang="en-US" sz="1200" dirty="0" smtClean="0">
                <a:solidFill>
                  <a:prstClr val="black"/>
                </a:solidFill>
              </a:rPr>
              <a:t>.</a:t>
            </a:r>
          </a:p>
          <a:p>
            <a:pPr marL="171450" indent="-171450">
              <a:buFont typeface="Wingdings" pitchFamily="2" charset="2"/>
              <a:buChar char="Ø"/>
            </a:pPr>
            <a:endParaRPr lang="en-US" sz="1200" dirty="0">
              <a:solidFill>
                <a:prstClr val="black"/>
              </a:solidFill>
            </a:endParaRPr>
          </a:p>
          <a:p>
            <a:pPr marL="171450" indent="-171450">
              <a:buFont typeface="Wingdings" pitchFamily="2" charset="2"/>
              <a:buChar char="Ø"/>
            </a:pPr>
            <a:r>
              <a:rPr lang="en-US" sz="1200" dirty="0">
                <a:solidFill>
                  <a:prstClr val="black"/>
                </a:solidFill>
              </a:rPr>
              <a:t>When creating new MDFs and LDFs, pre-size them to minimize </a:t>
            </a:r>
            <a:r>
              <a:rPr lang="en-US" sz="1200" dirty="0" smtClean="0">
                <a:solidFill>
                  <a:prstClr val="black"/>
                </a:solidFill>
              </a:rPr>
              <a:t>auto growth events – That means set a realistic </a:t>
            </a:r>
            <a:r>
              <a:rPr lang="en-US" sz="1200" dirty="0">
                <a:solidFill>
                  <a:prstClr val="black"/>
                </a:solidFill>
              </a:rPr>
              <a:t>auto </a:t>
            </a:r>
            <a:r>
              <a:rPr lang="en-US" sz="1200" dirty="0" smtClean="0">
                <a:solidFill>
                  <a:prstClr val="black"/>
                </a:solidFill>
              </a:rPr>
              <a:t>growth setting</a:t>
            </a:r>
          </a:p>
          <a:p>
            <a:pPr marL="171450" indent="-171450">
              <a:buFont typeface="Wingdings" pitchFamily="2" charset="2"/>
              <a:buChar char="Ø"/>
            </a:pPr>
            <a:endParaRPr lang="en-US" sz="1200" dirty="0">
              <a:solidFill>
                <a:prstClr val="black"/>
              </a:solidFill>
            </a:endParaRPr>
          </a:p>
          <a:p>
            <a:pPr marL="171450" indent="-171450">
              <a:buFont typeface="Wingdings" pitchFamily="2" charset="2"/>
              <a:buChar char="Ø"/>
            </a:pPr>
            <a:r>
              <a:rPr lang="en-US" sz="1200" dirty="0">
                <a:solidFill>
                  <a:prstClr val="black"/>
                </a:solidFill>
              </a:rPr>
              <a:t>MDF files should be located on their own disks</a:t>
            </a:r>
            <a:r>
              <a:rPr lang="en-US" sz="1200" dirty="0" smtClean="0">
                <a:solidFill>
                  <a:prstClr val="black"/>
                </a:solidFill>
              </a:rPr>
              <a:t>. LDF </a:t>
            </a:r>
            <a:r>
              <a:rPr lang="en-US" sz="1200" dirty="0">
                <a:solidFill>
                  <a:prstClr val="black"/>
                </a:solidFill>
              </a:rPr>
              <a:t>files should be located on their own disks</a:t>
            </a:r>
            <a:r>
              <a:rPr lang="en-US" sz="1200" dirty="0" smtClean="0">
                <a:solidFill>
                  <a:prstClr val="black"/>
                </a:solidFill>
              </a:rPr>
              <a:t>.</a:t>
            </a:r>
          </a:p>
          <a:p>
            <a:pPr marL="171450" indent="-171450">
              <a:buFont typeface="Wingdings" pitchFamily="2" charset="2"/>
              <a:buChar char="Ø"/>
            </a:pPr>
            <a:endParaRPr lang="en-US" sz="1200" dirty="0">
              <a:solidFill>
                <a:prstClr val="black"/>
              </a:solidFill>
            </a:endParaRPr>
          </a:p>
          <a:p>
            <a:pPr marL="171450" indent="-171450">
              <a:buFont typeface="Wingdings" pitchFamily="2" charset="2"/>
              <a:buChar char="Ø"/>
            </a:pPr>
            <a:r>
              <a:rPr lang="en-US" sz="1200" dirty="0">
                <a:solidFill>
                  <a:prstClr val="black"/>
                </a:solidFill>
              </a:rPr>
              <a:t>Don’t Shrink Files</a:t>
            </a:r>
          </a:p>
        </p:txBody>
      </p:sp>
      <p:sp>
        <p:nvSpPr>
          <p:cNvPr id="12" name="11 CuadroTexto"/>
          <p:cNvSpPr txBox="1"/>
          <p:nvPr/>
        </p:nvSpPr>
        <p:spPr>
          <a:xfrm>
            <a:off x="0" y="914400"/>
            <a:ext cx="9144000" cy="276999"/>
          </a:xfrm>
          <a:prstGeom prst="rect">
            <a:avLst/>
          </a:prstGeom>
          <a:noFill/>
        </p:spPr>
        <p:txBody>
          <a:bodyPr wrap="square" rtlCol="0">
            <a:spAutoFit/>
          </a:bodyPr>
          <a:lstStyle/>
          <a:p>
            <a:r>
              <a:rPr lang="en-US" sz="1200" b="1" dirty="0" smtClean="0">
                <a:solidFill>
                  <a:prstClr val="black"/>
                </a:solidFill>
              </a:rPr>
              <a:t>Technical recommendations</a:t>
            </a:r>
            <a:endParaRPr lang="en-US" sz="1200" b="1" dirty="0">
              <a:solidFill>
                <a:prstClr val="black"/>
              </a:solidFill>
            </a:endParaRPr>
          </a:p>
        </p:txBody>
      </p:sp>
      <p:sp>
        <p:nvSpPr>
          <p:cNvPr id="6" name="5 CuadroTexto"/>
          <p:cNvSpPr txBox="1"/>
          <p:nvPr/>
        </p:nvSpPr>
        <p:spPr>
          <a:xfrm>
            <a:off x="-1424" y="3260222"/>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Your </a:t>
            </a:r>
            <a:r>
              <a:rPr lang="en-US" sz="1400" b="1" dirty="0" err="1" smtClean="0">
                <a:solidFill>
                  <a:prstClr val="black"/>
                </a:solidFill>
              </a:rPr>
              <a:t>TempDB</a:t>
            </a:r>
            <a:r>
              <a:rPr lang="en-US" sz="1400" b="1" dirty="0" smtClean="0">
                <a:solidFill>
                  <a:prstClr val="black"/>
                </a:solidFill>
              </a:rPr>
              <a:t> database is a key factor</a:t>
            </a:r>
            <a:endParaRPr lang="en-US" sz="1400" dirty="0">
              <a:solidFill>
                <a:prstClr val="black"/>
              </a:solidFill>
            </a:endParaRPr>
          </a:p>
        </p:txBody>
      </p:sp>
      <p:sp>
        <p:nvSpPr>
          <p:cNvPr id="8" name="7 CuadroTexto"/>
          <p:cNvSpPr txBox="1"/>
          <p:nvPr/>
        </p:nvSpPr>
        <p:spPr>
          <a:xfrm>
            <a:off x="-1424" y="3945308"/>
            <a:ext cx="9144000" cy="2308324"/>
          </a:xfrm>
          <a:prstGeom prst="rect">
            <a:avLst/>
          </a:prstGeom>
          <a:noFill/>
        </p:spPr>
        <p:txBody>
          <a:bodyPr wrap="square" rtlCol="0">
            <a:spAutoFit/>
          </a:bodyPr>
          <a:lstStyle/>
          <a:p>
            <a:pPr marL="171450" indent="-171450">
              <a:buFont typeface="Wingdings" pitchFamily="2" charset="2"/>
              <a:buChar char="Ø"/>
            </a:pPr>
            <a:r>
              <a:rPr lang="en-US" sz="1200" dirty="0">
                <a:solidFill>
                  <a:prstClr val="black"/>
                </a:solidFill>
              </a:rPr>
              <a:t>Pre-size </a:t>
            </a:r>
            <a:r>
              <a:rPr lang="en-US" sz="1200" dirty="0" err="1" smtClean="0">
                <a:solidFill>
                  <a:prstClr val="black"/>
                </a:solidFill>
              </a:rPr>
              <a:t>TempDB</a:t>
            </a:r>
            <a:r>
              <a:rPr lang="en-US" sz="1200" dirty="0" smtClean="0">
                <a:solidFill>
                  <a:prstClr val="black"/>
                </a:solidFill>
              </a:rPr>
              <a:t> </a:t>
            </a:r>
            <a:r>
              <a:rPr lang="en-US" sz="1200" dirty="0">
                <a:solidFill>
                  <a:prstClr val="black"/>
                </a:solidFill>
              </a:rPr>
              <a:t>so </a:t>
            </a:r>
            <a:r>
              <a:rPr lang="en-US" sz="1200" dirty="0" smtClean="0">
                <a:solidFill>
                  <a:prstClr val="black"/>
                </a:solidFill>
              </a:rPr>
              <a:t>auto growth </a:t>
            </a:r>
            <a:r>
              <a:rPr lang="en-US" sz="1200" dirty="0">
                <a:solidFill>
                  <a:prstClr val="black"/>
                </a:solidFill>
              </a:rPr>
              <a:t>doesn’t have to happen </a:t>
            </a:r>
            <a:r>
              <a:rPr lang="en-US" sz="1200" dirty="0" smtClean="0">
                <a:solidFill>
                  <a:prstClr val="black"/>
                </a:solidFill>
              </a:rPr>
              <a:t>too often - 8MB </a:t>
            </a:r>
            <a:r>
              <a:rPr lang="en-US" sz="1200" dirty="0">
                <a:solidFill>
                  <a:prstClr val="black"/>
                </a:solidFill>
              </a:rPr>
              <a:t>is default, which is very </a:t>
            </a:r>
            <a:r>
              <a:rPr lang="en-US" sz="1200" dirty="0" smtClean="0">
                <a:solidFill>
                  <a:prstClr val="black"/>
                </a:solidFill>
              </a:rPr>
              <a:t>low</a:t>
            </a:r>
          </a:p>
          <a:p>
            <a:pPr marL="171450" indent="-171450">
              <a:buFont typeface="Wingdings" pitchFamily="2" charset="2"/>
              <a:buChar char="Ø"/>
            </a:pPr>
            <a:endParaRPr lang="en-US" sz="1200" dirty="0">
              <a:solidFill>
                <a:prstClr val="black"/>
              </a:solidFill>
            </a:endParaRPr>
          </a:p>
          <a:p>
            <a:pPr marL="171450" indent="-171450">
              <a:buFont typeface="Wingdings" pitchFamily="2" charset="2"/>
              <a:buChar char="Ø"/>
            </a:pPr>
            <a:r>
              <a:rPr lang="en-US" sz="1200" dirty="0" smtClean="0">
                <a:solidFill>
                  <a:prstClr val="black"/>
                </a:solidFill>
              </a:rPr>
              <a:t>Set auto growth </a:t>
            </a:r>
            <a:r>
              <a:rPr lang="en-US" sz="1200" dirty="0">
                <a:solidFill>
                  <a:prstClr val="black"/>
                </a:solidFill>
              </a:rPr>
              <a:t>to avoid many growth spurts, use a fixed amount that minimizes </a:t>
            </a:r>
            <a:r>
              <a:rPr lang="en-US" sz="1200" dirty="0" smtClean="0">
                <a:solidFill>
                  <a:prstClr val="black"/>
                </a:solidFill>
              </a:rPr>
              <a:t>auto growth </a:t>
            </a:r>
            <a:r>
              <a:rPr lang="en-US" sz="1200" dirty="0">
                <a:solidFill>
                  <a:prstClr val="black"/>
                </a:solidFill>
              </a:rPr>
              <a:t>use. </a:t>
            </a:r>
            <a:endParaRPr lang="en-US" sz="1200" dirty="0" smtClean="0">
              <a:solidFill>
                <a:prstClr val="black"/>
              </a:solidFill>
            </a:endParaRPr>
          </a:p>
          <a:p>
            <a:r>
              <a:rPr lang="en-US" sz="1200" dirty="0">
                <a:solidFill>
                  <a:prstClr val="black"/>
                </a:solidFill>
              </a:rPr>
              <a:t> </a:t>
            </a:r>
            <a:r>
              <a:rPr lang="en-US" sz="1200" dirty="0" smtClean="0">
                <a:solidFill>
                  <a:prstClr val="black"/>
                </a:solidFill>
              </a:rPr>
              <a:t>   (</a:t>
            </a:r>
            <a:r>
              <a:rPr lang="en-US" sz="1200" dirty="0">
                <a:solidFill>
                  <a:prstClr val="black"/>
                </a:solidFill>
              </a:rPr>
              <a:t>10% is default, which causes lots of </a:t>
            </a:r>
            <a:r>
              <a:rPr lang="en-US" sz="1200" dirty="0" smtClean="0">
                <a:solidFill>
                  <a:prstClr val="black"/>
                </a:solidFill>
              </a:rPr>
              <a:t>auto growth – that is not recommendable for a mission critical app).</a:t>
            </a:r>
          </a:p>
          <a:p>
            <a:pPr marL="171450" indent="-171450">
              <a:buFont typeface="Wingdings" pitchFamily="2" charset="2"/>
              <a:buChar char="Ø"/>
            </a:pPr>
            <a:endParaRPr lang="en-US" sz="1200" dirty="0">
              <a:solidFill>
                <a:prstClr val="black"/>
              </a:solidFill>
            </a:endParaRPr>
          </a:p>
          <a:p>
            <a:pPr marL="171450" indent="-171450">
              <a:buFont typeface="Wingdings" pitchFamily="2" charset="2"/>
              <a:buChar char="Ø"/>
            </a:pPr>
            <a:r>
              <a:rPr lang="en-US" sz="1200" dirty="0" smtClean="0">
                <a:solidFill>
                  <a:prstClr val="black"/>
                </a:solidFill>
              </a:rPr>
              <a:t>Locate </a:t>
            </a:r>
            <a:r>
              <a:rPr lang="en-US" sz="1200" dirty="0" err="1" smtClean="0">
                <a:solidFill>
                  <a:prstClr val="black"/>
                </a:solidFill>
              </a:rPr>
              <a:t>TempDB</a:t>
            </a:r>
            <a:r>
              <a:rPr lang="en-US" sz="1200" dirty="0" smtClean="0">
                <a:solidFill>
                  <a:prstClr val="black"/>
                </a:solidFill>
              </a:rPr>
              <a:t> on </a:t>
            </a:r>
            <a:r>
              <a:rPr lang="en-US" sz="1200" dirty="0">
                <a:solidFill>
                  <a:prstClr val="black"/>
                </a:solidFill>
              </a:rPr>
              <a:t>its own </a:t>
            </a:r>
            <a:r>
              <a:rPr lang="en-US" sz="1200" dirty="0" smtClean="0">
                <a:solidFill>
                  <a:prstClr val="black"/>
                </a:solidFill>
              </a:rPr>
              <a:t>disk(s).</a:t>
            </a:r>
          </a:p>
          <a:p>
            <a:pPr marL="171450" indent="-171450">
              <a:buFont typeface="Wingdings" pitchFamily="2" charset="2"/>
              <a:buChar char="Ø"/>
            </a:pPr>
            <a:endParaRPr lang="en-US" sz="1200" dirty="0">
              <a:solidFill>
                <a:prstClr val="black"/>
              </a:solidFill>
            </a:endParaRPr>
          </a:p>
          <a:p>
            <a:pPr marL="171450" indent="-171450">
              <a:buFont typeface="Wingdings" pitchFamily="2" charset="2"/>
              <a:buChar char="Ø"/>
            </a:pPr>
            <a:r>
              <a:rPr lang="en-US" sz="1200" dirty="0" smtClean="0">
                <a:solidFill>
                  <a:prstClr val="black"/>
                </a:solidFill>
              </a:rPr>
              <a:t>Consider </a:t>
            </a:r>
            <a:r>
              <a:rPr lang="en-US" sz="1200" dirty="0">
                <a:solidFill>
                  <a:prstClr val="black"/>
                </a:solidFill>
              </a:rPr>
              <a:t>dividing the </a:t>
            </a:r>
            <a:r>
              <a:rPr lang="en-US" sz="1200" dirty="0" err="1" smtClean="0">
                <a:solidFill>
                  <a:prstClr val="black"/>
                </a:solidFill>
              </a:rPr>
              <a:t>TempDB</a:t>
            </a:r>
            <a:r>
              <a:rPr lang="en-US" sz="1200" dirty="0" smtClean="0">
                <a:solidFill>
                  <a:prstClr val="black"/>
                </a:solidFill>
              </a:rPr>
              <a:t> database </a:t>
            </a:r>
            <a:r>
              <a:rPr lang="en-US" sz="1200" dirty="0">
                <a:solidFill>
                  <a:prstClr val="black"/>
                </a:solidFill>
              </a:rPr>
              <a:t>into multiple physical files so that the number of files is ¼ to ½ the number of CPU </a:t>
            </a:r>
            <a:r>
              <a:rPr lang="en-US" sz="1200" dirty="0" smtClean="0">
                <a:solidFill>
                  <a:prstClr val="black"/>
                </a:solidFill>
              </a:rPr>
              <a:t>cores - up </a:t>
            </a:r>
            <a:r>
              <a:rPr lang="en-US" sz="1200" dirty="0">
                <a:solidFill>
                  <a:prstClr val="black"/>
                </a:solidFill>
              </a:rPr>
              <a:t>to 8 files. </a:t>
            </a:r>
            <a:endParaRPr lang="en-US" sz="1200" dirty="0" smtClean="0">
              <a:solidFill>
                <a:prstClr val="black"/>
              </a:solidFill>
            </a:endParaRPr>
          </a:p>
          <a:p>
            <a:pPr marL="171450" indent="-171450">
              <a:buFont typeface="Wingdings" pitchFamily="2" charset="2"/>
              <a:buChar char="Ø"/>
            </a:pPr>
            <a:endParaRPr lang="en-US" sz="1200" dirty="0">
              <a:solidFill>
                <a:prstClr val="black"/>
              </a:solidFill>
            </a:endParaRPr>
          </a:p>
          <a:p>
            <a:pPr marL="171450" indent="-171450">
              <a:buFont typeface="Wingdings" pitchFamily="2" charset="2"/>
              <a:buChar char="Ø"/>
            </a:pPr>
            <a:r>
              <a:rPr lang="en-US" sz="1200" dirty="0">
                <a:solidFill>
                  <a:prstClr val="black"/>
                </a:solidFill>
              </a:rPr>
              <a:t>Each physical file must be the same </a:t>
            </a:r>
            <a:r>
              <a:rPr lang="en-US" sz="1200" dirty="0" smtClean="0">
                <a:solidFill>
                  <a:prstClr val="black"/>
                </a:solidFill>
              </a:rPr>
              <a:t>size, preferably in multiples of 64K </a:t>
            </a:r>
            <a:r>
              <a:rPr lang="en-US" sz="1200" dirty="0" smtClean="0">
                <a:solidFill>
                  <a:prstClr val="black"/>
                </a:solidFill>
                <a:sym typeface="Wingdings" pitchFamily="2" charset="2"/>
              </a:rPr>
              <a:t>  </a:t>
            </a:r>
            <a:r>
              <a:rPr lang="en-US" sz="1200" b="1" dirty="0" smtClean="0">
                <a:solidFill>
                  <a:prstClr val="black"/>
                </a:solidFill>
                <a:sym typeface="Wingdings" pitchFamily="2" charset="2"/>
              </a:rPr>
              <a:t>8 SQL pages of 8K each</a:t>
            </a:r>
            <a:r>
              <a:rPr lang="en-US" sz="1200" dirty="0" smtClean="0">
                <a:solidFill>
                  <a:prstClr val="black"/>
                </a:solidFill>
                <a:sym typeface="Wingdings" pitchFamily="2" charset="2"/>
              </a:rPr>
              <a:t>. </a:t>
            </a:r>
          </a:p>
          <a:p>
            <a:r>
              <a:rPr lang="en-US" sz="1200" dirty="0">
                <a:solidFill>
                  <a:prstClr val="black"/>
                </a:solidFill>
                <a:sym typeface="Wingdings" pitchFamily="2" charset="2"/>
              </a:rPr>
              <a:t> </a:t>
            </a:r>
            <a:r>
              <a:rPr lang="en-US" sz="1200" dirty="0" smtClean="0">
                <a:solidFill>
                  <a:prstClr val="black"/>
                </a:solidFill>
                <a:sym typeface="Wingdings" pitchFamily="2" charset="2"/>
              </a:rPr>
              <a:t>   Also</a:t>
            </a:r>
            <a:r>
              <a:rPr lang="en-US" sz="1200" dirty="0" smtClean="0">
                <a:solidFill>
                  <a:prstClr val="black"/>
                </a:solidFill>
              </a:rPr>
              <a:t> read again my slide on NTFS cluster size</a:t>
            </a:r>
            <a:endParaRPr lang="en-US" sz="1200" dirty="0">
              <a:solidFill>
                <a:prstClr val="black"/>
              </a:solidFill>
            </a:endParaRPr>
          </a:p>
        </p:txBody>
      </p:sp>
      <p:sp>
        <p:nvSpPr>
          <p:cNvPr id="9" name="8 CuadroTexto"/>
          <p:cNvSpPr txBox="1"/>
          <p:nvPr/>
        </p:nvSpPr>
        <p:spPr>
          <a:xfrm>
            <a:off x="-1424" y="3607038"/>
            <a:ext cx="9144000" cy="276999"/>
          </a:xfrm>
          <a:prstGeom prst="rect">
            <a:avLst/>
          </a:prstGeom>
          <a:noFill/>
        </p:spPr>
        <p:txBody>
          <a:bodyPr wrap="square" rtlCol="0">
            <a:spAutoFit/>
          </a:bodyPr>
          <a:lstStyle/>
          <a:p>
            <a:r>
              <a:rPr lang="en-US" sz="1200" b="1" dirty="0" smtClean="0">
                <a:solidFill>
                  <a:prstClr val="black"/>
                </a:solidFill>
              </a:rPr>
              <a:t>Technical recommendations</a:t>
            </a:r>
            <a:endParaRPr lang="en-US" sz="1200" b="1" dirty="0">
              <a:solidFill>
                <a:prstClr val="black"/>
              </a:solidFill>
            </a:endParaRPr>
          </a:p>
        </p:txBody>
      </p:sp>
      <p:grpSp>
        <p:nvGrpSpPr>
          <p:cNvPr id="10" name="9 Grupo"/>
          <p:cNvGrpSpPr/>
          <p:nvPr/>
        </p:nvGrpSpPr>
        <p:grpSpPr>
          <a:xfrm>
            <a:off x="0" y="9525"/>
            <a:ext cx="9153525" cy="408388"/>
            <a:chOff x="0" y="9525"/>
            <a:chExt cx="9153525" cy="408388"/>
          </a:xfrm>
        </p:grpSpPr>
        <p:sp>
          <p:nvSpPr>
            <p:cNvPr id="11" name="10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Best Practices</a:t>
              </a:r>
              <a:endParaRPr lang="en-US" b="1" i="1" dirty="0">
                <a:solidFill>
                  <a:schemeClr val="bg1"/>
                </a:solidFill>
              </a:endParaRPr>
            </a:p>
          </p:txBody>
        </p:sp>
        <p:pic>
          <p:nvPicPr>
            <p:cNvPr id="13" name="12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13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14 Grupo"/>
          <p:cNvGrpSpPr/>
          <p:nvPr/>
        </p:nvGrpSpPr>
        <p:grpSpPr>
          <a:xfrm>
            <a:off x="9525" y="6574392"/>
            <a:ext cx="9134399" cy="277000"/>
            <a:chOff x="9525" y="6574392"/>
            <a:chExt cx="9134399" cy="277000"/>
          </a:xfrm>
        </p:grpSpPr>
        <p:sp>
          <p:nvSpPr>
            <p:cNvPr id="16" name="15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7" name="16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734037037"/>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0" y="593222"/>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More tips…</a:t>
            </a:r>
            <a:endParaRPr lang="en-US" sz="1400" dirty="0">
              <a:solidFill>
                <a:prstClr val="black"/>
              </a:solidFill>
            </a:endParaRPr>
          </a:p>
        </p:txBody>
      </p:sp>
      <p:sp>
        <p:nvSpPr>
          <p:cNvPr id="2" name="1 CuadroTexto"/>
          <p:cNvSpPr txBox="1"/>
          <p:nvPr/>
        </p:nvSpPr>
        <p:spPr>
          <a:xfrm>
            <a:off x="0" y="1252670"/>
            <a:ext cx="9144000" cy="2677656"/>
          </a:xfrm>
          <a:prstGeom prst="rect">
            <a:avLst/>
          </a:prstGeom>
          <a:noFill/>
        </p:spPr>
        <p:txBody>
          <a:bodyPr wrap="square" rtlCol="0">
            <a:spAutoFit/>
          </a:bodyPr>
          <a:lstStyle/>
          <a:p>
            <a:pPr marL="171450" indent="-171450">
              <a:buFont typeface="Wingdings" pitchFamily="2" charset="2"/>
              <a:buChar char="Ø"/>
            </a:pPr>
            <a:r>
              <a:rPr lang="en-US" sz="1200" dirty="0" smtClean="0">
                <a:solidFill>
                  <a:prstClr val="black"/>
                </a:solidFill>
              </a:rPr>
              <a:t>Use Connection Pooling, whenever possible</a:t>
            </a:r>
          </a:p>
          <a:p>
            <a:pPr marL="171450" indent="-171450">
              <a:buFont typeface="Wingdings" pitchFamily="2" charset="2"/>
              <a:buChar char="Ø"/>
            </a:pPr>
            <a:endParaRPr lang="en-US" sz="1200" dirty="0" smtClean="0">
              <a:solidFill>
                <a:prstClr val="black"/>
              </a:solidFill>
            </a:endParaRPr>
          </a:p>
          <a:p>
            <a:pPr marL="171450" indent="-171450">
              <a:buFont typeface="Wingdings" pitchFamily="2" charset="2"/>
              <a:buChar char="Ø"/>
            </a:pPr>
            <a:r>
              <a:rPr lang="en-US" sz="1200" dirty="0" smtClean="0">
                <a:solidFill>
                  <a:prstClr val="black"/>
                </a:solidFill>
              </a:rPr>
              <a:t>Use the Server-Side Paging techniques I have shown to you, whenever possible</a:t>
            </a:r>
          </a:p>
          <a:p>
            <a:pPr marL="171450" indent="-171450">
              <a:buFont typeface="Wingdings" pitchFamily="2" charset="2"/>
              <a:buChar char="Ø"/>
            </a:pPr>
            <a:endParaRPr lang="en-US" sz="1200" dirty="0" smtClean="0">
              <a:solidFill>
                <a:prstClr val="black"/>
              </a:solidFill>
            </a:endParaRPr>
          </a:p>
          <a:p>
            <a:pPr marL="171450" indent="-171450">
              <a:buFont typeface="Wingdings" pitchFamily="2" charset="2"/>
              <a:buChar char="Ø"/>
            </a:pPr>
            <a:r>
              <a:rPr lang="en-US" sz="1200" dirty="0" smtClean="0">
                <a:solidFill>
                  <a:prstClr val="black"/>
                </a:solidFill>
              </a:rPr>
              <a:t>Keep your transactions short </a:t>
            </a:r>
            <a:r>
              <a:rPr lang="en-US" sz="1200" dirty="0" smtClean="0">
                <a:solidFill>
                  <a:prstClr val="black"/>
                </a:solidFill>
                <a:sym typeface="Wingdings" pitchFamily="2" charset="2"/>
              </a:rPr>
              <a:t></a:t>
            </a:r>
            <a:r>
              <a:rPr lang="en-US" sz="1200" dirty="0" smtClean="0">
                <a:solidFill>
                  <a:prstClr val="black"/>
                </a:solidFill>
              </a:rPr>
              <a:t> ACID = Atomicity + Consistency + Isolation + Durability</a:t>
            </a:r>
          </a:p>
          <a:p>
            <a:pPr marL="171450" indent="-171450">
              <a:buFont typeface="Wingdings" pitchFamily="2" charset="2"/>
              <a:buChar char="Ø"/>
            </a:pPr>
            <a:endParaRPr lang="en-US" sz="1200" dirty="0">
              <a:solidFill>
                <a:prstClr val="black"/>
              </a:solidFill>
            </a:endParaRPr>
          </a:p>
          <a:p>
            <a:pPr marL="171450" indent="-171450">
              <a:buFont typeface="Wingdings" pitchFamily="2" charset="2"/>
              <a:buChar char="Ø"/>
            </a:pPr>
            <a:r>
              <a:rPr lang="en-US" sz="1200" dirty="0" smtClean="0">
                <a:solidFill>
                  <a:prstClr val="black"/>
                </a:solidFill>
              </a:rPr>
              <a:t>Don’t get the Programming Language wrong: ANSI-SQL is a ternary-logic language (</a:t>
            </a:r>
            <a:r>
              <a:rPr lang="en-US" sz="1200" dirty="0" err="1" smtClean="0">
                <a:solidFill>
                  <a:prstClr val="black"/>
                </a:solidFill>
              </a:rPr>
              <a:t>True|False|Unknown</a:t>
            </a:r>
            <a:r>
              <a:rPr lang="en-US" sz="1200" dirty="0" smtClean="0">
                <a:solidFill>
                  <a:prstClr val="black"/>
                </a:solidFill>
              </a:rPr>
              <a:t>), so NULL != NULL</a:t>
            </a:r>
          </a:p>
          <a:p>
            <a:pPr marL="171450" indent="-171450">
              <a:buFont typeface="Wingdings" pitchFamily="2" charset="2"/>
              <a:buChar char="Ø"/>
            </a:pPr>
            <a:endParaRPr lang="en-US" sz="1200" dirty="0" smtClean="0">
              <a:solidFill>
                <a:prstClr val="black"/>
              </a:solidFill>
            </a:endParaRPr>
          </a:p>
          <a:p>
            <a:pPr marL="171450" indent="-171450">
              <a:buFont typeface="Wingdings" pitchFamily="2" charset="2"/>
              <a:buChar char="Ø"/>
            </a:pPr>
            <a:r>
              <a:rPr lang="en-US" sz="1200" dirty="0" smtClean="0">
                <a:solidFill>
                  <a:prstClr val="black"/>
                </a:solidFill>
              </a:rPr>
              <a:t>Do yourself a favor: </a:t>
            </a:r>
          </a:p>
          <a:p>
            <a:pPr marL="628650" lvl="1" indent="-171450">
              <a:buFont typeface="Wingdings" pitchFamily="2" charset="2"/>
              <a:buChar char="Ø"/>
            </a:pPr>
            <a:r>
              <a:rPr lang="en-US" sz="1200" dirty="0" smtClean="0">
                <a:solidFill>
                  <a:prstClr val="black"/>
                </a:solidFill>
              </a:rPr>
              <a:t>Avoid cursors - by all means.</a:t>
            </a:r>
          </a:p>
          <a:p>
            <a:pPr marL="628650" lvl="1" indent="-171450">
              <a:buFont typeface="Wingdings" pitchFamily="2" charset="2"/>
              <a:buChar char="Ø"/>
            </a:pPr>
            <a:r>
              <a:rPr lang="en-US" sz="1200" dirty="0">
                <a:solidFill>
                  <a:prstClr val="black"/>
                </a:solidFill>
              </a:rPr>
              <a:t>Do not use SELECT * in your </a:t>
            </a:r>
            <a:r>
              <a:rPr lang="en-US" sz="1200" dirty="0" smtClean="0">
                <a:solidFill>
                  <a:prstClr val="black"/>
                </a:solidFill>
              </a:rPr>
              <a:t>queries</a:t>
            </a:r>
          </a:p>
          <a:p>
            <a:pPr marL="628650" lvl="1" indent="-171450">
              <a:buFont typeface="Wingdings" pitchFamily="2" charset="2"/>
              <a:buChar char="Ø"/>
            </a:pPr>
            <a:r>
              <a:rPr lang="en-US" sz="1200" dirty="0" smtClean="0">
                <a:solidFill>
                  <a:prstClr val="black"/>
                </a:solidFill>
              </a:rPr>
              <a:t>Use </a:t>
            </a:r>
            <a:r>
              <a:rPr lang="en-US" sz="1200" dirty="0">
                <a:solidFill>
                  <a:prstClr val="black"/>
                </a:solidFill>
              </a:rPr>
              <a:t>ANSI-Standard Join clauses</a:t>
            </a:r>
          </a:p>
          <a:p>
            <a:pPr marL="628650" lvl="1" indent="-171450">
              <a:buFont typeface="Wingdings" pitchFamily="2" charset="2"/>
              <a:buChar char="Ø"/>
            </a:pPr>
            <a:r>
              <a:rPr lang="en-US" sz="1200" dirty="0">
                <a:solidFill>
                  <a:prstClr val="black"/>
                </a:solidFill>
              </a:rPr>
              <a:t>Do not use column numbers in the ORDER BY </a:t>
            </a:r>
            <a:r>
              <a:rPr lang="en-US" sz="1200" dirty="0" smtClean="0">
                <a:solidFill>
                  <a:prstClr val="black"/>
                </a:solidFill>
              </a:rPr>
              <a:t>clause</a:t>
            </a:r>
          </a:p>
          <a:p>
            <a:pPr marL="628650" lvl="1" indent="-171450">
              <a:buFont typeface="Wingdings" pitchFamily="2" charset="2"/>
              <a:buChar char="Ø"/>
            </a:pPr>
            <a:r>
              <a:rPr lang="en-US" sz="1200" dirty="0">
                <a:solidFill>
                  <a:prstClr val="black"/>
                </a:solidFill>
              </a:rPr>
              <a:t>Do not prefix your stored procedure names with “</a:t>
            </a:r>
            <a:r>
              <a:rPr lang="en-US" sz="1200" dirty="0" err="1">
                <a:solidFill>
                  <a:prstClr val="black"/>
                </a:solidFill>
              </a:rPr>
              <a:t>sp</a:t>
            </a:r>
            <a:r>
              <a:rPr lang="en-US" sz="1200" dirty="0" smtClean="0">
                <a:solidFill>
                  <a:prstClr val="black"/>
                </a:solidFill>
              </a:rPr>
              <a:t>_”</a:t>
            </a:r>
          </a:p>
        </p:txBody>
      </p:sp>
      <p:sp>
        <p:nvSpPr>
          <p:cNvPr id="12" name="11 CuadroTexto"/>
          <p:cNvSpPr txBox="1"/>
          <p:nvPr/>
        </p:nvSpPr>
        <p:spPr>
          <a:xfrm>
            <a:off x="0" y="914400"/>
            <a:ext cx="9144000" cy="276999"/>
          </a:xfrm>
          <a:prstGeom prst="rect">
            <a:avLst/>
          </a:prstGeom>
          <a:noFill/>
        </p:spPr>
        <p:txBody>
          <a:bodyPr wrap="square" rtlCol="0">
            <a:spAutoFit/>
          </a:bodyPr>
          <a:lstStyle/>
          <a:p>
            <a:r>
              <a:rPr lang="en-US" sz="1200" b="1" dirty="0" smtClean="0">
                <a:solidFill>
                  <a:prstClr val="black"/>
                </a:solidFill>
              </a:rPr>
              <a:t>Technical recommendations</a:t>
            </a:r>
            <a:endParaRPr lang="en-US" sz="1200" b="1" dirty="0">
              <a:solidFill>
                <a:prstClr val="black"/>
              </a:solidFill>
            </a:endParaRPr>
          </a:p>
        </p:txBody>
      </p:sp>
      <p:sp>
        <p:nvSpPr>
          <p:cNvPr id="6" name="5 CuadroTexto"/>
          <p:cNvSpPr txBox="1"/>
          <p:nvPr/>
        </p:nvSpPr>
        <p:spPr>
          <a:xfrm>
            <a:off x="0" y="4325296"/>
            <a:ext cx="9144000" cy="3077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en-US" sz="1400" b="1" dirty="0" smtClean="0">
                <a:solidFill>
                  <a:prstClr val="black"/>
                </a:solidFill>
              </a:rPr>
              <a:t>More Best Practices at…</a:t>
            </a:r>
            <a:endParaRPr lang="en-US" sz="1400" dirty="0">
              <a:solidFill>
                <a:prstClr val="black"/>
              </a:solidFill>
            </a:endParaRPr>
          </a:p>
        </p:txBody>
      </p:sp>
      <p:sp>
        <p:nvSpPr>
          <p:cNvPr id="8" name="7 CuadroTexto"/>
          <p:cNvSpPr txBox="1"/>
          <p:nvPr/>
        </p:nvSpPr>
        <p:spPr>
          <a:xfrm>
            <a:off x="-1424" y="4755430"/>
            <a:ext cx="9144000" cy="1569660"/>
          </a:xfrm>
          <a:prstGeom prst="rect">
            <a:avLst/>
          </a:prstGeom>
          <a:noFill/>
        </p:spPr>
        <p:txBody>
          <a:bodyPr wrap="square" rtlCol="0">
            <a:spAutoFit/>
          </a:bodyPr>
          <a:lstStyle/>
          <a:p>
            <a:r>
              <a:rPr lang="en-US" sz="1200" b="1" dirty="0" smtClean="0">
                <a:solidFill>
                  <a:prstClr val="black"/>
                </a:solidFill>
              </a:rPr>
              <a:t>SQL </a:t>
            </a:r>
            <a:r>
              <a:rPr lang="en-US" sz="1200" b="1" dirty="0">
                <a:solidFill>
                  <a:prstClr val="black"/>
                </a:solidFill>
              </a:rPr>
              <a:t>Server </a:t>
            </a:r>
            <a:r>
              <a:rPr lang="en-US" sz="1200" b="1" dirty="0" smtClean="0">
                <a:solidFill>
                  <a:prstClr val="black"/>
                </a:solidFill>
              </a:rPr>
              <a:t>2005/2008 </a:t>
            </a:r>
            <a:r>
              <a:rPr lang="en-US" sz="1200" b="1" dirty="0">
                <a:solidFill>
                  <a:prstClr val="black"/>
                </a:solidFill>
              </a:rPr>
              <a:t>Implementation Best Practices and Performance </a:t>
            </a:r>
            <a:r>
              <a:rPr lang="en-US" sz="1200" b="1" dirty="0" smtClean="0">
                <a:solidFill>
                  <a:prstClr val="black"/>
                </a:solidFill>
              </a:rPr>
              <a:t>Tuning</a:t>
            </a:r>
            <a:endParaRPr lang="en-US" sz="1200" b="1" dirty="0">
              <a:solidFill>
                <a:prstClr val="black"/>
              </a:solidFill>
            </a:endParaRPr>
          </a:p>
          <a:p>
            <a:r>
              <a:rPr lang="en-US" sz="1200" dirty="0" smtClean="0">
                <a:solidFill>
                  <a:prstClr val="black"/>
                </a:solidFill>
                <a:hlinkClick r:id="rId2"/>
              </a:rPr>
              <a:t>http</a:t>
            </a:r>
            <a:r>
              <a:rPr lang="en-US" sz="1200" dirty="0">
                <a:solidFill>
                  <a:prstClr val="black"/>
                </a:solidFill>
                <a:hlinkClick r:id="rId2"/>
              </a:rPr>
              <a:t>://</a:t>
            </a:r>
            <a:r>
              <a:rPr lang="en-US" sz="1200" dirty="0" smtClean="0">
                <a:solidFill>
                  <a:prstClr val="black"/>
                </a:solidFill>
                <a:hlinkClick r:id="rId2"/>
              </a:rPr>
              <a:t>www.symantec.com/business/support/index?page=content&amp;id=HOWTO10723</a:t>
            </a:r>
            <a:endParaRPr lang="en-US" sz="1200" dirty="0" smtClean="0">
              <a:solidFill>
                <a:prstClr val="black"/>
              </a:solidFill>
            </a:endParaRPr>
          </a:p>
          <a:p>
            <a:pPr marL="171450" indent="-171450">
              <a:buFont typeface="Wingdings" pitchFamily="2" charset="2"/>
              <a:buChar char="ü"/>
            </a:pPr>
            <a:endParaRPr lang="en-US" sz="1200" dirty="0" smtClean="0">
              <a:solidFill>
                <a:prstClr val="black"/>
              </a:solidFill>
            </a:endParaRPr>
          </a:p>
          <a:p>
            <a:r>
              <a:rPr lang="en-US" sz="1200" b="1" dirty="0" smtClean="0">
                <a:solidFill>
                  <a:prstClr val="black"/>
                </a:solidFill>
              </a:rPr>
              <a:t>SQL </a:t>
            </a:r>
            <a:r>
              <a:rPr lang="en-US" sz="1200" b="1" dirty="0">
                <a:solidFill>
                  <a:prstClr val="black"/>
                </a:solidFill>
              </a:rPr>
              <a:t>Server Best Practices </a:t>
            </a:r>
            <a:r>
              <a:rPr lang="en-US" sz="1200" b="1" dirty="0" smtClean="0">
                <a:solidFill>
                  <a:prstClr val="black"/>
                </a:solidFill>
              </a:rPr>
              <a:t>Article. </a:t>
            </a:r>
          </a:p>
          <a:p>
            <a:r>
              <a:rPr lang="en-US" sz="1200" dirty="0" smtClean="0">
                <a:solidFill>
                  <a:prstClr val="black"/>
                </a:solidFill>
                <a:hlinkClick r:id="rId3"/>
              </a:rPr>
              <a:t>http</a:t>
            </a:r>
            <a:r>
              <a:rPr lang="en-US" sz="1200" dirty="0">
                <a:solidFill>
                  <a:prstClr val="black"/>
                </a:solidFill>
                <a:hlinkClick r:id="rId3"/>
              </a:rPr>
              <a:t>://</a:t>
            </a:r>
            <a:r>
              <a:rPr lang="en-US" sz="1200" dirty="0" smtClean="0">
                <a:solidFill>
                  <a:prstClr val="black"/>
                </a:solidFill>
                <a:hlinkClick r:id="rId3"/>
              </a:rPr>
              <a:t>technet.microsoft.com/en-us/library/cc966412.aspx</a:t>
            </a:r>
            <a:r>
              <a:rPr lang="en-US" sz="1200" dirty="0" smtClean="0">
                <a:solidFill>
                  <a:prstClr val="black"/>
                </a:solidFill>
              </a:rPr>
              <a:t> </a:t>
            </a:r>
          </a:p>
          <a:p>
            <a:endParaRPr lang="en-US" sz="1200" dirty="0" smtClean="0">
              <a:solidFill>
                <a:prstClr val="black"/>
              </a:solidFill>
            </a:endParaRPr>
          </a:p>
          <a:p>
            <a:r>
              <a:rPr lang="en-US" sz="1200" b="1" dirty="0">
                <a:solidFill>
                  <a:prstClr val="black"/>
                </a:solidFill>
              </a:rPr>
              <a:t>SQL Server Books </a:t>
            </a:r>
            <a:r>
              <a:rPr lang="en-US" sz="1200" b="1" dirty="0" smtClean="0">
                <a:solidFill>
                  <a:prstClr val="black"/>
                </a:solidFill>
              </a:rPr>
              <a:t>Online</a:t>
            </a:r>
          </a:p>
          <a:p>
            <a:r>
              <a:rPr lang="en-US" sz="1200" dirty="0">
                <a:solidFill>
                  <a:prstClr val="black"/>
                </a:solidFill>
                <a:hlinkClick r:id="rId4"/>
              </a:rPr>
              <a:t>http://msdn.microsoft.com/en-us/library/ms130214(v=sql.105).</a:t>
            </a:r>
            <a:r>
              <a:rPr lang="en-US" sz="1200" dirty="0" smtClean="0">
                <a:solidFill>
                  <a:prstClr val="black"/>
                </a:solidFill>
                <a:hlinkClick r:id="rId4"/>
              </a:rPr>
              <a:t>aspx</a:t>
            </a:r>
            <a:r>
              <a:rPr lang="en-US" sz="1200" dirty="0">
                <a:solidFill>
                  <a:prstClr val="black"/>
                </a:solidFill>
              </a:rPr>
              <a:t> </a:t>
            </a:r>
            <a:endParaRPr lang="en-US" sz="1200" dirty="0" smtClean="0">
              <a:solidFill>
                <a:prstClr val="black"/>
              </a:solidFill>
            </a:endParaRPr>
          </a:p>
        </p:txBody>
      </p:sp>
      <p:grpSp>
        <p:nvGrpSpPr>
          <p:cNvPr id="14" name="13 Grupo"/>
          <p:cNvGrpSpPr/>
          <p:nvPr/>
        </p:nvGrpSpPr>
        <p:grpSpPr>
          <a:xfrm>
            <a:off x="9525" y="6574392"/>
            <a:ext cx="9134399" cy="277000"/>
            <a:chOff x="9525" y="6574392"/>
            <a:chExt cx="9134399" cy="277000"/>
          </a:xfrm>
        </p:grpSpPr>
        <p:sp>
          <p:nvSpPr>
            <p:cNvPr id="15" name="14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6" name="15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7" name="16 Grupo"/>
          <p:cNvGrpSpPr/>
          <p:nvPr/>
        </p:nvGrpSpPr>
        <p:grpSpPr>
          <a:xfrm>
            <a:off x="0" y="9525"/>
            <a:ext cx="9153525" cy="408388"/>
            <a:chOff x="0" y="9525"/>
            <a:chExt cx="9153525" cy="408388"/>
          </a:xfrm>
        </p:grpSpPr>
        <p:sp>
          <p:nvSpPr>
            <p:cNvPr id="18" name="1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Best Practices</a:t>
              </a:r>
              <a:endParaRPr lang="en-US" b="1" i="1" dirty="0">
                <a:solidFill>
                  <a:schemeClr val="bg1"/>
                </a:solidFill>
              </a:endParaRPr>
            </a:p>
          </p:txBody>
        </p:sp>
        <p:pic>
          <p:nvPicPr>
            <p:cNvPr id="19" name="18 Imagen"/>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 name="19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00490040"/>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CuadroTexto"/>
          <p:cNvSpPr txBox="1"/>
          <p:nvPr/>
        </p:nvSpPr>
        <p:spPr>
          <a:xfrm>
            <a:off x="0" y="647700"/>
            <a:ext cx="9144000" cy="4462760"/>
          </a:xfrm>
          <a:prstGeom prst="rect">
            <a:avLst/>
          </a:prstGeom>
          <a:noFill/>
        </p:spPr>
        <p:txBody>
          <a:bodyPr wrap="square" rtlCol="0">
            <a:spAutoFit/>
          </a:bodyPr>
          <a:lstStyle/>
          <a:p>
            <a:r>
              <a:rPr lang="en-US" sz="1600" b="1" dirty="0" smtClean="0">
                <a:solidFill>
                  <a:prstClr val="black"/>
                </a:solidFill>
              </a:rPr>
              <a:t>Design</a:t>
            </a:r>
          </a:p>
          <a:p>
            <a:pPr marL="171450" indent="-171450">
              <a:buFont typeface="Wingdings" pitchFamily="2" charset="2"/>
              <a:buChar char="Ø"/>
            </a:pPr>
            <a:r>
              <a:rPr lang="en-US" sz="1200" dirty="0" smtClean="0">
                <a:solidFill>
                  <a:prstClr val="black"/>
                </a:solidFill>
              </a:rPr>
              <a:t>Your database design does not meet the 3NF</a:t>
            </a:r>
          </a:p>
          <a:p>
            <a:pPr marL="171450" indent="-171450">
              <a:buFont typeface="Wingdings" pitchFamily="2" charset="2"/>
              <a:buChar char="Ø"/>
            </a:pPr>
            <a:endParaRPr lang="en-US" sz="1200" dirty="0" smtClean="0">
              <a:solidFill>
                <a:prstClr val="black"/>
              </a:solidFill>
            </a:endParaRPr>
          </a:p>
          <a:p>
            <a:pPr marL="171450" indent="-171450">
              <a:buFont typeface="Wingdings" pitchFamily="2" charset="2"/>
              <a:buChar char="Ø"/>
            </a:pPr>
            <a:r>
              <a:rPr lang="en-US" sz="1200" dirty="0" smtClean="0">
                <a:solidFill>
                  <a:prstClr val="black"/>
                </a:solidFill>
              </a:rPr>
              <a:t>Your database has no </a:t>
            </a:r>
            <a:r>
              <a:rPr lang="en-US" sz="1200" dirty="0">
                <a:solidFill>
                  <a:prstClr val="black"/>
                </a:solidFill>
              </a:rPr>
              <a:t>referential </a:t>
            </a:r>
            <a:r>
              <a:rPr lang="en-US" sz="1200" dirty="0" smtClean="0">
                <a:solidFill>
                  <a:prstClr val="black"/>
                </a:solidFill>
              </a:rPr>
              <a:t>integrity</a:t>
            </a:r>
          </a:p>
          <a:p>
            <a:pPr marL="171450" indent="-171450">
              <a:buFont typeface="Wingdings" pitchFamily="2" charset="2"/>
              <a:buChar char="Ø"/>
            </a:pPr>
            <a:endParaRPr lang="en-US" sz="1200" dirty="0">
              <a:solidFill>
                <a:prstClr val="black"/>
              </a:solidFill>
            </a:endParaRPr>
          </a:p>
          <a:p>
            <a:pPr marL="171450" indent="-171450">
              <a:buFont typeface="Wingdings" pitchFamily="2" charset="2"/>
              <a:buChar char="Ø"/>
            </a:pPr>
            <a:r>
              <a:rPr lang="en-US" sz="1200" dirty="0" smtClean="0">
                <a:solidFill>
                  <a:prstClr val="black"/>
                </a:solidFill>
              </a:rPr>
              <a:t>Your tables have no indexes</a:t>
            </a:r>
          </a:p>
          <a:p>
            <a:pPr marL="171450" indent="-171450">
              <a:buFont typeface="Wingdings" pitchFamily="2" charset="2"/>
              <a:buChar char="Ø"/>
            </a:pPr>
            <a:endParaRPr lang="en-US" sz="1200" dirty="0" smtClean="0">
              <a:solidFill>
                <a:prstClr val="black"/>
              </a:solidFill>
            </a:endParaRPr>
          </a:p>
          <a:p>
            <a:pPr marL="171450" indent="-171450">
              <a:buFont typeface="Wingdings" pitchFamily="2" charset="2"/>
              <a:buChar char="Ø"/>
            </a:pPr>
            <a:r>
              <a:rPr lang="en-US" sz="1200" dirty="0" smtClean="0">
                <a:solidFill>
                  <a:prstClr val="black"/>
                </a:solidFill>
              </a:rPr>
              <a:t>Your primary keys are GUIDs</a:t>
            </a:r>
          </a:p>
          <a:p>
            <a:pPr marL="171450" indent="-171450">
              <a:buFont typeface="Wingdings" pitchFamily="2" charset="2"/>
              <a:buChar char="Ø"/>
            </a:pPr>
            <a:endParaRPr lang="en-US" sz="1200" dirty="0" smtClean="0">
              <a:solidFill>
                <a:prstClr val="black"/>
              </a:solidFill>
            </a:endParaRPr>
          </a:p>
          <a:p>
            <a:pPr marL="171450" indent="-171450">
              <a:buFont typeface="Wingdings" pitchFamily="2" charset="2"/>
              <a:buChar char="Ø"/>
            </a:pPr>
            <a:r>
              <a:rPr lang="en-US" sz="1200" dirty="0" smtClean="0">
                <a:solidFill>
                  <a:prstClr val="black"/>
                </a:solidFill>
              </a:rPr>
              <a:t>Useless indexes + duplicates indexes</a:t>
            </a:r>
            <a:endParaRPr lang="en-US" sz="1200" dirty="0">
              <a:solidFill>
                <a:prstClr val="black"/>
              </a:solidFill>
            </a:endParaRPr>
          </a:p>
          <a:p>
            <a:pPr marL="171450" indent="-171450">
              <a:buFont typeface="Wingdings" pitchFamily="2" charset="2"/>
              <a:buChar char="Ø"/>
            </a:pPr>
            <a:endParaRPr lang="en-US" sz="1200" dirty="0" smtClean="0">
              <a:solidFill>
                <a:prstClr val="black"/>
              </a:solidFill>
            </a:endParaRPr>
          </a:p>
          <a:p>
            <a:pPr marL="171450" indent="-171450">
              <a:buFont typeface="Wingdings" pitchFamily="2" charset="2"/>
              <a:buChar char="Ø"/>
            </a:pPr>
            <a:endParaRPr lang="en-US" sz="1200" dirty="0" smtClean="0">
              <a:solidFill>
                <a:prstClr val="black"/>
              </a:solidFill>
            </a:endParaRPr>
          </a:p>
          <a:p>
            <a:pPr marL="171450" indent="-171450">
              <a:buFont typeface="Wingdings" pitchFamily="2" charset="2"/>
              <a:buChar char="Ø"/>
            </a:pPr>
            <a:endParaRPr lang="en-US" sz="1200" dirty="0" smtClean="0">
              <a:solidFill>
                <a:prstClr val="black"/>
              </a:solidFill>
            </a:endParaRPr>
          </a:p>
          <a:p>
            <a:r>
              <a:rPr lang="en-US" sz="1600" b="1" dirty="0" smtClean="0">
                <a:solidFill>
                  <a:prstClr val="black"/>
                </a:solidFill>
              </a:rPr>
              <a:t>Implementing a SQL Server Database</a:t>
            </a:r>
          </a:p>
          <a:p>
            <a:pPr marL="171450" indent="-171450">
              <a:buFont typeface="Wingdings" pitchFamily="2" charset="2"/>
              <a:buChar char="Ø"/>
            </a:pPr>
            <a:r>
              <a:rPr lang="en-US" sz="1200" dirty="0">
                <a:solidFill>
                  <a:prstClr val="black"/>
                </a:solidFill>
              </a:rPr>
              <a:t>Your Stored Procedures make a heavy use of cursors</a:t>
            </a:r>
          </a:p>
          <a:p>
            <a:pPr marL="171450" indent="-171450">
              <a:buFont typeface="Wingdings" pitchFamily="2" charset="2"/>
              <a:buChar char="Ø"/>
            </a:pPr>
            <a:endParaRPr lang="en-US" sz="1200" dirty="0" smtClean="0">
              <a:solidFill>
                <a:prstClr val="black"/>
              </a:solidFill>
            </a:endParaRPr>
          </a:p>
          <a:p>
            <a:pPr marL="171450" indent="-171450">
              <a:buFont typeface="Wingdings" pitchFamily="2" charset="2"/>
              <a:buChar char="Ø"/>
            </a:pPr>
            <a:r>
              <a:rPr lang="en-US" sz="1200" dirty="0" smtClean="0">
                <a:solidFill>
                  <a:prstClr val="black"/>
                </a:solidFill>
              </a:rPr>
              <a:t>Your </a:t>
            </a:r>
            <a:r>
              <a:rPr lang="en-US" sz="1200" dirty="0">
                <a:solidFill>
                  <a:prstClr val="black"/>
                </a:solidFill>
              </a:rPr>
              <a:t>database implements Business Logic in </a:t>
            </a:r>
            <a:r>
              <a:rPr lang="en-US" sz="1200" dirty="0" smtClean="0">
                <a:solidFill>
                  <a:prstClr val="black"/>
                </a:solidFill>
              </a:rPr>
              <a:t>excess</a:t>
            </a:r>
            <a:endParaRPr lang="en-US" sz="1200" dirty="0">
              <a:solidFill>
                <a:prstClr val="black"/>
              </a:solidFill>
            </a:endParaRPr>
          </a:p>
          <a:p>
            <a:pPr marL="171450" indent="-171450">
              <a:buFont typeface="Wingdings" pitchFamily="2" charset="2"/>
              <a:buChar char="Ø"/>
            </a:pPr>
            <a:endParaRPr lang="en-US" sz="1200" dirty="0" smtClean="0">
              <a:solidFill>
                <a:prstClr val="black"/>
              </a:solidFill>
            </a:endParaRPr>
          </a:p>
          <a:p>
            <a:pPr marL="171450" indent="-171450">
              <a:buFont typeface="Wingdings" pitchFamily="2" charset="2"/>
              <a:buChar char="Ø"/>
            </a:pPr>
            <a:r>
              <a:rPr lang="en-US" sz="1200" dirty="0" smtClean="0">
                <a:solidFill>
                  <a:prstClr val="black"/>
                </a:solidFill>
              </a:rPr>
              <a:t>Your Stored </a:t>
            </a:r>
            <a:r>
              <a:rPr lang="en-US" sz="1200" dirty="0">
                <a:solidFill>
                  <a:prstClr val="black"/>
                </a:solidFill>
              </a:rPr>
              <a:t>Procedures </a:t>
            </a:r>
            <a:r>
              <a:rPr lang="en-US" sz="1200" dirty="0" smtClean="0">
                <a:solidFill>
                  <a:prstClr val="black"/>
                </a:solidFill>
              </a:rPr>
              <a:t>start </a:t>
            </a:r>
            <a:r>
              <a:rPr lang="en-US" sz="1200" dirty="0">
                <a:solidFill>
                  <a:prstClr val="black"/>
                </a:solidFill>
              </a:rPr>
              <a:t>with “</a:t>
            </a:r>
            <a:r>
              <a:rPr lang="en-US" sz="1200" dirty="0" err="1">
                <a:solidFill>
                  <a:prstClr val="black"/>
                </a:solidFill>
              </a:rPr>
              <a:t>sp</a:t>
            </a:r>
            <a:r>
              <a:rPr lang="en-US" sz="1200" dirty="0" smtClean="0">
                <a:solidFill>
                  <a:prstClr val="black"/>
                </a:solidFill>
              </a:rPr>
              <a:t>_”</a:t>
            </a:r>
          </a:p>
          <a:p>
            <a:pPr marL="171450" indent="-171450">
              <a:buFont typeface="Wingdings" pitchFamily="2" charset="2"/>
              <a:buChar char="Ø"/>
            </a:pPr>
            <a:endParaRPr lang="en-US" sz="1200" dirty="0">
              <a:solidFill>
                <a:prstClr val="black"/>
              </a:solidFill>
            </a:endParaRPr>
          </a:p>
          <a:p>
            <a:pPr marL="171450" indent="-171450">
              <a:buFont typeface="Wingdings" pitchFamily="2" charset="2"/>
              <a:buChar char="Ø"/>
            </a:pPr>
            <a:r>
              <a:rPr lang="en-US" sz="1200" dirty="0" smtClean="0">
                <a:solidFill>
                  <a:prstClr val="black"/>
                </a:solidFill>
              </a:rPr>
              <a:t>Your database Views are built on </a:t>
            </a:r>
            <a:r>
              <a:rPr lang="en-US" sz="1200" dirty="0">
                <a:solidFill>
                  <a:prstClr val="black"/>
                </a:solidFill>
              </a:rPr>
              <a:t>top of </a:t>
            </a:r>
            <a:r>
              <a:rPr lang="en-US" sz="1200" dirty="0" smtClean="0">
                <a:solidFill>
                  <a:prstClr val="black"/>
                </a:solidFill>
              </a:rPr>
              <a:t>other views</a:t>
            </a:r>
          </a:p>
          <a:p>
            <a:endParaRPr lang="en-US" sz="1200" dirty="0">
              <a:solidFill>
                <a:prstClr val="black"/>
              </a:solidFill>
            </a:endParaRPr>
          </a:p>
          <a:p>
            <a:pPr marL="171450" indent="-171450">
              <a:buFont typeface="Wingdings" pitchFamily="2" charset="2"/>
              <a:buChar char="Ø"/>
            </a:pPr>
            <a:r>
              <a:rPr lang="en-US" sz="1200" dirty="0" smtClean="0">
                <a:solidFill>
                  <a:prstClr val="black"/>
                </a:solidFill>
              </a:rPr>
              <a:t>GOTO statements: Believe it or not, some people still use GOTO statements (</a:t>
            </a:r>
            <a:r>
              <a:rPr lang="en-US" sz="1200" i="1" dirty="0" smtClean="0">
                <a:solidFill>
                  <a:prstClr val="black"/>
                </a:solidFill>
              </a:rPr>
              <a:t>sighs</a:t>
            </a:r>
            <a:r>
              <a:rPr lang="en-US" sz="1200" dirty="0" smtClean="0">
                <a:solidFill>
                  <a:prstClr val="black"/>
                </a:solidFill>
              </a:rPr>
              <a:t>)</a:t>
            </a:r>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0600" y="1333500"/>
            <a:ext cx="1952625" cy="2333625"/>
          </a:xfrm>
          <a:prstGeom prst="rect">
            <a:avLst/>
          </a:prstGeom>
        </p:spPr>
      </p:pic>
      <p:grpSp>
        <p:nvGrpSpPr>
          <p:cNvPr id="12" name="11 Grupo"/>
          <p:cNvGrpSpPr/>
          <p:nvPr/>
        </p:nvGrpSpPr>
        <p:grpSpPr>
          <a:xfrm>
            <a:off x="9525" y="6574392"/>
            <a:ext cx="9134399" cy="277000"/>
            <a:chOff x="9525" y="6574392"/>
            <a:chExt cx="9134399" cy="277000"/>
          </a:xfrm>
        </p:grpSpPr>
        <p:sp>
          <p:nvSpPr>
            <p:cNvPr id="13" name="12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4" name="13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grpSp>
        <p:nvGrpSpPr>
          <p:cNvPr id="15" name="14 Grupo"/>
          <p:cNvGrpSpPr/>
          <p:nvPr/>
        </p:nvGrpSpPr>
        <p:grpSpPr>
          <a:xfrm>
            <a:off x="0" y="9525"/>
            <a:ext cx="9153525" cy="408388"/>
            <a:chOff x="0" y="9525"/>
            <a:chExt cx="9153525" cy="408388"/>
          </a:xfrm>
        </p:grpSpPr>
        <p:sp>
          <p:nvSpPr>
            <p:cNvPr id="16" name="15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Worst Practices</a:t>
              </a:r>
              <a:endParaRPr lang="en-US" b="1" i="1" dirty="0">
                <a:solidFill>
                  <a:schemeClr val="bg1"/>
                </a:solidFill>
              </a:endParaRPr>
            </a:p>
          </p:txBody>
        </p:sp>
        <p:pic>
          <p:nvPicPr>
            <p:cNvPr id="17" name="16 Image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17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50945689"/>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CuadroTexto"/>
          <p:cNvSpPr txBox="1"/>
          <p:nvPr/>
        </p:nvSpPr>
        <p:spPr>
          <a:xfrm>
            <a:off x="0" y="2845603"/>
            <a:ext cx="9153525" cy="584775"/>
          </a:xfrm>
          <a:prstGeom prst="rect">
            <a:avLst/>
          </a:prstGeom>
          <a:noFill/>
        </p:spPr>
        <p:txBody>
          <a:bodyPr wrap="square" rtlCol="0">
            <a:spAutoFit/>
          </a:bodyPr>
          <a:lstStyle/>
          <a:p>
            <a:pPr algn="ctr"/>
            <a:r>
              <a:rPr lang="en-US" sz="3200" b="1" dirty="0" smtClean="0">
                <a:solidFill>
                  <a:prstClr val="black"/>
                </a:solidFill>
              </a:rPr>
              <a:t>Questions?</a:t>
            </a:r>
            <a:endParaRPr lang="en-US" sz="3200" dirty="0" smtClean="0">
              <a:solidFill>
                <a:prstClr val="black"/>
              </a:solidFill>
            </a:endParaRPr>
          </a:p>
        </p:txBody>
      </p:sp>
      <p:grpSp>
        <p:nvGrpSpPr>
          <p:cNvPr id="6" name="5 Grupo"/>
          <p:cNvGrpSpPr/>
          <p:nvPr/>
        </p:nvGrpSpPr>
        <p:grpSpPr>
          <a:xfrm>
            <a:off x="0" y="9525"/>
            <a:ext cx="9153525" cy="408388"/>
            <a:chOff x="0" y="9525"/>
            <a:chExt cx="9153525" cy="408388"/>
          </a:xfrm>
        </p:grpSpPr>
        <p:sp>
          <p:nvSpPr>
            <p:cNvPr id="8" name="7 CuadroTexto"/>
            <p:cNvSpPr txBox="1"/>
            <p:nvPr/>
          </p:nvSpPr>
          <p:spPr>
            <a:xfrm>
              <a:off x="9525" y="9525"/>
              <a:ext cx="9144000" cy="369332"/>
            </a:xfrm>
            <a:prstGeom prst="rect">
              <a:avLst/>
            </a:prstGeom>
            <a:gradFill flip="none" rotWithShape="1">
              <a:gsLst>
                <a:gs pos="0">
                  <a:schemeClr val="tx1">
                    <a:lumMod val="85000"/>
                    <a:lumOff val="15000"/>
                  </a:schemeClr>
                </a:gs>
                <a:gs pos="66000">
                  <a:schemeClr val="bg1">
                    <a:lumMod val="75000"/>
                  </a:schemeClr>
                </a:gs>
                <a:gs pos="87000">
                  <a:schemeClr val="bg1"/>
                </a:gs>
              </a:gsLst>
              <a:lin ang="0" scaled="1"/>
              <a:tileRect/>
            </a:gradFill>
          </p:spPr>
          <p:txBody>
            <a:bodyPr wrap="square" rtlCol="0">
              <a:spAutoFit/>
            </a:bodyPr>
            <a:lstStyle/>
            <a:p>
              <a:r>
                <a:rPr lang="en-US" b="1" dirty="0" smtClean="0">
                  <a:solidFill>
                    <a:schemeClr val="bg1"/>
                  </a:solidFill>
                </a:rPr>
                <a:t>Thank you!</a:t>
              </a:r>
              <a:endParaRPr lang="en-US" b="1" i="1" dirty="0">
                <a:solidFill>
                  <a:schemeClr val="bg1"/>
                </a:solidFill>
              </a:endParaRPr>
            </a:p>
          </p:txBody>
        </p:sp>
        <p:pic>
          <p:nvPicPr>
            <p:cNvPr id="9" name="8 Image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9525"/>
              <a:ext cx="1691605" cy="4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10 Conector recto"/>
            <p:cNvCxnSpPr/>
            <p:nvPr/>
          </p:nvCxnSpPr>
          <p:spPr>
            <a:xfrm>
              <a:off x="0" y="381422"/>
              <a:ext cx="914968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11 Grupo"/>
          <p:cNvGrpSpPr/>
          <p:nvPr/>
        </p:nvGrpSpPr>
        <p:grpSpPr>
          <a:xfrm>
            <a:off x="9525" y="6574392"/>
            <a:ext cx="9134399" cy="277000"/>
            <a:chOff x="9525" y="6574392"/>
            <a:chExt cx="9134399" cy="277000"/>
          </a:xfrm>
        </p:grpSpPr>
        <p:sp>
          <p:nvSpPr>
            <p:cNvPr id="13" name="12 CuadroTexto"/>
            <p:cNvSpPr txBox="1"/>
            <p:nvPr/>
          </p:nvSpPr>
          <p:spPr>
            <a:xfrm>
              <a:off x="7452319" y="6574393"/>
              <a:ext cx="1691605" cy="276999"/>
            </a:xfrm>
            <a:prstGeom prst="rect">
              <a:avLst/>
            </a:prstGeom>
            <a:solidFill>
              <a:schemeClr val="tx1">
                <a:lumMod val="75000"/>
                <a:lumOff val="25000"/>
              </a:schemeClr>
            </a:solidFill>
          </p:spPr>
          <p:txBody>
            <a:bodyPr wrap="square" rtlCol="0">
              <a:spAutoFit/>
            </a:bodyPr>
            <a:lstStyle/>
            <a:p>
              <a:pPr algn="r"/>
              <a:r>
                <a:rPr lang="en-US" sz="1200" dirty="0" smtClean="0">
                  <a:solidFill>
                    <a:schemeClr val="bg1"/>
                  </a:solidFill>
                </a:rPr>
                <a:t>www.bairesdev.com</a:t>
              </a:r>
              <a:endParaRPr lang="en-US" sz="1200" dirty="0">
                <a:solidFill>
                  <a:schemeClr val="bg1"/>
                </a:solidFill>
              </a:endParaRPr>
            </a:p>
          </p:txBody>
        </p:sp>
        <p:sp>
          <p:nvSpPr>
            <p:cNvPr id="14" name="13 CuadroTexto"/>
            <p:cNvSpPr txBox="1"/>
            <p:nvPr/>
          </p:nvSpPr>
          <p:spPr>
            <a:xfrm>
              <a:off x="9525" y="6574392"/>
              <a:ext cx="7442794" cy="276999"/>
            </a:xfrm>
            <a:prstGeom prst="rect">
              <a:avLst/>
            </a:prstGeom>
            <a:solidFill>
              <a:schemeClr val="tx1">
                <a:lumMod val="75000"/>
                <a:lumOff val="25000"/>
              </a:schemeClr>
            </a:solidFill>
          </p:spPr>
          <p:txBody>
            <a:bodyPr wrap="square" rtlCol="0">
              <a:spAutoFit/>
            </a:bodyPr>
            <a:lstStyle/>
            <a:p>
              <a:r>
                <a:rPr lang="en-US" sz="1200" dirty="0" smtClean="0">
                  <a:solidFill>
                    <a:schemeClr val="bg1"/>
                  </a:solidFill>
                </a:rPr>
                <a:t>Advanced SQL Server</a:t>
              </a:r>
              <a:endParaRPr lang="en-US" sz="1200" dirty="0">
                <a:solidFill>
                  <a:schemeClr val="bg1"/>
                </a:solidFill>
              </a:endParaRPr>
            </a:p>
          </p:txBody>
        </p:sp>
      </p:grpSp>
    </p:spTree>
    <p:extLst>
      <p:ext uri="{BB962C8B-B14F-4D97-AF65-F5344CB8AC3E}">
        <p14:creationId xmlns:p14="http://schemas.microsoft.com/office/powerpoint/2010/main" val="2052394567"/>
      </p:ext>
    </p:extLst>
  </p:cSld>
  <p:clrMapOvr>
    <a:masterClrMapping/>
  </p:clrMapOvr>
  <p:timing>
    <p:tnLst>
      <p:par>
        <p:cTn id="1" dur="indefinite" restart="never" nodeType="tmRoot"/>
      </p:par>
    </p:tnLst>
  </p:timing>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4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5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6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7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8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9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10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11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2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13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14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15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8.xml><?xml version="1.0" encoding="utf-8"?>
<a:theme xmlns:a="http://schemas.openxmlformats.org/drawingml/2006/main" name="16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9.xml><?xml version="1.0" encoding="utf-8"?>
<a:theme xmlns:a="http://schemas.openxmlformats.org/drawingml/2006/main" name="17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0.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476</TotalTime>
  <Words>13135</Words>
  <Application>Microsoft Office PowerPoint</Application>
  <PresentationFormat>Presentación en pantalla (4:3)</PresentationFormat>
  <Paragraphs>2129</Paragraphs>
  <Slides>135</Slides>
  <Notes>19</Notes>
  <HiddenSlides>0</HiddenSlides>
  <MMClips>0</MMClips>
  <ScaleCrop>false</ScaleCrop>
  <HeadingPairs>
    <vt:vector size="4" baseType="variant">
      <vt:variant>
        <vt:lpstr>Tema</vt:lpstr>
      </vt:variant>
      <vt:variant>
        <vt:i4>19</vt:i4>
      </vt:variant>
      <vt:variant>
        <vt:lpstr>Títulos de diapositiva</vt:lpstr>
      </vt:variant>
      <vt:variant>
        <vt:i4>135</vt:i4>
      </vt:variant>
    </vt:vector>
  </HeadingPairs>
  <TitlesOfParts>
    <vt:vector size="154" baseType="lpstr">
      <vt:lpstr>Diseño predeterminado</vt:lpstr>
      <vt:lpstr>Tema de Office</vt:lpstr>
      <vt:lpstr>1_Tema de Office</vt:lpstr>
      <vt:lpstr>2_Tema de Office</vt:lpstr>
      <vt:lpstr>3_Tema de Office</vt:lpstr>
      <vt:lpstr>4_Tema de Office</vt:lpstr>
      <vt:lpstr>5_Tema de Office</vt:lpstr>
      <vt:lpstr>6_Tema de Office</vt:lpstr>
      <vt:lpstr>7_Tema de Office</vt:lpstr>
      <vt:lpstr>8_Tema de Office</vt:lpstr>
      <vt:lpstr>9_Tema de Office</vt:lpstr>
      <vt:lpstr>10_Tema de Office</vt:lpstr>
      <vt:lpstr>11_Tema de Office</vt:lpstr>
      <vt:lpstr>12_Tema de Office</vt:lpstr>
      <vt:lpstr>13_Tema de Office</vt:lpstr>
      <vt:lpstr>14_Tema de Office</vt:lpstr>
      <vt:lpstr>15_Tema de Office</vt:lpstr>
      <vt:lpstr>16_Tema de Office</vt:lpstr>
      <vt:lpstr>17_Tema de Office</vt:lpstr>
      <vt:lpstr>Microsoft SQL Server Advanced Workshop</vt:lpstr>
      <vt:lpstr>Agenda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 HTML5</dc:title>
  <dc:creator>admin</dc:creator>
  <cp:lastModifiedBy>Claudio</cp:lastModifiedBy>
  <cp:revision>164</cp:revision>
  <dcterms:created xsi:type="dcterms:W3CDTF">2012-11-21T15:32:10Z</dcterms:created>
  <dcterms:modified xsi:type="dcterms:W3CDTF">2013-02-16T11:11:57Z</dcterms:modified>
</cp:coreProperties>
</file>